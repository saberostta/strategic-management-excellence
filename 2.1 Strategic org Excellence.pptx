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sldIdLst>
    <p:sldId id="256" r:id="rId3"/>
    <p:sldId id="296" r:id="rId4"/>
    <p:sldId id="306" r:id="rId5"/>
    <p:sldId id="307" r:id="rId6"/>
    <p:sldId id="300" r:id="rId7"/>
    <p:sldId id="301" r:id="rId8"/>
    <p:sldId id="302" r:id="rId9"/>
    <p:sldId id="303" r:id="rId10"/>
    <p:sldId id="304" r:id="rId11"/>
    <p:sldId id="305" r:id="rId12"/>
    <p:sldId id="274" r:id="rId13"/>
    <p:sldId id="295" r:id="rId14"/>
    <p:sldId id="276" r:id="rId15"/>
    <p:sldId id="264" r:id="rId16"/>
    <p:sldId id="266" r:id="rId17"/>
    <p:sldId id="277" r:id="rId18"/>
    <p:sldId id="267" r:id="rId19"/>
    <p:sldId id="268" r:id="rId20"/>
    <p:sldId id="278" r:id="rId21"/>
    <p:sldId id="308" r:id="rId22"/>
    <p:sldId id="309" r:id="rId23"/>
    <p:sldId id="310" r:id="rId24"/>
    <p:sldId id="311" r:id="rId25"/>
    <p:sldId id="312" r:id="rId26"/>
    <p:sldId id="313" r:id="rId27"/>
    <p:sldId id="314" r:id="rId28"/>
    <p:sldId id="315" r:id="rId29"/>
    <p:sldId id="316" r:id="rId30"/>
    <p:sldId id="317" r:id="rId31"/>
    <p:sldId id="318" r:id="rId32"/>
    <p:sldId id="319" r:id="rId33"/>
    <p:sldId id="320" r:id="rId34"/>
    <p:sldId id="321" r:id="rId35"/>
    <p:sldId id="322" r:id="rId36"/>
    <p:sldId id="323"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6" d="100"/>
          <a:sy n="66" d="100"/>
        </p:scale>
        <p:origin x="1422"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1D8BD707-D9CF-40AE-B4C6-C98DA3205C09}" type="datetimeFigureOut">
              <a:rPr lang="en-US" smtClean="0"/>
              <a:pPr/>
              <a:t>4/11/2026</a:t>
            </a:fld>
            <a:endParaRPr lang="en-US"/>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B6F15528-21DE-4FAA-801E-634DDDAF4B2B}" type="slidenum">
              <a:rPr lang="en-US" smtClean="0"/>
              <a:pPr/>
              <a:t>‹#›</a:t>
            </a:fld>
            <a:endParaRPr lang="en-US"/>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4/11/2026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4/11/2026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4/11/2026</a:t>
            </a:fld>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203409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2158330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5183989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78428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907212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6559145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6800862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4036752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3023650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274980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137602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1D8BD707-D9CF-40AE-B4C6-C98DA3205C09}" type="datetimeFigureOut">
              <a:rPr lang="en-US" smtClean="0"/>
              <a:pPr/>
              <a:t>4/11/2026</a:t>
            </a:fld>
            <a:endParaRPr 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1" eaLnBrk="1" latinLnBrk="0" hangingPunct="1">
        <a:spcBef>
          <a:spcPct val="0"/>
        </a:spcBef>
        <a:buNone/>
        <a:defRPr sz="4000" kern="1200">
          <a:solidFill>
            <a:schemeClr val="accent1"/>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274320" algn="r" defTabSz="914400" rtl="1"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r" defTabSz="914400" rtl="1"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r" defTabSz="914400" rtl="1"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r" defTabSz="914400" rtl="1"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r" defTabSz="914400" rtl="1"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533443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b="1" dirty="0" smtClean="0"/>
              <a:t>Strategic Organizational Excellence</a:t>
            </a:r>
            <a:endParaRPr lang="ar-EG" b="1" dirty="0"/>
          </a:p>
        </p:txBody>
      </p:sp>
      <p:sp>
        <p:nvSpPr>
          <p:cNvPr id="3" name="Subtitle 2"/>
          <p:cNvSpPr>
            <a:spLocks noGrp="1"/>
          </p:cNvSpPr>
          <p:nvPr>
            <p:ph type="subTitle" idx="1"/>
          </p:nvPr>
        </p:nvSpPr>
        <p:spPr/>
        <p:txBody>
          <a:bodyPr>
            <a:normAutofit/>
          </a:bodyPr>
          <a:lstStyle/>
          <a:p>
            <a:endParaRPr lang="en-US" sz="2000" b="1" dirty="0" smtClean="0"/>
          </a:p>
          <a:p>
            <a:r>
              <a:rPr lang="en-US" sz="2000" b="1" dirty="0" smtClean="0"/>
              <a:t>Class 1</a:t>
            </a:r>
          </a:p>
          <a:p>
            <a:r>
              <a:rPr lang="en-US" sz="2000" b="1" dirty="0" smtClean="0"/>
              <a:t>Prof. </a:t>
            </a:r>
            <a:r>
              <a:rPr lang="en-US" sz="2000" b="1" dirty="0" err="1" smtClean="0"/>
              <a:t>Marwa</a:t>
            </a:r>
            <a:r>
              <a:rPr lang="en-US" sz="2000" b="1" dirty="0" smtClean="0"/>
              <a:t> Tarek </a:t>
            </a:r>
            <a:endParaRPr lang="ar-EG" sz="2000" b="1" dirty="0"/>
          </a:p>
        </p:txBody>
      </p:sp>
    </p:spTree>
    <p:extLst>
      <p:ext uri="{BB962C8B-B14F-4D97-AF65-F5344CB8AC3E}">
        <p14:creationId xmlns:p14="http://schemas.microsoft.com/office/powerpoint/2010/main" val="11921015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85800"/>
            <a:ext cx="7696200" cy="609600"/>
          </a:xfrm>
        </p:spPr>
        <p:txBody>
          <a:bodyPr>
            <a:noAutofit/>
          </a:bodyPr>
          <a:lstStyle/>
          <a:p>
            <a:r>
              <a:rPr lang="en-US" sz="3200" b="1" dirty="0" smtClean="0">
                <a:solidFill>
                  <a:srgbClr val="FF0000"/>
                </a:solidFill>
              </a:rPr>
              <a:t>Strategic </a:t>
            </a:r>
            <a:r>
              <a:rPr lang="en-US" sz="3200" b="1" dirty="0">
                <a:solidFill>
                  <a:srgbClr val="FF0000"/>
                </a:solidFill>
              </a:rPr>
              <a:t>Organizational </a:t>
            </a:r>
            <a:r>
              <a:rPr lang="en-US" sz="3200" b="1" dirty="0" smtClean="0">
                <a:solidFill>
                  <a:srgbClr val="FF0000"/>
                </a:solidFill>
              </a:rPr>
              <a:t> Excellence </a:t>
            </a:r>
            <a:endParaRPr lang="en-US" sz="3200" b="1" dirty="0">
              <a:solidFill>
                <a:srgbClr val="FF0000"/>
              </a:solidFill>
            </a:endParaRPr>
          </a:p>
        </p:txBody>
      </p:sp>
      <p:sp>
        <p:nvSpPr>
          <p:cNvPr id="3" name="Content Placeholder 2"/>
          <p:cNvSpPr>
            <a:spLocks noGrp="1"/>
          </p:cNvSpPr>
          <p:nvPr>
            <p:ph idx="1"/>
          </p:nvPr>
        </p:nvSpPr>
        <p:spPr>
          <a:xfrm>
            <a:off x="609600" y="1295400"/>
            <a:ext cx="7924800" cy="4876800"/>
          </a:xfrm>
        </p:spPr>
        <p:txBody>
          <a:bodyPr>
            <a:normAutofit/>
          </a:bodyPr>
          <a:lstStyle/>
          <a:p>
            <a:pPr algn="just" rtl="0"/>
            <a:r>
              <a:rPr lang="en-US" b="1"/>
              <a:t>Strategic organizational </a:t>
            </a:r>
            <a:r>
              <a:rPr lang="en-US" b="1"/>
              <a:t>excellence is not achieved by chance; it is the result of </a:t>
            </a:r>
            <a:r>
              <a:rPr lang="en-US" b="1"/>
              <a:t>well-designed </a:t>
            </a:r>
            <a:r>
              <a:rPr lang="en-US" b="1"/>
              <a:t>managerial efforts that guide the organization toward sustained superior performance</a:t>
            </a:r>
            <a:r>
              <a:rPr lang="en-US" b="1"/>
              <a:t>. </a:t>
            </a:r>
            <a:endParaRPr lang="en-US" b="1" smtClean="0"/>
          </a:p>
          <a:p>
            <a:pPr marL="68580" indent="0" algn="just" rtl="0">
              <a:buNone/>
            </a:pPr>
            <a:endParaRPr lang="en-US" b="1"/>
          </a:p>
          <a:p>
            <a:pPr algn="just" rtl="0"/>
            <a:r>
              <a:rPr lang="en-US" b="1"/>
              <a:t>In </a:t>
            </a:r>
            <a:r>
              <a:rPr lang="en-US" b="1"/>
              <a:t>today’s highly dynamic and competitive environment, excellence goes beyond operational efficiency to include innovation, adaptability, and long-term value creation</a:t>
            </a:r>
            <a:r>
              <a:rPr lang="en-US" b="1"/>
              <a:t>. </a:t>
            </a:r>
            <a:endParaRPr lang="en-US" b="1" smtClean="0"/>
          </a:p>
          <a:p>
            <a:pPr algn="just" rtl="0"/>
            <a:r>
              <a:rPr lang="en-US" b="1" smtClean="0"/>
              <a:t>This </a:t>
            </a:r>
            <a:r>
              <a:rPr lang="en-US" b="1"/>
              <a:t>is where </a:t>
            </a:r>
            <a:r>
              <a:rPr lang="en-US" b="1">
                <a:solidFill>
                  <a:srgbClr val="FF0000"/>
                </a:solidFill>
              </a:rPr>
              <a:t>strategic management </a:t>
            </a:r>
            <a:r>
              <a:rPr lang="en-US" b="1"/>
              <a:t>plays a central role.</a:t>
            </a:r>
            <a:endParaRPr lang="en-US" b="1" dirty="0"/>
          </a:p>
        </p:txBody>
      </p:sp>
    </p:spTree>
    <p:extLst>
      <p:ext uri="{BB962C8B-B14F-4D97-AF65-F5344CB8AC3E}">
        <p14:creationId xmlns:p14="http://schemas.microsoft.com/office/powerpoint/2010/main" val="2675038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7024744" cy="762000"/>
          </a:xfrm>
        </p:spPr>
        <p:txBody>
          <a:bodyPr>
            <a:normAutofit/>
          </a:bodyPr>
          <a:lstStyle/>
          <a:p>
            <a:r>
              <a:rPr lang="en-US" sz="3000" b="1" dirty="0">
                <a:solidFill>
                  <a:srgbClr val="00B050"/>
                </a:solidFill>
              </a:rPr>
              <a:t>Strategic Organizational  Excellence </a:t>
            </a:r>
            <a:endParaRPr lang="ar-EG" sz="3000" b="1" dirty="0"/>
          </a:p>
        </p:txBody>
      </p:sp>
      <p:sp>
        <p:nvSpPr>
          <p:cNvPr id="3" name="Content Placeholder 2"/>
          <p:cNvSpPr>
            <a:spLocks noGrp="1"/>
          </p:cNvSpPr>
          <p:nvPr>
            <p:ph idx="1"/>
          </p:nvPr>
        </p:nvSpPr>
        <p:spPr>
          <a:xfrm>
            <a:off x="533400" y="1219200"/>
            <a:ext cx="8077200" cy="5257800"/>
          </a:xfrm>
        </p:spPr>
        <p:txBody>
          <a:bodyPr>
            <a:normAutofit/>
          </a:bodyPr>
          <a:lstStyle/>
          <a:p>
            <a:pPr marL="457200" lvl="0" indent="-334963" algn="just" rtl="0"/>
            <a:r>
              <a:rPr lang="en-US" b="1" smtClean="0">
                <a:solidFill>
                  <a:srgbClr val="FF0000"/>
                </a:solidFill>
              </a:rPr>
              <a:t>Strategic </a:t>
            </a:r>
            <a:r>
              <a:rPr lang="en-US" b="1" dirty="0">
                <a:solidFill>
                  <a:srgbClr val="FF0000"/>
                </a:solidFill>
              </a:rPr>
              <a:t>Management: </a:t>
            </a:r>
            <a:r>
              <a:rPr lang="en-US" b="1" dirty="0">
                <a:solidFill>
                  <a:srgbClr val="3E3D2D"/>
                </a:solidFill>
              </a:rPr>
              <a:t>Focusing on the formulation, implementation, and evaluation of strategies to achieve long-term organizational goals and sustain competitive </a:t>
            </a:r>
            <a:r>
              <a:rPr lang="en-US" b="1">
                <a:solidFill>
                  <a:srgbClr val="3E3D2D"/>
                </a:solidFill>
              </a:rPr>
              <a:t>advantage</a:t>
            </a:r>
            <a:r>
              <a:rPr lang="en-US" b="1" smtClean="0">
                <a:solidFill>
                  <a:srgbClr val="3E3D2D"/>
                </a:solidFill>
              </a:rPr>
              <a:t>.</a:t>
            </a:r>
          </a:p>
          <a:p>
            <a:pPr marL="457200" indent="-334963" algn="just" rtl="0"/>
            <a:r>
              <a:rPr lang="en-US" b="1">
                <a:solidFill>
                  <a:srgbClr val="FF0000"/>
                </a:solidFill>
              </a:rPr>
              <a:t>Strategy is the output of </a:t>
            </a:r>
            <a:r>
              <a:rPr lang="en-US" b="1" u="sng">
                <a:solidFill>
                  <a:srgbClr val="FF0000"/>
                </a:solidFill>
              </a:rPr>
              <a:t>strategic management</a:t>
            </a:r>
            <a:r>
              <a:rPr lang="en-US"/>
              <a:t>.</a:t>
            </a:r>
          </a:p>
          <a:p>
            <a:pPr marL="457200" lvl="0" indent="-334963" algn="just" rtl="0"/>
            <a:endParaRPr lang="en-US" b="1" dirty="0">
              <a:solidFill>
                <a:srgbClr val="3E3D2D"/>
              </a:solidFill>
            </a:endParaRPr>
          </a:p>
          <a:p>
            <a:pPr marL="457200" indent="-334963" algn="l" rtl="0"/>
            <a:endParaRPr lang="en-US" dirty="0"/>
          </a:p>
          <a:p>
            <a:pPr marL="457200" indent="-334963" algn="l" rtl="0"/>
            <a:endParaRPr lang="ar-EG" b="1" dirty="0"/>
          </a:p>
          <a:p>
            <a:endParaRPr lang="ar-EG" dirty="0"/>
          </a:p>
        </p:txBody>
      </p:sp>
      <p:pic>
        <p:nvPicPr>
          <p:cNvPr id="4" name="Picture 3"/>
          <p:cNvPicPr>
            <a:picLocks noChangeAspect="1"/>
          </p:cNvPicPr>
          <p:nvPr/>
        </p:nvPicPr>
        <p:blipFill>
          <a:blip r:embed="rId2"/>
          <a:stretch>
            <a:fillRect/>
          </a:stretch>
        </p:blipFill>
        <p:spPr>
          <a:xfrm>
            <a:off x="838200" y="3276600"/>
            <a:ext cx="7772400" cy="3200400"/>
          </a:xfrm>
          <a:prstGeom prst="rect">
            <a:avLst/>
          </a:prstGeom>
        </p:spPr>
      </p:pic>
    </p:spTree>
    <p:extLst>
      <p:ext uri="{BB962C8B-B14F-4D97-AF65-F5344CB8AC3E}">
        <p14:creationId xmlns:p14="http://schemas.microsoft.com/office/powerpoint/2010/main" val="9163476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85800"/>
            <a:ext cx="7696200" cy="609600"/>
          </a:xfrm>
        </p:spPr>
        <p:txBody>
          <a:bodyPr>
            <a:noAutofit/>
          </a:bodyPr>
          <a:lstStyle/>
          <a:p>
            <a:r>
              <a:rPr lang="en-US" sz="3200" b="1" dirty="0" smtClean="0">
                <a:solidFill>
                  <a:srgbClr val="FF0000"/>
                </a:solidFill>
              </a:rPr>
              <a:t>Strategic </a:t>
            </a:r>
            <a:r>
              <a:rPr lang="en-US" sz="3200" b="1" dirty="0">
                <a:solidFill>
                  <a:srgbClr val="FF0000"/>
                </a:solidFill>
              </a:rPr>
              <a:t>Organizational </a:t>
            </a:r>
            <a:r>
              <a:rPr lang="en-US" sz="3200" b="1" dirty="0" smtClean="0">
                <a:solidFill>
                  <a:srgbClr val="FF0000"/>
                </a:solidFill>
              </a:rPr>
              <a:t> Excellence </a:t>
            </a:r>
            <a:endParaRPr lang="en-US" sz="3200" b="1" dirty="0">
              <a:solidFill>
                <a:srgbClr val="FF0000"/>
              </a:solidFill>
            </a:endParaRPr>
          </a:p>
        </p:txBody>
      </p:sp>
      <p:sp>
        <p:nvSpPr>
          <p:cNvPr id="3" name="Content Placeholder 2"/>
          <p:cNvSpPr>
            <a:spLocks noGrp="1"/>
          </p:cNvSpPr>
          <p:nvPr>
            <p:ph idx="1"/>
          </p:nvPr>
        </p:nvSpPr>
        <p:spPr>
          <a:xfrm>
            <a:off x="609600" y="1295400"/>
            <a:ext cx="7924800" cy="4876800"/>
          </a:xfrm>
        </p:spPr>
        <p:txBody>
          <a:bodyPr>
            <a:normAutofit/>
          </a:bodyPr>
          <a:lstStyle/>
          <a:p>
            <a:pPr marL="68580" indent="0" algn="just" rtl="0">
              <a:buNone/>
            </a:pPr>
            <a:endParaRPr lang="en-US" b="1" dirty="0"/>
          </a:p>
          <a:p>
            <a:pPr algn="just" rtl="0"/>
            <a:r>
              <a:rPr lang="en-US" b="1" smtClean="0">
                <a:solidFill>
                  <a:srgbClr val="0070C0"/>
                </a:solidFill>
              </a:rPr>
              <a:t>The </a:t>
            </a:r>
            <a:r>
              <a:rPr lang="en-US" b="1" dirty="0">
                <a:solidFill>
                  <a:srgbClr val="0070C0"/>
                </a:solidFill>
              </a:rPr>
              <a:t>Strategy </a:t>
            </a:r>
            <a:r>
              <a:rPr lang="en-US" b="1">
                <a:solidFill>
                  <a:srgbClr val="0070C0"/>
                </a:solidFill>
              </a:rPr>
              <a:t>Excellence </a:t>
            </a:r>
            <a:r>
              <a:rPr lang="en-US" b="1" smtClean="0">
                <a:solidFill>
                  <a:srgbClr val="0070C0"/>
                </a:solidFill>
              </a:rPr>
              <a:t>is </a:t>
            </a:r>
            <a:r>
              <a:rPr lang="en-US" b="1" dirty="0">
                <a:solidFill>
                  <a:srgbClr val="0070C0"/>
                </a:solidFill>
              </a:rPr>
              <a:t>about </a:t>
            </a:r>
            <a:r>
              <a:rPr lang="en-US" b="1">
                <a:solidFill>
                  <a:srgbClr val="0070C0"/>
                </a:solidFill>
              </a:rPr>
              <a:t>strategy </a:t>
            </a:r>
            <a:r>
              <a:rPr lang="en-US" b="1" smtClean="0">
                <a:solidFill>
                  <a:srgbClr val="0070C0"/>
                </a:solidFill>
              </a:rPr>
              <a:t>formulation, implementation and evaluation </a:t>
            </a:r>
            <a:r>
              <a:rPr lang="en-US" b="1" dirty="0">
                <a:solidFill>
                  <a:srgbClr val="0070C0"/>
                </a:solidFill>
              </a:rPr>
              <a:t>as it relates to your own </a:t>
            </a:r>
            <a:r>
              <a:rPr lang="en-US" b="1" dirty="0" smtClean="0">
                <a:solidFill>
                  <a:srgbClr val="0070C0"/>
                </a:solidFill>
              </a:rPr>
              <a:t>organization's </a:t>
            </a:r>
            <a:r>
              <a:rPr lang="en-US" b="1" dirty="0">
                <a:solidFill>
                  <a:srgbClr val="0070C0"/>
                </a:solidFill>
              </a:rPr>
              <a:t>ability to execute it perfectly</a:t>
            </a:r>
            <a:r>
              <a:rPr lang="en-US" b="1">
                <a:solidFill>
                  <a:srgbClr val="0070C0"/>
                </a:solidFill>
              </a:rPr>
              <a:t>. </a:t>
            </a:r>
            <a:endParaRPr lang="en-US" b="1" dirty="0">
              <a:solidFill>
                <a:srgbClr val="0070C0"/>
              </a:solidFill>
            </a:endParaRPr>
          </a:p>
        </p:txBody>
      </p:sp>
    </p:spTree>
    <p:extLst>
      <p:ext uri="{BB962C8B-B14F-4D97-AF65-F5344CB8AC3E}">
        <p14:creationId xmlns:p14="http://schemas.microsoft.com/office/powerpoint/2010/main" val="3131588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7024744" cy="762000"/>
          </a:xfrm>
        </p:spPr>
        <p:txBody>
          <a:bodyPr>
            <a:normAutofit/>
          </a:bodyPr>
          <a:lstStyle/>
          <a:p>
            <a:r>
              <a:rPr lang="en-US" sz="3000" b="1" dirty="0">
                <a:solidFill>
                  <a:srgbClr val="00B050"/>
                </a:solidFill>
              </a:rPr>
              <a:t>Strategic Organizational  Excellence </a:t>
            </a:r>
            <a:endParaRPr lang="ar-EG" sz="3000" b="1" dirty="0"/>
          </a:p>
        </p:txBody>
      </p:sp>
      <p:sp>
        <p:nvSpPr>
          <p:cNvPr id="3" name="Content Placeholder 2"/>
          <p:cNvSpPr>
            <a:spLocks noGrp="1"/>
          </p:cNvSpPr>
          <p:nvPr>
            <p:ph idx="1"/>
          </p:nvPr>
        </p:nvSpPr>
        <p:spPr>
          <a:xfrm>
            <a:off x="533400" y="1219200"/>
            <a:ext cx="8077200" cy="5257800"/>
          </a:xfrm>
        </p:spPr>
        <p:txBody>
          <a:bodyPr>
            <a:normAutofit/>
          </a:bodyPr>
          <a:lstStyle/>
          <a:p>
            <a:pPr algn="just" rtl="0"/>
            <a:r>
              <a:rPr lang="en-US" b="1" dirty="0" smtClean="0"/>
              <a:t>Any </a:t>
            </a:r>
            <a:r>
              <a:rPr lang="en-US" b="1" dirty="0"/>
              <a:t>organization has a set of objectives (ends), which have to be achieved through different </a:t>
            </a:r>
            <a:r>
              <a:rPr lang="en-US" b="1" dirty="0" smtClean="0"/>
              <a:t>means such as plans and strategies.</a:t>
            </a:r>
            <a:endParaRPr lang="en-US" b="1" dirty="0"/>
          </a:p>
          <a:p>
            <a:pPr marL="457200" indent="-334963" algn="l" rtl="0"/>
            <a:r>
              <a:rPr lang="en-US" b="1" dirty="0" smtClean="0">
                <a:solidFill>
                  <a:srgbClr val="FF0000"/>
                </a:solidFill>
              </a:rPr>
              <a:t>A plan: </a:t>
            </a:r>
            <a:r>
              <a:rPr lang="en-US" b="1" dirty="0">
                <a:solidFill>
                  <a:srgbClr val="FF0000"/>
                </a:solidFill>
              </a:rPr>
              <a:t>is a detailed and structured outline of steps or actions designed to achieve a specific goal or objective. </a:t>
            </a:r>
            <a:endParaRPr lang="en-US" b="1" dirty="0" smtClean="0">
              <a:solidFill>
                <a:schemeClr val="bg2">
                  <a:lumMod val="50000"/>
                </a:schemeClr>
              </a:solidFill>
            </a:endParaRPr>
          </a:p>
          <a:p>
            <a:pPr marL="457200" indent="-334963" algn="l" rtl="0"/>
            <a:r>
              <a:rPr lang="en-US" b="1" dirty="0" smtClean="0">
                <a:solidFill>
                  <a:schemeClr val="bg2">
                    <a:lumMod val="50000"/>
                  </a:schemeClr>
                </a:solidFill>
              </a:rPr>
              <a:t>A </a:t>
            </a:r>
            <a:r>
              <a:rPr lang="en-US" b="1" dirty="0">
                <a:solidFill>
                  <a:schemeClr val="bg2">
                    <a:lumMod val="50000"/>
                  </a:schemeClr>
                </a:solidFill>
              </a:rPr>
              <a:t>strategy is a broader, high-level approach or framework that defines the why and what of achieving long-term goals. </a:t>
            </a:r>
            <a:endParaRPr lang="en-US" b="1" dirty="0" smtClean="0">
              <a:solidFill>
                <a:schemeClr val="bg2">
                  <a:lumMod val="50000"/>
                </a:schemeClr>
              </a:solidFill>
            </a:endParaRPr>
          </a:p>
          <a:p>
            <a:pPr marL="457200" indent="-334963" algn="l" rtl="0"/>
            <a:endParaRPr lang="en-US" b="1" dirty="0" smtClean="0">
              <a:solidFill>
                <a:schemeClr val="bg2">
                  <a:lumMod val="50000"/>
                </a:schemeClr>
              </a:solidFill>
            </a:endParaRPr>
          </a:p>
          <a:p>
            <a:pPr marL="457200" indent="-334963" algn="l" rtl="0"/>
            <a:r>
              <a:rPr lang="en-US" b="1" dirty="0" smtClean="0">
                <a:solidFill>
                  <a:schemeClr val="bg2">
                    <a:lumMod val="50000"/>
                  </a:schemeClr>
                </a:solidFill>
              </a:rPr>
              <a:t>Key </a:t>
            </a:r>
            <a:r>
              <a:rPr lang="en-US" b="1" dirty="0">
                <a:solidFill>
                  <a:schemeClr val="bg2">
                    <a:lumMod val="50000"/>
                  </a:schemeClr>
                </a:solidFill>
              </a:rPr>
              <a:t>Characteristics of a Strategy</a:t>
            </a:r>
            <a:r>
              <a:rPr lang="en-US" b="1" dirty="0" smtClean="0">
                <a:solidFill>
                  <a:schemeClr val="bg2">
                    <a:lumMod val="50000"/>
                  </a:schemeClr>
                </a:solidFill>
              </a:rPr>
              <a:t>: Vision-oriented</a:t>
            </a:r>
            <a:r>
              <a:rPr lang="en-US" b="1" dirty="0">
                <a:solidFill>
                  <a:schemeClr val="bg2">
                    <a:lumMod val="50000"/>
                  </a:schemeClr>
                </a:solidFill>
              </a:rPr>
              <a:t>: Focuses on the long-term </a:t>
            </a:r>
            <a:r>
              <a:rPr lang="en-US" b="1" dirty="0" smtClean="0">
                <a:solidFill>
                  <a:schemeClr val="bg2">
                    <a:lumMod val="50000"/>
                  </a:schemeClr>
                </a:solidFill>
              </a:rPr>
              <a:t>direction.</a:t>
            </a:r>
          </a:p>
          <a:p>
            <a:pPr marL="457200" indent="-334963" algn="l" rtl="0"/>
            <a:r>
              <a:rPr lang="en-US" b="1" u="sng" dirty="0" smtClean="0">
                <a:solidFill>
                  <a:srgbClr val="00B050"/>
                </a:solidFill>
              </a:rPr>
              <a:t>WHICH ONE COMES FIRST?</a:t>
            </a:r>
          </a:p>
        </p:txBody>
      </p:sp>
    </p:spTree>
    <p:extLst>
      <p:ext uri="{BB962C8B-B14F-4D97-AF65-F5344CB8AC3E}">
        <p14:creationId xmlns:p14="http://schemas.microsoft.com/office/powerpoint/2010/main" val="14600007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024744" cy="1143000"/>
          </a:xfrm>
        </p:spPr>
        <p:txBody>
          <a:bodyPr>
            <a:normAutofit/>
          </a:bodyPr>
          <a:lstStyle/>
          <a:p>
            <a:r>
              <a:rPr lang="en-US" sz="3000" b="1" dirty="0">
                <a:solidFill>
                  <a:srgbClr val="00B050"/>
                </a:solidFill>
              </a:rPr>
              <a:t>Strategic Organizational  Excellence </a:t>
            </a:r>
            <a:endParaRPr lang="ar-EG" sz="3000" b="1" dirty="0"/>
          </a:p>
        </p:txBody>
      </p:sp>
      <p:sp>
        <p:nvSpPr>
          <p:cNvPr id="3" name="Content Placeholder 2"/>
          <p:cNvSpPr>
            <a:spLocks noGrp="1"/>
          </p:cNvSpPr>
          <p:nvPr>
            <p:ph idx="1"/>
          </p:nvPr>
        </p:nvSpPr>
        <p:spPr>
          <a:xfrm>
            <a:off x="457200" y="1066800"/>
            <a:ext cx="8229600" cy="5486400"/>
          </a:xfrm>
        </p:spPr>
        <p:txBody>
          <a:bodyPr>
            <a:normAutofit lnSpcReduction="10000"/>
          </a:bodyPr>
          <a:lstStyle/>
          <a:p>
            <a:pPr algn="just" rtl="0"/>
            <a:r>
              <a:rPr lang="en-US" sz="2900" b="1" dirty="0" smtClean="0">
                <a:solidFill>
                  <a:schemeClr val="accent1">
                    <a:lumMod val="75000"/>
                  </a:schemeClr>
                </a:solidFill>
              </a:rPr>
              <a:t>In </a:t>
            </a:r>
            <a:r>
              <a:rPr lang="en-US" sz="2900" b="1" dirty="0">
                <a:solidFill>
                  <a:schemeClr val="accent1">
                    <a:lumMod val="75000"/>
                  </a:schemeClr>
                </a:solidFill>
              </a:rPr>
              <a:t>a perfect world the strategy always comes before a plan and shapes the details of the plan. </a:t>
            </a:r>
            <a:endParaRPr lang="en-US" sz="2900" b="1" dirty="0" smtClean="0">
              <a:solidFill>
                <a:schemeClr val="accent1">
                  <a:lumMod val="75000"/>
                </a:schemeClr>
              </a:solidFill>
            </a:endParaRPr>
          </a:p>
          <a:p>
            <a:pPr algn="l" rtl="0"/>
            <a:r>
              <a:rPr lang="en-US" sz="3200" b="1" dirty="0"/>
              <a:t>Strategy Comes First</a:t>
            </a:r>
          </a:p>
          <a:p>
            <a:pPr algn="l" rtl="0"/>
            <a:r>
              <a:rPr lang="en-US" sz="3200" b="1" dirty="0" smtClean="0"/>
              <a:t>Why?</a:t>
            </a:r>
            <a:r>
              <a:rPr lang="en-US" sz="3200" dirty="0" smtClean="0"/>
              <a:t> A strategy defines the </a:t>
            </a:r>
            <a:r>
              <a:rPr lang="en-US" sz="3200" b="1" dirty="0" smtClean="0"/>
              <a:t>big picture</a:t>
            </a:r>
            <a:r>
              <a:rPr lang="en-US" sz="3200" dirty="0" smtClean="0"/>
              <a:t>—the </a:t>
            </a:r>
            <a:r>
              <a:rPr lang="en-US" sz="3200" i="1" dirty="0" smtClean="0"/>
              <a:t>what</a:t>
            </a:r>
            <a:r>
              <a:rPr lang="en-US" sz="3200" dirty="0" smtClean="0"/>
              <a:t> and </a:t>
            </a:r>
            <a:r>
              <a:rPr lang="en-US" sz="3200" i="1" dirty="0" smtClean="0"/>
              <a:t>why</a:t>
            </a:r>
            <a:r>
              <a:rPr lang="en-US" sz="3200" dirty="0" smtClean="0"/>
              <a:t> behind achieving a goal. </a:t>
            </a:r>
          </a:p>
          <a:p>
            <a:pPr algn="just" rtl="0"/>
            <a:r>
              <a:rPr lang="en-US" sz="3200" b="1" dirty="0" smtClean="0"/>
              <a:t>A plan breaks the strategy into actionable steps—the how, when, and who needed to implement the strategy.</a:t>
            </a:r>
            <a:endParaRPr lang="ar-EG" sz="3200" b="1" dirty="0"/>
          </a:p>
        </p:txBody>
      </p:sp>
    </p:spTree>
    <p:extLst>
      <p:ext uri="{BB962C8B-B14F-4D97-AF65-F5344CB8AC3E}">
        <p14:creationId xmlns:p14="http://schemas.microsoft.com/office/powerpoint/2010/main" val="21353675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024744" cy="1143000"/>
          </a:xfrm>
        </p:spPr>
        <p:txBody>
          <a:bodyPr>
            <a:normAutofit/>
          </a:bodyPr>
          <a:lstStyle/>
          <a:p>
            <a:r>
              <a:rPr lang="en-US" sz="3000" b="1" dirty="0">
                <a:solidFill>
                  <a:srgbClr val="00B050"/>
                </a:solidFill>
              </a:rPr>
              <a:t>Strategic Organizational  Excellence </a:t>
            </a:r>
            <a:endParaRPr lang="ar-EG" sz="3000" b="1" dirty="0"/>
          </a:p>
        </p:txBody>
      </p:sp>
      <p:sp>
        <p:nvSpPr>
          <p:cNvPr id="3" name="Content Placeholder 2"/>
          <p:cNvSpPr>
            <a:spLocks noGrp="1"/>
          </p:cNvSpPr>
          <p:nvPr>
            <p:ph idx="1"/>
          </p:nvPr>
        </p:nvSpPr>
        <p:spPr>
          <a:xfrm>
            <a:off x="457200" y="1066800"/>
            <a:ext cx="8229600" cy="5486400"/>
          </a:xfrm>
        </p:spPr>
        <p:txBody>
          <a:bodyPr>
            <a:normAutofit/>
          </a:bodyPr>
          <a:lstStyle/>
          <a:p>
            <a:pPr algn="just" rtl="0"/>
            <a:r>
              <a:rPr lang="en-US" sz="2900" b="1" dirty="0">
                <a:solidFill>
                  <a:srgbClr val="FF0000"/>
                </a:solidFill>
              </a:rPr>
              <a:t>Strategy without a plan: </a:t>
            </a:r>
            <a:r>
              <a:rPr lang="en-US" sz="2900" b="1" dirty="0">
                <a:solidFill>
                  <a:schemeClr val="accent1">
                    <a:lumMod val="75000"/>
                  </a:schemeClr>
                </a:solidFill>
              </a:rPr>
              <a:t>Direction is clear, but execution </a:t>
            </a:r>
            <a:r>
              <a:rPr lang="en-US" sz="2900" b="1">
                <a:solidFill>
                  <a:schemeClr val="accent1">
                    <a:lumMod val="75000"/>
                  </a:schemeClr>
                </a:solidFill>
              </a:rPr>
              <a:t>may </a:t>
            </a:r>
            <a:r>
              <a:rPr lang="en-US" sz="2900" b="1" smtClean="0">
                <a:solidFill>
                  <a:schemeClr val="accent1">
                    <a:lumMod val="75000"/>
                  </a:schemeClr>
                </a:solidFill>
              </a:rPr>
              <a:t>fail </a:t>
            </a:r>
            <a:r>
              <a:rPr lang="en-US" sz="2900" b="1" dirty="0">
                <a:solidFill>
                  <a:schemeClr val="accent1">
                    <a:lumMod val="75000"/>
                  </a:schemeClr>
                </a:solidFill>
              </a:rPr>
              <a:t>due to a lack of </a:t>
            </a:r>
            <a:r>
              <a:rPr lang="en-US" sz="2900" b="1" dirty="0" smtClean="0">
                <a:solidFill>
                  <a:schemeClr val="accent1">
                    <a:lumMod val="75000"/>
                  </a:schemeClr>
                </a:solidFill>
              </a:rPr>
              <a:t>structure.</a:t>
            </a:r>
          </a:p>
          <a:p>
            <a:pPr algn="just" rtl="0"/>
            <a:endParaRPr lang="en-US" sz="2900" b="1" dirty="0">
              <a:solidFill>
                <a:schemeClr val="accent1">
                  <a:lumMod val="75000"/>
                </a:schemeClr>
              </a:solidFill>
            </a:endParaRPr>
          </a:p>
          <a:p>
            <a:pPr algn="just" rtl="0"/>
            <a:endParaRPr lang="en-US" sz="2900" b="1" dirty="0" smtClean="0">
              <a:solidFill>
                <a:schemeClr val="accent1">
                  <a:lumMod val="75000"/>
                </a:schemeClr>
              </a:solidFill>
            </a:endParaRPr>
          </a:p>
          <a:p>
            <a:pPr algn="just" rtl="0"/>
            <a:r>
              <a:rPr lang="en-US" sz="2900" b="1" dirty="0" smtClean="0">
                <a:solidFill>
                  <a:srgbClr val="FF0000"/>
                </a:solidFill>
              </a:rPr>
              <a:t>Plan </a:t>
            </a:r>
            <a:r>
              <a:rPr lang="en-US" sz="2900" b="1" dirty="0">
                <a:solidFill>
                  <a:srgbClr val="FF0000"/>
                </a:solidFill>
              </a:rPr>
              <a:t>without a strategy:</a:t>
            </a:r>
            <a:r>
              <a:rPr lang="en-US" sz="2900" b="1" dirty="0">
                <a:solidFill>
                  <a:schemeClr val="accent1">
                    <a:lumMod val="75000"/>
                  </a:schemeClr>
                </a:solidFill>
              </a:rPr>
              <a:t> Actions may be efficient but misaligned with long-term goals or the external environment.</a:t>
            </a:r>
            <a:endParaRPr lang="ar-EG" sz="3200" b="1" dirty="0"/>
          </a:p>
        </p:txBody>
      </p:sp>
    </p:spTree>
    <p:extLst>
      <p:ext uri="{BB962C8B-B14F-4D97-AF65-F5344CB8AC3E}">
        <p14:creationId xmlns:p14="http://schemas.microsoft.com/office/powerpoint/2010/main" val="41793040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
            <a:ext cx="7024744" cy="1143000"/>
          </a:xfrm>
        </p:spPr>
        <p:txBody>
          <a:bodyPr>
            <a:normAutofit/>
          </a:bodyPr>
          <a:lstStyle/>
          <a:p>
            <a:r>
              <a:rPr lang="en-US" sz="3000" b="1" dirty="0">
                <a:solidFill>
                  <a:srgbClr val="00B050"/>
                </a:solidFill>
              </a:rPr>
              <a:t>Strategic Organizational  Excellence </a:t>
            </a:r>
            <a:endParaRPr lang="ar-EG" sz="3000" b="1" dirty="0"/>
          </a:p>
        </p:txBody>
      </p:sp>
      <p:sp>
        <p:nvSpPr>
          <p:cNvPr id="3" name="Content Placeholder 2"/>
          <p:cNvSpPr>
            <a:spLocks noGrp="1"/>
          </p:cNvSpPr>
          <p:nvPr>
            <p:ph idx="1"/>
          </p:nvPr>
        </p:nvSpPr>
        <p:spPr>
          <a:xfrm>
            <a:off x="533400" y="1158240"/>
            <a:ext cx="8153400" cy="5394960"/>
          </a:xfrm>
        </p:spPr>
        <p:txBody>
          <a:bodyPr>
            <a:normAutofit fontScale="70000" lnSpcReduction="20000"/>
          </a:bodyPr>
          <a:lstStyle/>
          <a:p>
            <a:pPr algn="l" rtl="0"/>
            <a:r>
              <a:rPr lang="en-US" sz="2800" b="1" dirty="0">
                <a:solidFill>
                  <a:srgbClr val="0070C0"/>
                </a:solidFill>
              </a:rPr>
              <a:t>The purpose of the strategy is to achieve the </a:t>
            </a:r>
            <a:r>
              <a:rPr lang="en-US" sz="2800" b="1" u="sng" dirty="0">
                <a:solidFill>
                  <a:srgbClr val="0070C0"/>
                </a:solidFill>
              </a:rPr>
              <a:t>best fit</a:t>
            </a:r>
            <a:r>
              <a:rPr lang="en-US" sz="2800" b="1" dirty="0">
                <a:solidFill>
                  <a:srgbClr val="0070C0"/>
                </a:solidFill>
              </a:rPr>
              <a:t> between the organization and its external environment. </a:t>
            </a:r>
          </a:p>
          <a:p>
            <a:pPr algn="l" rtl="0"/>
            <a:r>
              <a:rPr lang="en-US" sz="2800" dirty="0" smtClean="0"/>
              <a:t>To achieve the best fit, I have to deal with 2 sides; </a:t>
            </a:r>
            <a:r>
              <a:rPr lang="en-US" sz="2800" b="1" dirty="0" smtClean="0"/>
              <a:t>the organization and the external environment.</a:t>
            </a:r>
          </a:p>
          <a:p>
            <a:pPr marL="68580" indent="0" algn="l" rtl="0">
              <a:buNone/>
            </a:pPr>
            <a:endParaRPr lang="en-US" sz="2800" b="1" dirty="0"/>
          </a:p>
          <a:p>
            <a:pPr marL="68580" indent="0" algn="l" rtl="0">
              <a:buNone/>
            </a:pPr>
            <a:r>
              <a:rPr lang="en-US" sz="2800" b="1" u="sng" dirty="0" smtClean="0">
                <a:solidFill>
                  <a:srgbClr val="FF0000"/>
                </a:solidFill>
              </a:rPr>
              <a:t>Hence, 2 types of analyses or reviews or assessments should be conducted</a:t>
            </a:r>
            <a:r>
              <a:rPr lang="en-US" sz="2800" b="1" dirty="0" smtClean="0">
                <a:solidFill>
                  <a:srgbClr val="FF0000"/>
                </a:solidFill>
              </a:rPr>
              <a:t>;</a:t>
            </a:r>
            <a:endParaRPr lang="en-US" sz="2800" b="1" dirty="0">
              <a:solidFill>
                <a:srgbClr val="FF0000"/>
              </a:solidFill>
            </a:endParaRPr>
          </a:p>
          <a:p>
            <a:pPr algn="l" rtl="0"/>
            <a:r>
              <a:rPr lang="en-US" sz="2800" b="1" u="sng" dirty="0"/>
              <a:t>The </a:t>
            </a:r>
            <a:r>
              <a:rPr lang="en-US" sz="2800" b="1" u="sng" dirty="0" smtClean="0"/>
              <a:t>internal environment, i.e. The organization</a:t>
            </a:r>
            <a:r>
              <a:rPr lang="en-US" sz="2800" b="1" dirty="0" smtClean="0"/>
              <a:t>: (groups of strengths and weaknesses).</a:t>
            </a:r>
          </a:p>
          <a:p>
            <a:pPr algn="l" rtl="0"/>
            <a:r>
              <a:rPr lang="en-US" sz="2800" b="1" u="sng" dirty="0" smtClean="0"/>
              <a:t>The external environment</a:t>
            </a:r>
            <a:r>
              <a:rPr lang="en-US" sz="2800" b="1" dirty="0" smtClean="0"/>
              <a:t>: (groups of opportunities and threats). </a:t>
            </a:r>
          </a:p>
          <a:p>
            <a:pPr algn="l" rtl="0"/>
            <a:r>
              <a:rPr lang="en-US" sz="2800" b="1" dirty="0" smtClean="0"/>
              <a:t>SO, the </a:t>
            </a:r>
            <a:r>
              <a:rPr lang="en-US" sz="2800" b="1" u="sng" dirty="0" smtClean="0"/>
              <a:t>strategy of any organization</a:t>
            </a:r>
            <a:r>
              <a:rPr lang="en-US" sz="2800" b="1" dirty="0" smtClean="0"/>
              <a:t> is based on matching between the internal and external factors.</a:t>
            </a:r>
          </a:p>
          <a:p>
            <a:pPr algn="l" rtl="0"/>
            <a:endParaRPr lang="en-US" sz="4100" b="1" u="sng" dirty="0"/>
          </a:p>
          <a:p>
            <a:pPr algn="l" rtl="0"/>
            <a:r>
              <a:rPr lang="en-US" sz="4100" b="1" u="sng" dirty="0" smtClean="0"/>
              <a:t>Whenever I lose the match between these two sides, just we have to expect facing severe problems.</a:t>
            </a:r>
            <a:endParaRPr lang="en-US" sz="4100" b="1" u="sng" dirty="0"/>
          </a:p>
          <a:p>
            <a:pPr algn="l" rtl="0"/>
            <a:endParaRPr lang="ar-EG" b="1" dirty="0"/>
          </a:p>
        </p:txBody>
      </p:sp>
    </p:spTree>
    <p:extLst>
      <p:ext uri="{BB962C8B-B14F-4D97-AF65-F5344CB8AC3E}">
        <p14:creationId xmlns:p14="http://schemas.microsoft.com/office/powerpoint/2010/main" val="25170540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
            <a:ext cx="7024744" cy="1143000"/>
          </a:xfrm>
        </p:spPr>
        <p:txBody>
          <a:bodyPr/>
          <a:lstStyle/>
          <a:p>
            <a:r>
              <a:rPr lang="en-US" sz="3000" b="1" dirty="0">
                <a:solidFill>
                  <a:srgbClr val="00B050"/>
                </a:solidFill>
              </a:rPr>
              <a:t>Strategic Organizational  Excellence </a:t>
            </a:r>
            <a:endParaRPr lang="ar-EG" dirty="0"/>
          </a:p>
        </p:txBody>
      </p:sp>
      <p:sp>
        <p:nvSpPr>
          <p:cNvPr id="3" name="Content Placeholder 2"/>
          <p:cNvSpPr>
            <a:spLocks noGrp="1"/>
          </p:cNvSpPr>
          <p:nvPr>
            <p:ph idx="1"/>
          </p:nvPr>
        </p:nvSpPr>
        <p:spPr>
          <a:xfrm>
            <a:off x="355600" y="1905000"/>
            <a:ext cx="8229600" cy="5334000"/>
          </a:xfrm>
        </p:spPr>
        <p:txBody>
          <a:bodyPr>
            <a:normAutofit/>
          </a:bodyPr>
          <a:lstStyle/>
          <a:p>
            <a:pPr marL="68580" indent="0" algn="ctr" rtl="0">
              <a:buNone/>
            </a:pPr>
            <a:r>
              <a:rPr lang="en-US" sz="4000" b="1" dirty="0" smtClean="0">
                <a:solidFill>
                  <a:srgbClr val="FF0000"/>
                </a:solidFill>
              </a:rPr>
              <a:t>At any organization we have to have a clear strategy, but from time to time, such strategy must be reviewed. Why?????????</a:t>
            </a:r>
          </a:p>
        </p:txBody>
      </p:sp>
    </p:spTree>
    <p:extLst>
      <p:ext uri="{BB962C8B-B14F-4D97-AF65-F5344CB8AC3E}">
        <p14:creationId xmlns:p14="http://schemas.microsoft.com/office/powerpoint/2010/main" val="13002386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
            <a:ext cx="7024744" cy="1143000"/>
          </a:xfrm>
        </p:spPr>
        <p:txBody>
          <a:bodyPr/>
          <a:lstStyle/>
          <a:p>
            <a:r>
              <a:rPr lang="en-US" sz="3000" b="1" dirty="0">
                <a:solidFill>
                  <a:srgbClr val="00B050"/>
                </a:solidFill>
              </a:rPr>
              <a:t>Strategic Organizational  Excellence </a:t>
            </a:r>
            <a:endParaRPr lang="ar-EG" dirty="0"/>
          </a:p>
        </p:txBody>
      </p:sp>
      <p:sp>
        <p:nvSpPr>
          <p:cNvPr id="3" name="Content Placeholder 2"/>
          <p:cNvSpPr>
            <a:spLocks noGrp="1"/>
          </p:cNvSpPr>
          <p:nvPr>
            <p:ph idx="1"/>
          </p:nvPr>
        </p:nvSpPr>
        <p:spPr>
          <a:xfrm>
            <a:off x="457200" y="1219200"/>
            <a:ext cx="8229600" cy="5334000"/>
          </a:xfrm>
        </p:spPr>
        <p:txBody>
          <a:bodyPr>
            <a:normAutofit/>
          </a:bodyPr>
          <a:lstStyle/>
          <a:p>
            <a:pPr algn="just" rtl="0"/>
            <a:r>
              <a:rPr lang="en-US" b="1" dirty="0" smtClean="0">
                <a:solidFill>
                  <a:schemeClr val="accent3">
                    <a:lumMod val="75000"/>
                  </a:schemeClr>
                </a:solidFill>
              </a:rPr>
              <a:t>Because it is expected that many changes may take place whether in the organization or in the external environment. Hence, the current strategy may modified or even changed completely. Especially, the external environment is characterized as (</a:t>
            </a:r>
            <a:r>
              <a:rPr lang="en-US" b="1" dirty="0" smtClean="0">
                <a:solidFill>
                  <a:srgbClr val="00B050"/>
                </a:solidFill>
              </a:rPr>
              <a:t>a dynamic environment</a:t>
            </a:r>
            <a:r>
              <a:rPr lang="en-US" b="1" dirty="0" smtClean="0">
                <a:solidFill>
                  <a:schemeClr val="accent3">
                    <a:lumMod val="75000"/>
                  </a:schemeClr>
                </a:solidFill>
              </a:rPr>
              <a:t>).</a:t>
            </a:r>
            <a:endParaRPr lang="en-US" b="1" dirty="0">
              <a:solidFill>
                <a:schemeClr val="accent3">
                  <a:lumMod val="75000"/>
                </a:schemeClr>
              </a:solidFill>
            </a:endParaRPr>
          </a:p>
          <a:p>
            <a:pPr algn="just" rtl="0"/>
            <a:r>
              <a:rPr lang="en-US" b="1" dirty="0" smtClean="0">
                <a:solidFill>
                  <a:schemeClr val="tx1"/>
                </a:solidFill>
              </a:rPr>
              <a:t>So, if any critical change takes place in the dynamic external environment, it should followed by the suitable change in the strategy to cope with this change.</a:t>
            </a:r>
          </a:p>
          <a:p>
            <a:pPr algn="just" rtl="0"/>
            <a:r>
              <a:rPr lang="en-US" b="1" dirty="0" smtClean="0">
                <a:solidFill>
                  <a:schemeClr val="accent3">
                    <a:lumMod val="75000"/>
                  </a:schemeClr>
                </a:solidFill>
              </a:rPr>
              <a:t>Consequently, strategic management is a dynamic process as it depends mainly upon dynamic factors (especially the external environment side).</a:t>
            </a:r>
            <a:endParaRPr lang="ar-EG" b="1" dirty="0">
              <a:solidFill>
                <a:schemeClr val="accent3">
                  <a:lumMod val="75000"/>
                </a:schemeClr>
              </a:solidFill>
            </a:endParaRPr>
          </a:p>
        </p:txBody>
      </p:sp>
    </p:spTree>
    <p:extLst>
      <p:ext uri="{BB962C8B-B14F-4D97-AF65-F5344CB8AC3E}">
        <p14:creationId xmlns:p14="http://schemas.microsoft.com/office/powerpoint/2010/main" val="9667642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700"/>
            <a:ext cx="8153400" cy="1143000"/>
          </a:xfrm>
        </p:spPr>
        <p:txBody>
          <a:bodyPr>
            <a:normAutofit/>
          </a:bodyPr>
          <a:lstStyle/>
          <a:p>
            <a:r>
              <a:rPr lang="en-US" sz="2500" b="1" dirty="0" smtClean="0"/>
              <a:t>Why the external environment is dynamic?</a:t>
            </a:r>
            <a:endParaRPr lang="ar-EG" sz="2500" b="1"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1143000"/>
            <a:ext cx="7848600"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flipV="1">
            <a:off x="609600" y="3200400"/>
            <a:ext cx="8001000" cy="609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8" name="Content Placeholder 2"/>
          <p:cNvSpPr txBox="1">
            <a:spLocks/>
          </p:cNvSpPr>
          <p:nvPr/>
        </p:nvSpPr>
        <p:spPr>
          <a:xfrm>
            <a:off x="457200" y="2667000"/>
            <a:ext cx="8305800" cy="3962400"/>
          </a:xfrm>
          <a:prstGeom prst="rect">
            <a:avLst/>
          </a:prstGeom>
        </p:spPr>
        <p:txBody>
          <a:bodyPr vert="horz" lIns="91440" tIns="45720" rIns="91440" bIns="45720" rtlCol="0">
            <a:noAutofit/>
          </a:bodyPr>
          <a:lstStyle>
            <a:lvl1pPr marL="342900" indent="-274320" algn="r" defTabSz="914400" rtl="1"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r" defTabSz="914400" rtl="1"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r" defTabSz="914400" rtl="1"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r" defTabSz="914400" rtl="1"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r" defTabSz="914400" rtl="1"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algn="just" rtl="0"/>
            <a:r>
              <a:rPr lang="en-US" sz="2000" b="1" dirty="0" smtClean="0">
                <a:solidFill>
                  <a:srgbClr val="FF0000"/>
                </a:solidFill>
              </a:rPr>
              <a:t>Input</a:t>
            </a:r>
            <a:r>
              <a:rPr lang="en-US" sz="2000" dirty="0" smtClean="0">
                <a:solidFill>
                  <a:srgbClr val="FF0000"/>
                </a:solidFill>
              </a:rPr>
              <a:t>:</a:t>
            </a:r>
            <a:r>
              <a:rPr lang="en-US" sz="2000" dirty="0" smtClean="0">
                <a:solidFill>
                  <a:schemeClr val="tx1"/>
                </a:solidFill>
              </a:rPr>
              <a:t> </a:t>
            </a:r>
            <a:r>
              <a:rPr lang="en-US" sz="2000" b="1" dirty="0" smtClean="0">
                <a:solidFill>
                  <a:schemeClr val="tx1"/>
                </a:solidFill>
              </a:rPr>
              <a:t>is concerned with the factor of production (ex. Raw materials).</a:t>
            </a:r>
          </a:p>
          <a:p>
            <a:pPr algn="just" rtl="0"/>
            <a:r>
              <a:rPr lang="en-US" sz="2000" b="1" dirty="0" smtClean="0">
                <a:solidFill>
                  <a:srgbClr val="FF0000"/>
                </a:solidFill>
              </a:rPr>
              <a:t>Process:</a:t>
            </a:r>
            <a:r>
              <a:rPr lang="en-US" sz="2000" b="1" dirty="0" smtClean="0">
                <a:solidFill>
                  <a:schemeClr val="tx1"/>
                </a:solidFill>
              </a:rPr>
              <a:t> includes two aspects: </a:t>
            </a:r>
            <a:r>
              <a:rPr lang="en-US" sz="2000" b="1" u="sng" dirty="0" smtClean="0">
                <a:solidFill>
                  <a:schemeClr val="tx1"/>
                </a:solidFill>
              </a:rPr>
              <a:t>Technology</a:t>
            </a:r>
            <a:r>
              <a:rPr lang="en-US" sz="2000" b="1" dirty="0" smtClean="0">
                <a:solidFill>
                  <a:schemeClr val="tx1"/>
                </a:solidFill>
              </a:rPr>
              <a:t> (to transfer input to output) and </a:t>
            </a:r>
            <a:r>
              <a:rPr lang="en-US" sz="2000" b="1" u="sng" dirty="0" smtClean="0">
                <a:solidFill>
                  <a:schemeClr val="tx1"/>
                </a:solidFill>
              </a:rPr>
              <a:t>HR</a:t>
            </a:r>
            <a:r>
              <a:rPr lang="en-US" sz="2000" b="1" dirty="0" smtClean="0">
                <a:solidFill>
                  <a:schemeClr val="tx1"/>
                </a:solidFill>
              </a:rPr>
              <a:t> (who are using such technology).</a:t>
            </a:r>
          </a:p>
          <a:p>
            <a:pPr algn="just" rtl="0"/>
            <a:r>
              <a:rPr lang="en-US" sz="2000" b="1" dirty="0" smtClean="0">
                <a:solidFill>
                  <a:srgbClr val="FF0000"/>
                </a:solidFill>
              </a:rPr>
              <a:t>Output: </a:t>
            </a:r>
            <a:r>
              <a:rPr lang="en-US" sz="2000" b="1" dirty="0" smtClean="0">
                <a:solidFill>
                  <a:schemeClr val="tx1"/>
                </a:solidFill>
              </a:rPr>
              <a:t>Product/service</a:t>
            </a:r>
          </a:p>
          <a:p>
            <a:pPr algn="just" rtl="0"/>
            <a:r>
              <a:rPr lang="en-US" sz="2000" b="1" dirty="0" smtClean="0">
                <a:solidFill>
                  <a:srgbClr val="0070C0"/>
                </a:solidFill>
              </a:rPr>
              <a:t>From where we can get raw material? From where we can get Technology and recruiting HR? and finally, organizations target to serve whom? </a:t>
            </a:r>
            <a:r>
              <a:rPr lang="en-US" sz="2000" b="1" dirty="0">
                <a:solidFill>
                  <a:schemeClr val="tx1"/>
                </a:solidFill>
              </a:rPr>
              <a:t>The answer is </a:t>
            </a:r>
            <a:r>
              <a:rPr lang="en-US" sz="2000" b="1" dirty="0">
                <a:solidFill>
                  <a:srgbClr val="00B050"/>
                </a:solidFill>
              </a:rPr>
              <a:t>(the external environment). </a:t>
            </a:r>
            <a:endParaRPr lang="en-US" sz="2000" b="1" dirty="0" smtClean="0">
              <a:solidFill>
                <a:srgbClr val="0070C0"/>
              </a:solidFill>
            </a:endParaRPr>
          </a:p>
          <a:p>
            <a:pPr algn="just" rtl="0"/>
            <a:r>
              <a:rPr lang="en-US" sz="2000" b="1" u="sng" dirty="0" smtClean="0">
                <a:solidFill>
                  <a:schemeClr val="tx1"/>
                </a:solidFill>
              </a:rPr>
              <a:t>Therefore, the conclusion is any organization cannot ignore the external environment, otherwise it will be out of the market, as the performance will be affected negatively.</a:t>
            </a:r>
          </a:p>
          <a:p>
            <a:pPr algn="just" rtl="0"/>
            <a:endParaRPr lang="en-US" sz="2000" b="1" dirty="0" smtClean="0">
              <a:solidFill>
                <a:schemeClr val="tx1"/>
              </a:solidFill>
            </a:endParaRPr>
          </a:p>
          <a:p>
            <a:pPr algn="just" rtl="0"/>
            <a:endParaRPr lang="en-US" sz="2000" dirty="0" smtClean="0"/>
          </a:p>
          <a:p>
            <a:pPr algn="just" rtl="0"/>
            <a:endParaRPr lang="en-US" sz="2000" dirty="0" smtClean="0"/>
          </a:p>
          <a:p>
            <a:pPr algn="just" rtl="0"/>
            <a:endParaRPr lang="ar-EG" sz="2000" dirty="0"/>
          </a:p>
        </p:txBody>
      </p:sp>
    </p:spTree>
    <p:extLst>
      <p:ext uri="{BB962C8B-B14F-4D97-AF65-F5344CB8AC3E}">
        <p14:creationId xmlns:p14="http://schemas.microsoft.com/office/powerpoint/2010/main" val="40302606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838200"/>
            <a:ext cx="7024744" cy="801136"/>
          </a:xfrm>
        </p:spPr>
        <p:txBody>
          <a:bodyPr>
            <a:normAutofit/>
          </a:bodyPr>
          <a:lstStyle/>
          <a:p>
            <a:r>
              <a:rPr lang="en-US" sz="2600" b="1" dirty="0" smtClean="0">
                <a:solidFill>
                  <a:srgbClr val="0070C0"/>
                </a:solidFill>
              </a:rPr>
              <a:t>Strategic management process</a:t>
            </a:r>
            <a:endParaRPr lang="ar-EG" sz="2600" b="1" dirty="0">
              <a:solidFill>
                <a:srgbClr val="0070C0"/>
              </a:solidFill>
            </a:endParaRP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1638300"/>
            <a:ext cx="8001000"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Connector 4"/>
          <p:cNvCxnSpPr/>
          <p:nvPr/>
        </p:nvCxnSpPr>
        <p:spPr>
          <a:xfrm>
            <a:off x="4800600" y="2362200"/>
            <a:ext cx="0" cy="29718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7315200" y="2362200"/>
            <a:ext cx="0" cy="297180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55644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457200"/>
            <a:ext cx="7024744" cy="1143000"/>
          </a:xfrm>
        </p:spPr>
        <p:txBody>
          <a:bodyPr/>
          <a:lstStyle/>
          <a:p>
            <a:r>
              <a:rPr lang="en-US" b="1" dirty="0" smtClean="0"/>
              <a:t>Strategy formulation</a:t>
            </a:r>
            <a:endParaRPr lang="ar-EG" b="1" dirty="0"/>
          </a:p>
        </p:txBody>
      </p:sp>
      <p:sp>
        <p:nvSpPr>
          <p:cNvPr id="3" name="Content Placeholder 2"/>
          <p:cNvSpPr>
            <a:spLocks noGrp="1"/>
          </p:cNvSpPr>
          <p:nvPr>
            <p:ph idx="1"/>
          </p:nvPr>
        </p:nvSpPr>
        <p:spPr>
          <a:xfrm>
            <a:off x="533400" y="1752600"/>
            <a:ext cx="7848600" cy="4080029"/>
          </a:xfrm>
        </p:spPr>
        <p:txBody>
          <a:bodyPr>
            <a:normAutofit fontScale="77500" lnSpcReduction="20000"/>
          </a:bodyPr>
          <a:lstStyle/>
          <a:p>
            <a:pPr marL="457200" indent="-388938" algn="l" rtl="0">
              <a:spcBef>
                <a:spcPts val="1200"/>
              </a:spcBef>
              <a:spcAft>
                <a:spcPts val="600"/>
              </a:spcAft>
              <a:buNone/>
            </a:pPr>
            <a:r>
              <a:rPr lang="en-US" sz="2600" b="1" dirty="0">
                <a:solidFill>
                  <a:srgbClr val="FF0000"/>
                </a:solidFill>
              </a:rPr>
              <a:t>Sometimes strategy formulation is called ‘strategic planning’.</a:t>
            </a:r>
          </a:p>
          <a:p>
            <a:pPr marL="457200" indent="-388938" algn="l" rtl="0">
              <a:spcBef>
                <a:spcPts val="1200"/>
              </a:spcBef>
              <a:spcAft>
                <a:spcPts val="600"/>
              </a:spcAft>
              <a:buNone/>
            </a:pPr>
            <a:endParaRPr lang="en-US" b="1" dirty="0" smtClean="0">
              <a:solidFill>
                <a:srgbClr val="0070C0"/>
              </a:solidFill>
            </a:endParaRPr>
          </a:p>
          <a:p>
            <a:pPr marL="457200" indent="-388938" algn="l" rtl="0">
              <a:spcBef>
                <a:spcPts val="1200"/>
              </a:spcBef>
              <a:spcAft>
                <a:spcPts val="600"/>
              </a:spcAft>
              <a:buNone/>
            </a:pPr>
            <a:r>
              <a:rPr lang="en-US" b="1" dirty="0" smtClean="0">
                <a:solidFill>
                  <a:srgbClr val="0070C0"/>
                </a:solidFill>
              </a:rPr>
              <a:t>1- Developing </a:t>
            </a:r>
            <a:r>
              <a:rPr lang="en-US" b="1" dirty="0">
                <a:solidFill>
                  <a:srgbClr val="0070C0"/>
                </a:solidFill>
              </a:rPr>
              <a:t>a vision and </a:t>
            </a:r>
            <a:r>
              <a:rPr lang="en-US" b="1" dirty="0" smtClean="0">
                <a:solidFill>
                  <a:srgbClr val="0070C0"/>
                </a:solidFill>
              </a:rPr>
              <a:t>mission,</a:t>
            </a:r>
          </a:p>
          <a:p>
            <a:pPr marL="457200" indent="-388938" algn="l" rtl="0">
              <a:spcBef>
                <a:spcPts val="1200"/>
              </a:spcBef>
              <a:spcAft>
                <a:spcPts val="600"/>
              </a:spcAft>
              <a:buNone/>
            </a:pPr>
            <a:r>
              <a:rPr lang="en-US" b="1" dirty="0" smtClean="0">
                <a:solidFill>
                  <a:srgbClr val="0070C0"/>
                </a:solidFill>
              </a:rPr>
              <a:t>2- Identifying the external </a:t>
            </a:r>
            <a:r>
              <a:rPr lang="en-US" b="1" dirty="0">
                <a:solidFill>
                  <a:srgbClr val="0070C0"/>
                </a:solidFill>
              </a:rPr>
              <a:t>opportunities and </a:t>
            </a:r>
            <a:r>
              <a:rPr lang="en-US" b="1" dirty="0" smtClean="0">
                <a:solidFill>
                  <a:srgbClr val="0070C0"/>
                </a:solidFill>
              </a:rPr>
              <a:t>threats, simultaneously with </a:t>
            </a:r>
          </a:p>
          <a:p>
            <a:pPr marL="457200" indent="-388938" algn="l" rtl="0">
              <a:spcBef>
                <a:spcPts val="1200"/>
              </a:spcBef>
              <a:spcAft>
                <a:spcPts val="600"/>
              </a:spcAft>
              <a:buNone/>
            </a:pPr>
            <a:r>
              <a:rPr lang="en-US" b="1" dirty="0" smtClean="0">
                <a:solidFill>
                  <a:srgbClr val="0070C0"/>
                </a:solidFill>
              </a:rPr>
              <a:t>3- Determining the internal </a:t>
            </a:r>
            <a:r>
              <a:rPr lang="en-US" b="1" dirty="0">
                <a:solidFill>
                  <a:srgbClr val="0070C0"/>
                </a:solidFill>
              </a:rPr>
              <a:t>strengths and </a:t>
            </a:r>
            <a:r>
              <a:rPr lang="en-US" b="1" dirty="0" smtClean="0">
                <a:solidFill>
                  <a:srgbClr val="0070C0"/>
                </a:solidFill>
              </a:rPr>
              <a:t>weaknesses, </a:t>
            </a:r>
          </a:p>
          <a:p>
            <a:pPr marL="457200" indent="-388938" algn="l" rtl="0">
              <a:spcBef>
                <a:spcPts val="1200"/>
              </a:spcBef>
              <a:spcAft>
                <a:spcPts val="600"/>
              </a:spcAft>
              <a:buNone/>
            </a:pPr>
            <a:r>
              <a:rPr lang="en-US" b="1" dirty="0" smtClean="0">
                <a:solidFill>
                  <a:srgbClr val="0070C0"/>
                </a:solidFill>
              </a:rPr>
              <a:t>4- Establishing </a:t>
            </a:r>
            <a:r>
              <a:rPr lang="en-US" b="1" dirty="0">
                <a:solidFill>
                  <a:srgbClr val="0070C0"/>
                </a:solidFill>
              </a:rPr>
              <a:t>long-term objectives, </a:t>
            </a:r>
            <a:endParaRPr lang="en-US" b="1" dirty="0" smtClean="0">
              <a:solidFill>
                <a:srgbClr val="0070C0"/>
              </a:solidFill>
            </a:endParaRPr>
          </a:p>
          <a:p>
            <a:pPr marL="457200" indent="-388938" algn="l" rtl="0">
              <a:spcBef>
                <a:spcPts val="1200"/>
              </a:spcBef>
              <a:spcAft>
                <a:spcPts val="600"/>
              </a:spcAft>
              <a:buNone/>
            </a:pPr>
            <a:r>
              <a:rPr lang="en-US" b="1" dirty="0" smtClean="0">
                <a:solidFill>
                  <a:srgbClr val="0070C0"/>
                </a:solidFill>
              </a:rPr>
              <a:t>5-Generating </a:t>
            </a:r>
            <a:r>
              <a:rPr lang="en-US" b="1" dirty="0">
                <a:solidFill>
                  <a:srgbClr val="0070C0"/>
                </a:solidFill>
              </a:rPr>
              <a:t>alternative </a:t>
            </a:r>
            <a:r>
              <a:rPr lang="en-US" b="1" dirty="0" smtClean="0">
                <a:solidFill>
                  <a:srgbClr val="0070C0"/>
                </a:solidFill>
              </a:rPr>
              <a:t>strategies, and finally </a:t>
            </a:r>
          </a:p>
          <a:p>
            <a:pPr marL="457200" indent="-388938" algn="l" rtl="0">
              <a:spcBef>
                <a:spcPts val="1200"/>
              </a:spcBef>
              <a:spcAft>
                <a:spcPts val="600"/>
              </a:spcAft>
              <a:buNone/>
            </a:pPr>
            <a:r>
              <a:rPr lang="en-US" b="1" dirty="0" smtClean="0">
                <a:solidFill>
                  <a:srgbClr val="0070C0"/>
                </a:solidFill>
              </a:rPr>
              <a:t>6-Selecting the strategy.</a:t>
            </a:r>
            <a:endParaRPr lang="en-US" b="1" dirty="0">
              <a:solidFill>
                <a:srgbClr val="0070C0"/>
              </a:solidFill>
            </a:endParaRPr>
          </a:p>
        </p:txBody>
      </p:sp>
    </p:spTree>
    <p:extLst>
      <p:ext uri="{BB962C8B-B14F-4D97-AF65-F5344CB8AC3E}">
        <p14:creationId xmlns:p14="http://schemas.microsoft.com/office/powerpoint/2010/main" val="20204788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7024744" cy="990600"/>
          </a:xfrm>
        </p:spPr>
        <p:txBody>
          <a:bodyPr/>
          <a:lstStyle/>
          <a:p>
            <a:r>
              <a:rPr lang="en-US" b="1" i="1" dirty="0"/>
              <a:t>Strategy formulation</a:t>
            </a:r>
            <a:endParaRPr lang="ar-EG" dirty="0"/>
          </a:p>
        </p:txBody>
      </p:sp>
      <p:sp>
        <p:nvSpPr>
          <p:cNvPr id="3" name="Content Placeholder 2"/>
          <p:cNvSpPr>
            <a:spLocks noGrp="1"/>
          </p:cNvSpPr>
          <p:nvPr>
            <p:ph idx="1"/>
          </p:nvPr>
        </p:nvSpPr>
        <p:spPr>
          <a:xfrm>
            <a:off x="609600" y="1295400"/>
            <a:ext cx="7848600" cy="4232429"/>
          </a:xfrm>
        </p:spPr>
        <p:txBody>
          <a:bodyPr>
            <a:noAutofit/>
          </a:bodyPr>
          <a:lstStyle/>
          <a:p>
            <a:pPr algn="just" rtl="0"/>
            <a:r>
              <a:rPr lang="en-US" sz="2000" dirty="0" smtClean="0"/>
              <a:t>is </a:t>
            </a:r>
            <a:r>
              <a:rPr lang="en-US" sz="2000" dirty="0"/>
              <a:t>the process of establishing the organization’s </a:t>
            </a:r>
            <a:r>
              <a:rPr lang="en-US" sz="2000" dirty="0" smtClean="0"/>
              <a:t>objectives</a:t>
            </a:r>
            <a:r>
              <a:rPr lang="en-US" sz="2000" dirty="0"/>
              <a:t>, and choosing among alternative strategies. </a:t>
            </a:r>
          </a:p>
          <a:p>
            <a:pPr algn="just" rtl="0"/>
            <a:r>
              <a:rPr lang="en-US" sz="2000" dirty="0"/>
              <a:t>Strategy-formulation issues </a:t>
            </a:r>
            <a:r>
              <a:rPr lang="en-US" sz="2000" dirty="0" smtClean="0"/>
              <a:t>include: </a:t>
            </a:r>
            <a:r>
              <a:rPr lang="en-US" sz="2000" b="1" dirty="0"/>
              <a:t>deciding what new businesses to enter</a:t>
            </a:r>
            <a:r>
              <a:rPr lang="en-US" sz="2000" dirty="0"/>
              <a:t>, </a:t>
            </a:r>
            <a:r>
              <a:rPr lang="en-US" sz="2000" b="1" dirty="0"/>
              <a:t>what businesses to </a:t>
            </a:r>
            <a:r>
              <a:rPr lang="en-US" sz="2000" b="1" dirty="0" smtClean="0"/>
              <a:t>avoid</a:t>
            </a:r>
            <a:r>
              <a:rPr lang="en-US" sz="2000" dirty="0" smtClean="0"/>
              <a:t>, </a:t>
            </a:r>
            <a:r>
              <a:rPr lang="en-US" sz="2000" b="1" dirty="0"/>
              <a:t>how to allocate resources</a:t>
            </a:r>
            <a:r>
              <a:rPr lang="en-US" sz="2000" dirty="0"/>
              <a:t>, </a:t>
            </a:r>
            <a:r>
              <a:rPr lang="en-US" sz="2000" b="1" dirty="0"/>
              <a:t>whether to expand operations or diversify</a:t>
            </a:r>
            <a:r>
              <a:rPr lang="en-US" sz="2000" dirty="0"/>
              <a:t>, </a:t>
            </a:r>
            <a:r>
              <a:rPr lang="en-US" sz="2000" b="1" dirty="0"/>
              <a:t>whether to enter international markets</a:t>
            </a:r>
            <a:r>
              <a:rPr lang="en-US" sz="2000" dirty="0"/>
              <a:t>, </a:t>
            </a:r>
            <a:r>
              <a:rPr lang="en-US" sz="2000" b="1" dirty="0" smtClean="0"/>
              <a:t>and</a:t>
            </a:r>
            <a:r>
              <a:rPr lang="en-US" sz="2000" dirty="0" smtClean="0"/>
              <a:t> </a:t>
            </a:r>
            <a:r>
              <a:rPr lang="en-US" sz="2000" b="1" dirty="0" smtClean="0"/>
              <a:t>whether </a:t>
            </a:r>
            <a:r>
              <a:rPr lang="en-US" sz="2000" b="1" dirty="0"/>
              <a:t>to merge or form a joint </a:t>
            </a:r>
            <a:r>
              <a:rPr lang="en-US" sz="2000" b="1" dirty="0" smtClean="0"/>
              <a:t>venture</a:t>
            </a:r>
            <a:r>
              <a:rPr lang="en-US" sz="2000" dirty="0" smtClean="0"/>
              <a:t>.</a:t>
            </a:r>
          </a:p>
          <a:p>
            <a:pPr algn="just" rtl="0"/>
            <a:r>
              <a:rPr lang="en-US" sz="2000" b="1" dirty="0">
                <a:solidFill>
                  <a:schemeClr val="tx1"/>
                </a:solidFill>
              </a:rPr>
              <a:t>Strategists must decide which alternative strategies will benefit the firm most</a:t>
            </a:r>
            <a:r>
              <a:rPr lang="en-US" sz="2000" dirty="0">
                <a:solidFill>
                  <a:schemeClr val="tx1"/>
                </a:solidFill>
              </a:rPr>
              <a:t>. </a:t>
            </a:r>
          </a:p>
          <a:p>
            <a:pPr algn="just" rtl="0"/>
            <a:endParaRPr lang="en-US" sz="2000" dirty="0">
              <a:solidFill>
                <a:schemeClr val="tx1"/>
              </a:solidFill>
            </a:endParaRPr>
          </a:p>
          <a:p>
            <a:pPr algn="just" rtl="0"/>
            <a:r>
              <a:rPr lang="en-US" sz="2000" dirty="0">
                <a:solidFill>
                  <a:schemeClr val="tx1"/>
                </a:solidFill>
              </a:rPr>
              <a:t>Strategy-formulation decisions commit an organization to specific products, markets, resources, and technologies over an extended period of time. </a:t>
            </a:r>
          </a:p>
          <a:p>
            <a:pPr algn="just" rtl="0"/>
            <a:endParaRPr lang="en-US" sz="2000" dirty="0" smtClean="0"/>
          </a:p>
          <a:p>
            <a:pPr algn="just" rtl="0"/>
            <a:endParaRPr lang="en-US" sz="2000" dirty="0"/>
          </a:p>
          <a:p>
            <a:pPr algn="just" rtl="0"/>
            <a:endParaRPr lang="ar-EG" sz="2000" dirty="0"/>
          </a:p>
        </p:txBody>
      </p:sp>
    </p:spTree>
    <p:extLst>
      <p:ext uri="{BB962C8B-B14F-4D97-AF65-F5344CB8AC3E}">
        <p14:creationId xmlns:p14="http://schemas.microsoft.com/office/powerpoint/2010/main" val="25527282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rmAutofit/>
          </a:bodyPr>
          <a:lstStyle/>
          <a:p>
            <a:r>
              <a:rPr lang="en-US" sz="3000" b="1" dirty="0" smtClean="0"/>
              <a:t>Strategy Implementation</a:t>
            </a:r>
            <a:endParaRPr lang="ar-EG" sz="3000" b="1" dirty="0"/>
          </a:p>
        </p:txBody>
      </p:sp>
      <p:sp>
        <p:nvSpPr>
          <p:cNvPr id="3" name="Content Placeholder 2"/>
          <p:cNvSpPr>
            <a:spLocks noGrp="1"/>
          </p:cNvSpPr>
          <p:nvPr>
            <p:ph idx="1"/>
          </p:nvPr>
        </p:nvSpPr>
        <p:spPr>
          <a:xfrm>
            <a:off x="533400" y="1600200"/>
            <a:ext cx="8077200" cy="4800600"/>
          </a:xfrm>
        </p:spPr>
        <p:txBody>
          <a:bodyPr>
            <a:normAutofit/>
          </a:bodyPr>
          <a:lstStyle/>
          <a:p>
            <a:pPr marL="68580" indent="0" algn="just" rtl="0">
              <a:buNone/>
            </a:pPr>
            <a:r>
              <a:rPr lang="en-US" sz="3200" b="1" dirty="0" smtClean="0">
                <a:solidFill>
                  <a:srgbClr val="0070C0"/>
                </a:solidFill>
              </a:rPr>
              <a:t>1- Developing the annual objectives,</a:t>
            </a:r>
          </a:p>
          <a:p>
            <a:pPr marL="68580" indent="0" algn="just" rtl="0">
              <a:buNone/>
            </a:pPr>
            <a:r>
              <a:rPr lang="en-US" sz="3200" b="1" dirty="0" smtClean="0">
                <a:solidFill>
                  <a:srgbClr val="0070C0"/>
                </a:solidFill>
              </a:rPr>
              <a:t>2- Developing the policies,</a:t>
            </a:r>
          </a:p>
          <a:p>
            <a:pPr marL="68580" indent="0" algn="just" rtl="0">
              <a:buNone/>
            </a:pPr>
            <a:r>
              <a:rPr lang="en-US" sz="3200" b="1" dirty="0" smtClean="0">
                <a:solidFill>
                  <a:srgbClr val="0070C0"/>
                </a:solidFill>
              </a:rPr>
              <a:t>3- Motivating employees, and</a:t>
            </a:r>
          </a:p>
          <a:p>
            <a:pPr marL="68580" indent="0" algn="just" rtl="0">
              <a:buNone/>
            </a:pPr>
            <a:r>
              <a:rPr lang="en-US" sz="3200" b="1" dirty="0" smtClean="0">
                <a:solidFill>
                  <a:srgbClr val="0070C0"/>
                </a:solidFill>
              </a:rPr>
              <a:t>4- Allocating the resources</a:t>
            </a:r>
          </a:p>
        </p:txBody>
      </p:sp>
    </p:spTree>
    <p:extLst>
      <p:ext uri="{BB962C8B-B14F-4D97-AF65-F5344CB8AC3E}">
        <p14:creationId xmlns:p14="http://schemas.microsoft.com/office/powerpoint/2010/main" val="30454781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rmAutofit/>
          </a:bodyPr>
          <a:lstStyle/>
          <a:p>
            <a:r>
              <a:rPr lang="en-US" sz="3000" b="1" dirty="0" smtClean="0"/>
              <a:t>Strategy Implementation</a:t>
            </a:r>
            <a:endParaRPr lang="ar-EG" sz="3000" b="1" dirty="0"/>
          </a:p>
        </p:txBody>
      </p:sp>
      <p:sp>
        <p:nvSpPr>
          <p:cNvPr id="3" name="Content Placeholder 2"/>
          <p:cNvSpPr>
            <a:spLocks noGrp="1"/>
          </p:cNvSpPr>
          <p:nvPr>
            <p:ph idx="1"/>
          </p:nvPr>
        </p:nvSpPr>
        <p:spPr>
          <a:xfrm>
            <a:off x="533400" y="1600200"/>
            <a:ext cx="8077200" cy="4800600"/>
          </a:xfrm>
        </p:spPr>
        <p:txBody>
          <a:bodyPr>
            <a:normAutofit fontScale="92500" lnSpcReduction="20000"/>
          </a:bodyPr>
          <a:lstStyle/>
          <a:p>
            <a:pPr algn="just" rtl="0"/>
            <a:r>
              <a:rPr lang="en-US" dirty="0" smtClean="0"/>
              <a:t>is </a:t>
            </a:r>
            <a:r>
              <a:rPr lang="en-US" dirty="0"/>
              <a:t>the action stage of strategic management. It refers to decisions that are made to </a:t>
            </a:r>
            <a:r>
              <a:rPr lang="en-US" b="1" u="sng" dirty="0"/>
              <a:t>install new strategy</a:t>
            </a:r>
            <a:r>
              <a:rPr lang="en-US" b="1" dirty="0"/>
              <a:t> </a:t>
            </a:r>
            <a:r>
              <a:rPr lang="en-US" dirty="0"/>
              <a:t>or </a:t>
            </a:r>
            <a:r>
              <a:rPr lang="en-US" b="1" u="sng" dirty="0"/>
              <a:t>reinforce existing strategy</a:t>
            </a:r>
            <a:r>
              <a:rPr lang="en-US" dirty="0"/>
              <a:t>. The basic strategy – implementation activities are </a:t>
            </a:r>
            <a:r>
              <a:rPr lang="en-US" dirty="0" smtClean="0"/>
              <a:t>working on achieving the objectives, </a:t>
            </a:r>
            <a:r>
              <a:rPr lang="en-US" dirty="0"/>
              <a:t>and </a:t>
            </a:r>
            <a:r>
              <a:rPr lang="en-US" dirty="0" smtClean="0"/>
              <a:t>allocating </a:t>
            </a:r>
            <a:r>
              <a:rPr lang="en-US" dirty="0"/>
              <a:t>resources. </a:t>
            </a:r>
            <a:endParaRPr lang="en-US" dirty="0" smtClean="0"/>
          </a:p>
          <a:p>
            <a:pPr algn="just" rtl="0"/>
            <a:endParaRPr lang="en-US" dirty="0"/>
          </a:p>
          <a:p>
            <a:pPr algn="just" rtl="0"/>
            <a:r>
              <a:rPr lang="en-US" dirty="0" smtClean="0"/>
              <a:t>Strategy </a:t>
            </a:r>
            <a:r>
              <a:rPr lang="en-US" dirty="0"/>
              <a:t>implementation also includes the making of decisions with regard to </a:t>
            </a:r>
            <a:r>
              <a:rPr lang="en-US" b="1" dirty="0"/>
              <a:t>matching strategy and organizational </a:t>
            </a:r>
            <a:r>
              <a:rPr lang="en-US" b="1" dirty="0" smtClean="0"/>
              <a:t>structure, </a:t>
            </a:r>
            <a:r>
              <a:rPr lang="en-US" b="1" dirty="0"/>
              <a:t>developing budgets, and motivational systems</a:t>
            </a:r>
            <a:r>
              <a:rPr lang="en-US" b="1" dirty="0" smtClean="0"/>
              <a:t>.</a:t>
            </a:r>
          </a:p>
          <a:p>
            <a:pPr algn="just" rtl="0"/>
            <a:endParaRPr lang="en-US" dirty="0"/>
          </a:p>
          <a:p>
            <a:pPr algn="just" rtl="0"/>
            <a:r>
              <a:rPr lang="en-US" dirty="0"/>
              <a:t>Strategy implementation includes </a:t>
            </a:r>
            <a:r>
              <a:rPr lang="en-US" b="1" dirty="0" smtClean="0"/>
              <a:t>creating </a:t>
            </a:r>
            <a:r>
              <a:rPr lang="en-US" b="1" dirty="0"/>
              <a:t>an effective organizational structure, redirecting marketing efforts, preparing budgets, developing and utilizing information systems, and linking employee compensation to organizational performance</a:t>
            </a:r>
            <a:r>
              <a:rPr lang="en-US" b="1" dirty="0" smtClean="0"/>
              <a:t>.</a:t>
            </a:r>
          </a:p>
          <a:p>
            <a:pPr algn="l" rtl="0"/>
            <a:endParaRPr lang="en-US" dirty="0"/>
          </a:p>
          <a:p>
            <a:pPr algn="l" rtl="0"/>
            <a:endParaRPr lang="ar-EG" dirty="0"/>
          </a:p>
        </p:txBody>
      </p:sp>
    </p:spTree>
    <p:extLst>
      <p:ext uri="{BB962C8B-B14F-4D97-AF65-F5344CB8AC3E}">
        <p14:creationId xmlns:p14="http://schemas.microsoft.com/office/powerpoint/2010/main" val="42454393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024744" cy="1143000"/>
          </a:xfrm>
        </p:spPr>
        <p:txBody>
          <a:bodyPr>
            <a:normAutofit/>
          </a:bodyPr>
          <a:lstStyle/>
          <a:p>
            <a:r>
              <a:rPr lang="en-US" sz="3000" b="1" dirty="0" smtClean="0"/>
              <a:t>Strategy Implementation</a:t>
            </a:r>
            <a:endParaRPr lang="ar-EG" sz="3000" b="1" dirty="0"/>
          </a:p>
        </p:txBody>
      </p:sp>
      <p:sp>
        <p:nvSpPr>
          <p:cNvPr id="3" name="Content Placeholder 2"/>
          <p:cNvSpPr>
            <a:spLocks noGrp="1"/>
          </p:cNvSpPr>
          <p:nvPr>
            <p:ph idx="1"/>
          </p:nvPr>
        </p:nvSpPr>
        <p:spPr>
          <a:xfrm>
            <a:off x="381000" y="1143000"/>
            <a:ext cx="8229600" cy="5486400"/>
          </a:xfrm>
        </p:spPr>
        <p:txBody>
          <a:bodyPr>
            <a:noAutofit/>
          </a:bodyPr>
          <a:lstStyle/>
          <a:p>
            <a:pPr algn="just" rtl="0"/>
            <a:r>
              <a:rPr lang="en-US" sz="1900" dirty="0" smtClean="0"/>
              <a:t>Implementing strategy means mobilizing employees and managers to put formulated strategies into action. </a:t>
            </a:r>
          </a:p>
          <a:p>
            <a:pPr algn="just" rtl="0"/>
            <a:endParaRPr lang="en-US" sz="1900" dirty="0" smtClean="0"/>
          </a:p>
          <a:p>
            <a:pPr algn="just" rtl="0"/>
            <a:r>
              <a:rPr lang="en-US" sz="1900" b="1" dirty="0" smtClean="0"/>
              <a:t>Often considered to be the most difficult stage in strategic management, strategy implementation requires personal discipline, commitment, and sacrifice. </a:t>
            </a:r>
          </a:p>
          <a:p>
            <a:pPr algn="just" rtl="0"/>
            <a:r>
              <a:rPr lang="en-US" sz="1900" dirty="0" smtClean="0"/>
              <a:t>Successful strategy implementation depends upon managers’ ability to motivate employees, which is more an art than a science, i.e. Interpersonal skills are especially critical for successful strategy implementation.</a:t>
            </a:r>
          </a:p>
          <a:p>
            <a:pPr marL="60325" indent="0" algn="just" rtl="0">
              <a:buNone/>
            </a:pPr>
            <a:endParaRPr lang="en-US" sz="1900" dirty="0" smtClean="0"/>
          </a:p>
          <a:p>
            <a:pPr algn="just" rtl="0"/>
            <a:r>
              <a:rPr lang="en-US" sz="1900" dirty="0" smtClean="0"/>
              <a:t>Every division and department must decide on answers to questions, such as </a:t>
            </a:r>
            <a:r>
              <a:rPr lang="en-US" sz="1900" b="1" dirty="0" smtClean="0"/>
              <a:t>“What must we do to implement our part of the organization’s strategy?” and “How best can we get the job done?”</a:t>
            </a:r>
            <a:r>
              <a:rPr lang="en-US" sz="1900" dirty="0" smtClean="0"/>
              <a:t> The challenge of implementation is to stimulate managers and employees throughout an organization to work with pride and enthusiasm toward achieving stated objectives.</a:t>
            </a:r>
          </a:p>
          <a:p>
            <a:pPr algn="l" rtl="0"/>
            <a:endParaRPr lang="en-US" sz="1900" dirty="0"/>
          </a:p>
          <a:p>
            <a:pPr algn="l" rtl="0"/>
            <a:endParaRPr lang="ar-EG" sz="1900" dirty="0"/>
          </a:p>
        </p:txBody>
      </p:sp>
    </p:spTree>
    <p:extLst>
      <p:ext uri="{BB962C8B-B14F-4D97-AF65-F5344CB8AC3E}">
        <p14:creationId xmlns:p14="http://schemas.microsoft.com/office/powerpoint/2010/main" val="45226546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7024744" cy="1143000"/>
          </a:xfrm>
        </p:spPr>
        <p:txBody>
          <a:bodyPr/>
          <a:lstStyle/>
          <a:p>
            <a:r>
              <a:rPr lang="en-US" b="1" dirty="0"/>
              <a:t>Strategy evaluation</a:t>
            </a:r>
            <a:endParaRPr lang="ar-EG" dirty="0"/>
          </a:p>
        </p:txBody>
      </p:sp>
      <p:sp>
        <p:nvSpPr>
          <p:cNvPr id="3" name="Content Placeholder 2"/>
          <p:cNvSpPr>
            <a:spLocks noGrp="1"/>
          </p:cNvSpPr>
          <p:nvPr>
            <p:ph idx="1"/>
          </p:nvPr>
        </p:nvSpPr>
        <p:spPr>
          <a:xfrm>
            <a:off x="609600" y="1371600"/>
            <a:ext cx="7924800" cy="5029200"/>
          </a:xfrm>
        </p:spPr>
        <p:txBody>
          <a:bodyPr>
            <a:normAutofit/>
          </a:bodyPr>
          <a:lstStyle/>
          <a:p>
            <a:pPr algn="just" rtl="0">
              <a:spcBef>
                <a:spcPts val="1800"/>
              </a:spcBef>
              <a:spcAft>
                <a:spcPts val="1200"/>
              </a:spcAft>
            </a:pPr>
            <a:r>
              <a:rPr lang="en-US" b="1" dirty="0" smtClean="0">
                <a:solidFill>
                  <a:srgbClr val="0070C0"/>
                </a:solidFill>
              </a:rPr>
              <a:t>1- Conducting internal review (weaknesses and strengths),</a:t>
            </a:r>
          </a:p>
          <a:p>
            <a:pPr algn="just" rtl="0">
              <a:spcBef>
                <a:spcPts val="1800"/>
              </a:spcBef>
              <a:spcAft>
                <a:spcPts val="1200"/>
              </a:spcAft>
            </a:pPr>
            <a:r>
              <a:rPr lang="en-US" b="1" dirty="0" smtClean="0">
                <a:solidFill>
                  <a:srgbClr val="0070C0"/>
                </a:solidFill>
              </a:rPr>
              <a:t>2- </a:t>
            </a:r>
            <a:r>
              <a:rPr lang="en-US" b="1" dirty="0">
                <a:solidFill>
                  <a:srgbClr val="0070C0"/>
                </a:solidFill>
              </a:rPr>
              <a:t>Conducting </a:t>
            </a:r>
            <a:r>
              <a:rPr lang="en-US" b="1" dirty="0" smtClean="0">
                <a:solidFill>
                  <a:srgbClr val="0070C0"/>
                </a:solidFill>
              </a:rPr>
              <a:t> external review (opportunities and threats),</a:t>
            </a:r>
          </a:p>
          <a:p>
            <a:pPr algn="just" rtl="0">
              <a:spcBef>
                <a:spcPts val="1800"/>
              </a:spcBef>
              <a:spcAft>
                <a:spcPts val="1200"/>
              </a:spcAft>
            </a:pPr>
            <a:r>
              <a:rPr lang="en-US" b="1" dirty="0" smtClean="0">
                <a:solidFill>
                  <a:srgbClr val="0070C0"/>
                </a:solidFill>
              </a:rPr>
              <a:t>3- Measuring performance, and</a:t>
            </a:r>
          </a:p>
          <a:p>
            <a:pPr algn="just" rtl="0">
              <a:spcBef>
                <a:spcPts val="1800"/>
              </a:spcBef>
              <a:spcAft>
                <a:spcPts val="1200"/>
              </a:spcAft>
            </a:pPr>
            <a:r>
              <a:rPr lang="en-US" b="1" dirty="0" smtClean="0">
                <a:solidFill>
                  <a:srgbClr val="0070C0"/>
                </a:solidFill>
              </a:rPr>
              <a:t>4- Taking corrective action- if needed.</a:t>
            </a:r>
            <a:endParaRPr lang="en-US" b="1" dirty="0">
              <a:solidFill>
                <a:srgbClr val="0070C0"/>
              </a:solidFill>
            </a:endParaRPr>
          </a:p>
        </p:txBody>
      </p:sp>
    </p:spTree>
    <p:extLst>
      <p:ext uri="{BB962C8B-B14F-4D97-AF65-F5344CB8AC3E}">
        <p14:creationId xmlns:p14="http://schemas.microsoft.com/office/powerpoint/2010/main" val="36411559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7024744" cy="1143000"/>
          </a:xfrm>
        </p:spPr>
        <p:txBody>
          <a:bodyPr/>
          <a:lstStyle/>
          <a:p>
            <a:r>
              <a:rPr lang="en-US" b="1" dirty="0"/>
              <a:t>Strategy evaluation</a:t>
            </a:r>
            <a:endParaRPr lang="ar-EG" dirty="0"/>
          </a:p>
        </p:txBody>
      </p:sp>
      <p:sp>
        <p:nvSpPr>
          <p:cNvPr id="3" name="Content Placeholder 2"/>
          <p:cNvSpPr>
            <a:spLocks noGrp="1"/>
          </p:cNvSpPr>
          <p:nvPr>
            <p:ph idx="1"/>
          </p:nvPr>
        </p:nvSpPr>
        <p:spPr>
          <a:xfrm>
            <a:off x="609600" y="1371600"/>
            <a:ext cx="7924800" cy="5029200"/>
          </a:xfrm>
        </p:spPr>
        <p:txBody>
          <a:bodyPr>
            <a:normAutofit lnSpcReduction="10000"/>
          </a:bodyPr>
          <a:lstStyle/>
          <a:p>
            <a:pPr algn="just" rtl="0"/>
            <a:r>
              <a:rPr lang="en-US" dirty="0" smtClean="0"/>
              <a:t>It is </a:t>
            </a:r>
            <a:r>
              <a:rPr lang="en-US" dirty="0"/>
              <a:t>the final stage in strategic management. </a:t>
            </a:r>
            <a:endParaRPr lang="en-US" dirty="0" smtClean="0"/>
          </a:p>
          <a:p>
            <a:pPr algn="just" rtl="0"/>
            <a:r>
              <a:rPr lang="en-US" dirty="0" smtClean="0"/>
              <a:t>When managers need </a:t>
            </a:r>
            <a:r>
              <a:rPr lang="en-US" dirty="0"/>
              <a:t>to know when particular strategies are not working well; strategy evaluation is the primary means for obtaining this information. </a:t>
            </a:r>
            <a:endParaRPr lang="en-US" dirty="0" smtClean="0"/>
          </a:p>
          <a:p>
            <a:pPr algn="just" rtl="0"/>
            <a:r>
              <a:rPr lang="en-US" dirty="0" smtClean="0"/>
              <a:t>All </a:t>
            </a:r>
            <a:r>
              <a:rPr lang="en-US" dirty="0"/>
              <a:t>strategies are subject to future modification because external and internal factors are constantly changing. </a:t>
            </a:r>
            <a:endParaRPr lang="en-US" dirty="0" smtClean="0"/>
          </a:p>
          <a:p>
            <a:pPr algn="just" rtl="0">
              <a:buFont typeface="Wingdings" panose="05000000000000000000" pitchFamily="2" charset="2"/>
              <a:buChar char="Ø"/>
            </a:pPr>
            <a:endParaRPr lang="en-US" dirty="0"/>
          </a:p>
          <a:p>
            <a:pPr algn="just" rtl="0"/>
            <a:r>
              <a:rPr lang="en-US" dirty="0" smtClean="0"/>
              <a:t>Strategy </a:t>
            </a:r>
            <a:r>
              <a:rPr lang="en-US" dirty="0"/>
              <a:t>evaluation is needed because success today is no guarantee of success tomorrow! </a:t>
            </a:r>
            <a:r>
              <a:rPr lang="en-US" dirty="0" smtClean="0"/>
              <a:t>As success </a:t>
            </a:r>
            <a:r>
              <a:rPr lang="en-US" dirty="0"/>
              <a:t>always creates new and different </a:t>
            </a:r>
            <a:r>
              <a:rPr lang="en-US" dirty="0" smtClean="0"/>
              <a:t>problems.</a:t>
            </a:r>
            <a:endParaRPr lang="en-US" dirty="0"/>
          </a:p>
        </p:txBody>
      </p:sp>
    </p:spTree>
    <p:extLst>
      <p:ext uri="{BB962C8B-B14F-4D97-AF65-F5344CB8AC3E}">
        <p14:creationId xmlns:p14="http://schemas.microsoft.com/office/powerpoint/2010/main" val="39525173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
            <a:ext cx="8001000" cy="1143000"/>
          </a:xfrm>
        </p:spPr>
        <p:txBody>
          <a:bodyPr>
            <a:normAutofit/>
          </a:bodyPr>
          <a:lstStyle/>
          <a:p>
            <a:r>
              <a:rPr lang="en-US" sz="3000" b="1" dirty="0" smtClean="0"/>
              <a:t>Key concepts in Strategic management</a:t>
            </a:r>
            <a:endParaRPr lang="ar-EG" sz="3000" b="1" dirty="0"/>
          </a:p>
        </p:txBody>
      </p:sp>
      <p:sp>
        <p:nvSpPr>
          <p:cNvPr id="3" name="Content Placeholder 2"/>
          <p:cNvSpPr>
            <a:spLocks noGrp="1"/>
          </p:cNvSpPr>
          <p:nvPr>
            <p:ph idx="1"/>
          </p:nvPr>
        </p:nvSpPr>
        <p:spPr>
          <a:xfrm>
            <a:off x="609600" y="1295400"/>
            <a:ext cx="7924800" cy="5029200"/>
          </a:xfrm>
        </p:spPr>
        <p:txBody>
          <a:bodyPr/>
          <a:lstStyle/>
          <a:p>
            <a:endParaRPr lang="ar-EG" dirty="0"/>
          </a:p>
          <a:p>
            <a:pPr algn="l" rtl="0"/>
            <a:r>
              <a:rPr lang="fr-FR" b="1" dirty="0" err="1" smtClean="0">
                <a:solidFill>
                  <a:srgbClr val="0070C0"/>
                </a:solidFill>
              </a:rPr>
              <a:t>Competitive</a:t>
            </a:r>
            <a:r>
              <a:rPr lang="fr-FR" b="1" dirty="0" smtClean="0">
                <a:solidFill>
                  <a:srgbClr val="0070C0"/>
                </a:solidFill>
              </a:rPr>
              <a:t> </a:t>
            </a:r>
            <a:r>
              <a:rPr lang="fr-FR" b="1" dirty="0" err="1">
                <a:solidFill>
                  <a:srgbClr val="0070C0"/>
                </a:solidFill>
              </a:rPr>
              <a:t>advantage</a:t>
            </a:r>
            <a:r>
              <a:rPr lang="fr-FR" b="1" dirty="0">
                <a:solidFill>
                  <a:srgbClr val="0070C0"/>
                </a:solidFill>
              </a:rPr>
              <a:t> </a:t>
            </a:r>
          </a:p>
          <a:p>
            <a:pPr algn="l" rtl="0"/>
            <a:r>
              <a:rPr lang="fr-FR" b="1" dirty="0" err="1" smtClean="0">
                <a:solidFill>
                  <a:srgbClr val="0070C0"/>
                </a:solidFill>
              </a:rPr>
              <a:t>Strategists</a:t>
            </a:r>
            <a:r>
              <a:rPr lang="fr-FR" b="1" dirty="0" smtClean="0">
                <a:solidFill>
                  <a:srgbClr val="0070C0"/>
                </a:solidFill>
              </a:rPr>
              <a:t> </a:t>
            </a:r>
            <a:endParaRPr lang="fr-FR" b="1" dirty="0">
              <a:solidFill>
                <a:srgbClr val="0070C0"/>
              </a:solidFill>
            </a:endParaRPr>
          </a:p>
          <a:p>
            <a:pPr algn="l" rtl="0"/>
            <a:r>
              <a:rPr lang="fr-FR" b="1" dirty="0" err="1" smtClean="0">
                <a:solidFill>
                  <a:srgbClr val="0070C0"/>
                </a:solidFill>
              </a:rPr>
              <a:t>External</a:t>
            </a:r>
            <a:r>
              <a:rPr lang="fr-FR" b="1" dirty="0" smtClean="0">
                <a:solidFill>
                  <a:srgbClr val="0070C0"/>
                </a:solidFill>
              </a:rPr>
              <a:t> </a:t>
            </a:r>
            <a:r>
              <a:rPr lang="fr-FR" b="1" dirty="0" err="1">
                <a:solidFill>
                  <a:srgbClr val="0070C0"/>
                </a:solidFill>
              </a:rPr>
              <a:t>opportunities</a:t>
            </a:r>
            <a:r>
              <a:rPr lang="fr-FR" b="1" dirty="0">
                <a:solidFill>
                  <a:srgbClr val="0070C0"/>
                </a:solidFill>
              </a:rPr>
              <a:t> and </a:t>
            </a:r>
            <a:r>
              <a:rPr lang="fr-FR" b="1" dirty="0" err="1">
                <a:solidFill>
                  <a:srgbClr val="0070C0"/>
                </a:solidFill>
              </a:rPr>
              <a:t>threats</a:t>
            </a:r>
            <a:r>
              <a:rPr lang="fr-FR" b="1" dirty="0">
                <a:solidFill>
                  <a:srgbClr val="0070C0"/>
                </a:solidFill>
              </a:rPr>
              <a:t> </a:t>
            </a:r>
          </a:p>
          <a:p>
            <a:pPr algn="l" rtl="0"/>
            <a:r>
              <a:rPr lang="fr-FR" b="1" dirty="0" err="1" smtClean="0">
                <a:solidFill>
                  <a:srgbClr val="0070C0"/>
                </a:solidFill>
              </a:rPr>
              <a:t>Internal</a:t>
            </a:r>
            <a:r>
              <a:rPr lang="fr-FR" b="1" dirty="0" smtClean="0">
                <a:solidFill>
                  <a:srgbClr val="0070C0"/>
                </a:solidFill>
              </a:rPr>
              <a:t> </a:t>
            </a:r>
            <a:r>
              <a:rPr lang="fr-FR" b="1" dirty="0" err="1">
                <a:solidFill>
                  <a:srgbClr val="0070C0"/>
                </a:solidFill>
              </a:rPr>
              <a:t>strengths</a:t>
            </a:r>
            <a:r>
              <a:rPr lang="fr-FR" b="1" dirty="0">
                <a:solidFill>
                  <a:srgbClr val="0070C0"/>
                </a:solidFill>
              </a:rPr>
              <a:t> and </a:t>
            </a:r>
            <a:r>
              <a:rPr lang="fr-FR" b="1" dirty="0" err="1">
                <a:solidFill>
                  <a:srgbClr val="0070C0"/>
                </a:solidFill>
              </a:rPr>
              <a:t>weaknesses</a:t>
            </a:r>
            <a:r>
              <a:rPr lang="fr-FR" b="1" dirty="0">
                <a:solidFill>
                  <a:srgbClr val="0070C0"/>
                </a:solidFill>
              </a:rPr>
              <a:t> </a:t>
            </a:r>
          </a:p>
          <a:p>
            <a:pPr algn="l" rtl="0"/>
            <a:r>
              <a:rPr lang="fr-FR" b="1" dirty="0" smtClean="0">
                <a:solidFill>
                  <a:srgbClr val="0070C0"/>
                </a:solidFill>
              </a:rPr>
              <a:t>Long-</a:t>
            </a:r>
            <a:r>
              <a:rPr lang="fr-FR" b="1" dirty="0" err="1" smtClean="0">
                <a:solidFill>
                  <a:srgbClr val="0070C0"/>
                </a:solidFill>
              </a:rPr>
              <a:t>term</a:t>
            </a:r>
            <a:r>
              <a:rPr lang="fr-FR" b="1" dirty="0" smtClean="0">
                <a:solidFill>
                  <a:srgbClr val="0070C0"/>
                </a:solidFill>
              </a:rPr>
              <a:t> </a:t>
            </a:r>
            <a:r>
              <a:rPr lang="fr-FR" b="1" dirty="0">
                <a:solidFill>
                  <a:srgbClr val="0070C0"/>
                </a:solidFill>
              </a:rPr>
              <a:t>objectives </a:t>
            </a:r>
          </a:p>
          <a:p>
            <a:pPr algn="l" rtl="0"/>
            <a:r>
              <a:rPr lang="fr-FR" b="1" dirty="0" err="1" smtClean="0">
                <a:solidFill>
                  <a:srgbClr val="0070C0"/>
                </a:solidFill>
              </a:rPr>
              <a:t>Annual</a:t>
            </a:r>
            <a:r>
              <a:rPr lang="fr-FR" b="1" dirty="0">
                <a:solidFill>
                  <a:srgbClr val="0070C0"/>
                </a:solidFill>
              </a:rPr>
              <a:t> </a:t>
            </a:r>
            <a:r>
              <a:rPr lang="fr-FR" b="1" dirty="0" smtClean="0">
                <a:solidFill>
                  <a:srgbClr val="0070C0"/>
                </a:solidFill>
              </a:rPr>
              <a:t>objectives</a:t>
            </a:r>
          </a:p>
          <a:p>
            <a:pPr algn="l" rtl="0"/>
            <a:r>
              <a:rPr lang="fr-FR" b="1" dirty="0" err="1" smtClean="0">
                <a:solidFill>
                  <a:srgbClr val="0070C0"/>
                </a:solidFill>
              </a:rPr>
              <a:t>Strategies</a:t>
            </a:r>
            <a:r>
              <a:rPr lang="fr-FR" b="1" dirty="0" smtClean="0">
                <a:solidFill>
                  <a:srgbClr val="0070C0"/>
                </a:solidFill>
              </a:rPr>
              <a:t> </a:t>
            </a:r>
            <a:endParaRPr lang="fr-FR" b="1" dirty="0">
              <a:solidFill>
                <a:srgbClr val="0070C0"/>
              </a:solidFill>
            </a:endParaRPr>
          </a:p>
          <a:p>
            <a:pPr algn="l" rtl="0"/>
            <a:endParaRPr lang="fr-FR" b="1" dirty="0">
              <a:solidFill>
                <a:srgbClr val="0070C0"/>
              </a:solidFill>
            </a:endParaRPr>
          </a:p>
          <a:p>
            <a:pPr algn="l" rtl="0"/>
            <a:endParaRPr lang="ar-EG" b="1" dirty="0">
              <a:solidFill>
                <a:srgbClr val="0070C0"/>
              </a:solidFill>
            </a:endParaRPr>
          </a:p>
        </p:txBody>
      </p:sp>
    </p:spTree>
    <p:extLst>
      <p:ext uri="{BB962C8B-B14F-4D97-AF65-F5344CB8AC3E}">
        <p14:creationId xmlns:p14="http://schemas.microsoft.com/office/powerpoint/2010/main" val="426986762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4876800" cy="762000"/>
          </a:xfrm>
        </p:spPr>
        <p:txBody>
          <a:bodyPr>
            <a:normAutofit fontScale="90000"/>
          </a:bodyPr>
          <a:lstStyle/>
          <a:p>
            <a:r>
              <a:rPr lang="fr-FR" sz="3200" b="1" dirty="0" err="1">
                <a:solidFill>
                  <a:srgbClr val="0070C0"/>
                </a:solidFill>
              </a:rPr>
              <a:t>Competitive</a:t>
            </a:r>
            <a:r>
              <a:rPr lang="fr-FR" sz="3200" b="1" dirty="0">
                <a:solidFill>
                  <a:srgbClr val="0070C0"/>
                </a:solidFill>
              </a:rPr>
              <a:t> </a:t>
            </a:r>
            <a:r>
              <a:rPr lang="fr-FR" sz="3200" b="1" dirty="0" err="1">
                <a:solidFill>
                  <a:srgbClr val="0070C0"/>
                </a:solidFill>
              </a:rPr>
              <a:t>advantage</a:t>
            </a:r>
            <a:r>
              <a:rPr lang="fr-FR" sz="3200" b="1" dirty="0">
                <a:solidFill>
                  <a:srgbClr val="0070C0"/>
                </a:solidFill>
              </a:rPr>
              <a:t> </a:t>
            </a:r>
            <a:br>
              <a:rPr lang="fr-FR" sz="3200" b="1" dirty="0">
                <a:solidFill>
                  <a:srgbClr val="0070C0"/>
                </a:solidFill>
              </a:rPr>
            </a:br>
            <a:endParaRPr lang="ar-EG" sz="3200" dirty="0"/>
          </a:p>
        </p:txBody>
      </p:sp>
      <p:sp>
        <p:nvSpPr>
          <p:cNvPr id="3" name="Content Placeholder 2"/>
          <p:cNvSpPr>
            <a:spLocks noGrp="1"/>
          </p:cNvSpPr>
          <p:nvPr>
            <p:ph idx="1"/>
          </p:nvPr>
        </p:nvSpPr>
        <p:spPr>
          <a:xfrm>
            <a:off x="457200" y="1143000"/>
            <a:ext cx="8153400" cy="5181600"/>
          </a:xfrm>
        </p:spPr>
        <p:txBody>
          <a:bodyPr>
            <a:normAutofit/>
          </a:bodyPr>
          <a:lstStyle/>
          <a:p>
            <a:pPr algn="just" rtl="0"/>
            <a:r>
              <a:rPr lang="en-US" sz="3000" b="1" dirty="0"/>
              <a:t>Simply, it is something that I have, and my competitors don’t have</a:t>
            </a:r>
            <a:r>
              <a:rPr lang="en-US" sz="3000" b="1" dirty="0" smtClean="0"/>
              <a:t>.</a:t>
            </a:r>
          </a:p>
          <a:p>
            <a:pPr marL="68580" indent="0" algn="just" rtl="0">
              <a:buNone/>
            </a:pPr>
            <a:endParaRPr lang="ar-EG" sz="3000" b="1" dirty="0"/>
          </a:p>
          <a:p>
            <a:pPr algn="just" rtl="0"/>
            <a:r>
              <a:rPr lang="en-US" sz="3000" b="1" dirty="0">
                <a:solidFill>
                  <a:schemeClr val="accent3">
                    <a:lumMod val="75000"/>
                  </a:schemeClr>
                </a:solidFill>
              </a:rPr>
              <a:t>It is anything that a firm does well compared to its competitors</a:t>
            </a:r>
            <a:r>
              <a:rPr lang="en-US" sz="3000" b="1" dirty="0" smtClean="0">
                <a:solidFill>
                  <a:schemeClr val="accent3">
                    <a:lumMod val="75000"/>
                  </a:schemeClr>
                </a:solidFill>
              </a:rPr>
              <a:t>.</a:t>
            </a:r>
          </a:p>
          <a:p>
            <a:pPr marL="68580" indent="0" algn="just" rtl="0">
              <a:buNone/>
            </a:pPr>
            <a:endParaRPr lang="en-US" sz="3000" b="1" dirty="0">
              <a:solidFill>
                <a:schemeClr val="accent3">
                  <a:lumMod val="75000"/>
                </a:schemeClr>
              </a:solidFill>
            </a:endParaRPr>
          </a:p>
          <a:p>
            <a:pPr algn="just" rtl="0"/>
            <a:r>
              <a:rPr lang="en-US" sz="3000" b="1" dirty="0" smtClean="0"/>
              <a:t>Strategic management targets gaining and maintaining a </a:t>
            </a:r>
            <a:r>
              <a:rPr lang="en-US" sz="3000" b="1" u="sng" dirty="0" smtClean="0"/>
              <a:t>sustainable</a:t>
            </a:r>
            <a:r>
              <a:rPr lang="en-US" sz="3000" b="1" dirty="0" smtClean="0"/>
              <a:t> competitive advantage. Why sustainable??????</a:t>
            </a:r>
          </a:p>
          <a:p>
            <a:pPr algn="just" rtl="0"/>
            <a:endParaRPr lang="en-US" dirty="0"/>
          </a:p>
          <a:p>
            <a:pPr algn="l" rtl="0"/>
            <a:endParaRPr lang="ar-EG" dirty="0"/>
          </a:p>
        </p:txBody>
      </p:sp>
    </p:spTree>
    <p:extLst>
      <p:ext uri="{BB962C8B-B14F-4D97-AF65-F5344CB8AC3E}">
        <p14:creationId xmlns:p14="http://schemas.microsoft.com/office/powerpoint/2010/main" val="5262593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066800"/>
            <a:ext cx="4876800" cy="762000"/>
          </a:xfrm>
        </p:spPr>
        <p:txBody>
          <a:bodyPr>
            <a:normAutofit fontScale="90000"/>
          </a:bodyPr>
          <a:lstStyle/>
          <a:p>
            <a:r>
              <a:rPr lang="fr-FR" sz="3200" b="1" dirty="0" err="1">
                <a:solidFill>
                  <a:srgbClr val="0070C0"/>
                </a:solidFill>
              </a:rPr>
              <a:t>Competitive</a:t>
            </a:r>
            <a:r>
              <a:rPr lang="fr-FR" sz="3200" b="1" dirty="0">
                <a:solidFill>
                  <a:srgbClr val="0070C0"/>
                </a:solidFill>
              </a:rPr>
              <a:t> </a:t>
            </a:r>
            <a:r>
              <a:rPr lang="fr-FR" sz="3200" b="1" dirty="0" err="1">
                <a:solidFill>
                  <a:srgbClr val="0070C0"/>
                </a:solidFill>
              </a:rPr>
              <a:t>advantage</a:t>
            </a:r>
            <a:r>
              <a:rPr lang="fr-FR" sz="3200" b="1" dirty="0">
                <a:solidFill>
                  <a:srgbClr val="0070C0"/>
                </a:solidFill>
              </a:rPr>
              <a:t> </a:t>
            </a:r>
            <a:br>
              <a:rPr lang="fr-FR" sz="3200" b="1" dirty="0">
                <a:solidFill>
                  <a:srgbClr val="0070C0"/>
                </a:solidFill>
              </a:rPr>
            </a:br>
            <a:endParaRPr lang="ar-EG" sz="3200" dirty="0"/>
          </a:p>
        </p:txBody>
      </p:sp>
      <p:sp>
        <p:nvSpPr>
          <p:cNvPr id="3" name="Content Placeholder 2"/>
          <p:cNvSpPr>
            <a:spLocks noGrp="1"/>
          </p:cNvSpPr>
          <p:nvPr>
            <p:ph idx="1"/>
          </p:nvPr>
        </p:nvSpPr>
        <p:spPr>
          <a:xfrm>
            <a:off x="609600" y="1143000"/>
            <a:ext cx="7924800" cy="5181600"/>
          </a:xfrm>
        </p:spPr>
        <p:txBody>
          <a:bodyPr>
            <a:normAutofit/>
          </a:bodyPr>
          <a:lstStyle/>
          <a:p>
            <a:pPr marL="350838" indent="-282575" algn="just" rtl="0">
              <a:buNone/>
            </a:pPr>
            <a:endParaRPr lang="en-US" sz="2800" b="1" dirty="0" smtClean="0"/>
          </a:p>
          <a:p>
            <a:pPr marL="350838" indent="-282575" algn="just" rtl="0"/>
            <a:r>
              <a:rPr lang="en-US" sz="2800" b="1" dirty="0"/>
              <a:t>Normally, a firm can sustain a competitive advantage </a:t>
            </a:r>
            <a:r>
              <a:rPr lang="en-US" sz="2800" b="1" u="sng" dirty="0"/>
              <a:t>for only a certain period due to rivals who will imitate and undermine that advantage</a:t>
            </a:r>
            <a:r>
              <a:rPr lang="en-US" sz="2800" b="1" dirty="0"/>
              <a:t>. Thus it is not adequate to simply obtain competitive advantage</a:t>
            </a:r>
            <a:r>
              <a:rPr lang="en-US" sz="2800" b="1" dirty="0" smtClean="0"/>
              <a:t>.</a:t>
            </a:r>
          </a:p>
          <a:p>
            <a:pPr marL="68263" indent="0" algn="just" rtl="0">
              <a:buNone/>
            </a:pPr>
            <a:r>
              <a:rPr lang="en-US" sz="2800" b="1" dirty="0" smtClean="0"/>
              <a:t> </a:t>
            </a:r>
            <a:endParaRPr lang="en-US" sz="2800" b="1" dirty="0"/>
          </a:p>
          <a:p>
            <a:pPr marL="350838" indent="-282575" algn="just" rtl="0"/>
            <a:r>
              <a:rPr lang="en-US" sz="2800" b="1" dirty="0" smtClean="0"/>
              <a:t>Hence the company needs to continually adapt </a:t>
            </a:r>
            <a:r>
              <a:rPr lang="en-US" sz="2800" b="1" dirty="0"/>
              <a:t>to changes in external trends and events and </a:t>
            </a:r>
            <a:r>
              <a:rPr lang="en-US" sz="2800" b="1" dirty="0" smtClean="0"/>
              <a:t>internal capabilities, competencies</a:t>
            </a:r>
            <a:r>
              <a:rPr lang="en-US" sz="2800" b="1" dirty="0"/>
              <a:t>, and resources </a:t>
            </a:r>
            <a:endParaRPr lang="ar-EG" sz="2800" b="1" dirty="0"/>
          </a:p>
        </p:txBody>
      </p:sp>
    </p:spTree>
    <p:extLst>
      <p:ext uri="{BB962C8B-B14F-4D97-AF65-F5344CB8AC3E}">
        <p14:creationId xmlns:p14="http://schemas.microsoft.com/office/powerpoint/2010/main" val="21808372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346" y="762000"/>
            <a:ext cx="8610600" cy="5486400"/>
          </a:xfrm>
        </p:spPr>
        <p:txBody>
          <a:bodyPr>
            <a:normAutofit/>
          </a:bodyPr>
          <a:lstStyle/>
          <a:p>
            <a:pPr marL="627063" indent="0" algn="l" rtl="0">
              <a:buNone/>
            </a:pPr>
            <a:r>
              <a:rPr lang="en-US" sz="1600" b="1" u="sng" dirty="0"/>
              <a:t>VRIO</a:t>
            </a:r>
            <a:r>
              <a:rPr lang="en-US" sz="1600" b="1" dirty="0"/>
              <a:t> is a strategic tool used to evaluate a company’s resources </a:t>
            </a:r>
            <a:r>
              <a:rPr lang="en-US" sz="1600" b="1" dirty="0" smtClean="0"/>
              <a:t>&amp; </a:t>
            </a:r>
            <a:r>
              <a:rPr lang="en-US" sz="1600" b="1" dirty="0"/>
              <a:t>capabilities to determine whether they create a sustainable competitive advantage</a:t>
            </a:r>
            <a:r>
              <a:rPr lang="en-US" sz="1600" b="1" dirty="0" smtClean="0"/>
              <a:t>.</a:t>
            </a:r>
          </a:p>
          <a:p>
            <a:pPr marL="627063" indent="0" algn="l" rtl="0">
              <a:buNone/>
            </a:pPr>
            <a:r>
              <a:rPr lang="en-US" sz="1700" b="1" dirty="0" smtClean="0">
                <a:solidFill>
                  <a:srgbClr val="002060"/>
                </a:solidFill>
              </a:rPr>
              <a:t>VRIO </a:t>
            </a:r>
            <a:r>
              <a:rPr lang="en-US" sz="1700" b="1" dirty="0">
                <a:solidFill>
                  <a:srgbClr val="002060"/>
                </a:solidFill>
              </a:rPr>
              <a:t>stands </a:t>
            </a:r>
            <a:r>
              <a:rPr lang="en-US" sz="1700" dirty="0">
                <a:solidFill>
                  <a:srgbClr val="002060"/>
                </a:solidFill>
              </a:rPr>
              <a:t>for</a:t>
            </a:r>
            <a:r>
              <a:rPr lang="en-US" sz="1700" dirty="0" smtClean="0">
                <a:solidFill>
                  <a:srgbClr val="002060"/>
                </a:solidFill>
              </a:rPr>
              <a:t>: </a:t>
            </a:r>
            <a:r>
              <a:rPr lang="en-US" sz="1700" b="1" dirty="0" smtClean="0">
                <a:solidFill>
                  <a:srgbClr val="002060"/>
                </a:solidFill>
              </a:rPr>
              <a:t>V </a:t>
            </a:r>
            <a:r>
              <a:rPr lang="en-US" sz="1700" b="1" dirty="0">
                <a:solidFill>
                  <a:srgbClr val="002060"/>
                </a:solidFill>
              </a:rPr>
              <a:t>– </a:t>
            </a:r>
            <a:r>
              <a:rPr lang="en-US" sz="1700" b="1" dirty="0" smtClean="0">
                <a:solidFill>
                  <a:srgbClr val="002060"/>
                </a:solidFill>
              </a:rPr>
              <a:t>Valuable</a:t>
            </a:r>
            <a:r>
              <a:rPr lang="en-US" sz="1700" dirty="0" smtClean="0">
                <a:solidFill>
                  <a:srgbClr val="002060"/>
                </a:solidFill>
              </a:rPr>
              <a:t>/ </a:t>
            </a:r>
            <a:r>
              <a:rPr lang="en-US" sz="1700" b="1" dirty="0">
                <a:solidFill>
                  <a:srgbClr val="002060"/>
                </a:solidFill>
              </a:rPr>
              <a:t>R – Rare</a:t>
            </a:r>
            <a:r>
              <a:rPr lang="en-US" sz="1700" dirty="0" smtClean="0">
                <a:solidFill>
                  <a:srgbClr val="002060"/>
                </a:solidFill>
              </a:rPr>
              <a:t>/ </a:t>
            </a:r>
            <a:r>
              <a:rPr lang="en-US" sz="1700" b="1" dirty="0" smtClean="0">
                <a:solidFill>
                  <a:srgbClr val="002060"/>
                </a:solidFill>
              </a:rPr>
              <a:t>I </a:t>
            </a:r>
            <a:r>
              <a:rPr lang="en-US" sz="1700" b="1" dirty="0">
                <a:solidFill>
                  <a:srgbClr val="002060"/>
                </a:solidFill>
              </a:rPr>
              <a:t>– Inimitable </a:t>
            </a:r>
            <a:r>
              <a:rPr lang="en-US" sz="1700" dirty="0">
                <a:solidFill>
                  <a:srgbClr val="002060"/>
                </a:solidFill>
              </a:rPr>
              <a:t>(Costly to imitate</a:t>
            </a:r>
            <a:r>
              <a:rPr lang="en-US" sz="1700" dirty="0" smtClean="0">
                <a:solidFill>
                  <a:srgbClr val="002060"/>
                </a:solidFill>
              </a:rPr>
              <a:t>)/ </a:t>
            </a:r>
            <a:r>
              <a:rPr lang="en-US" sz="1700" b="1" dirty="0" smtClean="0">
                <a:solidFill>
                  <a:srgbClr val="002060"/>
                </a:solidFill>
              </a:rPr>
              <a:t>O </a:t>
            </a:r>
            <a:r>
              <a:rPr lang="en-US" sz="1700" b="1" dirty="0">
                <a:solidFill>
                  <a:srgbClr val="002060"/>
                </a:solidFill>
              </a:rPr>
              <a:t>– </a:t>
            </a:r>
            <a:r>
              <a:rPr lang="en-US" sz="1700" b="1" dirty="0" smtClean="0">
                <a:solidFill>
                  <a:srgbClr val="002060"/>
                </a:solidFill>
              </a:rPr>
              <a:t>Organized </a:t>
            </a:r>
            <a:r>
              <a:rPr lang="en-US" sz="1700" dirty="0" smtClean="0">
                <a:solidFill>
                  <a:srgbClr val="002060"/>
                </a:solidFill>
              </a:rPr>
              <a:t>(used) </a:t>
            </a:r>
            <a:r>
              <a:rPr lang="en-US" sz="1700" dirty="0">
                <a:solidFill>
                  <a:srgbClr val="002060"/>
                </a:solidFill>
              </a:rPr>
              <a:t>to capture </a:t>
            </a:r>
            <a:r>
              <a:rPr lang="en-US" sz="1700" dirty="0" smtClean="0">
                <a:solidFill>
                  <a:srgbClr val="002060"/>
                </a:solidFill>
              </a:rPr>
              <a:t>value</a:t>
            </a:r>
          </a:p>
          <a:p>
            <a:pPr marL="406400" indent="0" algn="l" rtl="0">
              <a:buNone/>
            </a:pPr>
            <a:r>
              <a:rPr lang="en-US" sz="1400" b="1" dirty="0">
                <a:solidFill>
                  <a:srgbClr val="7030A0"/>
                </a:solidFill>
              </a:rPr>
              <a:t>Organized” means the company is able to actually use this advantage in real life.</a:t>
            </a:r>
          </a:p>
          <a:p>
            <a:pPr marL="406400" indent="0" algn="l" rtl="0">
              <a:buNone/>
            </a:pPr>
            <a:r>
              <a:rPr lang="en-US" sz="1400" b="1" dirty="0">
                <a:solidFill>
                  <a:srgbClr val="7030A0"/>
                </a:solidFill>
              </a:rPr>
              <a:t>Without the right organization, the resource stays unused.</a:t>
            </a:r>
          </a:p>
          <a:p>
            <a:pPr marL="627063" indent="0" algn="l" rtl="0">
              <a:buNone/>
            </a:pPr>
            <a:r>
              <a:rPr lang="en-US" sz="1800" b="1" dirty="0">
                <a:solidFill>
                  <a:srgbClr val="C00000"/>
                </a:solidFill>
              </a:rPr>
              <a:t>The logic is: A firm gains advantage when it owns resources that are valuable, rare, hard to copy, and supported by the organization.</a:t>
            </a:r>
          </a:p>
        </p:txBody>
      </p:sp>
      <p:sp>
        <p:nvSpPr>
          <p:cNvPr id="6" name="AutoShape 4" descr="VRIO Framework EXPLAINED with EXAMPLES | B2U"/>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pic>
        <p:nvPicPr>
          <p:cNvPr id="8" name="Picture 7"/>
          <p:cNvPicPr>
            <a:picLocks noChangeAspect="1"/>
          </p:cNvPicPr>
          <p:nvPr/>
        </p:nvPicPr>
        <p:blipFill>
          <a:blip r:embed="rId2"/>
          <a:stretch>
            <a:fillRect/>
          </a:stretch>
        </p:blipFill>
        <p:spPr>
          <a:xfrm>
            <a:off x="460375" y="3123747"/>
            <a:ext cx="8226425" cy="3353254"/>
          </a:xfrm>
          <a:prstGeom prst="rect">
            <a:avLst/>
          </a:prstGeom>
        </p:spPr>
      </p:pic>
    </p:spTree>
    <p:extLst>
      <p:ext uri="{BB962C8B-B14F-4D97-AF65-F5344CB8AC3E}">
        <p14:creationId xmlns:p14="http://schemas.microsoft.com/office/powerpoint/2010/main" val="184626183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346" y="762000"/>
            <a:ext cx="8610600" cy="5486400"/>
          </a:xfrm>
        </p:spPr>
        <p:txBody>
          <a:bodyPr>
            <a:normAutofit fontScale="92500" lnSpcReduction="10000"/>
          </a:bodyPr>
          <a:lstStyle/>
          <a:p>
            <a:pPr algn="l" rtl="0"/>
            <a:r>
              <a:rPr lang="en-US" sz="2000" b="1"/>
              <a:t>Example: Apple Inc.</a:t>
            </a:r>
          </a:p>
          <a:p>
            <a:pPr algn="l" rtl="0"/>
            <a:r>
              <a:rPr lang="en-US" sz="2000"/>
              <a:t>VRIO can be applied to one of Apple’s key resources: </a:t>
            </a:r>
            <a:r>
              <a:rPr lang="en-US" sz="2000" b="1"/>
              <a:t>its integrated system of products and services (iPhone, iOS, App Store, etc.)</a:t>
            </a:r>
            <a:endParaRPr lang="en-US" sz="2000"/>
          </a:p>
          <a:p>
            <a:pPr algn="l" rtl="0"/>
            <a:r>
              <a:rPr lang="en-US" sz="2000" b="1">
                <a:solidFill>
                  <a:srgbClr val="FF0000"/>
                </a:solidFill>
              </a:rPr>
              <a:t>V – Valuable:</a:t>
            </a:r>
            <a:r>
              <a:rPr lang="en-US" sz="2000"/>
              <a:t/>
            </a:r>
            <a:br>
              <a:rPr lang="en-US" sz="2000"/>
            </a:br>
            <a:r>
              <a:rPr lang="en-US" sz="2000" b="1"/>
              <a:t>Apple’s integrated system enhances customer experience, increases loyalty, and allows the company to charge premium prices, thus creating significant value. </a:t>
            </a:r>
          </a:p>
          <a:p>
            <a:pPr algn="l" rtl="0"/>
            <a:r>
              <a:rPr lang="en-US" sz="2100" b="1">
                <a:solidFill>
                  <a:srgbClr val="FF0000"/>
                </a:solidFill>
              </a:rPr>
              <a:t>R – Rare:</a:t>
            </a:r>
            <a:r>
              <a:rPr lang="en-US" sz="2000" b="1"/>
              <a:t/>
            </a:r>
            <a:br>
              <a:rPr lang="en-US" sz="2000" b="1"/>
            </a:br>
            <a:r>
              <a:rPr lang="en-US" sz="2000" b="1"/>
              <a:t>Few competitors offer such a highly coordinated and seamless integration between hardware and software, making it a rare capability. </a:t>
            </a:r>
            <a:endParaRPr lang="en-US" sz="2100" b="1"/>
          </a:p>
          <a:p>
            <a:pPr algn="l" rtl="0"/>
            <a:r>
              <a:rPr lang="en-US" sz="2100" b="1">
                <a:solidFill>
                  <a:srgbClr val="FF0000"/>
                </a:solidFill>
              </a:rPr>
              <a:t>I – Inimitable (Costly to imitate):</a:t>
            </a:r>
            <a:r>
              <a:rPr lang="en-US" sz="2100" b="1"/>
              <a:t/>
            </a:r>
            <a:br>
              <a:rPr lang="en-US" sz="2100" b="1"/>
            </a:br>
            <a:r>
              <a:rPr lang="en-US" sz="2100" b="1"/>
              <a:t>Competitors such as Samsung and Google find it difficult to replicate this level of integration due to Apple’s unique design, brand reputation, and long-term customer relationships. </a:t>
            </a:r>
          </a:p>
          <a:p>
            <a:pPr algn="l" rtl="0"/>
            <a:r>
              <a:rPr lang="en-US" sz="2100" b="1">
                <a:solidFill>
                  <a:srgbClr val="FF0000"/>
                </a:solidFill>
              </a:rPr>
              <a:t>O – Organized to capture value:</a:t>
            </a:r>
            <a:r>
              <a:rPr lang="en-US" sz="2100" b="1"/>
              <a:t/>
            </a:r>
            <a:br>
              <a:rPr lang="en-US" sz="2100" b="1"/>
            </a:br>
            <a:r>
              <a:rPr lang="en-US" sz="2100" b="1"/>
              <a:t>Apple is effectively structured and managed to fully exploit this integrated system through its operations, marketing, and supply chain.</a:t>
            </a:r>
          </a:p>
        </p:txBody>
      </p:sp>
      <p:sp>
        <p:nvSpPr>
          <p:cNvPr id="6" name="AutoShape 4" descr="VRIO Framework EXPLAINED with EXAMPLES | B2U"/>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Tree>
    <p:extLst>
      <p:ext uri="{BB962C8B-B14F-4D97-AF65-F5344CB8AC3E}">
        <p14:creationId xmlns:p14="http://schemas.microsoft.com/office/powerpoint/2010/main" val="1733689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066800"/>
            <a:ext cx="4876800" cy="762000"/>
          </a:xfrm>
        </p:spPr>
        <p:txBody>
          <a:bodyPr>
            <a:normAutofit/>
          </a:bodyPr>
          <a:lstStyle/>
          <a:p>
            <a:r>
              <a:rPr lang="fr-FR" sz="3200" b="1" dirty="0" err="1" smtClean="0">
                <a:solidFill>
                  <a:srgbClr val="0070C0"/>
                </a:solidFill>
              </a:rPr>
              <a:t>Strategists</a:t>
            </a:r>
            <a:r>
              <a:rPr lang="fr-FR" sz="3200" b="1" dirty="0" smtClean="0">
                <a:solidFill>
                  <a:srgbClr val="0070C0"/>
                </a:solidFill>
              </a:rPr>
              <a:t> </a:t>
            </a:r>
            <a:endParaRPr lang="ar-EG" sz="3200" dirty="0"/>
          </a:p>
        </p:txBody>
      </p:sp>
      <p:sp>
        <p:nvSpPr>
          <p:cNvPr id="3" name="Content Placeholder 2"/>
          <p:cNvSpPr>
            <a:spLocks noGrp="1"/>
          </p:cNvSpPr>
          <p:nvPr>
            <p:ph idx="1"/>
          </p:nvPr>
        </p:nvSpPr>
        <p:spPr>
          <a:xfrm>
            <a:off x="609600" y="1143000"/>
            <a:ext cx="7924800" cy="5181600"/>
          </a:xfrm>
        </p:spPr>
        <p:txBody>
          <a:bodyPr>
            <a:normAutofit/>
          </a:bodyPr>
          <a:lstStyle/>
          <a:p>
            <a:pPr marL="350838" indent="-282575" algn="just" rtl="0">
              <a:buNone/>
            </a:pPr>
            <a:endParaRPr lang="en-US" sz="2800" b="1" dirty="0" smtClean="0"/>
          </a:p>
          <a:p>
            <a:pPr marL="68263" indent="0" algn="just" rtl="0">
              <a:buNone/>
            </a:pPr>
            <a:r>
              <a:rPr lang="en-US" sz="2800" b="1" dirty="0" smtClean="0"/>
              <a:t>People who are responsible for:</a:t>
            </a:r>
          </a:p>
          <a:p>
            <a:endParaRPr lang="ar-EG" sz="2800" dirty="0"/>
          </a:p>
          <a:p>
            <a:pPr algn="l" rtl="0"/>
            <a:r>
              <a:rPr lang="fr-FR" sz="2800" b="1" dirty="0" err="1" smtClean="0">
                <a:solidFill>
                  <a:srgbClr val="002060"/>
                </a:solidFill>
              </a:rPr>
              <a:t>Gathering</a:t>
            </a:r>
            <a:r>
              <a:rPr lang="fr-FR" sz="2800" b="1" dirty="0" smtClean="0">
                <a:solidFill>
                  <a:srgbClr val="002060"/>
                </a:solidFill>
              </a:rPr>
              <a:t> </a:t>
            </a:r>
            <a:r>
              <a:rPr lang="fr-FR" sz="2800" b="1" dirty="0">
                <a:solidFill>
                  <a:srgbClr val="002060"/>
                </a:solidFill>
              </a:rPr>
              <a:t>Information </a:t>
            </a:r>
            <a:endParaRPr lang="fr-FR" sz="2800" b="1" dirty="0" smtClean="0">
              <a:solidFill>
                <a:srgbClr val="002060"/>
              </a:solidFill>
            </a:endParaRPr>
          </a:p>
          <a:p>
            <a:pPr algn="l" rtl="0"/>
            <a:r>
              <a:rPr lang="fr-FR" sz="2800" b="1" dirty="0" err="1" smtClean="0">
                <a:solidFill>
                  <a:srgbClr val="002060"/>
                </a:solidFill>
              </a:rPr>
              <a:t>Analyzing</a:t>
            </a:r>
            <a:r>
              <a:rPr lang="fr-FR" sz="2800" b="1" dirty="0" smtClean="0">
                <a:solidFill>
                  <a:srgbClr val="002060"/>
                </a:solidFill>
              </a:rPr>
              <a:t> </a:t>
            </a:r>
            <a:r>
              <a:rPr lang="fr-FR" sz="2800" b="1" dirty="0">
                <a:solidFill>
                  <a:srgbClr val="002060"/>
                </a:solidFill>
              </a:rPr>
              <a:t>Information </a:t>
            </a:r>
            <a:endParaRPr lang="fr-FR" sz="2800" b="1" dirty="0" smtClean="0">
              <a:solidFill>
                <a:srgbClr val="002060"/>
              </a:solidFill>
            </a:endParaRPr>
          </a:p>
          <a:p>
            <a:pPr algn="l" rtl="0"/>
            <a:r>
              <a:rPr lang="fr-FR" sz="2800" b="1" dirty="0" err="1" smtClean="0">
                <a:solidFill>
                  <a:srgbClr val="002060"/>
                </a:solidFill>
              </a:rPr>
              <a:t>Organizing</a:t>
            </a:r>
            <a:r>
              <a:rPr lang="fr-FR" sz="2800" b="1" dirty="0" smtClean="0">
                <a:solidFill>
                  <a:srgbClr val="002060"/>
                </a:solidFill>
              </a:rPr>
              <a:t> Information</a:t>
            </a:r>
          </a:p>
          <a:p>
            <a:pPr algn="l" rtl="0"/>
            <a:r>
              <a:rPr lang="fr-FR" sz="2800" b="1" dirty="0" smtClean="0">
                <a:solidFill>
                  <a:srgbClr val="002060"/>
                </a:solidFill>
              </a:rPr>
              <a:t>(CEO, </a:t>
            </a:r>
            <a:r>
              <a:rPr lang="fr-FR" sz="2800" b="1" dirty="0" err="1" smtClean="0">
                <a:solidFill>
                  <a:srgbClr val="002060"/>
                </a:solidFill>
              </a:rPr>
              <a:t>President</a:t>
            </a:r>
            <a:r>
              <a:rPr lang="fr-FR" sz="2800" b="1" dirty="0" smtClean="0">
                <a:solidFill>
                  <a:srgbClr val="002060"/>
                </a:solidFill>
              </a:rPr>
              <a:t>,…..)</a:t>
            </a:r>
          </a:p>
          <a:p>
            <a:pPr marL="68580" indent="0" algn="l" rtl="0">
              <a:buNone/>
            </a:pPr>
            <a:r>
              <a:rPr lang="fr-FR" sz="2800" b="1" dirty="0" smtClean="0"/>
              <a:t> In </a:t>
            </a:r>
            <a:r>
              <a:rPr lang="fr-FR" sz="2800" b="1" dirty="0" err="1" smtClean="0"/>
              <a:t>order</a:t>
            </a:r>
            <a:r>
              <a:rPr lang="fr-FR" sz="2800" b="1" dirty="0" smtClean="0"/>
              <a:t> to select the </a:t>
            </a:r>
            <a:r>
              <a:rPr lang="fr-FR" sz="2800" b="1" dirty="0" err="1" smtClean="0"/>
              <a:t>most</a:t>
            </a:r>
            <a:r>
              <a:rPr lang="fr-FR" sz="2800" b="1" dirty="0" smtClean="0"/>
              <a:t> </a:t>
            </a:r>
            <a:r>
              <a:rPr lang="fr-FR" sz="2800" b="1" dirty="0" err="1" smtClean="0"/>
              <a:t>suitable</a:t>
            </a:r>
            <a:r>
              <a:rPr lang="fr-FR" sz="2800" b="1" dirty="0" smtClean="0"/>
              <a:t> </a:t>
            </a:r>
            <a:r>
              <a:rPr lang="fr-FR" sz="2800" b="1" dirty="0" err="1" smtClean="0"/>
              <a:t>strategy</a:t>
            </a:r>
            <a:r>
              <a:rPr lang="fr-FR" sz="2800" b="1" dirty="0" smtClean="0"/>
              <a:t> </a:t>
            </a:r>
            <a:endParaRPr lang="ar-EG" sz="2800" b="1" dirty="0"/>
          </a:p>
        </p:txBody>
      </p:sp>
    </p:spTree>
    <p:extLst>
      <p:ext uri="{BB962C8B-B14F-4D97-AF65-F5344CB8AC3E}">
        <p14:creationId xmlns:p14="http://schemas.microsoft.com/office/powerpoint/2010/main" val="150457546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153400" cy="1143000"/>
          </a:xfrm>
        </p:spPr>
        <p:txBody>
          <a:bodyPr>
            <a:noAutofit/>
          </a:bodyPr>
          <a:lstStyle/>
          <a:p>
            <a:r>
              <a:rPr lang="en-US" sz="3600" b="1" dirty="0">
                <a:solidFill>
                  <a:srgbClr val="0070C0"/>
                </a:solidFill>
              </a:rPr>
              <a:t>External Opportunities and Threats</a:t>
            </a:r>
            <a:endParaRPr lang="ar-EG" sz="3600" b="1" dirty="0">
              <a:solidFill>
                <a:srgbClr val="0070C0"/>
              </a:solidFill>
            </a:endParaRPr>
          </a:p>
        </p:txBody>
      </p:sp>
      <p:sp>
        <p:nvSpPr>
          <p:cNvPr id="3" name="Content Placeholder 2"/>
          <p:cNvSpPr>
            <a:spLocks noGrp="1"/>
          </p:cNvSpPr>
          <p:nvPr>
            <p:ph idx="1"/>
          </p:nvPr>
        </p:nvSpPr>
        <p:spPr>
          <a:xfrm>
            <a:off x="457200" y="1600200"/>
            <a:ext cx="8077200" cy="4232429"/>
          </a:xfrm>
        </p:spPr>
        <p:txBody>
          <a:bodyPr>
            <a:normAutofit/>
          </a:bodyPr>
          <a:lstStyle/>
          <a:p>
            <a:pPr marL="68580" indent="0" algn="just" rtl="0">
              <a:buNone/>
            </a:pPr>
            <a:r>
              <a:rPr lang="en-US" sz="2600" b="1" dirty="0" smtClean="0"/>
              <a:t>It means the analysis </a:t>
            </a:r>
            <a:r>
              <a:rPr lang="en-US" sz="2600" b="1" dirty="0"/>
              <a:t>of </a:t>
            </a:r>
            <a:r>
              <a:rPr lang="en-US" sz="2600" b="1" dirty="0" smtClean="0"/>
              <a:t>trends that </a:t>
            </a:r>
            <a:r>
              <a:rPr lang="en-US" sz="2600" b="1" dirty="0"/>
              <a:t>could significantly benefit or harm </a:t>
            </a:r>
            <a:r>
              <a:rPr lang="en-US" sz="2600" b="1" dirty="0" smtClean="0"/>
              <a:t>the organization. </a:t>
            </a:r>
            <a:endParaRPr lang="en-US" sz="2600" b="1" dirty="0"/>
          </a:p>
          <a:p>
            <a:pPr algn="l" rtl="0"/>
            <a:r>
              <a:rPr lang="fr-FR" b="1" dirty="0" err="1" smtClean="0"/>
              <a:t>Economic</a:t>
            </a:r>
            <a:r>
              <a:rPr lang="fr-FR" b="1" dirty="0" smtClean="0"/>
              <a:t> conditions </a:t>
            </a:r>
            <a:endParaRPr lang="fr-FR" b="1" dirty="0"/>
          </a:p>
          <a:p>
            <a:pPr algn="l" rtl="0"/>
            <a:r>
              <a:rPr lang="fr-FR" b="1" dirty="0" smtClean="0"/>
              <a:t>Socio-Cultural </a:t>
            </a:r>
            <a:r>
              <a:rPr lang="fr-FR" b="1" dirty="0" err="1" smtClean="0"/>
              <a:t>circumstances</a:t>
            </a:r>
            <a:endParaRPr lang="fr-FR" b="1" dirty="0"/>
          </a:p>
          <a:p>
            <a:pPr algn="l" rtl="0"/>
            <a:r>
              <a:rPr lang="fr-FR" b="1" dirty="0" err="1" smtClean="0"/>
              <a:t>Demographic</a:t>
            </a:r>
            <a:r>
              <a:rPr lang="fr-FR" b="1" dirty="0" smtClean="0"/>
              <a:t>/</a:t>
            </a:r>
            <a:r>
              <a:rPr lang="fr-FR" b="1" dirty="0" err="1" smtClean="0"/>
              <a:t>Environmental</a:t>
            </a:r>
            <a:r>
              <a:rPr lang="fr-FR" b="1" dirty="0" smtClean="0"/>
              <a:t> aspects</a:t>
            </a:r>
            <a:endParaRPr lang="fr-FR" b="1" dirty="0"/>
          </a:p>
          <a:p>
            <a:pPr algn="l" rtl="0"/>
            <a:r>
              <a:rPr lang="fr-FR" b="1" dirty="0" err="1" smtClean="0"/>
              <a:t>Political</a:t>
            </a:r>
            <a:r>
              <a:rPr lang="fr-FR" b="1" dirty="0"/>
              <a:t>, </a:t>
            </a:r>
            <a:r>
              <a:rPr lang="fr-FR" b="1" dirty="0" err="1"/>
              <a:t>Legal</a:t>
            </a:r>
            <a:r>
              <a:rPr lang="fr-FR" b="1" dirty="0"/>
              <a:t>, </a:t>
            </a:r>
            <a:r>
              <a:rPr lang="fr-FR" b="1" dirty="0" err="1"/>
              <a:t>Governmental</a:t>
            </a:r>
            <a:r>
              <a:rPr lang="fr-FR" b="1" dirty="0"/>
              <a:t> </a:t>
            </a:r>
            <a:r>
              <a:rPr lang="fr-FR" b="1" dirty="0" smtClean="0"/>
              <a:t>issues</a:t>
            </a:r>
            <a:endParaRPr lang="fr-FR" b="1" dirty="0"/>
          </a:p>
          <a:p>
            <a:pPr algn="l" rtl="0"/>
            <a:r>
              <a:rPr lang="fr-FR" b="1" dirty="0" err="1" smtClean="0"/>
              <a:t>Technological</a:t>
            </a:r>
            <a:r>
              <a:rPr lang="fr-FR" b="1" dirty="0" smtClean="0"/>
              <a:t> </a:t>
            </a:r>
            <a:r>
              <a:rPr lang="fr-FR" b="1" dirty="0" err="1" smtClean="0"/>
              <a:t>effect</a:t>
            </a:r>
            <a:endParaRPr lang="fr-FR" b="1" dirty="0"/>
          </a:p>
          <a:p>
            <a:pPr algn="l" rtl="0"/>
            <a:r>
              <a:rPr lang="fr-FR" b="1" dirty="0" err="1" smtClean="0"/>
              <a:t>Competitors</a:t>
            </a:r>
            <a:r>
              <a:rPr lang="fr-FR" b="1" dirty="0" smtClean="0"/>
              <a:t> </a:t>
            </a:r>
            <a:endParaRPr lang="fr-FR" b="1" dirty="0"/>
          </a:p>
          <a:p>
            <a:endParaRPr lang="ar-EG" dirty="0"/>
          </a:p>
        </p:txBody>
      </p:sp>
    </p:spTree>
    <p:extLst>
      <p:ext uri="{BB962C8B-B14F-4D97-AF65-F5344CB8AC3E}">
        <p14:creationId xmlns:p14="http://schemas.microsoft.com/office/powerpoint/2010/main" val="233737067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1" y="0"/>
            <a:ext cx="8153400" cy="1143000"/>
          </a:xfrm>
        </p:spPr>
        <p:txBody>
          <a:bodyPr>
            <a:normAutofit/>
          </a:bodyPr>
          <a:lstStyle/>
          <a:p>
            <a:r>
              <a:rPr lang="ar-EG" sz="3000" dirty="0"/>
              <a:t/>
            </a:r>
            <a:br>
              <a:rPr lang="ar-EG" sz="3000" dirty="0"/>
            </a:br>
            <a:r>
              <a:rPr lang="fr-FR" sz="3000" b="1" dirty="0" err="1"/>
              <a:t>External</a:t>
            </a:r>
            <a:r>
              <a:rPr lang="fr-FR" sz="3000" b="1" dirty="0"/>
              <a:t> </a:t>
            </a:r>
            <a:r>
              <a:rPr lang="fr-FR" sz="3000" b="1" dirty="0" err="1" smtClean="0"/>
              <a:t>Factors</a:t>
            </a:r>
            <a:endParaRPr lang="ar-EG" sz="3000" dirty="0"/>
          </a:p>
        </p:txBody>
      </p:sp>
      <p:sp>
        <p:nvSpPr>
          <p:cNvPr id="3" name="Content Placeholder 2"/>
          <p:cNvSpPr>
            <a:spLocks noGrp="1"/>
          </p:cNvSpPr>
          <p:nvPr>
            <p:ph idx="1"/>
          </p:nvPr>
        </p:nvSpPr>
        <p:spPr>
          <a:xfrm>
            <a:off x="609600" y="1143000"/>
            <a:ext cx="7924800" cy="5334000"/>
          </a:xfrm>
        </p:spPr>
        <p:txBody>
          <a:bodyPr>
            <a:normAutofit/>
          </a:bodyPr>
          <a:lstStyle/>
          <a:p>
            <a:endParaRPr lang="ar-EG" sz="4000" dirty="0"/>
          </a:p>
          <a:p>
            <a:pPr marL="68580" indent="0" algn="l" rtl="0">
              <a:buNone/>
            </a:pPr>
            <a:endParaRPr lang="ar-EG" sz="32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399" y="1143000"/>
            <a:ext cx="8077201"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606635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153400" cy="1143000"/>
          </a:xfrm>
        </p:spPr>
        <p:txBody>
          <a:bodyPr>
            <a:noAutofit/>
          </a:bodyPr>
          <a:lstStyle/>
          <a:p>
            <a:r>
              <a:rPr lang="en-US" sz="3600" b="1" dirty="0">
                <a:solidFill>
                  <a:srgbClr val="0070C0"/>
                </a:solidFill>
              </a:rPr>
              <a:t>External Opportunities and Threats</a:t>
            </a:r>
            <a:endParaRPr lang="ar-EG" sz="3600" dirty="0">
              <a:solidFill>
                <a:srgbClr val="0070C0"/>
              </a:solidFill>
            </a:endParaRPr>
          </a:p>
        </p:txBody>
      </p:sp>
      <p:sp>
        <p:nvSpPr>
          <p:cNvPr id="3" name="Content Placeholder 2"/>
          <p:cNvSpPr>
            <a:spLocks noGrp="1"/>
          </p:cNvSpPr>
          <p:nvPr>
            <p:ph idx="1"/>
          </p:nvPr>
        </p:nvSpPr>
        <p:spPr>
          <a:xfrm>
            <a:off x="381000" y="1600200"/>
            <a:ext cx="8305800" cy="4648200"/>
          </a:xfrm>
        </p:spPr>
        <p:txBody>
          <a:bodyPr>
            <a:normAutofit fontScale="92500"/>
          </a:bodyPr>
          <a:lstStyle/>
          <a:p>
            <a:pPr marL="68580" indent="0" algn="just" rtl="0">
              <a:buNone/>
            </a:pPr>
            <a:r>
              <a:rPr lang="en-US" sz="2600" b="1" dirty="0" smtClean="0"/>
              <a:t>These factors are uncontrollable, hence, all organization while doing the strategic management, they strive to:</a:t>
            </a:r>
          </a:p>
          <a:p>
            <a:pPr marL="68580" indent="0" algn="l" rtl="0">
              <a:buNone/>
            </a:pPr>
            <a:endParaRPr lang="en-US" sz="2600" b="1" dirty="0"/>
          </a:p>
          <a:p>
            <a:pPr marL="517525" indent="-449263" algn="l" rtl="0">
              <a:buNone/>
            </a:pPr>
            <a:r>
              <a:rPr lang="en-US" sz="2600" b="1" dirty="0" smtClean="0">
                <a:effectLst>
                  <a:outerShdw blurRad="38100" dist="38100" dir="2700000" algn="tl">
                    <a:srgbClr val="000000">
                      <a:alpha val="43137"/>
                    </a:srgbClr>
                  </a:outerShdw>
                </a:effectLst>
              </a:rPr>
              <a:t>1- Take the advantage of the external opportunities</a:t>
            </a:r>
          </a:p>
          <a:p>
            <a:pPr marL="517525" indent="-449263" algn="l" rtl="0">
              <a:buNone/>
            </a:pPr>
            <a:r>
              <a:rPr lang="en-US" sz="2600" b="1" dirty="0" smtClean="0">
                <a:effectLst>
                  <a:outerShdw blurRad="38100" dist="38100" dir="2700000" algn="tl">
                    <a:srgbClr val="000000">
                      <a:alpha val="43137"/>
                    </a:srgbClr>
                  </a:outerShdw>
                </a:effectLst>
              </a:rPr>
              <a:t>2- Avoid/ minimize the impact of the external threats.</a:t>
            </a:r>
          </a:p>
          <a:p>
            <a:pPr marL="517525" indent="-449263" algn="l" rtl="0">
              <a:buNone/>
            </a:pPr>
            <a:r>
              <a:rPr lang="en-US" b="1" dirty="0" smtClean="0">
                <a:solidFill>
                  <a:srgbClr val="C00000"/>
                </a:solidFill>
              </a:rPr>
              <a:t>How can I equip the organization to have this ability ?</a:t>
            </a:r>
            <a:r>
              <a:rPr lang="en-US" b="1" dirty="0" smtClean="0"/>
              <a:t> </a:t>
            </a:r>
          </a:p>
          <a:p>
            <a:pPr marL="60325" indent="7938" algn="l" rtl="0">
              <a:buNone/>
            </a:pPr>
            <a:r>
              <a:rPr lang="en-US" sz="2600" b="1" dirty="0" smtClean="0"/>
              <a:t>It can be done in the strategy formulation stage to handle the opportunities and threats through the best fit between its internal and external factors.</a:t>
            </a:r>
            <a:endParaRPr lang="ar-EG" dirty="0"/>
          </a:p>
        </p:txBody>
      </p:sp>
    </p:spTree>
    <p:extLst>
      <p:ext uri="{BB962C8B-B14F-4D97-AF65-F5344CB8AC3E}">
        <p14:creationId xmlns:p14="http://schemas.microsoft.com/office/powerpoint/2010/main" val="393754804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153400" cy="1143000"/>
          </a:xfrm>
        </p:spPr>
        <p:txBody>
          <a:bodyPr>
            <a:noAutofit/>
          </a:bodyPr>
          <a:lstStyle/>
          <a:p>
            <a:r>
              <a:rPr lang="ar-EG" sz="3600" dirty="0">
                <a:solidFill>
                  <a:srgbClr val="0070C0"/>
                </a:solidFill>
              </a:rPr>
              <a:t/>
            </a:r>
            <a:br>
              <a:rPr lang="ar-EG" sz="3600" dirty="0">
                <a:solidFill>
                  <a:srgbClr val="0070C0"/>
                </a:solidFill>
              </a:rPr>
            </a:br>
            <a:r>
              <a:rPr lang="fr-FR" sz="3600" b="1" dirty="0" err="1">
                <a:solidFill>
                  <a:srgbClr val="0070C0"/>
                </a:solidFill>
              </a:rPr>
              <a:t>Internal</a:t>
            </a:r>
            <a:r>
              <a:rPr lang="fr-FR" sz="3600" b="1" dirty="0">
                <a:solidFill>
                  <a:srgbClr val="0070C0"/>
                </a:solidFill>
              </a:rPr>
              <a:t> </a:t>
            </a:r>
            <a:r>
              <a:rPr lang="fr-FR" sz="3600" b="1" dirty="0" err="1">
                <a:solidFill>
                  <a:srgbClr val="0070C0"/>
                </a:solidFill>
              </a:rPr>
              <a:t>Strengths</a:t>
            </a:r>
            <a:r>
              <a:rPr lang="fr-FR" sz="3600" b="1" dirty="0">
                <a:solidFill>
                  <a:srgbClr val="0070C0"/>
                </a:solidFill>
              </a:rPr>
              <a:t> and </a:t>
            </a:r>
            <a:r>
              <a:rPr lang="fr-FR" sz="3600" b="1" dirty="0" err="1">
                <a:solidFill>
                  <a:srgbClr val="0070C0"/>
                </a:solidFill>
              </a:rPr>
              <a:t>Weaknesses</a:t>
            </a:r>
            <a:endParaRPr lang="ar-EG" sz="3600" dirty="0">
              <a:solidFill>
                <a:srgbClr val="0070C0"/>
              </a:solidFill>
            </a:endParaRPr>
          </a:p>
        </p:txBody>
      </p:sp>
      <p:sp>
        <p:nvSpPr>
          <p:cNvPr id="3" name="Content Placeholder 2"/>
          <p:cNvSpPr>
            <a:spLocks noGrp="1"/>
          </p:cNvSpPr>
          <p:nvPr>
            <p:ph idx="1"/>
          </p:nvPr>
        </p:nvSpPr>
        <p:spPr>
          <a:xfrm>
            <a:off x="381000" y="1600200"/>
            <a:ext cx="8229600" cy="4232429"/>
          </a:xfrm>
        </p:spPr>
        <p:txBody>
          <a:bodyPr>
            <a:normAutofit/>
          </a:bodyPr>
          <a:lstStyle/>
          <a:p>
            <a:pPr algn="just" rtl="0"/>
            <a:r>
              <a:rPr lang="en-US" sz="2600" b="1" dirty="0" smtClean="0"/>
              <a:t>Mostly, these factors are more controllable than the external ones. </a:t>
            </a:r>
          </a:p>
          <a:p>
            <a:pPr algn="just" rtl="0"/>
            <a:endParaRPr lang="en-US" sz="2600" b="1" dirty="0"/>
          </a:p>
          <a:p>
            <a:pPr algn="just" rtl="0"/>
            <a:r>
              <a:rPr lang="en-US" sz="2600" b="1" dirty="0" smtClean="0"/>
              <a:t>These are the activities that performed well (</a:t>
            </a:r>
            <a:r>
              <a:rPr lang="en-US" sz="2600" b="1" dirty="0" smtClean="0">
                <a:solidFill>
                  <a:srgbClr val="0070C0"/>
                </a:solidFill>
              </a:rPr>
              <a:t>strengths</a:t>
            </a:r>
            <a:r>
              <a:rPr lang="en-US" sz="2600" b="1" dirty="0" smtClean="0"/>
              <a:t>) or poorly (</a:t>
            </a:r>
            <a:r>
              <a:rPr lang="en-US" sz="2600" b="1" dirty="0" smtClean="0">
                <a:solidFill>
                  <a:srgbClr val="0070C0"/>
                </a:solidFill>
              </a:rPr>
              <a:t>weaknesses</a:t>
            </a:r>
            <a:r>
              <a:rPr lang="en-US" sz="2600" b="1" dirty="0" smtClean="0"/>
              <a:t>).</a:t>
            </a:r>
            <a:endParaRPr lang="en-US" sz="2600" b="1" dirty="0"/>
          </a:p>
          <a:p>
            <a:pPr algn="just" rtl="0"/>
            <a:endParaRPr lang="en-US" sz="2600" b="1" dirty="0" smtClean="0"/>
          </a:p>
          <a:p>
            <a:pPr algn="just" rtl="0"/>
            <a:r>
              <a:rPr lang="en-US" sz="2600" b="1" dirty="0" smtClean="0"/>
              <a:t>Whenever we determine our strengths and weaknesses, I put it into a relative way, i.e. compared to the competitors. </a:t>
            </a:r>
          </a:p>
        </p:txBody>
      </p:sp>
    </p:spTree>
    <p:extLst>
      <p:ext uri="{BB962C8B-B14F-4D97-AF65-F5344CB8AC3E}">
        <p14:creationId xmlns:p14="http://schemas.microsoft.com/office/powerpoint/2010/main" val="281565232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153400" cy="1143000"/>
          </a:xfrm>
        </p:spPr>
        <p:txBody>
          <a:bodyPr>
            <a:noAutofit/>
          </a:bodyPr>
          <a:lstStyle/>
          <a:p>
            <a:r>
              <a:rPr lang="ar-EG" sz="3600" dirty="0">
                <a:solidFill>
                  <a:srgbClr val="0070C0"/>
                </a:solidFill>
              </a:rPr>
              <a:t/>
            </a:r>
            <a:br>
              <a:rPr lang="ar-EG" sz="3600" dirty="0">
                <a:solidFill>
                  <a:srgbClr val="0070C0"/>
                </a:solidFill>
              </a:rPr>
            </a:br>
            <a:r>
              <a:rPr lang="fr-FR" sz="3600" b="1" dirty="0" err="1">
                <a:solidFill>
                  <a:srgbClr val="0070C0"/>
                </a:solidFill>
              </a:rPr>
              <a:t>Internal</a:t>
            </a:r>
            <a:r>
              <a:rPr lang="fr-FR" sz="3600" b="1" dirty="0">
                <a:solidFill>
                  <a:srgbClr val="0070C0"/>
                </a:solidFill>
              </a:rPr>
              <a:t> </a:t>
            </a:r>
            <a:r>
              <a:rPr lang="fr-FR" sz="3600" b="1" dirty="0" err="1">
                <a:solidFill>
                  <a:srgbClr val="0070C0"/>
                </a:solidFill>
              </a:rPr>
              <a:t>Strengths</a:t>
            </a:r>
            <a:r>
              <a:rPr lang="fr-FR" sz="3600" b="1" dirty="0">
                <a:solidFill>
                  <a:srgbClr val="0070C0"/>
                </a:solidFill>
              </a:rPr>
              <a:t> and </a:t>
            </a:r>
            <a:r>
              <a:rPr lang="fr-FR" sz="3600" b="1" dirty="0" err="1">
                <a:solidFill>
                  <a:srgbClr val="0070C0"/>
                </a:solidFill>
              </a:rPr>
              <a:t>Weaknesses</a:t>
            </a:r>
            <a:endParaRPr lang="ar-EG" sz="3600" dirty="0">
              <a:solidFill>
                <a:srgbClr val="0070C0"/>
              </a:solidFill>
            </a:endParaRPr>
          </a:p>
        </p:txBody>
      </p:sp>
      <p:sp>
        <p:nvSpPr>
          <p:cNvPr id="3" name="Content Placeholder 2"/>
          <p:cNvSpPr>
            <a:spLocks noGrp="1"/>
          </p:cNvSpPr>
          <p:nvPr>
            <p:ph idx="1"/>
          </p:nvPr>
        </p:nvSpPr>
        <p:spPr>
          <a:xfrm>
            <a:off x="381000" y="1143000"/>
            <a:ext cx="8382000" cy="5334000"/>
          </a:xfrm>
        </p:spPr>
        <p:txBody>
          <a:bodyPr>
            <a:normAutofit fontScale="85000" lnSpcReduction="20000"/>
          </a:bodyPr>
          <a:lstStyle/>
          <a:p>
            <a:pPr marL="68580" indent="0" algn="l" rtl="0">
              <a:buNone/>
            </a:pPr>
            <a:r>
              <a:rPr lang="en-US" sz="2800" b="1" dirty="0" smtClean="0"/>
              <a:t>What are the main issues that I need to audit internally? </a:t>
            </a:r>
            <a:r>
              <a:rPr lang="en-US" sz="2800" b="1" u="sng" dirty="0" smtClean="0"/>
              <a:t>In other words where are the internal</a:t>
            </a:r>
            <a:r>
              <a:rPr lang="fr-FR" sz="2800" b="1" u="sng" dirty="0"/>
              <a:t> </a:t>
            </a:r>
            <a:r>
              <a:rPr lang="fr-FR" sz="2800" b="1" u="sng" dirty="0" err="1"/>
              <a:t>Strengths</a:t>
            </a:r>
            <a:r>
              <a:rPr lang="fr-FR" sz="2800" b="1" u="sng" dirty="0"/>
              <a:t> and </a:t>
            </a:r>
            <a:r>
              <a:rPr lang="fr-FR" sz="2800" b="1" u="sng" dirty="0" err="1" smtClean="0"/>
              <a:t>Weaknesses</a:t>
            </a:r>
            <a:r>
              <a:rPr lang="fr-FR" sz="2800" b="1" u="sng" dirty="0" smtClean="0"/>
              <a:t> </a:t>
            </a:r>
            <a:r>
              <a:rPr lang="fr-FR" sz="2800" b="1" u="sng" dirty="0" err="1" smtClean="0"/>
              <a:t>located</a:t>
            </a:r>
            <a:r>
              <a:rPr lang="fr-FR" sz="2800" b="1" u="sng" dirty="0" smtClean="0"/>
              <a:t>?</a:t>
            </a:r>
            <a:r>
              <a:rPr lang="en-US" sz="2800" b="1" u="sng" dirty="0" smtClean="0"/>
              <a:t> </a:t>
            </a:r>
            <a:endParaRPr lang="en-US" sz="2800" b="1" u="sng" dirty="0"/>
          </a:p>
          <a:p>
            <a:pPr algn="l" rtl="0"/>
            <a:r>
              <a:rPr lang="fr-FR" sz="2800" b="1" dirty="0" smtClean="0">
                <a:solidFill>
                  <a:srgbClr val="0070C0"/>
                </a:solidFill>
              </a:rPr>
              <a:t>1- Management </a:t>
            </a:r>
            <a:r>
              <a:rPr lang="fr-FR" sz="2800" b="1" dirty="0" err="1" smtClean="0">
                <a:solidFill>
                  <a:srgbClr val="0070C0"/>
                </a:solidFill>
              </a:rPr>
              <a:t>functions</a:t>
            </a:r>
            <a:r>
              <a:rPr lang="fr-FR" sz="2800" b="1" dirty="0" smtClean="0">
                <a:solidFill>
                  <a:srgbClr val="0070C0"/>
                </a:solidFill>
              </a:rPr>
              <a:t> </a:t>
            </a:r>
          </a:p>
          <a:p>
            <a:pPr marL="68580" indent="0" algn="l" rtl="0">
              <a:buNone/>
            </a:pPr>
            <a:r>
              <a:rPr lang="fr-FR" sz="2800" b="1" dirty="0" smtClean="0">
                <a:solidFill>
                  <a:srgbClr val="0070C0"/>
                </a:solidFill>
              </a:rPr>
              <a:t>( Planning- </a:t>
            </a:r>
            <a:r>
              <a:rPr lang="fr-FR" sz="2800" b="1" dirty="0" err="1" smtClean="0">
                <a:solidFill>
                  <a:srgbClr val="0070C0"/>
                </a:solidFill>
              </a:rPr>
              <a:t>Organizing</a:t>
            </a:r>
            <a:r>
              <a:rPr lang="fr-FR" sz="2800" b="1" dirty="0" smtClean="0">
                <a:solidFill>
                  <a:srgbClr val="0070C0"/>
                </a:solidFill>
              </a:rPr>
              <a:t>- </a:t>
            </a:r>
            <a:r>
              <a:rPr lang="fr-FR" sz="2800" b="1" dirty="0" err="1" smtClean="0">
                <a:solidFill>
                  <a:srgbClr val="0070C0"/>
                </a:solidFill>
              </a:rPr>
              <a:t>Leading</a:t>
            </a:r>
            <a:r>
              <a:rPr lang="fr-FR" sz="2800" b="1" dirty="0" smtClean="0">
                <a:solidFill>
                  <a:srgbClr val="0070C0"/>
                </a:solidFill>
              </a:rPr>
              <a:t>- </a:t>
            </a:r>
            <a:r>
              <a:rPr lang="fr-FR" sz="2800" b="1" dirty="0" err="1" smtClean="0">
                <a:solidFill>
                  <a:srgbClr val="0070C0"/>
                </a:solidFill>
              </a:rPr>
              <a:t>Controlling</a:t>
            </a:r>
            <a:r>
              <a:rPr lang="fr-FR" sz="2800" b="1" dirty="0" smtClean="0">
                <a:solidFill>
                  <a:srgbClr val="0070C0"/>
                </a:solidFill>
              </a:rPr>
              <a:t>).</a:t>
            </a:r>
          </a:p>
          <a:p>
            <a:pPr algn="l" rtl="0"/>
            <a:r>
              <a:rPr lang="fr-FR" sz="2800" b="1" dirty="0" smtClean="0">
                <a:solidFill>
                  <a:schemeClr val="accent1">
                    <a:lumMod val="75000"/>
                  </a:schemeClr>
                </a:solidFill>
              </a:rPr>
              <a:t>2- Business </a:t>
            </a:r>
            <a:r>
              <a:rPr lang="fr-FR" sz="2800" b="1" dirty="0" err="1" smtClean="0">
                <a:solidFill>
                  <a:schemeClr val="accent1">
                    <a:lumMod val="75000"/>
                  </a:schemeClr>
                </a:solidFill>
              </a:rPr>
              <a:t>functions</a:t>
            </a:r>
            <a:r>
              <a:rPr lang="fr-FR" sz="2800" b="1" dirty="0" smtClean="0">
                <a:solidFill>
                  <a:schemeClr val="accent1">
                    <a:lumMod val="75000"/>
                  </a:schemeClr>
                </a:solidFill>
              </a:rPr>
              <a:t>; </a:t>
            </a:r>
            <a:r>
              <a:rPr lang="fr-FR" sz="2800" b="1" dirty="0" err="1" smtClean="0">
                <a:solidFill>
                  <a:schemeClr val="accent1">
                    <a:lumMod val="75000"/>
                  </a:schemeClr>
                </a:solidFill>
              </a:rPr>
              <a:t>such</a:t>
            </a:r>
            <a:r>
              <a:rPr lang="fr-FR" sz="2800" b="1" dirty="0" smtClean="0">
                <a:solidFill>
                  <a:schemeClr val="accent1">
                    <a:lumMod val="75000"/>
                  </a:schemeClr>
                </a:solidFill>
              </a:rPr>
              <a:t> as</a:t>
            </a:r>
            <a:endParaRPr lang="fr-FR" sz="2800" b="1" dirty="0">
              <a:solidFill>
                <a:schemeClr val="accent1">
                  <a:lumMod val="75000"/>
                </a:schemeClr>
              </a:solidFill>
            </a:endParaRPr>
          </a:p>
          <a:p>
            <a:pPr algn="l" rtl="0"/>
            <a:r>
              <a:rPr lang="fr-FR" sz="2800" b="1" dirty="0">
                <a:solidFill>
                  <a:schemeClr val="accent1">
                    <a:lumMod val="75000"/>
                  </a:schemeClr>
                </a:solidFill>
              </a:rPr>
              <a:t>Marketing </a:t>
            </a:r>
          </a:p>
          <a:p>
            <a:pPr algn="l" rtl="0"/>
            <a:r>
              <a:rPr lang="fr-FR" sz="2800" b="1" dirty="0">
                <a:solidFill>
                  <a:schemeClr val="accent1">
                    <a:lumMod val="75000"/>
                  </a:schemeClr>
                </a:solidFill>
              </a:rPr>
              <a:t>Finance/</a:t>
            </a:r>
            <a:r>
              <a:rPr lang="fr-FR" sz="2800" b="1" dirty="0" err="1">
                <a:solidFill>
                  <a:schemeClr val="accent1">
                    <a:lumMod val="75000"/>
                  </a:schemeClr>
                </a:solidFill>
              </a:rPr>
              <a:t>Accounting</a:t>
            </a:r>
            <a:r>
              <a:rPr lang="fr-FR" sz="2800" b="1" dirty="0">
                <a:solidFill>
                  <a:schemeClr val="accent1">
                    <a:lumMod val="75000"/>
                  </a:schemeClr>
                </a:solidFill>
              </a:rPr>
              <a:t> </a:t>
            </a:r>
          </a:p>
          <a:p>
            <a:pPr algn="l" rtl="0"/>
            <a:r>
              <a:rPr lang="fr-FR" sz="2800" b="1" dirty="0">
                <a:solidFill>
                  <a:schemeClr val="accent1">
                    <a:lumMod val="75000"/>
                  </a:schemeClr>
                </a:solidFill>
              </a:rPr>
              <a:t>Production/Operations </a:t>
            </a:r>
          </a:p>
          <a:p>
            <a:pPr algn="l" rtl="0"/>
            <a:r>
              <a:rPr lang="fr-FR" sz="2800" b="1" dirty="0" err="1">
                <a:solidFill>
                  <a:schemeClr val="accent1">
                    <a:lumMod val="75000"/>
                  </a:schemeClr>
                </a:solidFill>
              </a:rPr>
              <a:t>Research</a:t>
            </a:r>
            <a:r>
              <a:rPr lang="fr-FR" sz="2800" b="1" dirty="0">
                <a:solidFill>
                  <a:schemeClr val="accent1">
                    <a:lumMod val="75000"/>
                  </a:schemeClr>
                </a:solidFill>
              </a:rPr>
              <a:t> &amp; </a:t>
            </a:r>
            <a:r>
              <a:rPr lang="fr-FR" sz="2800" b="1" dirty="0" err="1">
                <a:solidFill>
                  <a:schemeClr val="accent1">
                    <a:lumMod val="75000"/>
                  </a:schemeClr>
                </a:solidFill>
              </a:rPr>
              <a:t>Development</a:t>
            </a:r>
            <a:r>
              <a:rPr lang="fr-FR" sz="2800" b="1" dirty="0">
                <a:solidFill>
                  <a:schemeClr val="accent1">
                    <a:lumMod val="75000"/>
                  </a:schemeClr>
                </a:solidFill>
              </a:rPr>
              <a:t> </a:t>
            </a:r>
          </a:p>
          <a:p>
            <a:pPr algn="l" rtl="0"/>
            <a:r>
              <a:rPr lang="fr-FR" sz="2800" b="1" dirty="0">
                <a:solidFill>
                  <a:schemeClr val="accent1">
                    <a:lumMod val="75000"/>
                  </a:schemeClr>
                </a:solidFill>
              </a:rPr>
              <a:t>Management Information </a:t>
            </a:r>
            <a:r>
              <a:rPr lang="fr-FR" sz="2800" b="1" dirty="0" err="1">
                <a:solidFill>
                  <a:schemeClr val="accent1">
                    <a:lumMod val="75000"/>
                  </a:schemeClr>
                </a:solidFill>
              </a:rPr>
              <a:t>Systems</a:t>
            </a:r>
            <a:r>
              <a:rPr lang="fr-FR" sz="2800" b="1" dirty="0">
                <a:solidFill>
                  <a:schemeClr val="accent1">
                    <a:lumMod val="75000"/>
                  </a:schemeClr>
                </a:solidFill>
              </a:rPr>
              <a:t> </a:t>
            </a:r>
            <a:endParaRPr lang="fr-FR" sz="2800" b="1" dirty="0" smtClean="0">
              <a:solidFill>
                <a:schemeClr val="accent1">
                  <a:lumMod val="75000"/>
                </a:schemeClr>
              </a:solidFill>
            </a:endParaRPr>
          </a:p>
          <a:p>
            <a:pPr algn="l" rtl="0"/>
            <a:r>
              <a:rPr lang="fr-FR" sz="2700" b="1" dirty="0" smtClean="0">
                <a:solidFill>
                  <a:srgbClr val="C00000"/>
                </a:solidFill>
              </a:rPr>
              <a:t>3- </a:t>
            </a:r>
            <a:r>
              <a:rPr lang="fr-FR" sz="2700" b="1" dirty="0" err="1" smtClean="0">
                <a:solidFill>
                  <a:srgbClr val="C00000"/>
                </a:solidFill>
              </a:rPr>
              <a:t>Resources</a:t>
            </a:r>
            <a:r>
              <a:rPr lang="fr-FR" sz="2700" b="1" dirty="0" smtClean="0">
                <a:solidFill>
                  <a:srgbClr val="C00000"/>
                </a:solidFill>
              </a:rPr>
              <a:t> </a:t>
            </a:r>
            <a:r>
              <a:rPr lang="fr-FR" sz="2700" b="1" dirty="0" err="1" smtClean="0">
                <a:solidFill>
                  <a:srgbClr val="C00000"/>
                </a:solidFill>
              </a:rPr>
              <a:t>that</a:t>
            </a:r>
            <a:r>
              <a:rPr lang="fr-FR" sz="2700" b="1" dirty="0" smtClean="0">
                <a:solidFill>
                  <a:srgbClr val="C00000"/>
                </a:solidFill>
              </a:rPr>
              <a:t> the </a:t>
            </a:r>
            <a:r>
              <a:rPr lang="fr-FR" sz="2700" b="1" dirty="0" err="1" smtClean="0">
                <a:solidFill>
                  <a:srgbClr val="C00000"/>
                </a:solidFill>
              </a:rPr>
              <a:t>company</a:t>
            </a:r>
            <a:r>
              <a:rPr lang="fr-FR" sz="2700" b="1" dirty="0" smtClean="0">
                <a:solidFill>
                  <a:srgbClr val="C00000"/>
                </a:solidFill>
              </a:rPr>
              <a:t> has an </a:t>
            </a:r>
            <a:r>
              <a:rPr lang="fr-FR" sz="2700" b="1" dirty="0" err="1" smtClean="0">
                <a:solidFill>
                  <a:srgbClr val="C00000"/>
                </a:solidFill>
              </a:rPr>
              <a:t>access</a:t>
            </a:r>
            <a:r>
              <a:rPr lang="fr-FR" sz="2700" b="1" dirty="0" smtClean="0">
                <a:solidFill>
                  <a:srgbClr val="C00000"/>
                </a:solidFill>
              </a:rPr>
              <a:t> to (</a:t>
            </a:r>
            <a:r>
              <a:rPr lang="fr-FR" sz="2700" b="1" dirty="0" err="1" smtClean="0">
                <a:solidFill>
                  <a:srgbClr val="C00000"/>
                </a:solidFill>
              </a:rPr>
              <a:t>e.g</a:t>
            </a:r>
            <a:r>
              <a:rPr lang="fr-FR" sz="2700" b="1" dirty="0" smtClean="0">
                <a:solidFill>
                  <a:srgbClr val="C00000"/>
                </a:solidFill>
              </a:rPr>
              <a:t>. </a:t>
            </a:r>
            <a:r>
              <a:rPr lang="fr-FR" sz="2700" b="1" dirty="0" err="1" smtClean="0">
                <a:solidFill>
                  <a:srgbClr val="C00000"/>
                </a:solidFill>
              </a:rPr>
              <a:t>financial</a:t>
            </a:r>
            <a:r>
              <a:rPr lang="fr-FR" sz="2700" b="1" dirty="0" smtClean="0">
                <a:solidFill>
                  <a:srgbClr val="C00000"/>
                </a:solidFill>
              </a:rPr>
              <a:t> </a:t>
            </a:r>
            <a:r>
              <a:rPr lang="fr-FR" sz="2700" b="1" dirty="0" err="1" smtClean="0">
                <a:solidFill>
                  <a:srgbClr val="C00000"/>
                </a:solidFill>
              </a:rPr>
              <a:t>rescources</a:t>
            </a:r>
            <a:r>
              <a:rPr lang="fr-FR" sz="2700" b="1" dirty="0" smtClean="0">
                <a:solidFill>
                  <a:srgbClr val="C00000"/>
                </a:solidFill>
              </a:rPr>
              <a:t>, </a:t>
            </a:r>
            <a:r>
              <a:rPr lang="fr-FR" sz="2700" b="1" dirty="0" err="1" smtClean="0">
                <a:solidFill>
                  <a:srgbClr val="C00000"/>
                </a:solidFill>
              </a:rPr>
              <a:t>HR</a:t>
            </a:r>
            <a:r>
              <a:rPr lang="fr-FR" sz="2700" b="1" dirty="0" smtClean="0">
                <a:solidFill>
                  <a:srgbClr val="C00000"/>
                </a:solidFill>
              </a:rPr>
              <a:t>,….).</a:t>
            </a:r>
          </a:p>
          <a:p>
            <a:pPr marL="68580" indent="0" algn="ctr" rtl="0">
              <a:buNone/>
            </a:pPr>
            <a:r>
              <a:rPr lang="fr-FR" sz="2700" b="1" dirty="0" err="1" smtClean="0">
                <a:solidFill>
                  <a:schemeClr val="tx1"/>
                </a:solidFill>
                <a:effectLst>
                  <a:outerShdw blurRad="38100" dist="38100" dir="2700000" algn="tl">
                    <a:srgbClr val="000000">
                      <a:alpha val="43137"/>
                    </a:srgbClr>
                  </a:outerShdw>
                </a:effectLst>
              </a:rPr>
              <a:t>Any</a:t>
            </a:r>
            <a:r>
              <a:rPr lang="fr-FR" sz="2700" b="1" dirty="0" smtClean="0">
                <a:solidFill>
                  <a:schemeClr val="tx1"/>
                </a:solidFill>
                <a:effectLst>
                  <a:outerShdw blurRad="38100" dist="38100" dir="2700000" algn="tl">
                    <a:srgbClr val="000000">
                      <a:alpha val="43137"/>
                    </a:srgbClr>
                  </a:outerShdw>
                </a:effectLst>
              </a:rPr>
              <a:t> one of </a:t>
            </a:r>
            <a:r>
              <a:rPr lang="fr-FR" sz="2700" b="1" dirty="0" err="1" smtClean="0">
                <a:solidFill>
                  <a:schemeClr val="tx1"/>
                </a:solidFill>
                <a:effectLst>
                  <a:outerShdw blurRad="38100" dist="38100" dir="2700000" algn="tl">
                    <a:srgbClr val="000000">
                      <a:alpha val="43137"/>
                    </a:srgbClr>
                  </a:outerShdw>
                </a:effectLst>
              </a:rPr>
              <a:t>these</a:t>
            </a:r>
            <a:r>
              <a:rPr lang="fr-FR" sz="2700" b="1" dirty="0" smtClean="0">
                <a:solidFill>
                  <a:schemeClr val="tx1"/>
                </a:solidFill>
                <a:effectLst>
                  <a:outerShdw blurRad="38100" dist="38100" dir="2700000" algn="tl">
                    <a:srgbClr val="000000">
                      <a:alpha val="43137"/>
                    </a:srgbClr>
                  </a:outerShdw>
                </a:effectLst>
              </a:rPr>
              <a:t> </a:t>
            </a:r>
            <a:r>
              <a:rPr lang="fr-FR" sz="2700" b="1" dirty="0" err="1" smtClean="0">
                <a:solidFill>
                  <a:schemeClr val="tx1"/>
                </a:solidFill>
                <a:effectLst>
                  <a:outerShdw blurRad="38100" dist="38100" dir="2700000" algn="tl">
                    <a:srgbClr val="000000">
                      <a:alpha val="43137"/>
                    </a:srgbClr>
                  </a:outerShdw>
                </a:effectLst>
              </a:rPr>
              <a:t>three</a:t>
            </a:r>
            <a:r>
              <a:rPr lang="fr-FR" sz="2700" b="1" dirty="0" smtClean="0">
                <a:solidFill>
                  <a:schemeClr val="tx1"/>
                </a:solidFill>
                <a:effectLst>
                  <a:outerShdw blurRad="38100" dist="38100" dir="2700000" algn="tl">
                    <a:srgbClr val="000000">
                      <a:alpha val="43137"/>
                    </a:srgbClr>
                  </a:outerShdw>
                </a:effectLst>
              </a:rPr>
              <a:t> main issues </a:t>
            </a:r>
            <a:r>
              <a:rPr lang="fr-FR" sz="2700" b="1" dirty="0" err="1" smtClean="0">
                <a:solidFill>
                  <a:schemeClr val="tx1"/>
                </a:solidFill>
                <a:effectLst>
                  <a:outerShdw blurRad="38100" dist="38100" dir="2700000" algn="tl">
                    <a:srgbClr val="000000">
                      <a:alpha val="43137"/>
                    </a:srgbClr>
                  </a:outerShdw>
                </a:effectLst>
              </a:rPr>
              <a:t>could</a:t>
            </a:r>
            <a:r>
              <a:rPr lang="fr-FR" sz="2700" b="1" dirty="0" smtClean="0">
                <a:solidFill>
                  <a:schemeClr val="tx1"/>
                </a:solidFill>
                <a:effectLst>
                  <a:outerShdw blurRad="38100" dist="38100" dir="2700000" algn="tl">
                    <a:srgbClr val="000000">
                      <a:alpha val="43137"/>
                    </a:srgbClr>
                  </a:outerShdw>
                </a:effectLst>
              </a:rPr>
              <a:t> </a:t>
            </a:r>
            <a:r>
              <a:rPr lang="fr-FR" sz="2700" b="1" dirty="0" err="1" smtClean="0">
                <a:solidFill>
                  <a:schemeClr val="tx1"/>
                </a:solidFill>
                <a:effectLst>
                  <a:outerShdw blurRad="38100" dist="38100" dir="2700000" algn="tl">
                    <a:srgbClr val="000000">
                      <a:alpha val="43137"/>
                    </a:srgbClr>
                  </a:outerShdw>
                </a:effectLst>
              </a:rPr>
              <a:t>be</a:t>
            </a:r>
            <a:r>
              <a:rPr lang="fr-FR" sz="2700" b="1" dirty="0" smtClean="0">
                <a:solidFill>
                  <a:schemeClr val="tx1"/>
                </a:solidFill>
                <a:effectLst>
                  <a:outerShdw blurRad="38100" dist="38100" dir="2700000" algn="tl">
                    <a:srgbClr val="000000">
                      <a:alpha val="43137"/>
                    </a:srgbClr>
                  </a:outerShdw>
                </a:effectLst>
              </a:rPr>
              <a:t> a source of </a:t>
            </a:r>
            <a:r>
              <a:rPr lang="fr-FR" sz="2700" b="1" dirty="0" err="1" smtClean="0">
                <a:solidFill>
                  <a:schemeClr val="tx1"/>
                </a:solidFill>
                <a:effectLst>
                  <a:outerShdw blurRad="38100" dist="38100" dir="2700000" algn="tl">
                    <a:srgbClr val="000000">
                      <a:alpha val="43137"/>
                    </a:srgbClr>
                  </a:outerShdw>
                </a:effectLst>
              </a:rPr>
              <a:t>strengthes</a:t>
            </a:r>
            <a:r>
              <a:rPr lang="fr-FR" sz="2700" b="1" dirty="0" smtClean="0">
                <a:solidFill>
                  <a:schemeClr val="tx1"/>
                </a:solidFill>
                <a:effectLst>
                  <a:outerShdw blurRad="38100" dist="38100" dir="2700000" algn="tl">
                    <a:srgbClr val="000000">
                      <a:alpha val="43137"/>
                    </a:srgbClr>
                  </a:outerShdw>
                </a:effectLst>
              </a:rPr>
              <a:t> or </a:t>
            </a:r>
            <a:r>
              <a:rPr lang="fr-FR" sz="2700" b="1" dirty="0" err="1" smtClean="0">
                <a:solidFill>
                  <a:schemeClr val="tx1"/>
                </a:solidFill>
                <a:effectLst>
                  <a:outerShdw blurRad="38100" dist="38100" dir="2700000" algn="tl">
                    <a:srgbClr val="000000">
                      <a:alpha val="43137"/>
                    </a:srgbClr>
                  </a:outerShdw>
                </a:effectLst>
              </a:rPr>
              <a:t>weaknesses</a:t>
            </a:r>
            <a:r>
              <a:rPr lang="fr-FR" sz="2700" b="1" dirty="0" smtClean="0">
                <a:solidFill>
                  <a:schemeClr val="tx1"/>
                </a:solidFill>
                <a:effectLst>
                  <a:outerShdw blurRad="38100" dist="38100" dir="2700000" algn="tl">
                    <a:srgbClr val="000000">
                      <a:alpha val="43137"/>
                    </a:srgbClr>
                  </a:outerShdw>
                </a:effectLst>
              </a:rPr>
              <a:t> </a:t>
            </a:r>
            <a:endParaRPr lang="fr-FR" sz="27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742866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63000" cy="1143000"/>
          </a:xfrm>
        </p:spPr>
        <p:txBody>
          <a:bodyPr>
            <a:normAutofit fontScale="90000"/>
          </a:bodyPr>
          <a:lstStyle/>
          <a:p>
            <a:pPr algn="l"/>
            <a:r>
              <a:rPr lang="fr-FR" b="1" u="sng" dirty="0" smtClean="0"/>
              <a:t> </a:t>
            </a:r>
            <a:r>
              <a:rPr lang="fr-FR" b="1" u="sng" dirty="0" err="1" smtClean="0"/>
              <a:t>Internal</a:t>
            </a:r>
            <a:r>
              <a:rPr lang="fr-FR" b="1" u="sng" dirty="0" smtClean="0"/>
              <a:t> Audit (</a:t>
            </a:r>
            <a:r>
              <a:rPr lang="fr-FR" b="1" u="sng" dirty="0" err="1" smtClean="0"/>
              <a:t>Internal</a:t>
            </a:r>
            <a:r>
              <a:rPr lang="fr-FR" b="1" u="sng" dirty="0" smtClean="0"/>
              <a:t> +</a:t>
            </a:r>
            <a:r>
              <a:rPr lang="fr-FR" b="1" u="sng" dirty="0" err="1" smtClean="0"/>
              <a:t>ves</a:t>
            </a:r>
            <a:r>
              <a:rPr lang="fr-FR" b="1" u="sng" dirty="0" smtClean="0"/>
              <a:t> and –</a:t>
            </a:r>
            <a:r>
              <a:rPr lang="fr-FR" b="1" u="sng" dirty="0" err="1" smtClean="0"/>
              <a:t>ves</a:t>
            </a:r>
            <a:r>
              <a:rPr lang="fr-FR" b="1" u="sng" dirty="0" smtClean="0"/>
              <a:t>)  </a:t>
            </a:r>
            <a:r>
              <a:rPr lang="fr-FR" u="sng" dirty="0"/>
              <a:t/>
            </a:r>
            <a:br>
              <a:rPr lang="fr-FR" u="sng" dirty="0"/>
            </a:br>
            <a:endParaRPr lang="ar-EG" u="sng" dirty="0"/>
          </a:p>
        </p:txBody>
      </p:sp>
      <p:sp>
        <p:nvSpPr>
          <p:cNvPr id="3" name="Content Placeholder 2"/>
          <p:cNvSpPr>
            <a:spLocks noGrp="1"/>
          </p:cNvSpPr>
          <p:nvPr>
            <p:ph idx="1"/>
          </p:nvPr>
        </p:nvSpPr>
        <p:spPr>
          <a:xfrm>
            <a:off x="0" y="914400"/>
            <a:ext cx="9144000" cy="5943600"/>
          </a:xfrm>
        </p:spPr>
        <p:txBody>
          <a:bodyPr>
            <a:normAutofit fontScale="92500"/>
          </a:bodyPr>
          <a:lstStyle/>
          <a:p>
            <a:pPr marL="341313" indent="-273050">
              <a:buClr>
                <a:srgbClr val="94C600"/>
              </a:buClr>
              <a:buSzPct val="76000"/>
              <a:buNone/>
            </a:pPr>
            <a:r>
              <a:rPr lang="fr-FR" sz="2300" b="1" dirty="0" smtClean="0">
                <a:solidFill>
                  <a:schemeClr val="tx2">
                    <a:lumMod val="75000"/>
                  </a:schemeClr>
                </a:solidFill>
                <a:latin typeface="Century Gothic"/>
              </a:rPr>
              <a:t>   </a:t>
            </a:r>
            <a:r>
              <a:rPr lang="fr-FR" sz="2300" b="1" i="1" u="sng" dirty="0" err="1" smtClean="0">
                <a:solidFill>
                  <a:schemeClr val="tx2">
                    <a:lumMod val="75000"/>
                  </a:schemeClr>
                </a:solidFill>
                <a:latin typeface="Century Gothic"/>
              </a:rPr>
              <a:t>Resources</a:t>
            </a:r>
            <a:r>
              <a:rPr lang="fr-FR" sz="2300" b="1" i="1" u="sng" dirty="0" smtClean="0">
                <a:solidFill>
                  <a:schemeClr val="tx2">
                    <a:lumMod val="75000"/>
                  </a:schemeClr>
                </a:solidFill>
                <a:latin typeface="Century Gothic"/>
              </a:rPr>
              <a:t> </a:t>
            </a:r>
            <a:r>
              <a:rPr lang="fr-FR" sz="2300" b="1" i="1" u="sng" dirty="0" err="1">
                <a:solidFill>
                  <a:schemeClr val="tx2">
                    <a:lumMod val="75000"/>
                  </a:schemeClr>
                </a:solidFill>
                <a:latin typeface="Century Gothic"/>
              </a:rPr>
              <a:t>that</a:t>
            </a:r>
            <a:r>
              <a:rPr lang="fr-FR" sz="2300" b="1" i="1" u="sng" dirty="0">
                <a:solidFill>
                  <a:schemeClr val="tx2">
                    <a:lumMod val="75000"/>
                  </a:schemeClr>
                </a:solidFill>
                <a:latin typeface="Century Gothic"/>
              </a:rPr>
              <a:t> the </a:t>
            </a:r>
            <a:r>
              <a:rPr lang="fr-FR" sz="2300" b="1" i="1" u="sng" dirty="0" err="1">
                <a:solidFill>
                  <a:schemeClr val="tx2">
                    <a:lumMod val="75000"/>
                  </a:schemeClr>
                </a:solidFill>
                <a:latin typeface="Century Gothic"/>
              </a:rPr>
              <a:t>company</a:t>
            </a:r>
            <a:r>
              <a:rPr lang="fr-FR" sz="2300" b="1" i="1" u="sng" dirty="0">
                <a:solidFill>
                  <a:schemeClr val="tx2">
                    <a:lumMod val="75000"/>
                  </a:schemeClr>
                </a:solidFill>
                <a:latin typeface="Century Gothic"/>
              </a:rPr>
              <a:t> has an </a:t>
            </a:r>
            <a:r>
              <a:rPr lang="fr-FR" sz="2300" b="1" i="1" u="sng" dirty="0" err="1">
                <a:solidFill>
                  <a:schemeClr val="tx2">
                    <a:lumMod val="75000"/>
                  </a:schemeClr>
                </a:solidFill>
                <a:latin typeface="Century Gothic"/>
              </a:rPr>
              <a:t>access</a:t>
            </a:r>
            <a:r>
              <a:rPr lang="fr-FR" sz="2300" b="1" i="1" u="sng" dirty="0">
                <a:solidFill>
                  <a:schemeClr val="tx2">
                    <a:lumMod val="75000"/>
                  </a:schemeClr>
                </a:solidFill>
                <a:latin typeface="Century Gothic"/>
              </a:rPr>
              <a:t> </a:t>
            </a:r>
            <a:r>
              <a:rPr lang="fr-FR" sz="2300" b="1" i="1" u="sng" dirty="0" smtClean="0">
                <a:solidFill>
                  <a:schemeClr val="tx2">
                    <a:lumMod val="75000"/>
                  </a:schemeClr>
                </a:solidFill>
                <a:latin typeface="Century Gothic"/>
              </a:rPr>
              <a:t>to </a:t>
            </a:r>
            <a:r>
              <a:rPr lang="fr-FR" sz="2300" b="1" i="1" u="sng" dirty="0" err="1" smtClean="0">
                <a:solidFill>
                  <a:schemeClr val="tx2">
                    <a:lumMod val="75000"/>
                  </a:schemeClr>
                </a:solidFill>
                <a:latin typeface="Century Gothic"/>
              </a:rPr>
              <a:t>can</a:t>
            </a:r>
            <a:r>
              <a:rPr lang="fr-FR" sz="2300" b="1" i="1" u="sng" dirty="0" smtClean="0">
                <a:solidFill>
                  <a:schemeClr val="tx2">
                    <a:lumMod val="75000"/>
                  </a:schemeClr>
                </a:solidFill>
                <a:latin typeface="Century Gothic"/>
              </a:rPr>
              <a:t> </a:t>
            </a:r>
            <a:r>
              <a:rPr lang="fr-FR" sz="2300" b="1" i="1" u="sng" dirty="0" err="1" smtClean="0">
                <a:solidFill>
                  <a:schemeClr val="tx2">
                    <a:lumMod val="75000"/>
                  </a:schemeClr>
                </a:solidFill>
                <a:latin typeface="Century Gothic"/>
              </a:rPr>
              <a:t>be</a:t>
            </a:r>
            <a:r>
              <a:rPr lang="fr-FR" sz="2300" b="1" i="1" u="sng" dirty="0" smtClean="0">
                <a:solidFill>
                  <a:schemeClr val="tx2">
                    <a:lumMod val="75000"/>
                  </a:schemeClr>
                </a:solidFill>
                <a:latin typeface="Century Gothic"/>
              </a:rPr>
              <a:t> </a:t>
            </a:r>
            <a:r>
              <a:rPr lang="fr-FR" sz="2300" b="1" i="1" u="sng" dirty="0" err="1" smtClean="0">
                <a:solidFill>
                  <a:schemeClr val="tx2">
                    <a:lumMod val="75000"/>
                  </a:schemeClr>
                </a:solidFill>
                <a:latin typeface="Century Gothic"/>
              </a:rPr>
              <a:t>classified</a:t>
            </a:r>
            <a:r>
              <a:rPr lang="fr-FR" sz="2300" b="1" i="1" u="sng" dirty="0" smtClean="0">
                <a:solidFill>
                  <a:schemeClr val="tx2">
                    <a:lumMod val="75000"/>
                  </a:schemeClr>
                </a:solidFill>
                <a:latin typeface="Century Gothic"/>
              </a:rPr>
              <a:t> </a:t>
            </a:r>
            <a:r>
              <a:rPr lang="fr-FR" sz="2300" b="1" i="1" u="sng" dirty="0" err="1" smtClean="0">
                <a:solidFill>
                  <a:schemeClr val="tx2">
                    <a:lumMod val="75000"/>
                  </a:schemeClr>
                </a:solidFill>
                <a:latin typeface="Century Gothic"/>
              </a:rPr>
              <a:t>into</a:t>
            </a:r>
            <a:r>
              <a:rPr lang="fr-FR" sz="2300" b="1" i="1" u="sng" dirty="0" smtClean="0">
                <a:solidFill>
                  <a:schemeClr val="tx2">
                    <a:lumMod val="75000"/>
                  </a:schemeClr>
                </a:solidFill>
                <a:latin typeface="Century Gothic"/>
              </a:rPr>
              <a:t> </a:t>
            </a:r>
            <a:r>
              <a:rPr lang="fr-FR" sz="2300" b="1" i="1" u="sng" dirty="0" err="1" smtClean="0">
                <a:solidFill>
                  <a:schemeClr val="tx2">
                    <a:lumMod val="75000"/>
                  </a:schemeClr>
                </a:solidFill>
                <a:latin typeface="Century Gothic"/>
              </a:rPr>
              <a:t>two</a:t>
            </a:r>
            <a:r>
              <a:rPr lang="fr-FR" sz="2300" b="1" i="1" u="sng" dirty="0" smtClean="0">
                <a:solidFill>
                  <a:schemeClr val="tx2">
                    <a:lumMod val="75000"/>
                  </a:schemeClr>
                </a:solidFill>
                <a:latin typeface="Century Gothic"/>
              </a:rPr>
              <a:t> groups: </a:t>
            </a:r>
          </a:p>
          <a:p>
            <a:pPr marL="341313" indent="-273050">
              <a:buClr>
                <a:srgbClr val="94C600"/>
              </a:buClr>
              <a:buSzPct val="76000"/>
              <a:buNone/>
            </a:pPr>
            <a:r>
              <a:rPr lang="fr-FR" sz="2300" b="1" dirty="0" smtClean="0">
                <a:solidFill>
                  <a:srgbClr val="C00000"/>
                </a:solidFill>
                <a:latin typeface="Century Gothic"/>
              </a:rPr>
              <a:t>1- </a:t>
            </a:r>
            <a:r>
              <a:rPr lang="fr-FR" sz="2300" b="1" dirty="0" err="1" smtClean="0">
                <a:solidFill>
                  <a:srgbClr val="C00000"/>
                </a:solidFill>
                <a:latin typeface="Century Gothic"/>
              </a:rPr>
              <a:t>Traditional</a:t>
            </a:r>
            <a:r>
              <a:rPr lang="fr-FR" sz="2300" b="1" dirty="0" smtClean="0">
                <a:solidFill>
                  <a:srgbClr val="C00000"/>
                </a:solidFill>
                <a:latin typeface="Century Gothic"/>
              </a:rPr>
              <a:t> </a:t>
            </a:r>
            <a:r>
              <a:rPr lang="fr-FR" sz="2300" b="1" dirty="0" err="1" smtClean="0">
                <a:solidFill>
                  <a:srgbClr val="C00000"/>
                </a:solidFill>
                <a:latin typeface="Century Gothic"/>
              </a:rPr>
              <a:t>resources</a:t>
            </a:r>
            <a:r>
              <a:rPr lang="fr-FR" sz="2300" b="1" dirty="0" smtClean="0">
                <a:solidFill>
                  <a:srgbClr val="C00000"/>
                </a:solidFill>
                <a:latin typeface="Century Gothic"/>
              </a:rPr>
              <a:t>: </a:t>
            </a:r>
            <a:r>
              <a:rPr lang="fr-FR" sz="2300" b="1" dirty="0" err="1" smtClean="0">
                <a:solidFill>
                  <a:srgbClr val="C00000"/>
                </a:solidFill>
                <a:latin typeface="Century Gothic"/>
              </a:rPr>
              <a:t>they</a:t>
            </a:r>
            <a:r>
              <a:rPr lang="fr-FR" sz="2300" b="1" dirty="0" smtClean="0">
                <a:solidFill>
                  <a:srgbClr val="C00000"/>
                </a:solidFill>
                <a:latin typeface="Century Gothic"/>
              </a:rPr>
              <a:t> </a:t>
            </a:r>
            <a:r>
              <a:rPr lang="fr-FR" sz="2300" b="1" dirty="0" err="1" smtClean="0">
                <a:solidFill>
                  <a:srgbClr val="C00000"/>
                </a:solidFill>
                <a:latin typeface="Century Gothic"/>
              </a:rPr>
              <a:t>can</a:t>
            </a:r>
            <a:r>
              <a:rPr lang="fr-FR" sz="2300" b="1" dirty="0" smtClean="0">
                <a:solidFill>
                  <a:srgbClr val="C00000"/>
                </a:solidFill>
                <a:latin typeface="Century Gothic"/>
              </a:rPr>
              <a:t> </a:t>
            </a:r>
            <a:r>
              <a:rPr lang="fr-FR" sz="2300" b="1" dirty="0" err="1" smtClean="0">
                <a:solidFill>
                  <a:srgbClr val="C00000"/>
                </a:solidFill>
                <a:latin typeface="Century Gothic"/>
              </a:rPr>
              <a:t>be</a:t>
            </a:r>
            <a:r>
              <a:rPr lang="fr-FR" sz="2300" b="1" dirty="0" smtClean="0">
                <a:solidFill>
                  <a:srgbClr val="C00000"/>
                </a:solidFill>
                <a:latin typeface="Century Gothic"/>
              </a:rPr>
              <a:t> </a:t>
            </a:r>
            <a:r>
              <a:rPr lang="fr-FR" sz="2300" b="1" dirty="0" err="1" smtClean="0">
                <a:solidFill>
                  <a:srgbClr val="C00000"/>
                </a:solidFill>
                <a:latin typeface="Century Gothic"/>
              </a:rPr>
              <a:t>divided</a:t>
            </a:r>
            <a:r>
              <a:rPr lang="fr-FR" sz="2300" b="1" dirty="0" smtClean="0">
                <a:solidFill>
                  <a:srgbClr val="C00000"/>
                </a:solidFill>
                <a:latin typeface="Century Gothic"/>
              </a:rPr>
              <a:t> </a:t>
            </a:r>
            <a:r>
              <a:rPr lang="fr-FR" sz="2300" b="1" dirty="0" err="1" smtClean="0">
                <a:solidFill>
                  <a:srgbClr val="C00000"/>
                </a:solidFill>
                <a:latin typeface="Century Gothic"/>
              </a:rPr>
              <a:t>into</a:t>
            </a:r>
            <a:r>
              <a:rPr lang="fr-FR" sz="2300" b="1" dirty="0" smtClean="0">
                <a:solidFill>
                  <a:srgbClr val="C00000"/>
                </a:solidFill>
                <a:latin typeface="Century Gothic"/>
              </a:rPr>
              <a:t>:</a:t>
            </a:r>
          </a:p>
          <a:p>
            <a:pPr marL="411163">
              <a:buClr>
                <a:srgbClr val="94C600"/>
              </a:buClr>
              <a:buSzPct val="76000"/>
            </a:pPr>
            <a:r>
              <a:rPr lang="fr-FR" sz="2300" b="1" dirty="0" smtClean="0">
                <a:solidFill>
                  <a:schemeClr val="tx2">
                    <a:lumMod val="75000"/>
                  </a:schemeClr>
                </a:solidFill>
                <a:latin typeface="Century Gothic"/>
              </a:rPr>
              <a:t>Physical </a:t>
            </a:r>
            <a:r>
              <a:rPr lang="fr-FR" sz="2300" b="1" dirty="0" err="1" smtClean="0">
                <a:solidFill>
                  <a:schemeClr val="tx2">
                    <a:lumMod val="75000"/>
                  </a:schemeClr>
                </a:solidFill>
                <a:latin typeface="Century Gothic"/>
              </a:rPr>
              <a:t>resources</a:t>
            </a:r>
            <a:r>
              <a:rPr lang="fr-FR" sz="2300" b="1" dirty="0" smtClean="0">
                <a:solidFill>
                  <a:schemeClr val="tx2">
                    <a:lumMod val="75000"/>
                  </a:schemeClr>
                </a:solidFill>
                <a:latin typeface="Century Gothic"/>
              </a:rPr>
              <a:t> (building).</a:t>
            </a:r>
          </a:p>
          <a:p>
            <a:pPr marL="411163">
              <a:buClr>
                <a:srgbClr val="94C600"/>
              </a:buClr>
              <a:buSzPct val="76000"/>
            </a:pPr>
            <a:r>
              <a:rPr lang="fr-FR" sz="2300" b="1" dirty="0" err="1" smtClean="0">
                <a:solidFill>
                  <a:schemeClr val="tx2">
                    <a:lumMod val="75000"/>
                  </a:schemeClr>
                </a:solidFill>
                <a:latin typeface="Century Gothic"/>
              </a:rPr>
              <a:t>Monetary</a:t>
            </a:r>
            <a:r>
              <a:rPr lang="fr-FR" sz="2300" b="1" dirty="0" smtClean="0">
                <a:solidFill>
                  <a:schemeClr val="tx2">
                    <a:lumMod val="75000"/>
                  </a:schemeClr>
                </a:solidFill>
                <a:latin typeface="Century Gothic"/>
              </a:rPr>
              <a:t> </a:t>
            </a:r>
            <a:r>
              <a:rPr lang="fr-FR" sz="2300" b="1" dirty="0" err="1" smtClean="0">
                <a:solidFill>
                  <a:schemeClr val="tx2">
                    <a:lumMod val="75000"/>
                  </a:schemeClr>
                </a:solidFill>
                <a:latin typeface="Century Gothic"/>
              </a:rPr>
              <a:t>resources</a:t>
            </a:r>
            <a:r>
              <a:rPr lang="fr-FR" sz="2300" b="1" dirty="0" smtClean="0">
                <a:solidFill>
                  <a:schemeClr val="tx2">
                    <a:lumMod val="75000"/>
                  </a:schemeClr>
                </a:solidFill>
                <a:latin typeface="Century Gothic"/>
              </a:rPr>
              <a:t> (cash, </a:t>
            </a:r>
            <a:r>
              <a:rPr lang="fr-FR" sz="2300" b="1" dirty="0" err="1" smtClean="0">
                <a:solidFill>
                  <a:schemeClr val="tx2">
                    <a:lumMod val="75000"/>
                  </a:schemeClr>
                </a:solidFill>
                <a:latin typeface="Century Gothic"/>
              </a:rPr>
              <a:t>accounts</a:t>
            </a:r>
            <a:r>
              <a:rPr lang="fr-FR" sz="2300" b="1" dirty="0" smtClean="0">
                <a:solidFill>
                  <a:schemeClr val="tx2">
                    <a:lumMod val="75000"/>
                  </a:schemeClr>
                </a:solidFill>
                <a:latin typeface="Century Gothic"/>
              </a:rPr>
              <a:t> </a:t>
            </a:r>
            <a:r>
              <a:rPr lang="fr-FR" sz="2300" b="1" dirty="0" err="1" smtClean="0">
                <a:solidFill>
                  <a:schemeClr val="tx2">
                    <a:lumMod val="75000"/>
                  </a:schemeClr>
                </a:solidFill>
                <a:latin typeface="Century Gothic"/>
              </a:rPr>
              <a:t>recievables</a:t>
            </a:r>
            <a:r>
              <a:rPr lang="fr-FR" sz="2300" b="1" dirty="0" smtClean="0">
                <a:solidFill>
                  <a:schemeClr val="tx2">
                    <a:lumMod val="75000"/>
                  </a:schemeClr>
                </a:solidFill>
                <a:latin typeface="Century Gothic"/>
              </a:rPr>
              <a:t>).</a:t>
            </a:r>
          </a:p>
          <a:p>
            <a:pPr marL="341313" indent="-273050">
              <a:buClr>
                <a:srgbClr val="94C600"/>
              </a:buClr>
              <a:buSzPct val="76000"/>
              <a:buNone/>
            </a:pPr>
            <a:r>
              <a:rPr lang="fr-FR" sz="2300" b="1" dirty="0" smtClean="0">
                <a:solidFill>
                  <a:srgbClr val="C00000"/>
                </a:solidFill>
                <a:latin typeface="Century Gothic"/>
              </a:rPr>
              <a:t>2- </a:t>
            </a:r>
            <a:r>
              <a:rPr lang="fr-FR" sz="2300" b="1" dirty="0" err="1" smtClean="0">
                <a:solidFill>
                  <a:srgbClr val="C00000"/>
                </a:solidFill>
                <a:latin typeface="Century Gothic"/>
              </a:rPr>
              <a:t>Intellectual</a:t>
            </a:r>
            <a:r>
              <a:rPr lang="fr-FR" sz="2300" b="1" dirty="0" smtClean="0">
                <a:solidFill>
                  <a:srgbClr val="C00000"/>
                </a:solidFill>
                <a:latin typeface="Century Gothic"/>
              </a:rPr>
              <a:t> capital </a:t>
            </a:r>
            <a:r>
              <a:rPr lang="fr-FR" sz="2300" b="1" dirty="0" err="1" smtClean="0">
                <a:solidFill>
                  <a:srgbClr val="C00000"/>
                </a:solidFill>
                <a:latin typeface="Century Gothic"/>
              </a:rPr>
              <a:t>resources</a:t>
            </a:r>
            <a:r>
              <a:rPr lang="fr-FR" sz="2300" b="1" dirty="0" smtClean="0">
                <a:solidFill>
                  <a:srgbClr val="C00000"/>
                </a:solidFill>
                <a:latin typeface="Century Gothic"/>
              </a:rPr>
              <a:t> </a:t>
            </a:r>
            <a:r>
              <a:rPr lang="fr-FR" sz="2300" b="1" dirty="0" err="1" smtClean="0">
                <a:solidFill>
                  <a:srgbClr val="C00000"/>
                </a:solidFill>
                <a:latin typeface="Century Gothic"/>
              </a:rPr>
              <a:t>can</a:t>
            </a:r>
            <a:r>
              <a:rPr lang="fr-FR" sz="2300" b="1" dirty="0" smtClean="0">
                <a:solidFill>
                  <a:srgbClr val="C00000"/>
                </a:solidFill>
                <a:latin typeface="Century Gothic"/>
              </a:rPr>
              <a:t> </a:t>
            </a:r>
            <a:r>
              <a:rPr lang="fr-FR" sz="2300" b="1" dirty="0" err="1" smtClean="0">
                <a:solidFill>
                  <a:srgbClr val="C00000"/>
                </a:solidFill>
                <a:latin typeface="Century Gothic"/>
              </a:rPr>
              <a:t>be</a:t>
            </a:r>
            <a:r>
              <a:rPr lang="fr-FR" sz="2300" b="1" dirty="0" smtClean="0">
                <a:solidFill>
                  <a:srgbClr val="C00000"/>
                </a:solidFill>
                <a:latin typeface="Century Gothic"/>
              </a:rPr>
              <a:t> </a:t>
            </a:r>
            <a:r>
              <a:rPr lang="fr-FR" sz="2300" b="1" dirty="0" err="1" smtClean="0">
                <a:solidFill>
                  <a:srgbClr val="C00000"/>
                </a:solidFill>
                <a:latin typeface="Century Gothic"/>
              </a:rPr>
              <a:t>divided</a:t>
            </a:r>
            <a:r>
              <a:rPr lang="fr-FR" sz="2300" b="1" dirty="0" smtClean="0">
                <a:solidFill>
                  <a:srgbClr val="C00000"/>
                </a:solidFill>
                <a:latin typeface="Century Gothic"/>
              </a:rPr>
              <a:t> </a:t>
            </a:r>
            <a:r>
              <a:rPr lang="fr-FR" sz="2300" b="1" dirty="0" err="1" smtClean="0">
                <a:solidFill>
                  <a:srgbClr val="C00000"/>
                </a:solidFill>
                <a:latin typeface="Century Gothic"/>
              </a:rPr>
              <a:t>into</a:t>
            </a:r>
            <a:r>
              <a:rPr lang="fr-FR" sz="2300" b="1" dirty="0" smtClean="0">
                <a:solidFill>
                  <a:srgbClr val="C00000"/>
                </a:solidFill>
                <a:latin typeface="Century Gothic"/>
              </a:rPr>
              <a:t>:</a:t>
            </a:r>
          </a:p>
          <a:p>
            <a:pPr algn="just"/>
            <a:r>
              <a:rPr lang="en-US" sz="2300" b="1" dirty="0">
                <a:solidFill>
                  <a:schemeClr val="tx2">
                    <a:lumMod val="75000"/>
                  </a:schemeClr>
                </a:solidFill>
                <a:latin typeface="Century Gothic"/>
              </a:rPr>
              <a:t>Human </a:t>
            </a:r>
            <a:r>
              <a:rPr lang="en-US" sz="2300" b="1" dirty="0" smtClean="0">
                <a:solidFill>
                  <a:schemeClr val="tx2">
                    <a:lumMod val="75000"/>
                  </a:schemeClr>
                </a:solidFill>
                <a:latin typeface="Century Gothic"/>
              </a:rPr>
              <a:t>capital resources (not HR): </a:t>
            </a:r>
            <a:r>
              <a:rPr lang="en-US" sz="2300" b="1" dirty="0" smtClean="0">
                <a:solidFill>
                  <a:schemeClr val="accent6">
                    <a:lumMod val="75000"/>
                  </a:schemeClr>
                </a:solidFill>
                <a:latin typeface="Century Gothic"/>
              </a:rPr>
              <a:t>refers to features and attributes that people have and cannot replaced by machines (knowledge, the level of motivation, experiences, skills, abilities, training, </a:t>
            </a:r>
            <a:r>
              <a:rPr lang="en-US" sz="2300" b="1" dirty="0" err="1" smtClean="0">
                <a:solidFill>
                  <a:schemeClr val="accent6">
                    <a:lumMod val="75000"/>
                  </a:schemeClr>
                </a:solidFill>
                <a:latin typeface="Century Gothic"/>
              </a:rPr>
              <a:t>etc</a:t>
            </a:r>
            <a:r>
              <a:rPr lang="en-US" sz="2300" b="1" dirty="0" smtClean="0">
                <a:solidFill>
                  <a:schemeClr val="accent6">
                    <a:lumMod val="75000"/>
                  </a:schemeClr>
                </a:solidFill>
                <a:latin typeface="Century Gothic"/>
              </a:rPr>
              <a:t>…).</a:t>
            </a:r>
            <a:endParaRPr lang="en-US" sz="2300" b="1" dirty="0">
              <a:solidFill>
                <a:schemeClr val="accent6">
                  <a:lumMod val="75000"/>
                </a:schemeClr>
              </a:solidFill>
              <a:latin typeface="Century Gothic"/>
            </a:endParaRPr>
          </a:p>
          <a:p>
            <a:pPr algn="just"/>
            <a:r>
              <a:rPr lang="en-US" sz="2300" b="1" dirty="0">
                <a:solidFill>
                  <a:schemeClr val="tx2">
                    <a:lumMod val="75000"/>
                  </a:schemeClr>
                </a:solidFill>
                <a:latin typeface="Century Gothic"/>
              </a:rPr>
              <a:t>Relational </a:t>
            </a:r>
            <a:r>
              <a:rPr lang="en-US" sz="2300" b="1" dirty="0" smtClean="0">
                <a:solidFill>
                  <a:schemeClr val="tx2">
                    <a:lumMod val="75000"/>
                  </a:schemeClr>
                </a:solidFill>
                <a:latin typeface="Century Gothic"/>
              </a:rPr>
              <a:t>resources: </a:t>
            </a:r>
            <a:r>
              <a:rPr lang="en-US" sz="2300" b="1" dirty="0" smtClean="0">
                <a:solidFill>
                  <a:schemeClr val="accent6">
                    <a:lumMod val="75000"/>
                  </a:schemeClr>
                </a:solidFill>
                <a:latin typeface="Century Gothic"/>
              </a:rPr>
              <a:t>the </a:t>
            </a:r>
            <a:r>
              <a:rPr lang="en-US" sz="2300" b="1" dirty="0">
                <a:solidFill>
                  <a:schemeClr val="accent6">
                    <a:lumMod val="75000"/>
                  </a:schemeClr>
                </a:solidFill>
                <a:latin typeface="Century Gothic"/>
              </a:rPr>
              <a:t>relationship between the organization itself and the stakeholders (customers, suppliers, creditors, government, </a:t>
            </a:r>
            <a:r>
              <a:rPr lang="en-US" sz="2300" b="1" dirty="0" smtClean="0">
                <a:solidFill>
                  <a:schemeClr val="accent6">
                    <a:lumMod val="75000"/>
                  </a:schemeClr>
                </a:solidFill>
                <a:latin typeface="Century Gothic"/>
              </a:rPr>
              <a:t>competitors</a:t>
            </a:r>
            <a:r>
              <a:rPr lang="en-US" sz="2300" b="1" dirty="0">
                <a:solidFill>
                  <a:schemeClr val="accent6">
                    <a:lumMod val="75000"/>
                  </a:schemeClr>
                </a:solidFill>
                <a:latin typeface="Century Gothic"/>
              </a:rPr>
              <a:t>)</a:t>
            </a:r>
            <a:r>
              <a:rPr lang="en-US" sz="2300" b="1" dirty="0" smtClean="0">
                <a:solidFill>
                  <a:schemeClr val="accent6">
                    <a:lumMod val="75000"/>
                  </a:schemeClr>
                </a:solidFill>
                <a:latin typeface="Century Gothic"/>
              </a:rPr>
              <a:t>.</a:t>
            </a:r>
            <a:endParaRPr lang="en-US" sz="2300" b="1" dirty="0">
              <a:solidFill>
                <a:schemeClr val="accent6">
                  <a:lumMod val="75000"/>
                </a:schemeClr>
              </a:solidFill>
              <a:latin typeface="Century Gothic"/>
            </a:endParaRPr>
          </a:p>
          <a:p>
            <a:pPr algn="just"/>
            <a:r>
              <a:rPr lang="en-US" sz="2300" b="1" dirty="0">
                <a:solidFill>
                  <a:schemeClr val="tx2">
                    <a:lumMod val="75000"/>
                  </a:schemeClr>
                </a:solidFill>
                <a:latin typeface="Century Gothic"/>
              </a:rPr>
              <a:t>Organizational </a:t>
            </a:r>
            <a:r>
              <a:rPr lang="en-US" sz="2300" b="1" dirty="0" smtClean="0">
                <a:solidFill>
                  <a:schemeClr val="tx2">
                    <a:lumMod val="75000"/>
                  </a:schemeClr>
                </a:solidFill>
                <a:latin typeface="Century Gothic"/>
              </a:rPr>
              <a:t>resources: </a:t>
            </a:r>
            <a:r>
              <a:rPr lang="en-US" sz="2300" b="1" dirty="0">
                <a:solidFill>
                  <a:schemeClr val="accent6">
                    <a:lumMod val="75000"/>
                  </a:schemeClr>
                </a:solidFill>
                <a:latin typeface="Century Gothic"/>
              </a:rPr>
              <a:t>the </a:t>
            </a:r>
            <a:r>
              <a:rPr lang="en-US" sz="2300" b="1" dirty="0" smtClean="0">
                <a:solidFill>
                  <a:schemeClr val="accent6">
                    <a:lumMod val="75000"/>
                  </a:schemeClr>
                </a:solidFill>
                <a:latin typeface="Century Gothic"/>
              </a:rPr>
              <a:t>structure </a:t>
            </a:r>
            <a:r>
              <a:rPr lang="en-US" sz="2300" b="1" dirty="0">
                <a:solidFill>
                  <a:schemeClr val="accent6">
                    <a:lumMod val="75000"/>
                  </a:schemeClr>
                </a:solidFill>
                <a:latin typeface="Century Gothic"/>
              </a:rPr>
              <a:t>of the company, the culture, processes</a:t>
            </a:r>
            <a:r>
              <a:rPr lang="en-US" sz="2300" b="1">
                <a:solidFill>
                  <a:schemeClr val="accent6">
                    <a:lumMod val="75000"/>
                  </a:schemeClr>
                </a:solidFill>
                <a:latin typeface="Century Gothic"/>
              </a:rPr>
              <a:t>, </a:t>
            </a:r>
            <a:r>
              <a:rPr lang="en-US" sz="2300" b="1" smtClean="0">
                <a:solidFill>
                  <a:schemeClr val="accent6">
                    <a:lumMod val="75000"/>
                  </a:schemeClr>
                </a:solidFill>
                <a:latin typeface="Century Gothic"/>
              </a:rPr>
              <a:t>information systems</a:t>
            </a:r>
            <a:r>
              <a:rPr lang="en-US" sz="2300" b="1" dirty="0">
                <a:solidFill>
                  <a:schemeClr val="accent6">
                    <a:lumMod val="75000"/>
                  </a:schemeClr>
                </a:solidFill>
                <a:latin typeface="Century Gothic"/>
              </a:rPr>
              <a:t>, procedures, regulations, </a:t>
            </a:r>
            <a:r>
              <a:rPr lang="en-US" sz="2300" b="1" dirty="0" smtClean="0">
                <a:solidFill>
                  <a:schemeClr val="accent6">
                    <a:lumMod val="75000"/>
                  </a:schemeClr>
                </a:solidFill>
                <a:latin typeface="Century Gothic"/>
              </a:rPr>
              <a:t>policies, </a:t>
            </a:r>
            <a:r>
              <a:rPr lang="en-US" sz="2300" b="1" dirty="0" err="1" smtClean="0">
                <a:solidFill>
                  <a:schemeClr val="accent6">
                    <a:lumMod val="75000"/>
                  </a:schemeClr>
                </a:solidFill>
                <a:latin typeface="Century Gothic"/>
              </a:rPr>
              <a:t>etc</a:t>
            </a:r>
            <a:r>
              <a:rPr lang="en-US" sz="2300" b="1" dirty="0" smtClean="0">
                <a:solidFill>
                  <a:schemeClr val="accent6">
                    <a:lumMod val="75000"/>
                  </a:schemeClr>
                </a:solidFill>
                <a:latin typeface="Century Gothic"/>
              </a:rPr>
              <a:t>…..</a:t>
            </a:r>
            <a:endParaRPr lang="en-US" sz="2300" b="1" dirty="0">
              <a:solidFill>
                <a:schemeClr val="accent6">
                  <a:lumMod val="75000"/>
                </a:schemeClr>
              </a:solidFill>
              <a:latin typeface="Century Gothic"/>
            </a:endParaRPr>
          </a:p>
          <a:p>
            <a:r>
              <a:rPr lang="en-US" sz="2300" b="1" u="sng" dirty="0" smtClean="0">
                <a:solidFill>
                  <a:schemeClr val="tx2">
                    <a:lumMod val="75000"/>
                  </a:schemeClr>
                </a:solidFill>
                <a:latin typeface="Century Gothic"/>
              </a:rPr>
              <a:t>When I audit company internally I have to audit all of them.</a:t>
            </a:r>
          </a:p>
        </p:txBody>
      </p:sp>
    </p:spTree>
    <p:extLst>
      <p:ext uri="{BB962C8B-B14F-4D97-AF65-F5344CB8AC3E}">
        <p14:creationId xmlns:p14="http://schemas.microsoft.com/office/powerpoint/2010/main" val="277954715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382000" cy="838200"/>
          </a:xfrm>
        </p:spPr>
        <p:txBody>
          <a:bodyPr>
            <a:noAutofit/>
          </a:bodyPr>
          <a:lstStyle/>
          <a:p>
            <a:r>
              <a:rPr lang="ar-EG" sz="3000" dirty="0">
                <a:solidFill>
                  <a:srgbClr val="0070C0"/>
                </a:solidFill>
              </a:rPr>
              <a:t/>
            </a:r>
            <a:br>
              <a:rPr lang="ar-EG" sz="3000" dirty="0">
                <a:solidFill>
                  <a:srgbClr val="0070C0"/>
                </a:solidFill>
              </a:rPr>
            </a:br>
            <a:r>
              <a:rPr lang="en-US" sz="3000" dirty="0" smtClean="0">
                <a:solidFill>
                  <a:srgbClr val="0070C0"/>
                </a:solidFill>
              </a:rPr>
              <a:t/>
            </a:r>
            <a:br>
              <a:rPr lang="en-US" sz="3000" dirty="0" smtClean="0">
                <a:solidFill>
                  <a:srgbClr val="0070C0"/>
                </a:solidFill>
              </a:rPr>
            </a:br>
            <a:r>
              <a:rPr lang="en-US" sz="3000" dirty="0">
                <a:solidFill>
                  <a:srgbClr val="0070C0"/>
                </a:solidFill>
              </a:rPr>
              <a:t/>
            </a:r>
            <a:br>
              <a:rPr lang="en-US" sz="3000" dirty="0">
                <a:solidFill>
                  <a:srgbClr val="0070C0"/>
                </a:solidFill>
              </a:rPr>
            </a:br>
            <a:r>
              <a:rPr lang="en-US" sz="3000" dirty="0" smtClean="0">
                <a:solidFill>
                  <a:srgbClr val="0070C0"/>
                </a:solidFill>
              </a:rPr>
              <a:t/>
            </a:r>
            <a:br>
              <a:rPr lang="en-US" sz="3000" dirty="0" smtClean="0">
                <a:solidFill>
                  <a:srgbClr val="0070C0"/>
                </a:solidFill>
              </a:rPr>
            </a:br>
            <a:r>
              <a:rPr lang="en-US" sz="3000" dirty="0" smtClean="0">
                <a:solidFill>
                  <a:srgbClr val="0070C0"/>
                </a:solidFill>
              </a:rPr>
              <a:t/>
            </a:r>
            <a:br>
              <a:rPr lang="en-US" sz="3000" dirty="0" smtClean="0">
                <a:solidFill>
                  <a:srgbClr val="0070C0"/>
                </a:solidFill>
              </a:rPr>
            </a:br>
            <a:r>
              <a:rPr lang="fr-FR" sz="3000" b="1" dirty="0" smtClean="0">
                <a:solidFill>
                  <a:srgbClr val="0070C0"/>
                </a:solidFill>
              </a:rPr>
              <a:t>Long-</a:t>
            </a:r>
            <a:r>
              <a:rPr lang="fr-FR" sz="3000" b="1" dirty="0" err="1" smtClean="0">
                <a:solidFill>
                  <a:srgbClr val="0070C0"/>
                </a:solidFill>
              </a:rPr>
              <a:t>Term</a:t>
            </a:r>
            <a:r>
              <a:rPr lang="fr-FR" sz="3000" b="1" dirty="0" smtClean="0">
                <a:solidFill>
                  <a:srgbClr val="0070C0"/>
                </a:solidFill>
              </a:rPr>
              <a:t> Objectives (</a:t>
            </a:r>
            <a:r>
              <a:rPr lang="en-US" sz="3000" b="1" dirty="0" smtClean="0">
                <a:solidFill>
                  <a:srgbClr val="0070C0"/>
                </a:solidFill>
              </a:rPr>
              <a:t>more than one year</a:t>
            </a:r>
            <a:r>
              <a:rPr lang="fr-FR" sz="3000" b="1" dirty="0" smtClean="0">
                <a:solidFill>
                  <a:srgbClr val="0070C0"/>
                </a:solidFill>
              </a:rPr>
              <a:t>) </a:t>
            </a:r>
            <a:endParaRPr lang="ar-EG" sz="3000" dirty="0">
              <a:solidFill>
                <a:srgbClr val="0070C0"/>
              </a:solidFill>
            </a:endParaRPr>
          </a:p>
        </p:txBody>
      </p:sp>
      <p:sp>
        <p:nvSpPr>
          <p:cNvPr id="3" name="Content Placeholder 2"/>
          <p:cNvSpPr>
            <a:spLocks noGrp="1"/>
          </p:cNvSpPr>
          <p:nvPr>
            <p:ph idx="1"/>
          </p:nvPr>
        </p:nvSpPr>
        <p:spPr>
          <a:xfrm>
            <a:off x="381000" y="1143000"/>
            <a:ext cx="8382000" cy="5334000"/>
          </a:xfrm>
        </p:spPr>
        <p:txBody>
          <a:bodyPr>
            <a:normAutofit/>
          </a:bodyPr>
          <a:lstStyle/>
          <a:p>
            <a:pPr marL="68580" indent="0" algn="l" rtl="0">
              <a:spcBef>
                <a:spcPts val="1800"/>
              </a:spcBef>
              <a:buNone/>
            </a:pPr>
            <a:endParaRPr lang="en-US" sz="2800" b="1" dirty="0" smtClean="0"/>
          </a:p>
          <a:p>
            <a:pPr marL="68580" indent="0" algn="just" rtl="0">
              <a:spcBef>
                <a:spcPts val="1800"/>
              </a:spcBef>
              <a:buNone/>
            </a:pPr>
            <a:r>
              <a:rPr lang="en-US" sz="2800" b="1" dirty="0" smtClean="0"/>
              <a:t>They help me to put the strategy into an action.</a:t>
            </a:r>
            <a:endParaRPr lang="ar-EG" sz="2800" dirty="0"/>
          </a:p>
          <a:p>
            <a:pPr algn="just" rtl="0">
              <a:spcBef>
                <a:spcPts val="1800"/>
              </a:spcBef>
            </a:pPr>
            <a:r>
              <a:rPr lang="en-US" sz="2800" b="1" dirty="0"/>
              <a:t>They are specific results that an organization seeks to achieve in pursuing its basic mission </a:t>
            </a:r>
            <a:endParaRPr lang="en-US" sz="2800" b="1" dirty="0" smtClean="0"/>
          </a:p>
          <a:p>
            <a:pPr algn="just" rtl="0">
              <a:spcBef>
                <a:spcPts val="1800"/>
              </a:spcBef>
            </a:pPr>
            <a:r>
              <a:rPr lang="fr-FR" sz="2800" b="1" dirty="0" err="1" smtClean="0"/>
              <a:t>They</a:t>
            </a:r>
            <a:r>
              <a:rPr lang="fr-FR" sz="2800" b="1" dirty="0" smtClean="0"/>
              <a:t> </a:t>
            </a:r>
            <a:r>
              <a:rPr lang="fr-FR" sz="2800" b="1" dirty="0" err="1"/>
              <a:t>provide</a:t>
            </a:r>
            <a:r>
              <a:rPr lang="fr-FR" sz="2800" b="1" dirty="0"/>
              <a:t> the basis for </a:t>
            </a:r>
            <a:r>
              <a:rPr lang="fr-FR" sz="2800" b="1" dirty="0" smtClean="0"/>
              <a:t>planning, </a:t>
            </a:r>
            <a:r>
              <a:rPr lang="fr-FR" sz="2800" b="1" dirty="0" err="1" smtClean="0"/>
              <a:t>organizing</a:t>
            </a:r>
            <a:r>
              <a:rPr lang="fr-FR" sz="2800" b="1" dirty="0"/>
              <a:t>, </a:t>
            </a:r>
            <a:r>
              <a:rPr lang="fr-FR" sz="2800" b="1" dirty="0" err="1"/>
              <a:t>leading</a:t>
            </a:r>
            <a:r>
              <a:rPr lang="fr-FR" sz="2800" b="1" dirty="0"/>
              <a:t>, and </a:t>
            </a:r>
            <a:r>
              <a:rPr lang="fr-FR" sz="2800" b="1" dirty="0" err="1"/>
              <a:t>controlling</a:t>
            </a:r>
            <a:r>
              <a:rPr lang="fr-FR" sz="2800" b="1" dirty="0" smtClean="0"/>
              <a:t>.</a:t>
            </a:r>
            <a:endParaRPr lang="fr-FR" sz="2800" b="1" dirty="0"/>
          </a:p>
          <a:p>
            <a:pPr algn="just" rtl="0">
              <a:spcBef>
                <a:spcPts val="1800"/>
              </a:spcBef>
            </a:pPr>
            <a:r>
              <a:rPr lang="fr-FR" sz="2800" b="1" dirty="0" err="1"/>
              <a:t>They</a:t>
            </a:r>
            <a:r>
              <a:rPr lang="fr-FR" sz="2800" b="1" dirty="0"/>
              <a:t> focus on the coordination </a:t>
            </a:r>
            <a:r>
              <a:rPr lang="fr-FR" sz="2800" b="1" dirty="0" err="1"/>
              <a:t>among</a:t>
            </a:r>
            <a:r>
              <a:rPr lang="fr-FR" sz="2800" b="1" dirty="0"/>
              <a:t> people and </a:t>
            </a:r>
            <a:r>
              <a:rPr lang="fr-FR" sz="2800" b="1" dirty="0" err="1"/>
              <a:t>aid</a:t>
            </a:r>
            <a:r>
              <a:rPr lang="fr-FR" sz="2800" b="1" dirty="0"/>
              <a:t> in </a:t>
            </a:r>
            <a:r>
              <a:rPr lang="fr-FR" sz="2800" b="1" dirty="0" err="1"/>
              <a:t>their</a:t>
            </a:r>
            <a:r>
              <a:rPr lang="fr-FR" sz="2800" b="1" dirty="0"/>
              <a:t> </a:t>
            </a:r>
            <a:r>
              <a:rPr lang="fr-FR" sz="2800" b="1" dirty="0" err="1"/>
              <a:t>evaluation</a:t>
            </a:r>
            <a:r>
              <a:rPr lang="fr-FR" sz="2800" b="1" dirty="0"/>
              <a:t>. </a:t>
            </a:r>
          </a:p>
          <a:p>
            <a:pPr algn="just" rtl="0">
              <a:spcBef>
                <a:spcPts val="1800"/>
              </a:spcBef>
            </a:pPr>
            <a:endParaRPr lang="en-US" sz="2800" dirty="0"/>
          </a:p>
        </p:txBody>
      </p:sp>
    </p:spTree>
    <p:extLst>
      <p:ext uri="{BB962C8B-B14F-4D97-AF65-F5344CB8AC3E}">
        <p14:creationId xmlns:p14="http://schemas.microsoft.com/office/powerpoint/2010/main" val="25224121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153400" cy="1143000"/>
          </a:xfrm>
        </p:spPr>
        <p:txBody>
          <a:bodyPr>
            <a:noAutofit/>
          </a:bodyPr>
          <a:lstStyle/>
          <a:p>
            <a:r>
              <a:rPr lang="ar-EG" sz="3600" dirty="0">
                <a:solidFill>
                  <a:srgbClr val="0070C0"/>
                </a:solidFill>
              </a:rPr>
              <a:t/>
            </a:r>
            <a:br>
              <a:rPr lang="ar-EG" sz="3600" dirty="0">
                <a:solidFill>
                  <a:srgbClr val="0070C0"/>
                </a:solidFill>
              </a:rPr>
            </a:br>
            <a:r>
              <a:rPr lang="fr-FR" sz="3600" b="1" dirty="0" err="1">
                <a:solidFill>
                  <a:srgbClr val="0070C0"/>
                </a:solidFill>
              </a:rPr>
              <a:t>Annual</a:t>
            </a:r>
            <a:r>
              <a:rPr lang="fr-FR" sz="3600" b="1" dirty="0">
                <a:solidFill>
                  <a:srgbClr val="0070C0"/>
                </a:solidFill>
              </a:rPr>
              <a:t> Objectives</a:t>
            </a:r>
            <a:endParaRPr lang="ar-EG" sz="3600" dirty="0">
              <a:solidFill>
                <a:srgbClr val="0070C0"/>
              </a:solidFill>
            </a:endParaRPr>
          </a:p>
        </p:txBody>
      </p:sp>
      <p:sp>
        <p:nvSpPr>
          <p:cNvPr id="3" name="Content Placeholder 2"/>
          <p:cNvSpPr>
            <a:spLocks noGrp="1"/>
          </p:cNvSpPr>
          <p:nvPr>
            <p:ph idx="1"/>
          </p:nvPr>
        </p:nvSpPr>
        <p:spPr>
          <a:xfrm>
            <a:off x="381000" y="1143000"/>
            <a:ext cx="8382000" cy="5334000"/>
          </a:xfrm>
        </p:spPr>
        <p:txBody>
          <a:bodyPr>
            <a:normAutofit/>
          </a:bodyPr>
          <a:lstStyle/>
          <a:p>
            <a:pPr marL="68580" indent="0">
              <a:buNone/>
            </a:pPr>
            <a:endParaRPr lang="ar-EG" sz="2800" dirty="0"/>
          </a:p>
          <a:p>
            <a:pPr algn="l" rtl="0"/>
            <a:r>
              <a:rPr lang="en-US" sz="2800" dirty="0"/>
              <a:t>Short-term milestones that firms must achieve to reach long-term </a:t>
            </a:r>
            <a:r>
              <a:rPr lang="en-US" sz="2800" dirty="0" smtClean="0"/>
              <a:t>objectives.</a:t>
            </a:r>
          </a:p>
          <a:p>
            <a:pPr marL="68580" indent="0" algn="l" rtl="0">
              <a:buNone/>
            </a:pPr>
            <a:endParaRPr lang="en-US" sz="2800" dirty="0"/>
          </a:p>
          <a:p>
            <a:pPr algn="l" rtl="0"/>
            <a:r>
              <a:rPr lang="en-US" sz="2800" dirty="0" smtClean="0"/>
              <a:t>Annual </a:t>
            </a:r>
            <a:r>
              <a:rPr lang="en-US" sz="2800" dirty="0"/>
              <a:t>objectives are especially important in strategy implementation, whereas long-term objectives are particularly important in strategy </a:t>
            </a:r>
            <a:r>
              <a:rPr lang="en-US" sz="2800" dirty="0" smtClean="0"/>
              <a:t>formulation.</a:t>
            </a:r>
          </a:p>
          <a:p>
            <a:pPr algn="l" rtl="0"/>
            <a:r>
              <a:rPr lang="en-US" sz="2800" b="1" dirty="0" smtClean="0"/>
              <a:t>Objectives should be SMART</a:t>
            </a:r>
            <a:endParaRPr lang="en-US" sz="2800" b="1" dirty="0"/>
          </a:p>
        </p:txBody>
      </p:sp>
    </p:spTree>
    <p:extLst>
      <p:ext uri="{BB962C8B-B14F-4D97-AF65-F5344CB8AC3E}">
        <p14:creationId xmlns:p14="http://schemas.microsoft.com/office/powerpoint/2010/main" val="2414840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9"/>
          <p:cNvSpPr>
            <a:spLocks noChangeArrowheads="1"/>
          </p:cNvSpPr>
          <p:nvPr/>
        </p:nvSpPr>
        <p:spPr bwMode="auto">
          <a:xfrm>
            <a:off x="0" y="304801"/>
            <a:ext cx="9144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120000"/>
              </a:lnSpc>
              <a:buSzPct val="80000"/>
              <a:buFont typeface="Verdana" pitchFamily="34" charset="0"/>
              <a:defRPr sz="2000">
                <a:solidFill>
                  <a:schemeClr val="tx1"/>
                </a:solidFill>
                <a:latin typeface="Verdana" pitchFamily="34" charset="0"/>
                <a:ea typeface="MS PGothic" pitchFamily="34" charset="-128"/>
                <a:cs typeface="Arial" pitchFamily="34" charset="0"/>
              </a:defRPr>
            </a:lvl1pPr>
            <a:lvl2pPr marL="742950" indent="-285750" eaLnBrk="0" hangingPunct="0">
              <a:lnSpc>
                <a:spcPct val="120000"/>
              </a:lnSpc>
              <a:buSzPct val="80000"/>
              <a:buFont typeface="Verdana" pitchFamily="34" charset="0"/>
              <a:buChar char="•"/>
              <a:defRPr sz="2000">
                <a:solidFill>
                  <a:schemeClr val="tx1"/>
                </a:solidFill>
                <a:latin typeface="Verdana" pitchFamily="34" charset="0"/>
                <a:ea typeface="Arial" pitchFamily="34" charset="0"/>
                <a:cs typeface="Arial" pitchFamily="34" charset="0"/>
              </a:defRPr>
            </a:lvl2pPr>
            <a:lvl3pPr marL="1143000" indent="-228600" eaLnBrk="0" hangingPunct="0">
              <a:lnSpc>
                <a:spcPct val="120000"/>
              </a:lnSpc>
              <a:buSzPct val="80000"/>
              <a:buFont typeface="Verdana" pitchFamily="34" charset="0"/>
              <a:buChar char="•"/>
              <a:defRPr sz="2000">
                <a:solidFill>
                  <a:schemeClr val="tx1"/>
                </a:solidFill>
                <a:latin typeface="Verdana" pitchFamily="34" charset="0"/>
                <a:ea typeface="Arial" pitchFamily="34" charset="0"/>
                <a:cs typeface="Arial" pitchFamily="34" charset="0"/>
              </a:defRPr>
            </a:lvl3pPr>
            <a:lvl4pPr marL="1600200" indent="-228600" eaLnBrk="0" hangingPunct="0">
              <a:lnSpc>
                <a:spcPct val="120000"/>
              </a:lnSpc>
              <a:buSzPct val="80000"/>
              <a:buFont typeface="Arial" pitchFamily="34" charset="0"/>
              <a:buChar char="–"/>
              <a:defRPr sz="2000">
                <a:solidFill>
                  <a:schemeClr val="tx1"/>
                </a:solidFill>
                <a:latin typeface="Verdana" pitchFamily="34" charset="0"/>
                <a:ea typeface="Arial" pitchFamily="34" charset="0"/>
                <a:cs typeface="Arial" pitchFamily="34" charset="0"/>
              </a:defRPr>
            </a:lvl4pPr>
            <a:lvl5pPr marL="2057400" indent="-228600" eaLnBrk="0" hangingPunct="0">
              <a:lnSpc>
                <a:spcPct val="120000"/>
              </a:lnSpc>
              <a:buSzPct val="80000"/>
              <a:buFont typeface="Arial" pitchFamily="34" charset="0"/>
              <a:buChar char="○"/>
              <a:defRPr sz="2000">
                <a:solidFill>
                  <a:schemeClr val="tx1"/>
                </a:solidFill>
                <a:latin typeface="Verdana" pitchFamily="34" charset="0"/>
                <a:ea typeface="Arial" pitchFamily="34" charset="0"/>
                <a:cs typeface="Arial" pitchFamily="34" charset="0"/>
              </a:defRPr>
            </a:lvl5pPr>
            <a:lvl6pPr marL="2514600" indent="-228600" algn="l" rtl="0" eaLnBrk="0" fontAlgn="base" hangingPunct="0">
              <a:lnSpc>
                <a:spcPct val="120000"/>
              </a:lnSpc>
              <a:spcBef>
                <a:spcPct val="0"/>
              </a:spcBef>
              <a:spcAft>
                <a:spcPct val="0"/>
              </a:spcAft>
              <a:buSzPct val="80000"/>
              <a:buFont typeface="Arial" pitchFamily="34" charset="0"/>
              <a:buChar char="○"/>
              <a:defRPr sz="2000">
                <a:solidFill>
                  <a:schemeClr val="tx1"/>
                </a:solidFill>
                <a:latin typeface="Verdana" pitchFamily="34" charset="0"/>
                <a:ea typeface="Arial" pitchFamily="34" charset="0"/>
                <a:cs typeface="Arial" pitchFamily="34" charset="0"/>
              </a:defRPr>
            </a:lvl6pPr>
            <a:lvl7pPr marL="2971800" indent="-228600" algn="l" rtl="0" eaLnBrk="0" fontAlgn="base" hangingPunct="0">
              <a:lnSpc>
                <a:spcPct val="120000"/>
              </a:lnSpc>
              <a:spcBef>
                <a:spcPct val="0"/>
              </a:spcBef>
              <a:spcAft>
                <a:spcPct val="0"/>
              </a:spcAft>
              <a:buSzPct val="80000"/>
              <a:buFont typeface="Arial" pitchFamily="34" charset="0"/>
              <a:buChar char="○"/>
              <a:defRPr sz="2000">
                <a:solidFill>
                  <a:schemeClr val="tx1"/>
                </a:solidFill>
                <a:latin typeface="Verdana" pitchFamily="34" charset="0"/>
                <a:ea typeface="Arial" pitchFamily="34" charset="0"/>
                <a:cs typeface="Arial" pitchFamily="34" charset="0"/>
              </a:defRPr>
            </a:lvl7pPr>
            <a:lvl8pPr marL="3429000" indent="-228600" algn="l" rtl="0" eaLnBrk="0" fontAlgn="base" hangingPunct="0">
              <a:lnSpc>
                <a:spcPct val="120000"/>
              </a:lnSpc>
              <a:spcBef>
                <a:spcPct val="0"/>
              </a:spcBef>
              <a:spcAft>
                <a:spcPct val="0"/>
              </a:spcAft>
              <a:buSzPct val="80000"/>
              <a:buFont typeface="Arial" pitchFamily="34" charset="0"/>
              <a:buChar char="○"/>
              <a:defRPr sz="2000">
                <a:solidFill>
                  <a:schemeClr val="tx1"/>
                </a:solidFill>
                <a:latin typeface="Verdana" pitchFamily="34" charset="0"/>
                <a:ea typeface="Arial" pitchFamily="34" charset="0"/>
                <a:cs typeface="Arial" pitchFamily="34" charset="0"/>
              </a:defRPr>
            </a:lvl8pPr>
            <a:lvl9pPr marL="3886200" indent="-228600" algn="l" rtl="0" eaLnBrk="0" fontAlgn="base" hangingPunct="0">
              <a:lnSpc>
                <a:spcPct val="120000"/>
              </a:lnSpc>
              <a:spcBef>
                <a:spcPct val="0"/>
              </a:spcBef>
              <a:spcAft>
                <a:spcPct val="0"/>
              </a:spcAft>
              <a:buSzPct val="80000"/>
              <a:buFont typeface="Arial" pitchFamily="34" charset="0"/>
              <a:buChar char="○"/>
              <a:defRPr sz="2000">
                <a:solidFill>
                  <a:schemeClr val="tx1"/>
                </a:solidFill>
                <a:latin typeface="Verdana" pitchFamily="34" charset="0"/>
                <a:ea typeface="Arial" pitchFamily="34" charset="0"/>
                <a:cs typeface="Arial" pitchFamily="34"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ar-EG" sz="2800" b="1" i="0" u="none" strike="noStrike" kern="1200" cap="none" spc="0" normalizeH="0" baseline="0" noProof="0">
                <a:ln>
                  <a:noFill/>
                </a:ln>
                <a:solidFill>
                  <a:srgbClr val="691D2A"/>
                </a:solidFill>
                <a:effectLst/>
                <a:uLnTx/>
                <a:uFillTx/>
                <a:latin typeface="Verdana" pitchFamily="34" charset="0"/>
                <a:ea typeface="MS PGothic" pitchFamily="34" charset="-128"/>
                <a:cs typeface="Arial" pitchFamily="34" charset="0"/>
              </a:rPr>
              <a:t>SMART Objectives</a:t>
            </a:r>
          </a:p>
        </p:txBody>
      </p:sp>
      <p:grpSp>
        <p:nvGrpSpPr>
          <p:cNvPr id="4" name="Group 15"/>
          <p:cNvGrpSpPr>
            <a:grpSpLocks/>
          </p:cNvGrpSpPr>
          <p:nvPr/>
        </p:nvGrpSpPr>
        <p:grpSpPr bwMode="auto">
          <a:xfrm>
            <a:off x="1752600" y="1219201"/>
            <a:ext cx="4114800" cy="923925"/>
            <a:chOff x="1752600" y="1219200"/>
            <a:chExt cx="4114800" cy="923330"/>
          </a:xfrm>
        </p:grpSpPr>
        <p:sp>
          <p:nvSpPr>
            <p:cNvPr id="5" name="Rounded Rectangle 4"/>
            <p:cNvSpPr/>
            <p:nvPr/>
          </p:nvSpPr>
          <p:spPr bwMode="auto">
            <a:xfrm>
              <a:off x="3429000" y="1524000"/>
              <a:ext cx="2438400" cy="533400"/>
            </a:xfrm>
            <a:prstGeom prst="roundRect">
              <a:avLst/>
            </a:prstGeom>
            <a:ln>
              <a:headEnd type="none" w="med" len="med"/>
              <a:tailEnd type="none" w="med" len="med"/>
            </a:ln>
          </p:spPr>
          <p:style>
            <a:lnRef idx="0">
              <a:schemeClr val="accent6"/>
            </a:lnRef>
            <a:fillRef idx="3">
              <a:schemeClr val="accent6"/>
            </a:fillRef>
            <a:effectRef idx="3">
              <a:schemeClr val="accent6"/>
            </a:effectRef>
            <a:fontRef idx="minor">
              <a:schemeClr val="lt1"/>
            </a:fontRef>
          </p:style>
          <p:txBody>
            <a:bodyPr wrap="none"/>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rial" charset="0"/>
                  <a:ea typeface="+mn-ea"/>
                  <a:cs typeface="+mn-cs"/>
                </a:rPr>
                <a:t>Specific</a:t>
              </a:r>
            </a:p>
          </p:txBody>
        </p:sp>
        <p:sp>
          <p:nvSpPr>
            <p:cNvPr id="11" name="Rectangle 10"/>
            <p:cNvSpPr/>
            <p:nvPr/>
          </p:nvSpPr>
          <p:spPr>
            <a:xfrm>
              <a:off x="1752600" y="1219200"/>
              <a:ext cx="921827" cy="923330"/>
            </a:xfrm>
            <a:prstGeom prst="rect">
              <a:avLst/>
            </a:prstGeom>
            <a:noFill/>
            <a:effectLst>
              <a:glow rad="228600">
                <a:schemeClr val="accent5">
                  <a:satMod val="175000"/>
                  <a:alpha val="40000"/>
                </a:schemeClr>
              </a:glow>
            </a:effec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5400" b="1" i="0" u="none" strike="noStrike" kern="1200" cap="all" spc="0" normalizeH="0" baseline="0" noProof="0" dirty="0">
                  <a:ln w="9000" cmpd="sng">
                    <a:solidFill>
                      <a:srgbClr val="909465">
                        <a:shade val="50000"/>
                        <a:satMod val="120000"/>
                      </a:srgbClr>
                    </a:solidFill>
                    <a:prstDash val="solid"/>
                  </a:ln>
                  <a:solidFill>
                    <a:srgbClr val="C00000"/>
                  </a:solidFill>
                  <a:effectLst>
                    <a:reflection blurRad="12700" stA="28000" endPos="45000" dist="1000" dir="5400000" sy="-100000" algn="bl" rotWithShape="0"/>
                  </a:effectLst>
                  <a:uLnTx/>
                  <a:uFillTx/>
                  <a:latin typeface="Century Gothic"/>
                  <a:ea typeface="+mn-ea"/>
                  <a:cs typeface="+mn-cs"/>
                </a:rPr>
                <a:t>S</a:t>
              </a:r>
            </a:p>
          </p:txBody>
        </p:sp>
      </p:grpSp>
      <p:grpSp>
        <p:nvGrpSpPr>
          <p:cNvPr id="16" name="Group 16"/>
          <p:cNvGrpSpPr>
            <a:grpSpLocks/>
          </p:cNvGrpSpPr>
          <p:nvPr/>
        </p:nvGrpSpPr>
        <p:grpSpPr bwMode="auto">
          <a:xfrm>
            <a:off x="1752600" y="2209801"/>
            <a:ext cx="4114800" cy="923925"/>
            <a:chOff x="1752600" y="2209800"/>
            <a:chExt cx="4114800" cy="923330"/>
          </a:xfrm>
        </p:grpSpPr>
        <p:sp>
          <p:nvSpPr>
            <p:cNvPr id="6" name="Rounded Rectangle 5"/>
            <p:cNvSpPr/>
            <p:nvPr/>
          </p:nvSpPr>
          <p:spPr bwMode="auto">
            <a:xfrm>
              <a:off x="3429000" y="2495550"/>
              <a:ext cx="2438400" cy="533400"/>
            </a:xfrm>
            <a:prstGeom prst="roundRect">
              <a:avLst/>
            </a:prstGeom>
            <a:ln>
              <a:headEnd type="none" w="med" len="med"/>
              <a:tailEnd type="none" w="med" len="med"/>
            </a:ln>
          </p:spPr>
          <p:style>
            <a:lnRef idx="0">
              <a:schemeClr val="accent6"/>
            </a:lnRef>
            <a:fillRef idx="3">
              <a:schemeClr val="accent6"/>
            </a:fillRef>
            <a:effectRef idx="3">
              <a:schemeClr val="accent6"/>
            </a:effectRef>
            <a:fontRef idx="minor">
              <a:schemeClr val="lt1"/>
            </a:fontRef>
          </p:style>
          <p:txBody>
            <a:bodyPr wrap="none"/>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rial" charset="0"/>
                  <a:ea typeface="+mn-ea"/>
                  <a:cs typeface="+mn-cs"/>
                </a:rPr>
                <a:t>Measurable</a:t>
              </a:r>
            </a:p>
          </p:txBody>
        </p:sp>
        <p:sp>
          <p:nvSpPr>
            <p:cNvPr id="12" name="Rectangle 11"/>
            <p:cNvSpPr/>
            <p:nvPr/>
          </p:nvSpPr>
          <p:spPr>
            <a:xfrm>
              <a:off x="1752600" y="2209800"/>
              <a:ext cx="921827" cy="923330"/>
            </a:xfrm>
            <a:prstGeom prst="rect">
              <a:avLst/>
            </a:prstGeom>
            <a:noFill/>
            <a:effectLst>
              <a:glow rad="228600">
                <a:schemeClr val="accent5">
                  <a:satMod val="175000"/>
                  <a:alpha val="40000"/>
                </a:schemeClr>
              </a:glow>
            </a:effec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5400" b="1" i="0" u="none" strike="noStrike" kern="1200" cap="all" spc="0" normalizeH="0" baseline="0" noProof="0" dirty="0">
                  <a:ln w="9000" cmpd="sng">
                    <a:solidFill>
                      <a:srgbClr val="909465">
                        <a:shade val="50000"/>
                        <a:satMod val="120000"/>
                      </a:srgbClr>
                    </a:solidFill>
                    <a:prstDash val="solid"/>
                  </a:ln>
                  <a:solidFill>
                    <a:srgbClr val="C00000"/>
                  </a:solidFill>
                  <a:effectLst>
                    <a:reflection blurRad="12700" stA="28000" endPos="45000" dist="1000" dir="5400000" sy="-100000" algn="bl" rotWithShape="0"/>
                  </a:effectLst>
                  <a:uLnTx/>
                  <a:uFillTx/>
                  <a:latin typeface="Century Gothic"/>
                  <a:ea typeface="+mn-ea"/>
                  <a:cs typeface="+mn-cs"/>
                </a:rPr>
                <a:t>M</a:t>
              </a:r>
            </a:p>
          </p:txBody>
        </p:sp>
      </p:grpSp>
      <p:grpSp>
        <p:nvGrpSpPr>
          <p:cNvPr id="17" name="Group 19"/>
          <p:cNvGrpSpPr>
            <a:grpSpLocks/>
          </p:cNvGrpSpPr>
          <p:nvPr/>
        </p:nvGrpSpPr>
        <p:grpSpPr bwMode="auto">
          <a:xfrm>
            <a:off x="1752600" y="5181601"/>
            <a:ext cx="4114800" cy="923925"/>
            <a:chOff x="1752600" y="5181600"/>
            <a:chExt cx="4114800" cy="923330"/>
          </a:xfrm>
        </p:grpSpPr>
        <p:sp>
          <p:nvSpPr>
            <p:cNvPr id="9" name="Rounded Rectangle 8"/>
            <p:cNvSpPr/>
            <p:nvPr/>
          </p:nvSpPr>
          <p:spPr bwMode="auto">
            <a:xfrm>
              <a:off x="3429000" y="5410200"/>
              <a:ext cx="2438400" cy="533400"/>
            </a:xfrm>
            <a:prstGeom prst="roundRect">
              <a:avLst/>
            </a:prstGeom>
            <a:ln>
              <a:headEnd type="none" w="med" len="med"/>
              <a:tailEnd type="none" w="med" len="med"/>
            </a:ln>
          </p:spPr>
          <p:style>
            <a:lnRef idx="0">
              <a:schemeClr val="accent6"/>
            </a:lnRef>
            <a:fillRef idx="3">
              <a:schemeClr val="accent6"/>
            </a:fillRef>
            <a:effectRef idx="3">
              <a:schemeClr val="accent6"/>
            </a:effectRef>
            <a:fontRef idx="minor">
              <a:schemeClr val="lt1"/>
            </a:fontRef>
          </p:style>
          <p:txBody>
            <a:bodyPr wrap="none"/>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rial" charset="0"/>
                  <a:ea typeface="+mn-ea"/>
                  <a:cs typeface="+mn-cs"/>
                </a:rPr>
                <a:t>Time bound</a:t>
              </a:r>
            </a:p>
          </p:txBody>
        </p:sp>
        <p:sp>
          <p:nvSpPr>
            <p:cNvPr id="13" name="Rectangle 12"/>
            <p:cNvSpPr/>
            <p:nvPr/>
          </p:nvSpPr>
          <p:spPr>
            <a:xfrm>
              <a:off x="1752600" y="5181600"/>
              <a:ext cx="921827" cy="923330"/>
            </a:xfrm>
            <a:prstGeom prst="rect">
              <a:avLst/>
            </a:prstGeom>
            <a:noFill/>
            <a:effectLst>
              <a:glow rad="228600">
                <a:schemeClr val="accent5">
                  <a:satMod val="175000"/>
                  <a:alpha val="40000"/>
                </a:schemeClr>
              </a:glow>
            </a:effec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5400" b="1" i="0" u="none" strike="noStrike" kern="1200" cap="all" spc="0" normalizeH="0" baseline="0" noProof="0" dirty="0">
                  <a:ln w="9000" cmpd="sng">
                    <a:solidFill>
                      <a:srgbClr val="909465">
                        <a:shade val="50000"/>
                        <a:satMod val="120000"/>
                      </a:srgbClr>
                    </a:solidFill>
                    <a:prstDash val="solid"/>
                  </a:ln>
                  <a:solidFill>
                    <a:srgbClr val="C00000"/>
                  </a:solidFill>
                  <a:effectLst>
                    <a:reflection blurRad="12700" stA="28000" endPos="45000" dist="1000" dir="5400000" sy="-100000" algn="bl" rotWithShape="0"/>
                  </a:effectLst>
                  <a:uLnTx/>
                  <a:uFillTx/>
                  <a:latin typeface="Century Gothic"/>
                  <a:ea typeface="+mn-ea"/>
                  <a:cs typeface="+mn-cs"/>
                </a:rPr>
                <a:t>T</a:t>
              </a:r>
            </a:p>
          </p:txBody>
        </p:sp>
      </p:grpSp>
      <p:grpSp>
        <p:nvGrpSpPr>
          <p:cNvPr id="18" name="Group 18"/>
          <p:cNvGrpSpPr>
            <a:grpSpLocks/>
          </p:cNvGrpSpPr>
          <p:nvPr/>
        </p:nvGrpSpPr>
        <p:grpSpPr bwMode="auto">
          <a:xfrm>
            <a:off x="1752600" y="4191001"/>
            <a:ext cx="4114800" cy="923925"/>
            <a:chOff x="1752600" y="4191000"/>
            <a:chExt cx="4114800" cy="923330"/>
          </a:xfrm>
        </p:grpSpPr>
        <p:sp>
          <p:nvSpPr>
            <p:cNvPr id="8" name="Rounded Rectangle 7"/>
            <p:cNvSpPr/>
            <p:nvPr/>
          </p:nvSpPr>
          <p:spPr bwMode="auto">
            <a:xfrm>
              <a:off x="3429000" y="4438650"/>
              <a:ext cx="2438400" cy="533400"/>
            </a:xfrm>
            <a:prstGeom prst="roundRect">
              <a:avLst/>
            </a:prstGeom>
            <a:ln>
              <a:headEnd type="none" w="med" len="med"/>
              <a:tailEnd type="none" w="med" len="med"/>
            </a:ln>
          </p:spPr>
          <p:style>
            <a:lnRef idx="0">
              <a:schemeClr val="accent6"/>
            </a:lnRef>
            <a:fillRef idx="3">
              <a:schemeClr val="accent6"/>
            </a:fillRef>
            <a:effectRef idx="3">
              <a:schemeClr val="accent6"/>
            </a:effectRef>
            <a:fontRef idx="minor">
              <a:schemeClr val="lt1"/>
            </a:fontRef>
          </p:style>
          <p:txBody>
            <a:bodyPr wrap="none"/>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rial" charset="0"/>
                  <a:ea typeface="+mn-ea"/>
                  <a:cs typeface="+mn-cs"/>
                </a:rPr>
                <a:t>Relevant</a:t>
              </a:r>
            </a:p>
          </p:txBody>
        </p:sp>
        <p:sp>
          <p:nvSpPr>
            <p:cNvPr id="14" name="Rectangle 13"/>
            <p:cNvSpPr/>
            <p:nvPr/>
          </p:nvSpPr>
          <p:spPr>
            <a:xfrm>
              <a:off x="1752600" y="4191000"/>
              <a:ext cx="921827" cy="923330"/>
            </a:xfrm>
            <a:prstGeom prst="rect">
              <a:avLst/>
            </a:prstGeom>
            <a:noFill/>
            <a:effectLst>
              <a:glow rad="228600">
                <a:schemeClr val="accent5">
                  <a:satMod val="175000"/>
                  <a:alpha val="40000"/>
                </a:schemeClr>
              </a:glow>
            </a:effec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5400" b="1" i="0" u="none" strike="noStrike" kern="1200" cap="all" spc="0" normalizeH="0" baseline="0" noProof="0" dirty="0">
                  <a:ln w="9000" cmpd="sng">
                    <a:solidFill>
                      <a:srgbClr val="909465">
                        <a:shade val="50000"/>
                        <a:satMod val="120000"/>
                      </a:srgbClr>
                    </a:solidFill>
                    <a:prstDash val="solid"/>
                  </a:ln>
                  <a:solidFill>
                    <a:srgbClr val="C00000"/>
                  </a:solidFill>
                  <a:effectLst>
                    <a:reflection blurRad="12700" stA="28000" endPos="45000" dist="1000" dir="5400000" sy="-100000" algn="bl" rotWithShape="0"/>
                  </a:effectLst>
                  <a:uLnTx/>
                  <a:uFillTx/>
                  <a:latin typeface="Century Gothic"/>
                  <a:ea typeface="+mn-ea"/>
                  <a:cs typeface="+mn-cs"/>
                </a:rPr>
                <a:t>R</a:t>
              </a:r>
            </a:p>
          </p:txBody>
        </p:sp>
      </p:grpSp>
      <p:grpSp>
        <p:nvGrpSpPr>
          <p:cNvPr id="19" name="Group 17"/>
          <p:cNvGrpSpPr>
            <a:grpSpLocks/>
          </p:cNvGrpSpPr>
          <p:nvPr/>
        </p:nvGrpSpPr>
        <p:grpSpPr bwMode="auto">
          <a:xfrm>
            <a:off x="1752600" y="3200401"/>
            <a:ext cx="4114800" cy="923925"/>
            <a:chOff x="1752600" y="3200400"/>
            <a:chExt cx="4114800" cy="923330"/>
          </a:xfrm>
        </p:grpSpPr>
        <p:sp>
          <p:nvSpPr>
            <p:cNvPr id="7" name="Rounded Rectangle 6"/>
            <p:cNvSpPr/>
            <p:nvPr/>
          </p:nvSpPr>
          <p:spPr bwMode="auto">
            <a:xfrm>
              <a:off x="3429000" y="3467100"/>
              <a:ext cx="2438400" cy="533400"/>
            </a:xfrm>
            <a:prstGeom prst="roundRect">
              <a:avLst/>
            </a:prstGeom>
            <a:ln>
              <a:headEnd type="none" w="med" len="med"/>
              <a:tailEnd type="none" w="med" len="med"/>
            </a:ln>
          </p:spPr>
          <p:style>
            <a:lnRef idx="0">
              <a:schemeClr val="accent6"/>
            </a:lnRef>
            <a:fillRef idx="3">
              <a:schemeClr val="accent6"/>
            </a:fillRef>
            <a:effectRef idx="3">
              <a:schemeClr val="accent6"/>
            </a:effectRef>
            <a:fontRef idx="minor">
              <a:schemeClr val="lt1"/>
            </a:fontRef>
          </p:style>
          <p:txBody>
            <a:bodyPr wrap="none"/>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rial" charset="0"/>
                  <a:ea typeface="+mn-ea"/>
                  <a:cs typeface="+mn-cs"/>
                </a:rPr>
                <a:t>Attainable</a:t>
              </a:r>
            </a:p>
          </p:txBody>
        </p:sp>
        <p:sp>
          <p:nvSpPr>
            <p:cNvPr id="15" name="Rectangle 14"/>
            <p:cNvSpPr/>
            <p:nvPr/>
          </p:nvSpPr>
          <p:spPr>
            <a:xfrm>
              <a:off x="1752600" y="3200400"/>
              <a:ext cx="921827" cy="923330"/>
            </a:xfrm>
            <a:prstGeom prst="rect">
              <a:avLst/>
            </a:prstGeom>
            <a:noFill/>
            <a:effectLst>
              <a:glow rad="228600">
                <a:schemeClr val="accent5">
                  <a:satMod val="175000"/>
                  <a:alpha val="40000"/>
                </a:schemeClr>
              </a:glow>
            </a:effec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5400" b="1" i="0" u="none" strike="noStrike" kern="1200" cap="all" spc="0" normalizeH="0" baseline="0" noProof="0" dirty="0">
                  <a:ln w="9000" cmpd="sng">
                    <a:solidFill>
                      <a:srgbClr val="909465">
                        <a:shade val="50000"/>
                        <a:satMod val="120000"/>
                      </a:srgbClr>
                    </a:solidFill>
                    <a:prstDash val="solid"/>
                  </a:ln>
                  <a:solidFill>
                    <a:srgbClr val="C00000"/>
                  </a:solidFill>
                  <a:effectLst>
                    <a:reflection blurRad="12700" stA="28000" endPos="45000" dist="1000" dir="5400000" sy="-100000" algn="bl" rotWithShape="0"/>
                  </a:effectLst>
                  <a:uLnTx/>
                  <a:uFillTx/>
                  <a:latin typeface="Century Gothic"/>
                  <a:ea typeface="+mn-ea"/>
                  <a:cs typeface="+mn-cs"/>
                </a:rPr>
                <a:t>A</a:t>
              </a:r>
            </a:p>
          </p:txBody>
        </p:sp>
      </p:grpSp>
      <p:grpSp>
        <p:nvGrpSpPr>
          <p:cNvPr id="20" name="Group 20"/>
          <p:cNvGrpSpPr>
            <a:grpSpLocks/>
          </p:cNvGrpSpPr>
          <p:nvPr/>
        </p:nvGrpSpPr>
        <p:grpSpPr bwMode="auto">
          <a:xfrm>
            <a:off x="6698274" y="1285875"/>
            <a:ext cx="921726" cy="4886325"/>
            <a:chOff x="1752600" y="1219200"/>
            <a:chExt cx="921827" cy="4885730"/>
          </a:xfrm>
        </p:grpSpPr>
        <p:sp>
          <p:nvSpPr>
            <p:cNvPr id="22" name="Rectangle 21"/>
            <p:cNvSpPr/>
            <p:nvPr/>
          </p:nvSpPr>
          <p:spPr>
            <a:xfrm>
              <a:off x="1752600" y="1219200"/>
              <a:ext cx="921827" cy="923330"/>
            </a:xfrm>
            <a:prstGeom prst="rect">
              <a:avLst/>
            </a:prstGeom>
            <a:noFill/>
            <a:effectLst>
              <a:glow rad="228600">
                <a:schemeClr val="accent5">
                  <a:satMod val="175000"/>
                  <a:alpha val="40000"/>
                </a:schemeClr>
              </a:glow>
            </a:effec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5400" b="1" i="0" u="none" strike="noStrike" kern="1200" cap="all" spc="0" normalizeH="0" baseline="0" noProof="0" dirty="0">
                  <a:ln w="9000" cmpd="sng">
                    <a:solidFill>
                      <a:srgbClr val="909465">
                        <a:shade val="50000"/>
                        <a:satMod val="120000"/>
                      </a:srgbClr>
                    </a:solidFill>
                    <a:prstDash val="solid"/>
                  </a:ln>
                  <a:solidFill>
                    <a:srgbClr val="C00000"/>
                  </a:solidFill>
                  <a:effectLst>
                    <a:reflection blurRad="12700" stA="28000" endPos="45000" dist="1000" dir="5400000" sy="-100000" algn="bl" rotWithShape="0"/>
                  </a:effectLst>
                  <a:uLnTx/>
                  <a:uFillTx/>
                  <a:latin typeface="Century Gothic"/>
                  <a:ea typeface="+mn-ea"/>
                  <a:cs typeface="+mn-cs"/>
                </a:rPr>
                <a:t>S</a:t>
              </a:r>
            </a:p>
          </p:txBody>
        </p:sp>
        <p:sp>
          <p:nvSpPr>
            <p:cNvPr id="23" name="Rectangle 22"/>
            <p:cNvSpPr/>
            <p:nvPr/>
          </p:nvSpPr>
          <p:spPr>
            <a:xfrm>
              <a:off x="1752600" y="2209800"/>
              <a:ext cx="921827" cy="923330"/>
            </a:xfrm>
            <a:prstGeom prst="rect">
              <a:avLst/>
            </a:prstGeom>
            <a:noFill/>
            <a:effectLst>
              <a:glow rad="228600">
                <a:schemeClr val="accent5">
                  <a:satMod val="175000"/>
                  <a:alpha val="40000"/>
                </a:schemeClr>
              </a:glow>
            </a:effec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5400" b="1" i="0" u="none" strike="noStrike" kern="1200" cap="all" spc="0" normalizeH="0" baseline="0" noProof="0" dirty="0">
                  <a:ln w="9000" cmpd="sng">
                    <a:solidFill>
                      <a:srgbClr val="909465">
                        <a:shade val="50000"/>
                        <a:satMod val="120000"/>
                      </a:srgbClr>
                    </a:solidFill>
                    <a:prstDash val="solid"/>
                  </a:ln>
                  <a:solidFill>
                    <a:srgbClr val="C00000"/>
                  </a:solidFill>
                  <a:effectLst>
                    <a:reflection blurRad="12700" stA="28000" endPos="45000" dist="1000" dir="5400000" sy="-100000" algn="bl" rotWithShape="0"/>
                  </a:effectLst>
                  <a:uLnTx/>
                  <a:uFillTx/>
                  <a:latin typeface="Century Gothic"/>
                  <a:ea typeface="+mn-ea"/>
                  <a:cs typeface="+mn-cs"/>
                </a:rPr>
                <a:t>M</a:t>
              </a:r>
            </a:p>
          </p:txBody>
        </p:sp>
        <p:sp>
          <p:nvSpPr>
            <p:cNvPr id="24" name="Rectangle 23"/>
            <p:cNvSpPr/>
            <p:nvPr/>
          </p:nvSpPr>
          <p:spPr>
            <a:xfrm>
              <a:off x="1752600" y="5181600"/>
              <a:ext cx="921827" cy="923330"/>
            </a:xfrm>
            <a:prstGeom prst="rect">
              <a:avLst/>
            </a:prstGeom>
            <a:noFill/>
            <a:effectLst>
              <a:glow rad="228600">
                <a:schemeClr val="accent5">
                  <a:satMod val="175000"/>
                  <a:alpha val="40000"/>
                </a:schemeClr>
              </a:glow>
            </a:effec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5400" b="1" i="0" u="none" strike="noStrike" kern="1200" cap="all" spc="0" normalizeH="0" baseline="0" noProof="0" dirty="0">
                  <a:ln w="9000" cmpd="sng">
                    <a:solidFill>
                      <a:srgbClr val="909465">
                        <a:shade val="50000"/>
                        <a:satMod val="120000"/>
                      </a:srgbClr>
                    </a:solidFill>
                    <a:prstDash val="solid"/>
                  </a:ln>
                  <a:solidFill>
                    <a:srgbClr val="C00000"/>
                  </a:solidFill>
                  <a:effectLst>
                    <a:reflection blurRad="12700" stA="28000" endPos="45000" dist="1000" dir="5400000" sy="-100000" algn="bl" rotWithShape="0"/>
                  </a:effectLst>
                  <a:uLnTx/>
                  <a:uFillTx/>
                  <a:latin typeface="Century Gothic"/>
                  <a:ea typeface="+mn-ea"/>
                  <a:cs typeface="+mn-cs"/>
                </a:rPr>
                <a:t>T</a:t>
              </a:r>
            </a:p>
          </p:txBody>
        </p:sp>
        <p:sp>
          <p:nvSpPr>
            <p:cNvPr id="25" name="Rectangle 24"/>
            <p:cNvSpPr/>
            <p:nvPr/>
          </p:nvSpPr>
          <p:spPr>
            <a:xfrm>
              <a:off x="1752600" y="4191000"/>
              <a:ext cx="921827" cy="923330"/>
            </a:xfrm>
            <a:prstGeom prst="rect">
              <a:avLst/>
            </a:prstGeom>
            <a:noFill/>
            <a:effectLst>
              <a:glow rad="228600">
                <a:schemeClr val="accent5">
                  <a:satMod val="175000"/>
                  <a:alpha val="40000"/>
                </a:schemeClr>
              </a:glow>
            </a:effec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5400" b="1" i="0" u="none" strike="noStrike" kern="1200" cap="all" spc="0" normalizeH="0" baseline="0" noProof="0" dirty="0">
                  <a:ln w="9000" cmpd="sng">
                    <a:solidFill>
                      <a:srgbClr val="909465">
                        <a:shade val="50000"/>
                        <a:satMod val="120000"/>
                      </a:srgbClr>
                    </a:solidFill>
                    <a:prstDash val="solid"/>
                  </a:ln>
                  <a:solidFill>
                    <a:srgbClr val="C00000"/>
                  </a:solidFill>
                  <a:effectLst>
                    <a:reflection blurRad="12700" stA="28000" endPos="45000" dist="1000" dir="5400000" sy="-100000" algn="bl" rotWithShape="0"/>
                  </a:effectLst>
                  <a:uLnTx/>
                  <a:uFillTx/>
                  <a:latin typeface="Century Gothic"/>
                  <a:ea typeface="+mn-ea"/>
                  <a:cs typeface="+mn-cs"/>
                </a:rPr>
                <a:t>R</a:t>
              </a:r>
            </a:p>
          </p:txBody>
        </p:sp>
        <p:sp>
          <p:nvSpPr>
            <p:cNvPr id="26" name="Rectangle 25"/>
            <p:cNvSpPr/>
            <p:nvPr/>
          </p:nvSpPr>
          <p:spPr>
            <a:xfrm>
              <a:off x="1752600" y="3200400"/>
              <a:ext cx="921827" cy="923330"/>
            </a:xfrm>
            <a:prstGeom prst="rect">
              <a:avLst/>
            </a:prstGeom>
            <a:noFill/>
            <a:effectLst>
              <a:glow rad="228600">
                <a:schemeClr val="accent5">
                  <a:satMod val="175000"/>
                  <a:alpha val="40000"/>
                </a:schemeClr>
              </a:glow>
            </a:effec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5400" b="1" i="0" u="none" strike="noStrike" kern="1200" cap="all" spc="0" normalizeH="0" baseline="0" noProof="0" dirty="0">
                  <a:ln w="9000" cmpd="sng">
                    <a:solidFill>
                      <a:srgbClr val="909465">
                        <a:shade val="50000"/>
                        <a:satMod val="120000"/>
                      </a:srgbClr>
                    </a:solidFill>
                    <a:prstDash val="solid"/>
                  </a:ln>
                  <a:solidFill>
                    <a:srgbClr val="C00000"/>
                  </a:solidFill>
                  <a:effectLst>
                    <a:reflection blurRad="12700" stA="28000" endPos="45000" dist="1000" dir="5400000" sy="-100000" algn="bl" rotWithShape="0"/>
                  </a:effectLst>
                  <a:uLnTx/>
                  <a:uFillTx/>
                  <a:latin typeface="Century Gothic"/>
                  <a:ea typeface="+mn-ea"/>
                  <a:cs typeface="+mn-cs"/>
                </a:rPr>
                <a:t>A</a:t>
              </a:r>
            </a:p>
          </p:txBody>
        </p:sp>
      </p:grpSp>
    </p:spTree>
    <p:extLst>
      <p:ext uri="{BB962C8B-B14F-4D97-AF65-F5344CB8AC3E}">
        <p14:creationId xmlns:p14="http://schemas.microsoft.com/office/powerpoint/2010/main" val="7437759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000"/>
                                        <p:tgtEl>
                                          <p:spTgt spid="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2000"/>
                                        <p:tgtEl>
                                          <p:spTgt spid="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2000"/>
                                        <p:tgtEl>
                                          <p:spTgt spid="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2000"/>
                                        <p:tgtEl>
                                          <p:spTgt spid="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9" presetClass="entr" presetSubtype="1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p:cTn id="32" dur="3000" fill="hold"/>
                                        <p:tgtEl>
                                          <p:spTgt spid="20"/>
                                        </p:tgtEl>
                                        <p:attrNameLst>
                                          <p:attrName>ppt_w</p:attrName>
                                        </p:attrNameLst>
                                      </p:cBhvr>
                                      <p:tavLst>
                                        <p:tav tm="0" fmla="#ppt_w*sin(2.5*pi*$)">
                                          <p:val>
                                            <p:fltVal val="0"/>
                                          </p:val>
                                        </p:tav>
                                        <p:tav tm="100000">
                                          <p:val>
                                            <p:fltVal val="1"/>
                                          </p:val>
                                        </p:tav>
                                      </p:tavLst>
                                    </p:anim>
                                    <p:anim calcmode="lin" valueType="num">
                                      <p:cBhvr>
                                        <p:cTn id="33" dur="3000" fill="hold"/>
                                        <p:tgtEl>
                                          <p:spTgt spid="2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153400" cy="1143000"/>
          </a:xfrm>
        </p:spPr>
        <p:txBody>
          <a:bodyPr>
            <a:noAutofit/>
          </a:bodyPr>
          <a:lstStyle/>
          <a:p>
            <a:r>
              <a:rPr lang="en-US" sz="3600" b="1" dirty="0">
                <a:solidFill>
                  <a:srgbClr val="0070C0"/>
                </a:solidFill>
              </a:rPr>
              <a:t>Strategies</a:t>
            </a:r>
            <a:endParaRPr lang="ar-EG" sz="3600" dirty="0">
              <a:solidFill>
                <a:srgbClr val="0070C0"/>
              </a:solidFill>
            </a:endParaRPr>
          </a:p>
        </p:txBody>
      </p:sp>
      <p:sp>
        <p:nvSpPr>
          <p:cNvPr id="3" name="Content Placeholder 2"/>
          <p:cNvSpPr>
            <a:spLocks noGrp="1"/>
          </p:cNvSpPr>
          <p:nvPr>
            <p:ph idx="1"/>
          </p:nvPr>
        </p:nvSpPr>
        <p:spPr>
          <a:xfrm>
            <a:off x="381000" y="1143000"/>
            <a:ext cx="8382000" cy="5334000"/>
          </a:xfrm>
        </p:spPr>
        <p:txBody>
          <a:bodyPr>
            <a:normAutofit/>
          </a:bodyPr>
          <a:lstStyle/>
          <a:p>
            <a:pPr marL="68580" indent="0">
              <a:buNone/>
            </a:pPr>
            <a:endParaRPr lang="ar-EG" sz="2800" dirty="0"/>
          </a:p>
          <a:p>
            <a:pPr marL="68580" indent="0" algn="justLow" rtl="0">
              <a:buNone/>
            </a:pPr>
            <a:r>
              <a:rPr lang="en-US" sz="2800" b="1" dirty="0" smtClean="0"/>
              <a:t>They are </a:t>
            </a:r>
            <a:r>
              <a:rPr lang="en-US" sz="2800" b="1" dirty="0"/>
              <a:t>the </a:t>
            </a:r>
            <a:r>
              <a:rPr lang="en-US" sz="2800" b="1" u="sng" dirty="0"/>
              <a:t>means</a:t>
            </a:r>
            <a:r>
              <a:rPr lang="en-US" sz="2800" b="1" dirty="0"/>
              <a:t> by which long-term objectives will be achieved. </a:t>
            </a:r>
          </a:p>
          <a:p>
            <a:pPr marL="68580" indent="0" algn="justLow" rtl="0">
              <a:buNone/>
            </a:pPr>
            <a:r>
              <a:rPr lang="fr-FR" sz="2800" b="1" u="sng" dirty="0" err="1" smtClean="0">
                <a:solidFill>
                  <a:srgbClr val="0070C0"/>
                </a:solidFill>
              </a:rPr>
              <a:t>Examples</a:t>
            </a:r>
            <a:r>
              <a:rPr lang="fr-FR" sz="2800" b="1" u="sng" dirty="0" smtClean="0">
                <a:solidFill>
                  <a:srgbClr val="0070C0"/>
                </a:solidFill>
              </a:rPr>
              <a:t> of </a:t>
            </a:r>
            <a:r>
              <a:rPr lang="fr-FR" sz="2800" b="1" u="sng" dirty="0" err="1" smtClean="0">
                <a:solidFill>
                  <a:srgbClr val="0070C0"/>
                </a:solidFill>
              </a:rPr>
              <a:t>strategies</a:t>
            </a:r>
            <a:r>
              <a:rPr lang="fr-FR" sz="2800" b="1" u="sng" dirty="0" smtClean="0">
                <a:solidFill>
                  <a:srgbClr val="0070C0"/>
                </a:solidFill>
              </a:rPr>
              <a:t>; </a:t>
            </a:r>
          </a:p>
          <a:p>
            <a:pPr algn="justLow" rtl="0"/>
            <a:r>
              <a:rPr lang="fr-FR" sz="2800" dirty="0" smtClean="0"/>
              <a:t> Geographic </a:t>
            </a:r>
            <a:r>
              <a:rPr lang="fr-FR" sz="2800" dirty="0"/>
              <a:t>expansion</a:t>
            </a:r>
            <a:r>
              <a:rPr lang="fr-FR" sz="2800" dirty="0" smtClean="0"/>
              <a:t>,</a:t>
            </a:r>
          </a:p>
          <a:p>
            <a:pPr algn="justLow" rtl="0"/>
            <a:r>
              <a:rPr lang="fr-FR" sz="2800" dirty="0" smtClean="0"/>
              <a:t> Diversification</a:t>
            </a:r>
            <a:r>
              <a:rPr lang="fr-FR" sz="2800" dirty="0"/>
              <a:t>, </a:t>
            </a:r>
            <a:endParaRPr lang="fr-FR" sz="2800" dirty="0" smtClean="0"/>
          </a:p>
          <a:p>
            <a:pPr algn="justLow" rtl="0"/>
            <a:r>
              <a:rPr lang="fr-FR" sz="2800" dirty="0" smtClean="0"/>
              <a:t> Acquisition</a:t>
            </a:r>
            <a:r>
              <a:rPr lang="fr-FR" sz="2800" dirty="0"/>
              <a:t>, </a:t>
            </a:r>
            <a:endParaRPr lang="fr-FR" sz="2800" dirty="0" smtClean="0"/>
          </a:p>
          <a:p>
            <a:pPr algn="justLow" rtl="0"/>
            <a:r>
              <a:rPr lang="fr-FR" sz="2800" dirty="0" smtClean="0"/>
              <a:t> Product </a:t>
            </a:r>
            <a:r>
              <a:rPr lang="fr-FR" sz="2800" dirty="0" err="1"/>
              <a:t>development</a:t>
            </a:r>
            <a:r>
              <a:rPr lang="fr-FR" sz="2800" dirty="0"/>
              <a:t>, </a:t>
            </a:r>
            <a:endParaRPr lang="fr-FR" sz="2800" dirty="0" smtClean="0"/>
          </a:p>
          <a:p>
            <a:pPr algn="justLow" rtl="0"/>
            <a:r>
              <a:rPr lang="fr-FR" sz="2800" dirty="0" smtClean="0"/>
              <a:t> </a:t>
            </a:r>
            <a:r>
              <a:rPr lang="fr-FR" sz="2800" dirty="0" err="1" smtClean="0"/>
              <a:t>Market</a:t>
            </a:r>
            <a:r>
              <a:rPr lang="fr-FR" sz="2800" dirty="0" smtClean="0"/>
              <a:t> </a:t>
            </a:r>
            <a:r>
              <a:rPr lang="fr-FR" sz="2800" dirty="0" err="1"/>
              <a:t>penetration</a:t>
            </a:r>
            <a:r>
              <a:rPr lang="fr-FR" sz="2800" dirty="0"/>
              <a:t>, </a:t>
            </a:r>
            <a:endParaRPr lang="fr-FR" sz="2800" dirty="0" smtClean="0"/>
          </a:p>
          <a:p>
            <a:pPr algn="justLow" rtl="0"/>
            <a:r>
              <a:rPr lang="fr-FR" sz="2800" dirty="0" smtClean="0"/>
              <a:t> Joint </a:t>
            </a:r>
            <a:r>
              <a:rPr lang="fr-FR" sz="2800" dirty="0"/>
              <a:t>venture. </a:t>
            </a:r>
          </a:p>
        </p:txBody>
      </p:sp>
    </p:spTree>
    <p:extLst>
      <p:ext uri="{BB962C8B-B14F-4D97-AF65-F5344CB8AC3E}">
        <p14:creationId xmlns:p14="http://schemas.microsoft.com/office/powerpoint/2010/main" val="42473904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10050</TotalTime>
  <Words>2037</Words>
  <Application>Microsoft Office PowerPoint</Application>
  <PresentationFormat>On-screen Show (4:3)</PresentationFormat>
  <Paragraphs>226</Paragraphs>
  <Slides>35</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35</vt:i4>
      </vt:variant>
    </vt:vector>
  </HeadingPairs>
  <TitlesOfParts>
    <vt:vector size="46" baseType="lpstr">
      <vt:lpstr>MS PGothic</vt:lpstr>
      <vt:lpstr>Arial</vt:lpstr>
      <vt:lpstr>Calibri</vt:lpstr>
      <vt:lpstr>Century Gothic</vt:lpstr>
      <vt:lpstr>Tahoma</vt:lpstr>
      <vt:lpstr>Times New Roman</vt:lpstr>
      <vt:lpstr>Verdana</vt:lpstr>
      <vt:lpstr>Wingdings</vt:lpstr>
      <vt:lpstr>Wingdings 2</vt:lpstr>
      <vt:lpstr>Austin</vt:lpstr>
      <vt:lpstr>Office Theme</vt:lpstr>
      <vt:lpstr>Strategic Organizational Excellence</vt:lpstr>
      <vt:lpstr>Strategic Organizational  Excellence </vt:lpstr>
      <vt:lpstr>Strategic Organizational  Excellence </vt:lpstr>
      <vt:lpstr>Strategic Organizational  Excellence </vt:lpstr>
      <vt:lpstr>Strategic Organizational  Excellence </vt:lpstr>
      <vt:lpstr>Strategic Organizational  Excellence </vt:lpstr>
      <vt:lpstr>Strategic Organizational  Excellence </vt:lpstr>
      <vt:lpstr>Strategic Organizational  Excellence </vt:lpstr>
      <vt:lpstr>Strategic Organizational  Excellence </vt:lpstr>
      <vt:lpstr>Strategic Organizational  Excellence </vt:lpstr>
      <vt:lpstr>Why the external environment is dynamic?</vt:lpstr>
      <vt:lpstr>Strategic management process</vt:lpstr>
      <vt:lpstr>Strategy formulation</vt:lpstr>
      <vt:lpstr>Strategy formulation</vt:lpstr>
      <vt:lpstr>Strategy Implementation</vt:lpstr>
      <vt:lpstr>Strategy Implementation</vt:lpstr>
      <vt:lpstr>Strategy Implementation</vt:lpstr>
      <vt:lpstr>Strategy evaluation</vt:lpstr>
      <vt:lpstr>Strategy evaluation</vt:lpstr>
      <vt:lpstr>Key concepts in Strategic management</vt:lpstr>
      <vt:lpstr>Competitive advantage  </vt:lpstr>
      <vt:lpstr>Competitive advantage  </vt:lpstr>
      <vt:lpstr>PowerPoint Presentation</vt:lpstr>
      <vt:lpstr>PowerPoint Presentation</vt:lpstr>
      <vt:lpstr>Strategists </vt:lpstr>
      <vt:lpstr>External Opportunities and Threats</vt:lpstr>
      <vt:lpstr> External Factors</vt:lpstr>
      <vt:lpstr>External Opportunities and Threats</vt:lpstr>
      <vt:lpstr> Internal Strengths and Weaknesses</vt:lpstr>
      <vt:lpstr> Internal Strengths and Weaknesses</vt:lpstr>
      <vt:lpstr> Internal Audit (Internal +ves and –ves)   </vt:lpstr>
      <vt:lpstr>     Long-Term Objectives (more than one year) </vt:lpstr>
      <vt:lpstr> Annual Objectives</vt:lpstr>
      <vt:lpstr>PowerPoint Presentation</vt:lpstr>
      <vt:lpstr>Strategies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Human Resource Management</dc:title>
  <dc:creator>Dr.Tarek</dc:creator>
  <cp:lastModifiedBy>Dr. Marwa</cp:lastModifiedBy>
  <cp:revision>196</cp:revision>
  <dcterms:created xsi:type="dcterms:W3CDTF">2006-08-16T00:00:00Z</dcterms:created>
  <dcterms:modified xsi:type="dcterms:W3CDTF">2026-04-11T17:16:34Z</dcterms:modified>
</cp:coreProperties>
</file>