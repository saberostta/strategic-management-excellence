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78" r:id="rId5"/>
    <p:sldId id="261" r:id="rId6"/>
    <p:sldId id="260" r:id="rId7"/>
    <p:sldId id="259" r:id="rId8"/>
    <p:sldId id="258" r:id="rId9"/>
    <p:sldId id="262" r:id="rId10"/>
    <p:sldId id="263" r:id="rId11"/>
    <p:sldId id="264" r:id="rId12"/>
    <p:sldId id="265" r:id="rId13"/>
    <p:sldId id="280" r:id="rId14"/>
    <p:sldId id="266" r:id="rId15"/>
    <p:sldId id="267" r:id="rId16"/>
    <p:sldId id="268" r:id="rId17"/>
    <p:sldId id="269" r:id="rId18"/>
    <p:sldId id="270" r:id="rId19"/>
    <p:sldId id="271" r:id="rId20"/>
    <p:sldId id="275" r:id="rId21"/>
    <p:sldId id="272" r:id="rId22"/>
    <p:sldId id="273" r:id="rId23"/>
    <p:sldId id="281" r:id="rId24"/>
    <p:sldId id="276" r:id="rId25"/>
    <p:sldId id="277" r:id="rId26"/>
    <p:sldId id="279" r:id="rId27"/>
    <p:sldId id="27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94C600"/>
                </a:solidFill>
              </a:rPr>
              <a:pPr/>
              <a:t>‹#›</a:t>
            </a:fld>
            <a:endParaRPr lang="en-US">
              <a:solidFill>
                <a:srgbClr val="94C6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497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12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41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73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01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5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26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83294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91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942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6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8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27432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terms/q/quantitativeanalysis.asp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baknol.com/strategic-management/internal-factor-evaluation-ife-matrix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0" y="2286000"/>
            <a:ext cx="3313355" cy="170216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Strategic Excellence</a:t>
            </a:r>
            <a:endParaRPr lang="ar-EG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4191000"/>
            <a:ext cx="3309803" cy="1600200"/>
          </a:xfrm>
        </p:spPr>
        <p:txBody>
          <a:bodyPr>
            <a:normAutofit/>
          </a:bodyPr>
          <a:lstStyle/>
          <a:p>
            <a:r>
              <a:rPr lang="en-US" b="1" dirty="0" smtClean="0"/>
              <a:t>Prof. </a:t>
            </a:r>
            <a:r>
              <a:rPr lang="en-US" b="1" dirty="0" err="1" smtClean="0"/>
              <a:t>Marwa</a:t>
            </a:r>
            <a:r>
              <a:rPr lang="en-US" b="1" dirty="0" smtClean="0"/>
              <a:t> Tarek</a:t>
            </a:r>
          </a:p>
          <a:p>
            <a:r>
              <a:rPr lang="en-US" b="1" dirty="0" smtClean="0"/>
              <a:t>3</a:t>
            </a:r>
            <a:r>
              <a:rPr lang="en-US" b="1" baseline="30000" dirty="0" smtClean="0"/>
              <a:t>rd</a:t>
            </a:r>
            <a:r>
              <a:rPr lang="en-US" b="1" dirty="0" smtClean="0"/>
              <a:t> class </a:t>
            </a:r>
          </a:p>
          <a:p>
            <a:pPr algn="ctr"/>
            <a:r>
              <a:rPr lang="ar-EG" dirty="0"/>
              <a:t/>
            </a:r>
            <a:br>
              <a:rPr lang="ar-EG" dirty="0"/>
            </a:br>
            <a:r>
              <a:rPr lang="fr-FR" b="1" dirty="0" err="1">
                <a:solidFill>
                  <a:srgbClr val="FF0000"/>
                </a:solidFill>
              </a:rPr>
              <a:t>External</a:t>
            </a:r>
            <a:r>
              <a:rPr lang="fr-FR" b="1" dirty="0">
                <a:solidFill>
                  <a:srgbClr val="FF0000"/>
                </a:solidFill>
              </a:rPr>
              <a:t> Strategic Management Audit</a:t>
            </a:r>
            <a:r>
              <a:rPr lang="fr-FR" b="1" dirty="0"/>
              <a:t> </a:t>
            </a:r>
            <a:r>
              <a:rPr lang="en-US" b="1" dirty="0" smtClean="0"/>
              <a:t> </a:t>
            </a:r>
            <a:endParaRPr lang="ar-EG" b="1" dirty="0"/>
          </a:p>
        </p:txBody>
      </p:sp>
    </p:spTree>
    <p:extLst>
      <p:ext uri="{BB962C8B-B14F-4D97-AF65-F5344CB8AC3E}">
        <p14:creationId xmlns:p14="http://schemas.microsoft.com/office/powerpoint/2010/main" val="235127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"/>
            <a:ext cx="8153400" cy="1143000"/>
          </a:xfrm>
        </p:spPr>
        <p:txBody>
          <a:bodyPr>
            <a:normAutofit/>
          </a:bodyPr>
          <a:lstStyle/>
          <a:p>
            <a:r>
              <a:rPr lang="ar-EG" sz="3000" dirty="0"/>
              <a:t/>
            </a:r>
            <a:br>
              <a:rPr lang="ar-EG" sz="3000" dirty="0"/>
            </a:br>
            <a:r>
              <a:rPr lang="fr-FR" sz="3000" b="1" dirty="0" err="1"/>
              <a:t>External</a:t>
            </a:r>
            <a:r>
              <a:rPr lang="fr-FR" sz="3000" b="1" dirty="0"/>
              <a:t> Strategic Management Audit </a:t>
            </a:r>
            <a:endParaRPr lang="ar-EG" sz="3000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7620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622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153400" cy="1143000"/>
          </a:xfrm>
        </p:spPr>
        <p:txBody>
          <a:bodyPr>
            <a:normAutofit/>
          </a:bodyPr>
          <a:lstStyle/>
          <a:p>
            <a:r>
              <a:rPr lang="ar-EG" sz="3000" dirty="0"/>
              <a:t/>
            </a:r>
            <a:br>
              <a:rPr lang="ar-EG" sz="3000" dirty="0"/>
            </a:br>
            <a:r>
              <a:rPr lang="fr-FR" sz="3000" b="1" dirty="0" err="1"/>
              <a:t>External</a:t>
            </a:r>
            <a:r>
              <a:rPr lang="fr-FR" sz="3000" b="1" dirty="0"/>
              <a:t> Strategic Management Audit </a:t>
            </a:r>
            <a:endParaRPr lang="ar-EG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924800" cy="4232429"/>
          </a:xfrm>
        </p:spPr>
        <p:txBody>
          <a:bodyPr>
            <a:normAutofit/>
          </a:bodyPr>
          <a:lstStyle/>
          <a:p>
            <a:pPr marL="68580" indent="0" algn="just" rtl="0">
              <a:buNone/>
            </a:pPr>
            <a:r>
              <a:rPr lang="en-US" sz="3000" b="1" dirty="0" smtClean="0">
                <a:solidFill>
                  <a:srgbClr val="FF0000"/>
                </a:solidFill>
              </a:rPr>
              <a:t>Purpose </a:t>
            </a:r>
            <a:r>
              <a:rPr lang="en-US" sz="3000" b="1" dirty="0">
                <a:solidFill>
                  <a:srgbClr val="FF0000"/>
                </a:solidFill>
              </a:rPr>
              <a:t>of an External Audit </a:t>
            </a:r>
          </a:p>
          <a:p>
            <a:pPr algn="just" rtl="0"/>
            <a:r>
              <a:rPr lang="en-US" sz="3000" b="1" dirty="0" smtClean="0"/>
              <a:t>Focusing </a:t>
            </a:r>
            <a:r>
              <a:rPr lang="en-US" sz="3000" b="1" dirty="0"/>
              <a:t>on identifying and evaluating trends and events beyond the control of a single </a:t>
            </a:r>
            <a:r>
              <a:rPr lang="en-US" sz="3000" b="1" dirty="0" smtClean="0"/>
              <a:t>firm. </a:t>
            </a:r>
            <a:endParaRPr lang="en-US" sz="3000" dirty="0"/>
          </a:p>
          <a:p>
            <a:pPr algn="just" rtl="0"/>
            <a:r>
              <a:rPr lang="en-US" sz="3000" b="1" dirty="0" smtClean="0"/>
              <a:t>Developing </a:t>
            </a:r>
            <a:r>
              <a:rPr lang="en-US" sz="3000" b="1" dirty="0"/>
              <a:t>a </a:t>
            </a:r>
            <a:r>
              <a:rPr lang="en-US" sz="3000" b="1" dirty="0" smtClean="0"/>
              <a:t>list of the following:</a:t>
            </a:r>
          </a:p>
          <a:p>
            <a:pPr marL="68580" indent="0" algn="just" rtl="0">
              <a:buNone/>
            </a:pPr>
            <a:r>
              <a:rPr lang="en-US" sz="3000" b="1" dirty="0" smtClean="0"/>
              <a:t> - opportunities </a:t>
            </a:r>
            <a:r>
              <a:rPr lang="en-US" sz="3000" b="1" dirty="0"/>
              <a:t>that could benefit a </a:t>
            </a:r>
            <a:r>
              <a:rPr lang="en-US" sz="3000" b="1" dirty="0" smtClean="0"/>
              <a:t>firm. </a:t>
            </a:r>
            <a:endParaRPr lang="en-US" sz="3000" dirty="0"/>
          </a:p>
          <a:p>
            <a:pPr marL="68580" indent="0" algn="just" rtl="0">
              <a:buNone/>
            </a:pPr>
            <a:r>
              <a:rPr lang="en-US" sz="3000" b="1" dirty="0" smtClean="0"/>
              <a:t> - threats </a:t>
            </a:r>
            <a:r>
              <a:rPr lang="en-US" sz="3000" b="1" dirty="0"/>
              <a:t>that should be </a:t>
            </a:r>
            <a:r>
              <a:rPr lang="en-US" sz="3000" b="1" dirty="0" smtClean="0"/>
              <a:t>avoided.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3146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153400" cy="1143000"/>
          </a:xfrm>
        </p:spPr>
        <p:txBody>
          <a:bodyPr>
            <a:normAutofit/>
          </a:bodyPr>
          <a:lstStyle/>
          <a:p>
            <a:r>
              <a:rPr lang="fr-FR" sz="3200" b="1" dirty="0" err="1" smtClean="0"/>
              <a:t>Identifying</a:t>
            </a:r>
            <a:r>
              <a:rPr lang="fr-FR" sz="3200" b="1" dirty="0" smtClean="0"/>
              <a:t> </a:t>
            </a:r>
            <a:r>
              <a:rPr lang="fr-FR" sz="3200" b="1" dirty="0" err="1"/>
              <a:t>Environmental</a:t>
            </a:r>
            <a:r>
              <a:rPr lang="fr-FR" sz="3200" b="1" dirty="0"/>
              <a:t> Variables </a:t>
            </a:r>
            <a:endParaRPr lang="ar-EG" sz="3000" b="1" dirty="0"/>
          </a:p>
        </p:txBody>
      </p:sp>
      <p:pic>
        <p:nvPicPr>
          <p:cNvPr id="205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9200"/>
            <a:ext cx="7467599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1524000" y="3124200"/>
            <a:ext cx="1143000" cy="53340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6" name="Rectangle 5"/>
          <p:cNvSpPr/>
          <p:nvPr/>
        </p:nvSpPr>
        <p:spPr>
          <a:xfrm>
            <a:off x="3855720" y="2133600"/>
            <a:ext cx="1219200" cy="381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900" b="1" dirty="0" smtClean="0">
                <a:solidFill>
                  <a:schemeClr val="tx1"/>
                </a:solidFill>
              </a:rPr>
              <a:t>Societal environment</a:t>
            </a:r>
            <a:endParaRPr lang="ar-EG" sz="9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6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ar-EG" sz="3000" dirty="0"/>
              <a:t/>
            </a:r>
            <a:br>
              <a:rPr lang="ar-EG" sz="3000" dirty="0"/>
            </a:br>
            <a:r>
              <a:rPr lang="fr-FR" sz="3000" b="1" dirty="0" err="1" smtClean="0"/>
              <a:t>External</a:t>
            </a:r>
            <a:r>
              <a:rPr lang="fr-FR" sz="3000" b="1" dirty="0" smtClean="0"/>
              <a:t> (</a:t>
            </a:r>
            <a:r>
              <a:rPr lang="fr-FR" sz="3000" b="1" dirty="0" err="1" smtClean="0"/>
              <a:t>Societal</a:t>
            </a:r>
            <a:r>
              <a:rPr lang="fr-FR" sz="3000" b="1" dirty="0" smtClean="0"/>
              <a:t>) </a:t>
            </a:r>
            <a:r>
              <a:rPr lang="fr-FR" sz="3000" b="1" dirty="0"/>
              <a:t>Strategic Management Audit </a:t>
            </a:r>
            <a:endParaRPr lang="ar-EG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924800" cy="4876800"/>
          </a:xfrm>
        </p:spPr>
        <p:txBody>
          <a:bodyPr>
            <a:normAutofit fontScale="70000" lnSpcReduction="20000"/>
          </a:bodyPr>
          <a:lstStyle/>
          <a:p>
            <a:endParaRPr lang="ar-EG" sz="4000" dirty="0"/>
          </a:p>
          <a:p>
            <a:pPr marL="68580" indent="0" algn="l" rtl="0">
              <a:buNone/>
            </a:pPr>
            <a:r>
              <a:rPr lang="en-US" sz="4000" b="1" dirty="0"/>
              <a:t>It includes general forces “</a:t>
            </a:r>
            <a:r>
              <a:rPr lang="en-US" sz="4000" b="1" dirty="0">
                <a:solidFill>
                  <a:srgbClr val="FF0000"/>
                </a:solidFill>
              </a:rPr>
              <a:t>PEST</a:t>
            </a:r>
            <a:r>
              <a:rPr lang="en-US" sz="4000" b="1" dirty="0"/>
              <a:t>” </a:t>
            </a:r>
            <a:r>
              <a:rPr lang="en-US" sz="4000" b="1" dirty="0" smtClean="0"/>
              <a:t>:</a:t>
            </a:r>
          </a:p>
          <a:p>
            <a:pPr algn="just" rtl="0"/>
            <a:r>
              <a:rPr lang="en-US" sz="4000" b="1" dirty="0">
                <a:solidFill>
                  <a:srgbClr val="FF0000"/>
                </a:solidFill>
              </a:rPr>
              <a:t>P</a:t>
            </a:r>
            <a:r>
              <a:rPr lang="en-US" sz="4000" dirty="0" smtClean="0"/>
              <a:t>olitical-legal </a:t>
            </a:r>
            <a:r>
              <a:rPr lang="en-US" sz="4000" dirty="0"/>
              <a:t>forces that allocate power and provide constraining and protecting laws and regulation </a:t>
            </a:r>
          </a:p>
          <a:p>
            <a:pPr algn="just" rtl="0"/>
            <a:r>
              <a:rPr lang="en-US" sz="4000" b="1" dirty="0" smtClean="0">
                <a:solidFill>
                  <a:srgbClr val="FF0000"/>
                </a:solidFill>
              </a:rPr>
              <a:t>E</a:t>
            </a:r>
            <a:r>
              <a:rPr lang="en-US" sz="4000" dirty="0" smtClean="0"/>
              <a:t>conomic </a:t>
            </a:r>
            <a:r>
              <a:rPr lang="en-US" sz="4000" dirty="0"/>
              <a:t>forces that regulate the exchange of materials, money, energy and information </a:t>
            </a:r>
          </a:p>
          <a:p>
            <a:pPr algn="just" rtl="0"/>
            <a:r>
              <a:rPr lang="en-US" sz="4000" b="1" dirty="0" smtClean="0">
                <a:solidFill>
                  <a:srgbClr val="FF0000"/>
                </a:solidFill>
              </a:rPr>
              <a:t>S</a:t>
            </a:r>
            <a:r>
              <a:rPr lang="en-US" sz="4000" dirty="0" smtClean="0"/>
              <a:t>ociocultural </a:t>
            </a:r>
            <a:r>
              <a:rPr lang="en-US" sz="4000" dirty="0"/>
              <a:t>forces that regulate the values and customs of society </a:t>
            </a:r>
          </a:p>
          <a:p>
            <a:pPr algn="just" rtl="0"/>
            <a:r>
              <a:rPr lang="en-US" sz="4000" b="1" dirty="0" smtClean="0">
                <a:solidFill>
                  <a:srgbClr val="FF0000"/>
                </a:solidFill>
              </a:rPr>
              <a:t>T</a:t>
            </a:r>
            <a:r>
              <a:rPr lang="en-US" sz="4000" dirty="0" smtClean="0"/>
              <a:t>echnological </a:t>
            </a:r>
            <a:r>
              <a:rPr lang="en-US" sz="4000" dirty="0"/>
              <a:t>forces that generate problem-solving inventions </a:t>
            </a:r>
          </a:p>
          <a:p>
            <a:pPr marL="68580" indent="0" algn="l" rtl="0">
              <a:buNone/>
            </a:pPr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299235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0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ar-EG" sz="3000" dirty="0"/>
              <a:t/>
            </a:r>
            <a:br>
              <a:rPr lang="ar-EG" sz="3000" dirty="0"/>
            </a:br>
            <a:r>
              <a:rPr lang="fr-FR" sz="3000" b="1" dirty="0" err="1"/>
              <a:t>External</a:t>
            </a:r>
            <a:r>
              <a:rPr lang="fr-FR" sz="3000" b="1" dirty="0"/>
              <a:t> </a:t>
            </a:r>
            <a:r>
              <a:rPr lang="fr-FR" sz="3000" b="1" dirty="0" smtClean="0"/>
              <a:t>(</a:t>
            </a:r>
            <a:r>
              <a:rPr lang="fr-FR" sz="3000" b="1" dirty="0" err="1" smtClean="0"/>
              <a:t>Societal</a:t>
            </a:r>
            <a:r>
              <a:rPr lang="fr-FR" sz="3000" b="1" dirty="0" smtClean="0"/>
              <a:t>) Strategic </a:t>
            </a:r>
            <a:r>
              <a:rPr lang="fr-FR" sz="3000" b="1" dirty="0"/>
              <a:t>Management Audit </a:t>
            </a:r>
            <a:endParaRPr lang="ar-EG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7924800" cy="5334000"/>
          </a:xfrm>
        </p:spPr>
        <p:txBody>
          <a:bodyPr>
            <a:normAutofit/>
          </a:bodyPr>
          <a:lstStyle/>
          <a:p>
            <a:endParaRPr lang="ar-EG" sz="4000" dirty="0"/>
          </a:p>
          <a:p>
            <a:pPr marL="68580" indent="0" algn="l" rtl="0">
              <a:buNone/>
            </a:pPr>
            <a:endParaRPr lang="ar-EG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143000"/>
            <a:ext cx="8077201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134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153400" cy="1143000"/>
          </a:xfrm>
        </p:spPr>
        <p:txBody>
          <a:bodyPr>
            <a:normAutofit/>
          </a:bodyPr>
          <a:lstStyle/>
          <a:p>
            <a:r>
              <a:rPr lang="ar-EG" sz="2800" b="1" dirty="0">
                <a:latin typeface="Aharoni" panose="02010803020104030203" pitchFamily="2" charset="-79"/>
              </a:rPr>
              <a:t/>
            </a:r>
            <a:br>
              <a:rPr lang="ar-EG" sz="2800" b="1" dirty="0">
                <a:latin typeface="Aharoni" panose="02010803020104030203" pitchFamily="2" charset="-79"/>
              </a:rPr>
            </a:br>
            <a:r>
              <a:rPr lang="fr-FR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International </a:t>
            </a:r>
            <a:r>
              <a:rPr lang="fr-FR" sz="28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Societal</a:t>
            </a:r>
            <a:r>
              <a:rPr lang="fr-FR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fr-FR" sz="2800" b="1" dirty="0" err="1">
                <a:latin typeface="Aharoni" panose="02010803020104030203" pitchFamily="2" charset="-79"/>
                <a:cs typeface="Aharoni" panose="02010803020104030203" pitchFamily="2" charset="-79"/>
              </a:rPr>
              <a:t>Considerations</a:t>
            </a:r>
            <a:r>
              <a:rPr lang="fr-FR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ar-EG" sz="3000" b="1" dirty="0">
              <a:latin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077200" cy="5105400"/>
          </a:xfrm>
        </p:spPr>
        <p:txBody>
          <a:bodyPr>
            <a:normAutofit fontScale="40000" lnSpcReduction="20000"/>
          </a:bodyPr>
          <a:lstStyle/>
          <a:p>
            <a:pPr algn="just" rtl="0"/>
            <a:r>
              <a:rPr lang="en-US" sz="5900" b="1" dirty="0" smtClean="0"/>
              <a:t>Differences </a:t>
            </a:r>
            <a:r>
              <a:rPr lang="en-US" sz="5900" b="1" dirty="0"/>
              <a:t>in societal environments strongly affect the ways in which a Multi-National Corporation (</a:t>
            </a:r>
            <a:r>
              <a:rPr lang="en-US" sz="5900" b="1" dirty="0" err="1" smtClean="0"/>
              <a:t>MNC</a:t>
            </a:r>
            <a:r>
              <a:rPr lang="en-US" sz="5900" b="1" dirty="0" smtClean="0"/>
              <a:t>)conducts </a:t>
            </a:r>
            <a:r>
              <a:rPr lang="en-US" sz="5900" b="1" dirty="0"/>
              <a:t>its marketing, financial, manufacturing, and other functional activities. </a:t>
            </a:r>
            <a:endParaRPr lang="en-US" sz="5900" b="1" dirty="0" smtClean="0"/>
          </a:p>
          <a:p>
            <a:pPr marL="68580" indent="0" algn="just" rtl="0">
              <a:buNone/>
            </a:pPr>
            <a:endParaRPr lang="en-US" sz="5900" b="1" dirty="0"/>
          </a:p>
          <a:p>
            <a:pPr algn="just" rtl="0"/>
            <a:r>
              <a:rPr lang="en-US" sz="5900" b="1" dirty="0" smtClean="0">
                <a:solidFill>
                  <a:srgbClr val="FF0000"/>
                </a:solidFill>
              </a:rPr>
              <a:t>For </a:t>
            </a:r>
            <a:r>
              <a:rPr lang="en-US" sz="5900" b="1" dirty="0">
                <a:solidFill>
                  <a:srgbClr val="FF0000"/>
                </a:solidFill>
              </a:rPr>
              <a:t>example, </a:t>
            </a:r>
            <a:r>
              <a:rPr lang="en-US" sz="5900" b="1" dirty="0" smtClean="0">
                <a:solidFill>
                  <a:srgbClr val="FF0000"/>
                </a:solidFill>
              </a:rPr>
              <a:t>In </a:t>
            </a:r>
            <a:r>
              <a:rPr lang="en-US" sz="5900" b="1" dirty="0">
                <a:solidFill>
                  <a:srgbClr val="FF0000"/>
                </a:solidFill>
              </a:rPr>
              <a:t>terms of sociocultural variables, many Asian cultures (especially China) are less concerned with the value of human rights than </a:t>
            </a:r>
            <a:r>
              <a:rPr lang="en-US" sz="5900" b="1" dirty="0" smtClean="0">
                <a:solidFill>
                  <a:srgbClr val="FF0000"/>
                </a:solidFill>
              </a:rPr>
              <a:t>in European </a:t>
            </a:r>
            <a:r>
              <a:rPr lang="en-US" sz="5900" b="1" dirty="0">
                <a:solidFill>
                  <a:srgbClr val="FF0000"/>
                </a:solidFill>
              </a:rPr>
              <a:t>and North American cultures. </a:t>
            </a:r>
            <a:endParaRPr lang="en-US" sz="5900" b="1" dirty="0" smtClean="0">
              <a:solidFill>
                <a:srgbClr val="FF0000"/>
              </a:solidFill>
            </a:endParaRPr>
          </a:p>
          <a:p>
            <a:pPr marL="68580" indent="0" algn="just" rtl="0">
              <a:buNone/>
            </a:pPr>
            <a:endParaRPr lang="en-US" sz="5900" b="1" dirty="0">
              <a:solidFill>
                <a:srgbClr val="FF0000"/>
              </a:solidFill>
            </a:endParaRPr>
          </a:p>
          <a:p>
            <a:pPr algn="just" rtl="0"/>
            <a:r>
              <a:rPr lang="en-US" sz="5900" b="1" dirty="0" smtClean="0"/>
              <a:t>Before </a:t>
            </a:r>
            <a:r>
              <a:rPr lang="en-US" sz="5900" b="1" dirty="0"/>
              <a:t>planning its strategy for a particular international location, a company must scan the particular country environments </a:t>
            </a:r>
            <a:r>
              <a:rPr lang="en-US" sz="5900" b="1" dirty="0" smtClean="0"/>
              <a:t>for </a:t>
            </a:r>
            <a:r>
              <a:rPr lang="en-US" sz="5900" b="1" dirty="0"/>
              <a:t>opportunities and threats, and compare these with its own strengths and weaknesses. </a:t>
            </a:r>
          </a:p>
          <a:p>
            <a:pPr marL="68580" indent="0" algn="l" rtl="0">
              <a:buNone/>
            </a:pPr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248398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8382000" cy="1143000"/>
          </a:xfrm>
        </p:spPr>
        <p:txBody>
          <a:bodyPr>
            <a:noAutofit/>
          </a:bodyPr>
          <a:lstStyle/>
          <a:p>
            <a:r>
              <a:rPr lang="ar-EG" sz="3000" b="1" dirty="0">
                <a:latin typeface="Aharoni" panose="02010803020104030203" pitchFamily="2" charset="-79"/>
              </a:rPr>
              <a:t/>
            </a:r>
            <a:br>
              <a:rPr lang="ar-EG" sz="3000" b="1" dirty="0">
                <a:latin typeface="Aharoni" panose="02010803020104030203" pitchFamily="2" charset="-79"/>
              </a:rPr>
            </a:br>
            <a:r>
              <a:rPr lang="ar-EG" sz="3000" b="1" dirty="0"/>
              <a:t/>
            </a:r>
            <a:br>
              <a:rPr lang="ar-EG" sz="3000" b="1" dirty="0"/>
            </a:br>
            <a:r>
              <a:rPr lang="fr-FR" sz="3000" b="1" dirty="0" err="1"/>
              <a:t>Task</a:t>
            </a:r>
            <a:r>
              <a:rPr lang="fr-FR" sz="3000" b="1" dirty="0"/>
              <a:t> </a:t>
            </a:r>
            <a:r>
              <a:rPr lang="fr-FR" sz="3000" b="1" dirty="0" err="1"/>
              <a:t>environment</a:t>
            </a:r>
            <a:r>
              <a:rPr lang="fr-FR" sz="3000" b="1" dirty="0"/>
              <a:t> </a:t>
            </a:r>
            <a:r>
              <a:rPr lang="fr-FR" sz="30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ar-EG" sz="3000" b="1" dirty="0">
              <a:latin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077200" cy="5105400"/>
          </a:xfrm>
        </p:spPr>
        <p:txBody>
          <a:bodyPr>
            <a:normAutofit/>
          </a:bodyPr>
          <a:lstStyle/>
          <a:p>
            <a:pPr marL="68580" indent="0" algn="l" rtl="0">
              <a:buNone/>
            </a:pPr>
            <a:r>
              <a:rPr lang="en-US" b="1" dirty="0" smtClean="0"/>
              <a:t>Groups </a:t>
            </a:r>
            <a:r>
              <a:rPr lang="en-US" b="1" dirty="0"/>
              <a:t>that directly affect a corporation and are affected by the corporation: </a:t>
            </a:r>
          </a:p>
          <a:p>
            <a:pPr algn="l" rtl="0"/>
            <a:r>
              <a:rPr lang="fr-FR" dirty="0" err="1" smtClean="0"/>
              <a:t>Government</a:t>
            </a:r>
            <a:r>
              <a:rPr lang="fr-FR" dirty="0" smtClean="0"/>
              <a:t> </a:t>
            </a:r>
            <a:endParaRPr lang="fr-FR" dirty="0"/>
          </a:p>
          <a:p>
            <a:pPr algn="l" rtl="0"/>
            <a:r>
              <a:rPr lang="fr-FR" dirty="0" smtClean="0"/>
              <a:t>Local </a:t>
            </a:r>
            <a:r>
              <a:rPr lang="fr-FR" dirty="0" err="1"/>
              <a:t>communities</a:t>
            </a:r>
            <a:r>
              <a:rPr lang="fr-FR" dirty="0"/>
              <a:t> </a:t>
            </a:r>
          </a:p>
          <a:p>
            <a:pPr algn="l" rtl="0"/>
            <a:r>
              <a:rPr lang="fr-FR" dirty="0" err="1" smtClean="0"/>
              <a:t>Suppliers</a:t>
            </a:r>
            <a:r>
              <a:rPr lang="fr-FR" dirty="0" smtClean="0"/>
              <a:t> </a:t>
            </a:r>
            <a:endParaRPr lang="fr-FR" dirty="0"/>
          </a:p>
          <a:p>
            <a:pPr algn="l" rtl="0"/>
            <a:r>
              <a:rPr lang="fr-FR" dirty="0" err="1" smtClean="0"/>
              <a:t>Competitors</a:t>
            </a:r>
            <a:r>
              <a:rPr lang="fr-FR" dirty="0" smtClean="0"/>
              <a:t> </a:t>
            </a:r>
            <a:endParaRPr lang="fr-FR" dirty="0"/>
          </a:p>
          <a:p>
            <a:pPr algn="l" rtl="0"/>
            <a:r>
              <a:rPr lang="fr-FR" dirty="0" err="1" smtClean="0"/>
              <a:t>Customers</a:t>
            </a:r>
            <a:r>
              <a:rPr lang="fr-FR" dirty="0" smtClean="0"/>
              <a:t> </a:t>
            </a:r>
            <a:endParaRPr lang="fr-FR" dirty="0"/>
          </a:p>
          <a:p>
            <a:pPr algn="l" rtl="0"/>
            <a:r>
              <a:rPr lang="fr-FR" dirty="0" err="1" smtClean="0"/>
              <a:t>Creditors</a:t>
            </a:r>
            <a:r>
              <a:rPr lang="fr-FR" dirty="0" smtClean="0"/>
              <a:t> </a:t>
            </a:r>
            <a:endParaRPr lang="fr-FR" dirty="0"/>
          </a:p>
          <a:p>
            <a:pPr algn="l" rtl="0"/>
            <a:r>
              <a:rPr lang="fr-FR" dirty="0" smtClean="0"/>
              <a:t>Unions </a:t>
            </a:r>
            <a:endParaRPr lang="fr-FR" dirty="0"/>
          </a:p>
          <a:p>
            <a:pPr algn="l" rtl="0"/>
            <a:r>
              <a:rPr lang="fr-FR" dirty="0" err="1" smtClean="0"/>
              <a:t>Special</a:t>
            </a:r>
            <a:r>
              <a:rPr lang="fr-FR" dirty="0" smtClean="0"/>
              <a:t> </a:t>
            </a:r>
            <a:r>
              <a:rPr lang="fr-FR" dirty="0" err="1"/>
              <a:t>interest</a:t>
            </a:r>
            <a:r>
              <a:rPr lang="fr-FR" dirty="0"/>
              <a:t> groups/</a:t>
            </a:r>
            <a:r>
              <a:rPr lang="fr-FR" dirty="0" err="1"/>
              <a:t>trade</a:t>
            </a:r>
            <a:r>
              <a:rPr lang="fr-FR" dirty="0"/>
              <a:t> associations </a:t>
            </a:r>
          </a:p>
          <a:p>
            <a:pPr marL="68580" indent="0" algn="l" rtl="0">
              <a:buNone/>
            </a:pPr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256109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1143000"/>
          </a:xfrm>
        </p:spPr>
        <p:txBody>
          <a:bodyPr>
            <a:noAutofit/>
          </a:bodyPr>
          <a:lstStyle/>
          <a:p>
            <a:r>
              <a:rPr lang="ar-EG" sz="2800" dirty="0"/>
              <a:t/>
            </a:r>
            <a:br>
              <a:rPr lang="ar-EG" sz="2800" dirty="0"/>
            </a:br>
            <a:r>
              <a:rPr lang="en-US" sz="2600" b="1" dirty="0"/>
              <a:t>Sources of External Information</a:t>
            </a:r>
            <a:r>
              <a:rPr lang="en-US" sz="2600" b="1" dirty="0" smtClean="0"/>
              <a:t>:</a:t>
            </a:r>
            <a:br>
              <a:rPr lang="en-US" sz="2600" b="1" dirty="0" smtClean="0"/>
            </a:br>
            <a:r>
              <a:rPr lang="en-US" sz="2600" b="1" dirty="0" smtClean="0"/>
              <a:t>-  </a:t>
            </a:r>
            <a:r>
              <a:rPr lang="en-US" sz="2600" b="1" dirty="0"/>
              <a:t>Unpublished Sources </a:t>
            </a:r>
            <a:endParaRPr lang="ar-EG" sz="2600" b="1" dirty="0">
              <a:latin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8077200" cy="4800600"/>
          </a:xfrm>
        </p:spPr>
        <p:txBody>
          <a:bodyPr>
            <a:normAutofit/>
          </a:bodyPr>
          <a:lstStyle/>
          <a:p>
            <a:endParaRPr lang="ar-EG" dirty="0"/>
          </a:p>
          <a:p>
            <a:endParaRPr lang="ar-EG" dirty="0"/>
          </a:p>
          <a:p>
            <a:pPr algn="l" rtl="0"/>
            <a:r>
              <a:rPr lang="fr-FR" dirty="0"/>
              <a:t>Customer </a:t>
            </a:r>
            <a:r>
              <a:rPr lang="fr-FR" dirty="0" err="1"/>
              <a:t>surveys</a:t>
            </a:r>
            <a:r>
              <a:rPr lang="fr-FR" dirty="0"/>
              <a:t> </a:t>
            </a:r>
          </a:p>
          <a:p>
            <a:pPr algn="l" rtl="0"/>
            <a:r>
              <a:rPr lang="fr-FR" dirty="0" err="1" smtClean="0"/>
              <a:t>Market</a:t>
            </a:r>
            <a:r>
              <a:rPr lang="fr-FR" dirty="0" smtClean="0"/>
              <a:t> </a:t>
            </a:r>
            <a:r>
              <a:rPr lang="fr-FR" dirty="0" err="1"/>
              <a:t>research</a:t>
            </a:r>
            <a:r>
              <a:rPr lang="fr-FR" dirty="0"/>
              <a:t> </a:t>
            </a:r>
          </a:p>
          <a:p>
            <a:pPr algn="l" rtl="0"/>
            <a:r>
              <a:rPr lang="en-US" dirty="0" smtClean="0"/>
              <a:t>Speeches </a:t>
            </a:r>
            <a:r>
              <a:rPr lang="en-US" dirty="0"/>
              <a:t>at professional or shareholder meetings </a:t>
            </a:r>
          </a:p>
          <a:p>
            <a:pPr algn="l" rtl="0"/>
            <a:r>
              <a:rPr lang="fr-FR" dirty="0" err="1" smtClean="0"/>
              <a:t>Television</a:t>
            </a:r>
            <a:r>
              <a:rPr lang="fr-FR" dirty="0" smtClean="0"/>
              <a:t> </a:t>
            </a:r>
            <a:r>
              <a:rPr lang="fr-FR" dirty="0"/>
              <a:t>programs </a:t>
            </a:r>
          </a:p>
          <a:p>
            <a:pPr algn="l" rtl="0"/>
            <a:r>
              <a:rPr lang="en-US" dirty="0" smtClean="0"/>
              <a:t>Interviews </a:t>
            </a:r>
            <a:r>
              <a:rPr lang="en-US" dirty="0"/>
              <a:t>and conversations with stakeholders </a:t>
            </a:r>
          </a:p>
        </p:txBody>
      </p:sp>
    </p:spTree>
    <p:extLst>
      <p:ext uri="{BB962C8B-B14F-4D97-AF65-F5344CB8AC3E}">
        <p14:creationId xmlns:p14="http://schemas.microsoft.com/office/powerpoint/2010/main" val="270192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1143000"/>
          </a:xfrm>
        </p:spPr>
        <p:txBody>
          <a:bodyPr>
            <a:noAutofit/>
          </a:bodyPr>
          <a:lstStyle/>
          <a:p>
            <a:r>
              <a:rPr lang="ar-EG" sz="2800" dirty="0"/>
              <a:t/>
            </a:r>
            <a:br>
              <a:rPr lang="ar-EG" sz="2800" dirty="0"/>
            </a:br>
            <a:r>
              <a:rPr lang="en-US" sz="2600" b="1" dirty="0"/>
              <a:t>Sources of External Information</a:t>
            </a:r>
            <a:r>
              <a:rPr lang="en-US" sz="2600" b="1" dirty="0" smtClean="0"/>
              <a:t>:</a:t>
            </a:r>
            <a:br>
              <a:rPr lang="en-US" sz="2600" b="1" dirty="0" smtClean="0"/>
            </a:br>
            <a:r>
              <a:rPr lang="en-US" sz="2600" b="1" dirty="0" smtClean="0"/>
              <a:t> - Published </a:t>
            </a:r>
            <a:r>
              <a:rPr lang="en-US" sz="2600" b="1" dirty="0"/>
              <a:t>Sources </a:t>
            </a:r>
            <a:endParaRPr lang="ar-EG" sz="2600" b="1" dirty="0">
              <a:latin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4800600"/>
          </a:xfrm>
        </p:spPr>
        <p:txBody>
          <a:bodyPr>
            <a:normAutofit lnSpcReduction="10000"/>
          </a:bodyPr>
          <a:lstStyle/>
          <a:p>
            <a:pPr marL="68580" indent="0" algn="l" rtl="0">
              <a:lnSpc>
                <a:spcPct val="120000"/>
              </a:lnSpc>
              <a:buNone/>
            </a:pPr>
            <a:endParaRPr lang="ar-EG" dirty="0"/>
          </a:p>
          <a:p>
            <a:pPr algn="l" rtl="0">
              <a:lnSpc>
                <a:spcPct val="120000"/>
              </a:lnSpc>
            </a:pPr>
            <a:r>
              <a:rPr lang="fr-FR" dirty="0" err="1"/>
              <a:t>Periodicals</a:t>
            </a:r>
            <a:r>
              <a:rPr lang="fr-FR" dirty="0"/>
              <a:t> </a:t>
            </a:r>
          </a:p>
          <a:p>
            <a:pPr algn="l" rtl="0">
              <a:lnSpc>
                <a:spcPct val="120000"/>
              </a:lnSpc>
            </a:pPr>
            <a:r>
              <a:rPr lang="fr-FR" dirty="0" err="1" smtClean="0"/>
              <a:t>Journals</a:t>
            </a:r>
            <a:r>
              <a:rPr lang="fr-FR" dirty="0" smtClean="0"/>
              <a:t> </a:t>
            </a:r>
            <a:endParaRPr lang="fr-FR" dirty="0"/>
          </a:p>
          <a:p>
            <a:pPr algn="l" rtl="0">
              <a:lnSpc>
                <a:spcPct val="120000"/>
              </a:lnSpc>
            </a:pPr>
            <a:r>
              <a:rPr lang="fr-FR" dirty="0" smtClean="0"/>
              <a:t>Reports </a:t>
            </a:r>
            <a:endParaRPr lang="fr-FR" dirty="0"/>
          </a:p>
          <a:p>
            <a:pPr algn="l" rtl="0">
              <a:lnSpc>
                <a:spcPct val="120000"/>
              </a:lnSpc>
            </a:pPr>
            <a:r>
              <a:rPr lang="fr-FR" dirty="0" err="1" smtClean="0"/>
              <a:t>Government</a:t>
            </a:r>
            <a:r>
              <a:rPr lang="fr-FR" dirty="0" smtClean="0"/>
              <a:t> </a:t>
            </a:r>
            <a:r>
              <a:rPr lang="fr-FR" dirty="0"/>
              <a:t>documents </a:t>
            </a:r>
          </a:p>
          <a:p>
            <a:pPr algn="l" rtl="0">
              <a:lnSpc>
                <a:spcPct val="120000"/>
              </a:lnSpc>
            </a:pPr>
            <a:r>
              <a:rPr lang="fr-FR" dirty="0" smtClean="0"/>
              <a:t>Abstracts </a:t>
            </a:r>
            <a:endParaRPr lang="fr-FR" dirty="0"/>
          </a:p>
          <a:p>
            <a:pPr algn="l" rtl="0">
              <a:lnSpc>
                <a:spcPct val="120000"/>
              </a:lnSpc>
            </a:pPr>
            <a:r>
              <a:rPr lang="fr-FR" dirty="0" smtClean="0"/>
              <a:t>Books </a:t>
            </a:r>
            <a:endParaRPr lang="fr-FR" dirty="0"/>
          </a:p>
          <a:p>
            <a:pPr algn="l" rtl="0">
              <a:lnSpc>
                <a:spcPct val="120000"/>
              </a:lnSpc>
            </a:pPr>
            <a:r>
              <a:rPr lang="fr-FR" dirty="0" smtClean="0"/>
              <a:t>Directories </a:t>
            </a:r>
            <a:endParaRPr lang="fr-FR" dirty="0"/>
          </a:p>
          <a:p>
            <a:pPr algn="l" rtl="0">
              <a:lnSpc>
                <a:spcPct val="120000"/>
              </a:lnSpc>
            </a:pPr>
            <a:r>
              <a:rPr lang="fr-FR" dirty="0" err="1" smtClean="0"/>
              <a:t>Newspapers</a:t>
            </a:r>
            <a:r>
              <a:rPr lang="fr-FR" dirty="0" smtClean="0"/>
              <a:t> </a:t>
            </a:r>
            <a:endParaRPr lang="fr-FR" dirty="0"/>
          </a:p>
          <a:p>
            <a:pPr algn="l" rtl="0">
              <a:lnSpc>
                <a:spcPct val="120000"/>
              </a:lnSpc>
            </a:pPr>
            <a:r>
              <a:rPr lang="fr-FR" dirty="0" err="1" smtClean="0"/>
              <a:t>Manuals</a:t>
            </a:r>
            <a:r>
              <a:rPr lang="fr-FR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338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1143000"/>
          </a:xfrm>
        </p:spPr>
        <p:txBody>
          <a:bodyPr>
            <a:noAutofit/>
          </a:bodyPr>
          <a:lstStyle/>
          <a:p>
            <a:pPr rtl="0"/>
            <a:r>
              <a:rPr lang="en-US" sz="2800" b="1" dirty="0"/>
              <a:t>Sources of External Information: Web Sites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4800600"/>
          </a:xfrm>
        </p:spPr>
        <p:txBody>
          <a:bodyPr>
            <a:normAutofit/>
          </a:bodyPr>
          <a:lstStyle/>
          <a:p>
            <a:pPr marL="68580" indent="0" algn="l" rtl="0">
              <a:lnSpc>
                <a:spcPct val="120000"/>
              </a:lnSpc>
              <a:buNone/>
            </a:pPr>
            <a:endParaRPr lang="ar-EG" dirty="0"/>
          </a:p>
          <a:p>
            <a:endParaRPr lang="ar-EG" dirty="0"/>
          </a:p>
          <a:p>
            <a:pPr algn="just" rtl="0"/>
            <a:r>
              <a:rPr lang="fr-FR" dirty="0" smtClean="0"/>
              <a:t>http</a:t>
            </a:r>
            <a:r>
              <a:rPr lang="fr-FR" dirty="0"/>
              <a:t>://</a:t>
            </a:r>
            <a:r>
              <a:rPr lang="fr-FR" dirty="0" err="1"/>
              <a:t>marketwatch.multexinvestor.com</a:t>
            </a:r>
            <a:r>
              <a:rPr lang="fr-FR" dirty="0"/>
              <a:t> </a:t>
            </a:r>
          </a:p>
          <a:p>
            <a:pPr algn="just" rtl="0"/>
            <a:r>
              <a:rPr lang="fr-FR" dirty="0" smtClean="0"/>
              <a:t>http</a:t>
            </a:r>
            <a:r>
              <a:rPr lang="fr-FR" dirty="0"/>
              <a:t>://</a:t>
            </a:r>
            <a:r>
              <a:rPr lang="fr-FR" dirty="0" err="1"/>
              <a:t>moneycentral.msn.com</a:t>
            </a:r>
            <a:r>
              <a:rPr lang="fr-FR" dirty="0"/>
              <a:t> </a:t>
            </a:r>
          </a:p>
          <a:p>
            <a:pPr algn="just" rtl="0"/>
            <a:r>
              <a:rPr lang="fr-FR" dirty="0" smtClean="0"/>
              <a:t>http</a:t>
            </a:r>
            <a:r>
              <a:rPr lang="fr-FR" dirty="0"/>
              <a:t>://</a:t>
            </a:r>
            <a:r>
              <a:rPr lang="fr-FR" dirty="0" err="1"/>
              <a:t>finance.yahoo.com</a:t>
            </a:r>
            <a:r>
              <a:rPr lang="fr-FR" dirty="0"/>
              <a:t> </a:t>
            </a:r>
          </a:p>
          <a:p>
            <a:pPr algn="just" rtl="0"/>
            <a:r>
              <a:rPr lang="fr-FR" dirty="0" err="1" smtClean="0"/>
              <a:t>www.clearstation.com</a:t>
            </a:r>
            <a:r>
              <a:rPr lang="fr-FR" dirty="0" smtClean="0"/>
              <a:t> </a:t>
            </a:r>
            <a:endParaRPr lang="fr-FR" dirty="0"/>
          </a:p>
          <a:p>
            <a:pPr algn="just" rtl="0"/>
            <a:r>
              <a:rPr lang="fr-FR" dirty="0" smtClean="0"/>
              <a:t>https</a:t>
            </a:r>
            <a:r>
              <a:rPr lang="fr-FR" dirty="0"/>
              <a:t>://</a:t>
            </a:r>
            <a:r>
              <a:rPr lang="fr-FR" dirty="0" err="1"/>
              <a:t>us.etrade.com</a:t>
            </a:r>
            <a:r>
              <a:rPr lang="fr-FR" dirty="0"/>
              <a:t>/e/t/</a:t>
            </a:r>
            <a:r>
              <a:rPr lang="fr-FR" dirty="0" err="1"/>
              <a:t>invest</a:t>
            </a:r>
            <a:r>
              <a:rPr lang="fr-FR" dirty="0"/>
              <a:t>/</a:t>
            </a:r>
            <a:r>
              <a:rPr lang="fr-FR" dirty="0" err="1"/>
              <a:t>markets</a:t>
            </a:r>
            <a:r>
              <a:rPr lang="fr-FR" dirty="0"/>
              <a:t> </a:t>
            </a:r>
          </a:p>
          <a:p>
            <a:pPr algn="just" rtl="0"/>
            <a:r>
              <a:rPr lang="fr-FR" dirty="0" err="1" smtClean="0"/>
              <a:t>www.hoovers.com</a:t>
            </a:r>
            <a:r>
              <a:rPr lang="fr-FR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345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8077200" cy="1143000"/>
          </a:xfrm>
        </p:spPr>
        <p:txBody>
          <a:bodyPr>
            <a:normAutofit/>
          </a:bodyPr>
          <a:lstStyle/>
          <a:p>
            <a:r>
              <a:rPr lang="fr-FR" sz="3000" b="1" dirty="0" err="1"/>
              <a:t>Forecasting</a:t>
            </a:r>
            <a:r>
              <a:rPr lang="fr-FR" sz="3000" b="1" dirty="0"/>
              <a:t> Tools and Techniques </a:t>
            </a:r>
            <a:br>
              <a:rPr lang="fr-FR" sz="3000" b="1" dirty="0"/>
            </a:br>
            <a:endParaRPr lang="ar-EG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01000" cy="5257800"/>
          </a:xfrm>
        </p:spPr>
        <p:txBody>
          <a:bodyPr>
            <a:normAutofit fontScale="85000" lnSpcReduction="20000"/>
          </a:bodyPr>
          <a:lstStyle/>
          <a:p>
            <a:endParaRPr lang="ar-EG" dirty="0"/>
          </a:p>
          <a:p>
            <a:pPr marL="68580" indent="0" algn="l" rtl="0">
              <a:buNone/>
            </a:pPr>
            <a:r>
              <a:rPr lang="en-US" b="1" dirty="0" smtClean="0"/>
              <a:t>Forecasts </a:t>
            </a:r>
            <a:r>
              <a:rPr lang="en-US" b="1" dirty="0"/>
              <a:t>are educated assumptions about future trends and events </a:t>
            </a:r>
          </a:p>
          <a:p>
            <a:pPr algn="l" rtl="0"/>
            <a:r>
              <a:rPr lang="en-US" b="1" u="sng" dirty="0" smtClean="0"/>
              <a:t>Quantitative </a:t>
            </a:r>
            <a:r>
              <a:rPr lang="en-US" b="1" u="sng" dirty="0"/>
              <a:t>techniques </a:t>
            </a:r>
            <a:r>
              <a:rPr lang="en-US" b="1" dirty="0"/>
              <a:t>– </a:t>
            </a:r>
            <a:r>
              <a:rPr lang="en-US" dirty="0"/>
              <a:t>most appropriate when historical data is available and there is a constant </a:t>
            </a:r>
            <a:r>
              <a:rPr lang="en-US" dirty="0" smtClean="0"/>
              <a:t>relationship</a:t>
            </a:r>
            <a:r>
              <a:rPr lang="en-US" b="1" dirty="0"/>
              <a:t>.</a:t>
            </a:r>
          </a:p>
          <a:p>
            <a:pPr algn="l" rtl="0"/>
            <a:r>
              <a:rPr lang="fr-FR" b="1" u="sng" dirty="0" smtClean="0"/>
              <a:t>Qualitative </a:t>
            </a:r>
            <a:r>
              <a:rPr lang="fr-FR" b="1" u="sng" dirty="0"/>
              <a:t>techniques </a:t>
            </a:r>
          </a:p>
          <a:p>
            <a:pPr marL="396875" indent="-46038" algn="l" rtl="0">
              <a:buNone/>
            </a:pPr>
            <a:r>
              <a:rPr lang="en-US" dirty="0"/>
              <a:t>Qualitative analysis uses subjective judgment to analyze </a:t>
            </a:r>
            <a:r>
              <a:rPr lang="en-US" dirty="0" smtClean="0"/>
              <a:t>non-quantifiable </a:t>
            </a:r>
            <a:r>
              <a:rPr lang="en-US" dirty="0"/>
              <a:t>information, such as management expertise, industry cycles, strength of research and development, and labor relations. </a:t>
            </a:r>
            <a:r>
              <a:rPr lang="en-US" b="1" dirty="0" smtClean="0"/>
              <a:t>Qualitative tools</a:t>
            </a:r>
            <a:r>
              <a:rPr lang="en-US" dirty="0" smtClean="0"/>
              <a:t> represent </a:t>
            </a:r>
            <a:r>
              <a:rPr lang="en-US" dirty="0"/>
              <a:t>opinions or feelings and cannot be represented by a numerical </a:t>
            </a:r>
            <a:r>
              <a:rPr lang="en-US" dirty="0" smtClean="0"/>
              <a:t>statistics.</a:t>
            </a:r>
            <a:endParaRPr lang="en-US" dirty="0"/>
          </a:p>
          <a:p>
            <a:pPr algn="l" rtl="0"/>
            <a:r>
              <a:rPr lang="en-US" b="1" dirty="0"/>
              <a:t>Qualitative analysis contrasts with </a:t>
            </a:r>
            <a:r>
              <a:rPr lang="en-US" b="1" dirty="0">
                <a:hlinkClick r:id="rId2"/>
              </a:rPr>
              <a:t>quantitative analysis</a:t>
            </a:r>
            <a:r>
              <a:rPr lang="en-US" b="1" dirty="0"/>
              <a:t>, which focuses on numbers found in reports such as balance sheets. </a:t>
            </a:r>
            <a:endParaRPr lang="en-US" b="1" dirty="0" smtClean="0"/>
          </a:p>
          <a:p>
            <a:pPr algn="l" rtl="0"/>
            <a:r>
              <a:rPr lang="en-US" dirty="0" smtClean="0"/>
              <a:t>The </a:t>
            </a:r>
            <a:r>
              <a:rPr lang="en-US" dirty="0"/>
              <a:t>two techniques, however, will often be used together to examine a company's operations and evaluate its potential as an investment opportunity. </a:t>
            </a:r>
          </a:p>
          <a:p>
            <a:pPr algn="l" rtl="0"/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00839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1143000"/>
          </a:xfrm>
        </p:spPr>
        <p:txBody>
          <a:bodyPr>
            <a:noAutofit/>
          </a:bodyPr>
          <a:lstStyle/>
          <a:p>
            <a:r>
              <a:rPr lang="ar-EG" sz="2800" dirty="0"/>
              <a:t/>
            </a:r>
            <a:br>
              <a:rPr lang="ar-EG" sz="2800" dirty="0"/>
            </a:br>
            <a:r>
              <a:rPr lang="en-US" sz="2800" b="1" dirty="0"/>
              <a:t>Industry Analysis: The External Factor Evaluation 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5029200"/>
          </a:xfrm>
        </p:spPr>
        <p:txBody>
          <a:bodyPr>
            <a:normAutofit/>
          </a:bodyPr>
          <a:lstStyle/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/>
              <a:t>An </a:t>
            </a:r>
            <a:r>
              <a:rPr lang="en-US" sz="2800" b="1" dirty="0"/>
              <a:t>External Factor Evaluation (</a:t>
            </a:r>
            <a:r>
              <a:rPr lang="en-US" sz="2800" b="1" dirty="0" err="1"/>
              <a:t>EFE</a:t>
            </a:r>
            <a:r>
              <a:rPr lang="en-US" sz="2800" b="1" dirty="0"/>
              <a:t>) Matrix</a:t>
            </a:r>
            <a:r>
              <a:rPr lang="en-US" sz="2800" dirty="0"/>
              <a:t> allows strategists to summarize and evaluate economic, social, cultural, demographic, environmental, political, governmental, legal, technological, and competitive information. </a:t>
            </a:r>
            <a:r>
              <a:rPr lang="en-US" sz="2800" dirty="0" err="1"/>
              <a:t>EFE</a:t>
            </a:r>
            <a:r>
              <a:rPr lang="en-US" sz="2800" dirty="0"/>
              <a:t> Matrix indicates whether the firm is able to effectively take advantage of existing opportunities along with minimizing the external threats. 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337728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1143000"/>
          </a:xfrm>
        </p:spPr>
        <p:txBody>
          <a:bodyPr>
            <a:noAutofit/>
          </a:bodyPr>
          <a:lstStyle/>
          <a:p>
            <a:r>
              <a:rPr lang="ar-EG" sz="2800" dirty="0"/>
              <a:t/>
            </a:r>
            <a:br>
              <a:rPr lang="ar-EG" sz="2800" dirty="0"/>
            </a:br>
            <a:r>
              <a:rPr lang="en-US" sz="2800" b="1" dirty="0"/>
              <a:t>Industry Analysis: The External Factor Evaluation 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5029200"/>
          </a:xfrm>
        </p:spPr>
        <p:txBody>
          <a:bodyPr>
            <a:normAutofit fontScale="92500" lnSpcReduction="20000"/>
          </a:bodyPr>
          <a:lstStyle/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 smtClean="0"/>
              <a:t>Economic</a:t>
            </a:r>
          </a:p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 smtClean="0"/>
              <a:t>Social</a:t>
            </a:r>
            <a:r>
              <a:rPr lang="en-US" sz="2800" dirty="0"/>
              <a:t>, </a:t>
            </a:r>
            <a:endParaRPr lang="en-US" sz="2800" dirty="0" smtClean="0"/>
          </a:p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 smtClean="0"/>
              <a:t>Cultural</a:t>
            </a:r>
            <a:r>
              <a:rPr lang="en-US" sz="2800" dirty="0"/>
              <a:t>, </a:t>
            </a:r>
            <a:endParaRPr lang="en-US" sz="2800" dirty="0" smtClean="0"/>
          </a:p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 smtClean="0"/>
              <a:t>Demographic,</a:t>
            </a:r>
          </a:p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/>
              <a:t>E</a:t>
            </a:r>
            <a:r>
              <a:rPr lang="en-US" sz="2800" dirty="0" smtClean="0"/>
              <a:t>nvironmental</a:t>
            </a:r>
            <a:r>
              <a:rPr lang="en-US" sz="2800" dirty="0"/>
              <a:t>, </a:t>
            </a:r>
            <a:endParaRPr lang="en-US" sz="2800" dirty="0" smtClean="0"/>
          </a:p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 smtClean="0"/>
              <a:t>Political</a:t>
            </a:r>
            <a:r>
              <a:rPr lang="en-US" sz="2800" dirty="0"/>
              <a:t>, </a:t>
            </a:r>
            <a:endParaRPr lang="en-US" sz="2800" dirty="0" smtClean="0"/>
          </a:p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 smtClean="0"/>
              <a:t>Governmental</a:t>
            </a:r>
            <a:r>
              <a:rPr lang="en-US" sz="2800" dirty="0"/>
              <a:t>, </a:t>
            </a:r>
            <a:endParaRPr lang="en-US" sz="2800" dirty="0" smtClean="0"/>
          </a:p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 smtClean="0"/>
              <a:t>Legal</a:t>
            </a:r>
            <a:r>
              <a:rPr lang="en-US" sz="2800" dirty="0"/>
              <a:t>, </a:t>
            </a:r>
            <a:endParaRPr lang="en-US" sz="2800" dirty="0" smtClean="0"/>
          </a:p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 smtClean="0"/>
              <a:t>Technological</a:t>
            </a:r>
            <a:r>
              <a:rPr lang="en-US" sz="2800" dirty="0"/>
              <a:t>, </a:t>
            </a:r>
            <a:endParaRPr lang="en-US" sz="2800" dirty="0" smtClean="0"/>
          </a:p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 smtClean="0"/>
              <a:t>and Competitive Information</a:t>
            </a:r>
            <a:r>
              <a:rPr lang="en-US" sz="2800" dirty="0"/>
              <a:t>. 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37671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1143000"/>
          </a:xfrm>
        </p:spPr>
        <p:txBody>
          <a:bodyPr>
            <a:noAutofit/>
          </a:bodyPr>
          <a:lstStyle/>
          <a:p>
            <a:r>
              <a:rPr lang="ar-EG" sz="2800" dirty="0"/>
              <a:t/>
            </a:r>
            <a:br>
              <a:rPr lang="ar-EG" sz="2800" dirty="0"/>
            </a:br>
            <a:r>
              <a:rPr lang="en-US" sz="2800" b="1" dirty="0"/>
              <a:t>Industry Analysis: The External Factor Evaluation 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5029200"/>
          </a:xfrm>
        </p:spPr>
        <p:txBody>
          <a:bodyPr>
            <a:normAutofit fontScale="92500"/>
          </a:bodyPr>
          <a:lstStyle/>
          <a:p>
            <a:pPr marL="68580" indent="0" algn="just" rtl="0">
              <a:lnSpc>
                <a:spcPct val="120000"/>
              </a:lnSpc>
              <a:buNone/>
            </a:pPr>
            <a:r>
              <a:rPr lang="en-US" sz="2800" dirty="0"/>
              <a:t>An  </a:t>
            </a:r>
            <a:r>
              <a:rPr lang="en-US" sz="2800" b="1" dirty="0"/>
              <a:t>External Factor Evaluation (</a:t>
            </a:r>
            <a:r>
              <a:rPr lang="en-US" sz="2800" b="1" dirty="0" err="1"/>
              <a:t>EFE</a:t>
            </a:r>
            <a:r>
              <a:rPr lang="en-US" sz="2800" b="1" dirty="0"/>
              <a:t>) Matrix</a:t>
            </a:r>
            <a:r>
              <a:rPr lang="en-US" sz="2800" dirty="0"/>
              <a:t> can be developed in five steps: </a:t>
            </a:r>
            <a:endParaRPr lang="en-US" sz="2800" dirty="0" smtClean="0"/>
          </a:p>
          <a:p>
            <a:pPr marL="685800" indent="-617538" algn="just" rtl="0">
              <a:lnSpc>
                <a:spcPct val="120000"/>
              </a:lnSpc>
              <a:buNone/>
            </a:pPr>
            <a:r>
              <a:rPr lang="en-US" sz="3500" b="1" dirty="0" smtClean="0">
                <a:solidFill>
                  <a:srgbClr val="C00000"/>
                </a:solidFill>
              </a:rPr>
              <a:t>1-</a:t>
            </a:r>
            <a:r>
              <a:rPr lang="en-US" sz="2800" dirty="0" smtClean="0"/>
              <a:t> List </a:t>
            </a:r>
            <a:r>
              <a:rPr lang="en-US" sz="2800" dirty="0"/>
              <a:t>key external </a:t>
            </a:r>
            <a:r>
              <a:rPr lang="en-US" sz="2800" dirty="0" smtClean="0"/>
              <a:t>factors, </a:t>
            </a:r>
            <a:r>
              <a:rPr lang="en-US" sz="2800" dirty="0"/>
              <a:t>including both opportunities and threats affecting the firm and its industry. </a:t>
            </a:r>
            <a:endParaRPr lang="en-US" sz="2800" dirty="0" smtClean="0"/>
          </a:p>
          <a:p>
            <a:pPr algn="just" rtl="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List </a:t>
            </a:r>
            <a:r>
              <a:rPr lang="en-US" sz="2800" dirty="0"/>
              <a:t>the opportunities first and then the threats. </a:t>
            </a:r>
            <a:endParaRPr lang="en-US" sz="2800" dirty="0" smtClean="0"/>
          </a:p>
          <a:p>
            <a:pPr algn="just" rtl="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Be </a:t>
            </a:r>
            <a:r>
              <a:rPr lang="en-US" sz="2800" dirty="0"/>
              <a:t>as specific as possible, using percentages, ratios, and comparative numbers whenever possible.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05734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1143000"/>
          </a:xfrm>
        </p:spPr>
        <p:txBody>
          <a:bodyPr>
            <a:noAutofit/>
          </a:bodyPr>
          <a:lstStyle/>
          <a:p>
            <a:r>
              <a:rPr lang="ar-EG" sz="2800" dirty="0"/>
              <a:t/>
            </a:r>
            <a:br>
              <a:rPr lang="ar-EG" sz="2800" dirty="0"/>
            </a:br>
            <a:r>
              <a:rPr lang="en-US" sz="2800" b="1" dirty="0"/>
              <a:t>Industry Analysis: The External Factor Evaluation 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5029200"/>
          </a:xfrm>
        </p:spPr>
        <p:txBody>
          <a:bodyPr>
            <a:normAutofit fontScale="77500" lnSpcReduction="20000"/>
          </a:bodyPr>
          <a:lstStyle/>
          <a:p>
            <a:pPr marL="68580" indent="0" algn="just" rtl="0">
              <a:lnSpc>
                <a:spcPct val="120000"/>
              </a:lnSpc>
              <a:buNone/>
            </a:pPr>
            <a:r>
              <a:rPr lang="en-US" sz="3800" b="1" dirty="0" smtClean="0">
                <a:solidFill>
                  <a:srgbClr val="C00000"/>
                </a:solidFill>
              </a:rPr>
              <a:t>2-</a:t>
            </a:r>
            <a:r>
              <a:rPr lang="en-US" sz="2800" dirty="0" smtClean="0"/>
              <a:t> Assign </a:t>
            </a:r>
            <a:r>
              <a:rPr lang="en-US" sz="2800" dirty="0"/>
              <a:t>to each factor a weight that ranges from 0.0 (not important) to 1.0 (very important). </a:t>
            </a:r>
            <a:endParaRPr lang="en-US" sz="2800" dirty="0" smtClean="0"/>
          </a:p>
          <a:p>
            <a:pPr algn="just" rtl="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weight indicates the relative importance of that factor to being successful in the firm’s </a:t>
            </a:r>
            <a:r>
              <a:rPr lang="en-US" sz="2800" b="1" dirty="0"/>
              <a:t>industry</a:t>
            </a:r>
            <a:r>
              <a:rPr lang="en-US" sz="2800" dirty="0" smtClean="0"/>
              <a:t>.</a:t>
            </a:r>
          </a:p>
          <a:p>
            <a:pPr algn="just" rtl="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</a:t>
            </a:r>
            <a:r>
              <a:rPr lang="en-US" sz="2800" dirty="0" smtClean="0"/>
              <a:t>his means that the weight is </a:t>
            </a:r>
            <a:r>
              <a:rPr lang="en-US" sz="2800" b="1" dirty="0" smtClean="0"/>
              <a:t>industry-based,</a:t>
            </a:r>
            <a:r>
              <a:rPr lang="en-US" sz="2800" dirty="0" smtClean="0"/>
              <a:t> the relative importance of each external factor according to the related industry.</a:t>
            </a:r>
          </a:p>
          <a:p>
            <a:pPr algn="just" rtl="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/>
              <a:t>Appropriate </a:t>
            </a:r>
            <a:r>
              <a:rPr lang="en-US" sz="2800" dirty="0" smtClean="0"/>
              <a:t>weights can </a:t>
            </a:r>
            <a:r>
              <a:rPr lang="en-US" sz="2800" dirty="0"/>
              <a:t>be determined by comparing successful with unsuccessful competitors or by discussing the factor and reaching a group </a:t>
            </a:r>
            <a:r>
              <a:rPr lang="en-US" sz="2800" dirty="0" smtClean="0"/>
              <a:t>opinion. </a:t>
            </a:r>
          </a:p>
          <a:p>
            <a:pPr algn="just" rtl="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sum of all weights assigned to the factors must equal 1.0.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59207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1143000"/>
          </a:xfrm>
        </p:spPr>
        <p:txBody>
          <a:bodyPr>
            <a:noAutofit/>
          </a:bodyPr>
          <a:lstStyle/>
          <a:p>
            <a:r>
              <a:rPr lang="ar-EG" sz="2800" dirty="0"/>
              <a:t/>
            </a:r>
            <a:br>
              <a:rPr lang="ar-EG" sz="2800" dirty="0"/>
            </a:br>
            <a:r>
              <a:rPr lang="en-US" sz="2800" b="1" dirty="0"/>
              <a:t>Industry Analysis: The External Factor Evaluation 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5029200"/>
          </a:xfrm>
        </p:spPr>
        <p:txBody>
          <a:bodyPr>
            <a:normAutofit fontScale="70000" lnSpcReduction="20000"/>
          </a:bodyPr>
          <a:lstStyle/>
          <a:p>
            <a:pPr marL="68580" indent="0" algn="just" rtl="0">
              <a:lnSpc>
                <a:spcPct val="120000"/>
              </a:lnSpc>
              <a:buNone/>
            </a:pPr>
            <a:r>
              <a:rPr lang="en-US" sz="4600" b="1" dirty="0" smtClean="0">
                <a:solidFill>
                  <a:srgbClr val="C00000"/>
                </a:solidFill>
              </a:rPr>
              <a:t>3-</a:t>
            </a:r>
            <a:r>
              <a:rPr lang="en-US" sz="3600" dirty="0" smtClean="0"/>
              <a:t> Assign </a:t>
            </a:r>
            <a:r>
              <a:rPr lang="en-US" sz="3600" dirty="0"/>
              <a:t>a 1 to 4 rating to each key external factor to indicate </a:t>
            </a:r>
            <a:r>
              <a:rPr lang="en-US" sz="3600" b="1" dirty="0"/>
              <a:t>how effectively the firm’s current strategies respond to the factor</a:t>
            </a:r>
            <a:r>
              <a:rPr lang="en-US" sz="3600" dirty="0"/>
              <a:t>, where 4 = the response is superior, 3 = the response is above average, 2 = the response is average, and 1 = the response is </a:t>
            </a:r>
            <a:r>
              <a:rPr lang="en-US" sz="3600" dirty="0" smtClean="0"/>
              <a:t>poor.</a:t>
            </a:r>
          </a:p>
          <a:p>
            <a:pPr algn="just" rtl="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 </a:t>
            </a:r>
            <a:r>
              <a:rPr lang="en-US" sz="3600" dirty="0"/>
              <a:t>Ratings are based on effectiveness of the firm’s strategies</a:t>
            </a:r>
            <a:r>
              <a:rPr lang="en-US" sz="3600" dirty="0" smtClean="0"/>
              <a:t>.</a:t>
            </a:r>
          </a:p>
          <a:p>
            <a:pPr algn="just" rtl="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 </a:t>
            </a:r>
            <a:r>
              <a:rPr lang="en-US" sz="3600" b="1" dirty="0"/>
              <a:t>Ratings are thus </a:t>
            </a:r>
            <a:r>
              <a:rPr lang="en-US" sz="3600" b="1" dirty="0" smtClean="0"/>
              <a:t>company-based</a:t>
            </a:r>
            <a:r>
              <a:rPr lang="en-US" sz="3600" b="1" dirty="0"/>
              <a:t>, whereas the weights in Step 2 are </a:t>
            </a:r>
            <a:r>
              <a:rPr lang="en-US" sz="3600" b="1" dirty="0" smtClean="0"/>
              <a:t>industry-based</a:t>
            </a:r>
            <a:r>
              <a:rPr lang="en-US" sz="3600" dirty="0"/>
              <a:t>. </a:t>
            </a:r>
            <a:endParaRPr lang="en-US" sz="3600" dirty="0" smtClean="0"/>
          </a:p>
          <a:p>
            <a:pPr algn="just" rtl="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It </a:t>
            </a:r>
            <a:r>
              <a:rPr lang="en-US" sz="3600" dirty="0"/>
              <a:t>is important to note that both threats and opportunities can receive a 1, 2, 3, or 4.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50513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1143000"/>
          </a:xfrm>
        </p:spPr>
        <p:txBody>
          <a:bodyPr>
            <a:noAutofit/>
          </a:bodyPr>
          <a:lstStyle/>
          <a:p>
            <a:r>
              <a:rPr lang="ar-EG" sz="2800" dirty="0"/>
              <a:t/>
            </a:r>
            <a:br>
              <a:rPr lang="ar-EG" sz="2800" dirty="0"/>
            </a:br>
            <a:r>
              <a:rPr lang="en-US" sz="2800" b="1" dirty="0"/>
              <a:t>Industry Analysis: The External Factor Evaluation 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5029200"/>
          </a:xfrm>
        </p:spPr>
        <p:txBody>
          <a:bodyPr>
            <a:normAutofit/>
          </a:bodyPr>
          <a:lstStyle/>
          <a:p>
            <a:pPr marL="68580" indent="0" algn="just" rtl="0">
              <a:lnSpc>
                <a:spcPct val="120000"/>
              </a:lnSpc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4-</a:t>
            </a:r>
            <a:r>
              <a:rPr lang="en-US" sz="2800" dirty="0" smtClean="0"/>
              <a:t>Multiply </a:t>
            </a:r>
            <a:r>
              <a:rPr lang="en-US" sz="2800" dirty="0"/>
              <a:t>each factor’s weight by its rating to determine a weighted score</a:t>
            </a:r>
            <a:r>
              <a:rPr lang="en-US" sz="2800" dirty="0" smtClean="0"/>
              <a:t>.</a:t>
            </a:r>
          </a:p>
          <a:p>
            <a:pPr marL="68580" indent="0" algn="just" rtl="0">
              <a:lnSpc>
                <a:spcPct val="120000"/>
              </a:lnSpc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5-</a:t>
            </a:r>
            <a:r>
              <a:rPr lang="en-US" sz="2800" dirty="0" smtClean="0"/>
              <a:t>Sum </a:t>
            </a:r>
            <a:r>
              <a:rPr lang="en-US" sz="2800" dirty="0"/>
              <a:t>the weighted scores for each variable to determine the total weighted score for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31860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4572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029200"/>
          </a:xfrm>
        </p:spPr>
        <p:txBody>
          <a:bodyPr>
            <a:noAutofit/>
          </a:bodyPr>
          <a:lstStyle/>
          <a:p>
            <a:pPr algn="l" rtl="0"/>
            <a:r>
              <a:rPr lang="en-US" sz="2600" dirty="0" smtClean="0"/>
              <a:t>1. List </a:t>
            </a:r>
            <a:r>
              <a:rPr lang="en-US" sz="2600" dirty="0"/>
              <a:t>key external factors </a:t>
            </a:r>
            <a:endParaRPr lang="en-US" sz="2600" dirty="0" smtClean="0"/>
          </a:p>
          <a:p>
            <a:pPr algn="l" rtl="0"/>
            <a:r>
              <a:rPr lang="en-US" sz="2600" dirty="0" smtClean="0"/>
              <a:t>2. Assign </a:t>
            </a:r>
            <a:r>
              <a:rPr lang="en-US" sz="2600" dirty="0"/>
              <a:t>a weight that ranges from 0.0 (not important) to 1.0 (all-important) to each factor </a:t>
            </a:r>
          </a:p>
          <a:p>
            <a:pPr algn="l" rtl="0"/>
            <a:r>
              <a:rPr lang="en-US" sz="2600" dirty="0"/>
              <a:t>3</a:t>
            </a:r>
            <a:r>
              <a:rPr lang="en-US" sz="2600" dirty="0" smtClean="0"/>
              <a:t>. Assign </a:t>
            </a:r>
            <a:r>
              <a:rPr lang="en-US" sz="2600" dirty="0"/>
              <a:t>a 1-to-4 rating to each factor to indicate whether that factor represents a strength or weakness </a:t>
            </a:r>
          </a:p>
          <a:p>
            <a:pPr algn="l" rtl="0"/>
            <a:r>
              <a:rPr lang="en-US" sz="2600" dirty="0"/>
              <a:t>4</a:t>
            </a:r>
            <a:r>
              <a:rPr lang="en-US" sz="2600" dirty="0" smtClean="0"/>
              <a:t>. Multiply </a:t>
            </a:r>
            <a:r>
              <a:rPr lang="en-US" sz="2600" dirty="0"/>
              <a:t>each factor’s weight by its rating to determine a weighted score for each variable </a:t>
            </a:r>
          </a:p>
          <a:p>
            <a:pPr algn="l" rtl="0"/>
            <a:r>
              <a:rPr lang="en-US" sz="2600" dirty="0"/>
              <a:t>5</a:t>
            </a:r>
            <a:r>
              <a:rPr lang="en-US" sz="2600" dirty="0" smtClean="0"/>
              <a:t>. Sum </a:t>
            </a:r>
            <a:r>
              <a:rPr lang="en-US" sz="2600" dirty="0"/>
              <a:t>the weighted scores for each variable to determine the total weighted score for the organization </a:t>
            </a:r>
          </a:p>
        </p:txBody>
      </p:sp>
    </p:spTree>
    <p:extLst>
      <p:ext uri="{BB962C8B-B14F-4D97-AF65-F5344CB8AC3E}">
        <p14:creationId xmlns:p14="http://schemas.microsoft.com/office/powerpoint/2010/main" val="69038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228600"/>
            <a:ext cx="8305800" cy="11430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791200"/>
          </a:xfrm>
        </p:spPr>
        <p:txBody>
          <a:bodyPr>
            <a:noAutofit/>
          </a:bodyPr>
          <a:lstStyle/>
          <a:p>
            <a:pPr algn="just" rtl="0">
              <a:buFont typeface="Wingdings" panose="05000000000000000000" pitchFamily="2" charset="2"/>
              <a:buChar char="§"/>
            </a:pPr>
            <a:r>
              <a:rPr lang="en-US" sz="3000" dirty="0"/>
              <a:t>Regardless of the </a:t>
            </a:r>
            <a:r>
              <a:rPr lang="en-US" sz="3000" dirty="0" smtClean="0"/>
              <a:t>no. of </a:t>
            </a:r>
            <a:r>
              <a:rPr lang="en-US" sz="3000" dirty="0"/>
              <a:t>key opportunities and threats included in an </a:t>
            </a:r>
            <a:r>
              <a:rPr lang="en-US" sz="3000" b="1" dirty="0" smtClean="0"/>
              <a:t>(</a:t>
            </a:r>
            <a:r>
              <a:rPr lang="en-US" sz="3000" b="1" dirty="0" err="1"/>
              <a:t>EFE</a:t>
            </a:r>
            <a:r>
              <a:rPr lang="en-US" sz="3000" b="1" dirty="0"/>
              <a:t>) Matrix</a:t>
            </a:r>
            <a:r>
              <a:rPr lang="en-US" sz="3000" dirty="0"/>
              <a:t>, </a:t>
            </a:r>
            <a:r>
              <a:rPr lang="en-US" sz="3000" b="1" dirty="0"/>
              <a:t>the highest possible total weighted score for </a:t>
            </a:r>
            <a:r>
              <a:rPr lang="en-US" sz="3000" b="1" dirty="0" smtClean="0"/>
              <a:t>any </a:t>
            </a:r>
            <a:r>
              <a:rPr lang="en-US" sz="3000" b="1" dirty="0"/>
              <a:t>organization is 4.0 </a:t>
            </a:r>
            <a:r>
              <a:rPr lang="en-US" sz="3000" dirty="0"/>
              <a:t>and </a:t>
            </a:r>
            <a:r>
              <a:rPr lang="en-US" sz="3000" b="1" dirty="0"/>
              <a:t>the lowest possible total weighted score is </a:t>
            </a:r>
            <a:r>
              <a:rPr lang="en-US" sz="3000" b="1" dirty="0" smtClean="0"/>
              <a:t>1.0</a:t>
            </a:r>
            <a:r>
              <a:rPr lang="en-US" sz="3000" dirty="0" smtClean="0"/>
              <a:t>, </a:t>
            </a:r>
            <a:r>
              <a:rPr lang="en-US" sz="3000" b="1" dirty="0" smtClean="0"/>
              <a:t>whereas the </a:t>
            </a:r>
            <a:r>
              <a:rPr lang="en-US" sz="3000" b="1" dirty="0"/>
              <a:t>average total weighted score is 2.5. </a:t>
            </a:r>
            <a:endParaRPr lang="en-US" sz="3000" b="1" dirty="0" smtClean="0"/>
          </a:p>
        </p:txBody>
      </p:sp>
    </p:spTree>
    <p:extLst>
      <p:ext uri="{BB962C8B-B14F-4D97-AF65-F5344CB8AC3E}">
        <p14:creationId xmlns:p14="http://schemas.microsoft.com/office/powerpoint/2010/main" val="296981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228600"/>
            <a:ext cx="8305800" cy="11430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029200"/>
          </a:xfrm>
        </p:spPr>
        <p:txBody>
          <a:bodyPr>
            <a:noAutofit/>
          </a:bodyPr>
          <a:lstStyle/>
          <a:p>
            <a:pPr algn="just" rtl="0">
              <a:buFont typeface="Wingdings" panose="05000000000000000000" pitchFamily="2" charset="2"/>
              <a:buChar char="§"/>
            </a:pPr>
            <a:r>
              <a:rPr lang="en-US" sz="2600" dirty="0"/>
              <a:t>A total weighted score of </a:t>
            </a:r>
            <a:r>
              <a:rPr lang="en-US" sz="2600" b="1" dirty="0"/>
              <a:t>4.0 indicates that an organization is responding in an outstanding way to existing opportunities and threats in its industry.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FF0000"/>
                </a:solidFill>
              </a:rPr>
              <a:t>In other words, the firm’s strategies effectively take advantage of existing opportunities and minimize the potential adverse effect of external threats. </a:t>
            </a:r>
          </a:p>
          <a:p>
            <a:pPr algn="just" rtl="0">
              <a:buFont typeface="Wingdings" panose="05000000000000000000" pitchFamily="2" charset="2"/>
              <a:buChar char="§"/>
            </a:pPr>
            <a:endParaRPr lang="en-US" sz="2600" b="1" dirty="0" smtClean="0">
              <a:solidFill>
                <a:srgbClr val="FF0000"/>
              </a:solidFill>
            </a:endParaRPr>
          </a:p>
          <a:p>
            <a:pPr algn="just" rtl="0">
              <a:buFont typeface="Wingdings" panose="05000000000000000000" pitchFamily="2" charset="2"/>
              <a:buChar char="§"/>
            </a:pPr>
            <a:r>
              <a:rPr lang="en-US" sz="2600" b="1" dirty="0" smtClean="0"/>
              <a:t>A </a:t>
            </a:r>
            <a:r>
              <a:rPr lang="en-US" sz="2600" b="1" dirty="0"/>
              <a:t>total score of 1.0 indicates that the firm’s strategies are not capitalizing on opportunities or avoiding external </a:t>
            </a:r>
            <a:r>
              <a:rPr lang="en-US" sz="2600" b="1" dirty="0" smtClean="0"/>
              <a:t>threats</a:t>
            </a:r>
            <a:r>
              <a:rPr lang="en-US" sz="2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2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077200" cy="5257800"/>
          </a:xfrm>
        </p:spPr>
        <p:txBody>
          <a:bodyPr>
            <a:normAutofit fontScale="92500" lnSpcReduction="20000"/>
          </a:bodyPr>
          <a:lstStyle/>
          <a:p>
            <a:pPr marL="68580" indent="0" algn="just" rtl="0">
              <a:buNone/>
            </a:pPr>
            <a:r>
              <a:rPr lang="en-US" sz="3200" b="1" u="sng" dirty="0" smtClean="0"/>
              <a:t>To get more accurate decision concerning the weights and the ratings of </a:t>
            </a:r>
            <a:r>
              <a:rPr lang="en-US" sz="3200" b="1" u="sng" dirty="0" err="1" smtClean="0"/>
              <a:t>EFE</a:t>
            </a:r>
            <a:r>
              <a:rPr lang="en-US" sz="3200" b="1" u="sng" dirty="0" smtClean="0"/>
              <a:t>,</a:t>
            </a:r>
            <a:r>
              <a:rPr lang="en-US" sz="3200" dirty="0" smtClean="0"/>
              <a:t> we need to participate with the experienced personnel (ex</a:t>
            </a:r>
            <a:r>
              <a:rPr lang="en-US" sz="3200" dirty="0"/>
              <a:t>. Selecting 10 members of the strategists</a:t>
            </a:r>
            <a:r>
              <a:rPr lang="en-US" sz="3200" dirty="0" smtClean="0"/>
              <a:t>) to get separated </a:t>
            </a:r>
            <a:r>
              <a:rPr lang="en-US" sz="3200" dirty="0" err="1" smtClean="0"/>
              <a:t>EFE</a:t>
            </a:r>
            <a:r>
              <a:rPr lang="en-US" sz="3200" dirty="0" smtClean="0"/>
              <a:t> from each participants, then discussing every single </a:t>
            </a:r>
            <a:r>
              <a:rPr lang="en-US" sz="3200" b="1" u="sng" dirty="0" smtClean="0">
                <a:solidFill>
                  <a:srgbClr val="C00000"/>
                </a:solidFill>
              </a:rPr>
              <a:t>O</a:t>
            </a:r>
            <a:r>
              <a:rPr lang="en-US" sz="3200" dirty="0" smtClean="0">
                <a:solidFill>
                  <a:srgbClr val="C00000"/>
                </a:solidFill>
              </a:rPr>
              <a:t> </a:t>
            </a:r>
            <a:r>
              <a:rPr lang="en-US" sz="3200" dirty="0" smtClean="0"/>
              <a:t>and every single </a:t>
            </a:r>
            <a:r>
              <a:rPr lang="en-US" sz="3200" b="1" dirty="0" smtClean="0">
                <a:solidFill>
                  <a:srgbClr val="C00000"/>
                </a:solidFill>
              </a:rPr>
              <a:t>T</a:t>
            </a:r>
            <a:r>
              <a:rPr lang="en-US" sz="3200" dirty="0" smtClean="0"/>
              <a:t> and then every single weight and every single rating in order to develop a consolidated </a:t>
            </a:r>
            <a:r>
              <a:rPr lang="en-US" sz="3200" dirty="0" err="1" smtClean="0"/>
              <a:t>EFE</a:t>
            </a:r>
            <a:r>
              <a:rPr lang="en-US" sz="3200" dirty="0" smtClean="0"/>
              <a:t> that re-represents the single organization which is much more objective than the </a:t>
            </a:r>
            <a:r>
              <a:rPr lang="en-US" sz="3200" dirty="0" err="1" smtClean="0"/>
              <a:t>EFE</a:t>
            </a:r>
            <a:r>
              <a:rPr lang="en-US" sz="3200" dirty="0" smtClean="0"/>
              <a:t> which is developed by each single member.</a:t>
            </a:r>
          </a:p>
          <a:p>
            <a:pPr algn="l" rtl="0"/>
            <a:endParaRPr lang="en-US" sz="3200" dirty="0"/>
          </a:p>
          <a:p>
            <a:pPr marL="68580" indent="0" algn="l" rtl="0">
              <a:buNone/>
            </a:pP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22922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228600"/>
            <a:ext cx="8305800" cy="11430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75438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828800"/>
            <a:ext cx="81534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774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228600"/>
            <a:ext cx="8305800" cy="11430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75438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0"/>
            <a:ext cx="80010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125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228600"/>
            <a:ext cx="8305800" cy="11430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(</a:t>
            </a:r>
            <a:r>
              <a:rPr lang="en-US" sz="2800" b="1" dirty="0" err="1"/>
              <a:t>EFE</a:t>
            </a:r>
            <a:r>
              <a:rPr lang="en-US" sz="2800" b="1" dirty="0"/>
              <a:t>) Matrix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endParaRPr lang="ar-EG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80010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045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305800" cy="11430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(</a:t>
            </a:r>
            <a:r>
              <a:rPr lang="en-US" sz="2800" b="1" dirty="0" err="1"/>
              <a:t>EFE</a:t>
            </a:r>
            <a:r>
              <a:rPr lang="en-US" sz="2800" b="1" dirty="0"/>
              <a:t>) </a:t>
            </a:r>
            <a:r>
              <a:rPr lang="en-US" sz="2800" b="1" dirty="0" smtClean="0"/>
              <a:t>Matrix and IFE Matrix 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Autofit/>
          </a:bodyPr>
          <a:lstStyle/>
          <a:p>
            <a:pPr algn="just" rtl="0">
              <a:buFont typeface="Wingdings" panose="05000000000000000000" pitchFamily="2" charset="2"/>
              <a:buChar char="§"/>
            </a:pPr>
            <a:r>
              <a:rPr lang="en-US" sz="2600" dirty="0"/>
              <a:t>The External Factor Evaluation (</a:t>
            </a:r>
            <a:r>
              <a:rPr lang="en-US" sz="2600" dirty="0" err="1"/>
              <a:t>EFE</a:t>
            </a:r>
            <a:r>
              <a:rPr lang="en-US" sz="2600" dirty="0"/>
              <a:t>) Matrix  is similar to  </a:t>
            </a:r>
            <a:r>
              <a:rPr lang="en-US" sz="2600" dirty="0">
                <a:hlinkClick r:id="rId2" tooltip="Internal Factor Evaluation (IFE) Matrix"/>
              </a:rPr>
              <a:t>Internal Factor Evaluation </a:t>
            </a:r>
            <a:r>
              <a:rPr lang="en-US" sz="2600" dirty="0" smtClean="0">
                <a:hlinkClick r:id="rId2" tooltip="Internal Factor Evaluation (IFE) Matrix"/>
              </a:rPr>
              <a:t>(IFE</a:t>
            </a:r>
            <a:r>
              <a:rPr lang="en-US" sz="2600" dirty="0">
                <a:hlinkClick r:id="rId2" tooltip="Internal Factor Evaluation (IFE) Matrix"/>
              </a:rPr>
              <a:t>) Matrix</a:t>
            </a:r>
            <a:r>
              <a:rPr lang="en-US" sz="2600" dirty="0"/>
              <a:t>. The major difference between the </a:t>
            </a:r>
            <a:r>
              <a:rPr lang="en-US" sz="2600" dirty="0" err="1"/>
              <a:t>EFE</a:t>
            </a:r>
            <a:r>
              <a:rPr lang="en-US" sz="2600" dirty="0"/>
              <a:t> matrix and the IFE matrix is the type of factors that are included in the model. While the IFE matrix deals with internal factors, the </a:t>
            </a:r>
            <a:r>
              <a:rPr lang="en-US" sz="2600" dirty="0" err="1"/>
              <a:t>EFE</a:t>
            </a:r>
            <a:r>
              <a:rPr lang="en-US" sz="2600" dirty="0"/>
              <a:t> matrix is concerned </a:t>
            </a:r>
            <a:r>
              <a:rPr lang="en-US" sz="2600" dirty="0" smtClean="0"/>
              <a:t>with the external factors.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56338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7005</TotalTime>
  <Words>985</Words>
  <Application>Microsoft Office PowerPoint</Application>
  <PresentationFormat>On-screen Show (4:3)</PresentationFormat>
  <Paragraphs>123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Aharoni</vt:lpstr>
      <vt:lpstr>Arial</vt:lpstr>
      <vt:lpstr>Calibri</vt:lpstr>
      <vt:lpstr>Century Gothic</vt:lpstr>
      <vt:lpstr>Tahoma</vt:lpstr>
      <vt:lpstr>Wingdings</vt:lpstr>
      <vt:lpstr>Wingdings 2</vt:lpstr>
      <vt:lpstr>Office Theme</vt:lpstr>
      <vt:lpstr>Austin</vt:lpstr>
      <vt:lpstr>Strategic Excellence</vt:lpstr>
      <vt:lpstr> External Strategic Management Audit </vt:lpstr>
      <vt:lpstr> External Strategic Management Audit </vt:lpstr>
      <vt:lpstr>Identifying Environmental Variables </vt:lpstr>
      <vt:lpstr> External (Societal) Strategic Management Audit </vt:lpstr>
      <vt:lpstr> External (Societal) Strategic Management Audit </vt:lpstr>
      <vt:lpstr> International Societal Considerations </vt:lpstr>
      <vt:lpstr>  Task environment  </vt:lpstr>
      <vt:lpstr> Sources of External Information: -  Unpublished Sources </vt:lpstr>
      <vt:lpstr> Sources of External Information:  - Published Sources </vt:lpstr>
      <vt:lpstr>Sources of External Information: Web Sites </vt:lpstr>
      <vt:lpstr>Forecasting Tools and Techniques  </vt:lpstr>
      <vt:lpstr> Industry Analysis: The External Factor Evaluation (EFE) Matrix </vt:lpstr>
      <vt:lpstr> Industry Analysis: The External Factor Evaluation (EFE) Matrix </vt:lpstr>
      <vt:lpstr> Industry Analysis: The External Factor Evaluation (EFE) Matrix </vt:lpstr>
      <vt:lpstr> Industry Analysis: The External Factor Evaluation (EFE) Matrix </vt:lpstr>
      <vt:lpstr> Industry Analysis: The External Factor Evaluation (EFE) Matrix </vt:lpstr>
      <vt:lpstr> Industry Analysis: The External Factor Evaluation (EFE) Matrix </vt:lpstr>
      <vt:lpstr>(EFE) Matrix </vt:lpstr>
      <vt:lpstr>(EFE) Matrix </vt:lpstr>
      <vt:lpstr>(EFE) Matrix </vt:lpstr>
      <vt:lpstr>PowerPoint Presentation</vt:lpstr>
      <vt:lpstr>(EFE) Matrix </vt:lpstr>
      <vt:lpstr>(EFE) Matrix </vt:lpstr>
      <vt:lpstr>(EFE) Matrix </vt:lpstr>
      <vt:lpstr>(EFE) Matrix and IFE Matrix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Management</dc:title>
  <dc:creator>Dr.Tarek</dc:creator>
  <cp:lastModifiedBy>Dr. Marwa</cp:lastModifiedBy>
  <cp:revision>67</cp:revision>
  <dcterms:created xsi:type="dcterms:W3CDTF">2006-08-16T00:00:00Z</dcterms:created>
  <dcterms:modified xsi:type="dcterms:W3CDTF">2026-04-18T00:25:40Z</dcterms:modified>
</cp:coreProperties>
</file>