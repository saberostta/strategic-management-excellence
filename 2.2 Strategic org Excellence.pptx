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36"/>
  </p:notesMasterIdLst>
  <p:handoutMasterIdLst>
    <p:handoutMasterId r:id="rId37"/>
  </p:handoutMasterIdLst>
  <p:sldIdLst>
    <p:sldId id="256" r:id="rId4"/>
    <p:sldId id="258" r:id="rId5"/>
    <p:sldId id="260" r:id="rId6"/>
    <p:sldId id="297" r:id="rId7"/>
    <p:sldId id="294" r:id="rId8"/>
    <p:sldId id="290" r:id="rId9"/>
    <p:sldId id="291" r:id="rId10"/>
    <p:sldId id="293" r:id="rId11"/>
    <p:sldId id="292" r:id="rId12"/>
    <p:sldId id="261" r:id="rId13"/>
    <p:sldId id="264" r:id="rId14"/>
    <p:sldId id="265" r:id="rId15"/>
    <p:sldId id="263" r:id="rId16"/>
    <p:sldId id="299" r:id="rId17"/>
    <p:sldId id="269" r:id="rId18"/>
    <p:sldId id="267" r:id="rId19"/>
    <p:sldId id="271" r:id="rId20"/>
    <p:sldId id="268" r:id="rId21"/>
    <p:sldId id="272" r:id="rId22"/>
    <p:sldId id="266" r:id="rId23"/>
    <p:sldId id="274" r:id="rId24"/>
    <p:sldId id="286" r:id="rId25"/>
    <p:sldId id="295" r:id="rId26"/>
    <p:sldId id="296" r:id="rId27"/>
    <p:sldId id="275" r:id="rId28"/>
    <p:sldId id="285" r:id="rId29"/>
    <p:sldId id="282" r:id="rId30"/>
    <p:sldId id="301" r:id="rId31"/>
    <p:sldId id="302" r:id="rId32"/>
    <p:sldId id="303" r:id="rId33"/>
    <p:sldId id="304" r:id="rId34"/>
    <p:sldId id="305"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62" autoAdjust="0"/>
  </p:normalViewPr>
  <p:slideViewPr>
    <p:cSldViewPr>
      <p:cViewPr varScale="1">
        <p:scale>
          <a:sx n="66" d="100"/>
          <a:sy n="66" d="100"/>
        </p:scale>
        <p:origin x="1422" y="54"/>
      </p:cViewPr>
      <p:guideLst>
        <p:guide orient="horz" pos="2160"/>
        <p:guide pos="2880"/>
      </p:guideLst>
    </p:cSldViewPr>
  </p:slideViewPr>
  <p:notesTextViewPr>
    <p:cViewPr>
      <p:scale>
        <a:sx n="100" d="100"/>
        <a:sy n="100" d="100"/>
      </p:scale>
      <p:origin x="0" y="0"/>
    </p:cViewPr>
  </p:notesTextViewPr>
  <p:notesViewPr>
    <p:cSldViewPr>
      <p:cViewPr varScale="1">
        <p:scale>
          <a:sx n="53" d="100"/>
          <a:sy n="53" d="100"/>
        </p:scale>
        <p:origin x="-2868"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7088465-F3B2-490C-B306-7F398EC8AE27}" type="datetimeFigureOut">
              <a:rPr lang="en-US" smtClean="0"/>
              <a:t>4/18/2026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81FD459-77AF-418B-9E10-E07B690BD52A}" type="slidenum">
              <a:rPr lang="en-US" smtClean="0"/>
              <a:t>‹#›</a:t>
            </a:fld>
            <a:endParaRPr lang="en-US"/>
          </a:p>
        </p:txBody>
      </p:sp>
    </p:spTree>
    <p:extLst>
      <p:ext uri="{BB962C8B-B14F-4D97-AF65-F5344CB8AC3E}">
        <p14:creationId xmlns:p14="http://schemas.microsoft.com/office/powerpoint/2010/main" val="6317014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196DCC-64A7-4C21-9D3C-03F2DDB39F27}" type="datetimeFigureOut">
              <a:rPr lang="en-US" smtClean="0"/>
              <a:t>4/18/2026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A5654F-67C1-4ED4-BBA8-507AE26177C2}" type="slidenum">
              <a:rPr lang="en-US" smtClean="0"/>
              <a:t>‹#›</a:t>
            </a:fld>
            <a:endParaRPr lang="en-US"/>
          </a:p>
        </p:txBody>
      </p:sp>
    </p:spTree>
    <p:extLst>
      <p:ext uri="{BB962C8B-B14F-4D97-AF65-F5344CB8AC3E}">
        <p14:creationId xmlns:p14="http://schemas.microsoft.com/office/powerpoint/2010/main" val="4184921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1D8BD707-D9CF-40AE-B4C6-C98DA3205C09}" type="datetimeFigureOut">
              <a:rPr lang="en-US" smtClean="0"/>
              <a:pPr/>
              <a:t>4/18/2026</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solidFill>
                <a:srgbClr val="94C600"/>
              </a:solidFill>
            </a:endParaRPr>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B6F15528-21DE-4FAA-801E-634DDDAF4B2B}" type="slidenum">
              <a:rPr lang="en-US" smtClean="0">
                <a:solidFill>
                  <a:srgbClr val="94C600"/>
                </a:solidFill>
              </a:rPr>
              <a:pPr/>
              <a:t>‹#›</a:t>
            </a:fld>
            <a:endParaRPr lang="en-US">
              <a:solidFill>
                <a:srgbClr val="94C600"/>
              </a:solidFill>
            </a:endParaRPr>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3327757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008228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250702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6" name="Footer Placeholder 5"/>
          <p:cNvSpPr>
            <a:spLocks noGrp="1"/>
          </p:cNvSpPr>
          <p:nvPr>
            <p:ph type="ftr" sz="quarter" idx="11"/>
          </p:nvPr>
        </p:nvSpPr>
        <p:spPr/>
        <p:txBody>
          <a:bodyPr/>
          <a:lstStyle/>
          <a:p>
            <a:endParaRPr lang="en-US">
              <a:solidFill>
                <a:srgbClr val="94C6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7493368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4/18/2026</a:t>
            </a:fld>
            <a:endParaRPr lang="en-US"/>
          </a:p>
        </p:txBody>
      </p:sp>
      <p:sp>
        <p:nvSpPr>
          <p:cNvPr id="8" name="Footer Placeholder 7"/>
          <p:cNvSpPr>
            <a:spLocks noGrp="1"/>
          </p:cNvSpPr>
          <p:nvPr>
            <p:ph type="ftr" sz="quarter" idx="11"/>
          </p:nvPr>
        </p:nvSpPr>
        <p:spPr/>
        <p:txBody>
          <a:bodyPr/>
          <a:lstStyle/>
          <a:p>
            <a:endParaRPr lang="en-US">
              <a:solidFill>
                <a:srgbClr val="94C600"/>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1143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4/18/2026</a:t>
            </a:fld>
            <a:endParaRPr lang="en-US"/>
          </a:p>
        </p:txBody>
      </p:sp>
      <p:sp>
        <p:nvSpPr>
          <p:cNvPr id="4" name="Footer Placeholder 3"/>
          <p:cNvSpPr>
            <a:spLocks noGrp="1"/>
          </p:cNvSpPr>
          <p:nvPr>
            <p:ph type="ftr" sz="quarter" idx="11"/>
          </p:nvPr>
        </p:nvSpPr>
        <p:spPr/>
        <p:txBody>
          <a:bodyPr/>
          <a:lstStyle/>
          <a:p>
            <a:endParaRPr lang="en-US">
              <a:solidFill>
                <a:srgbClr val="94C60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62220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4/18/2026</a:t>
            </a:fld>
            <a:endParaRPr lang="en-US"/>
          </a:p>
        </p:txBody>
      </p:sp>
      <p:sp>
        <p:nvSpPr>
          <p:cNvPr id="3" name="Footer Placeholder 2"/>
          <p:cNvSpPr>
            <a:spLocks noGrp="1"/>
          </p:cNvSpPr>
          <p:nvPr>
            <p:ph type="ftr" sz="quarter" idx="11"/>
          </p:nvPr>
        </p:nvSpPr>
        <p:spPr/>
        <p:txBody>
          <a:bodyPr/>
          <a:lstStyle/>
          <a:p>
            <a:endParaRPr lang="en-US">
              <a:solidFill>
                <a:srgbClr val="94C60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416900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solidFill>
                <a:srgbClr val="94C600"/>
              </a:solidFill>
            </a:endParaRPr>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271830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solidFill>
                <a:srgbClr val="94C6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909945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027663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849181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24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4/18/2026</a:t>
            </a:fld>
            <a:endParaRPr kumimoji="0" lang="en-US" sz="2400" b="0" i="0" u="none" strike="noStrike" kern="1200" cap="none" spc="0" normalizeH="0" baseline="0" noProof="0">
              <a:ln>
                <a:noFill/>
              </a:ln>
              <a:solidFill>
                <a:srgbClr val="FEFEFE"/>
              </a:solidFill>
              <a:effectLst/>
              <a:uLnTx/>
              <a:uFillTx/>
              <a:latin typeface="Century Gothic"/>
              <a:ea typeface="+mn-ea"/>
              <a:cs typeface="+mn-cs"/>
            </a:endParaRPr>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94C600"/>
              </a:solidFill>
              <a:effectLst/>
              <a:uLnTx/>
              <a:uFillTx/>
              <a:latin typeface="Century Gothic"/>
              <a:ea typeface="+mn-ea"/>
              <a:cs typeface="+mn-cs"/>
            </a:endParaRPr>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94C600"/>
                </a:solidFill>
                <a:effectLst/>
                <a:uLnTx/>
                <a:uFillTx/>
                <a:latin typeface="Century Gothic"/>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94C600"/>
              </a:solidFill>
              <a:effectLst/>
              <a:uLnTx/>
              <a:uFillTx/>
              <a:latin typeface="Century Gothic"/>
              <a:ea typeface="+mn-ea"/>
              <a:cs typeface="+mn-cs"/>
            </a:endParaRPr>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Tree>
    <p:extLst>
      <p:ext uri="{BB962C8B-B14F-4D97-AF65-F5344CB8AC3E}">
        <p14:creationId xmlns:p14="http://schemas.microsoft.com/office/powerpoint/2010/main" val="12507920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4/18/2026</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94C600"/>
              </a:solidFill>
              <a:effectLst/>
              <a:uLnTx/>
              <a:uFillTx/>
              <a:latin typeface="Century Gothic"/>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Tree>
    <p:extLst>
      <p:ext uri="{BB962C8B-B14F-4D97-AF65-F5344CB8AC3E}">
        <p14:creationId xmlns:p14="http://schemas.microsoft.com/office/powerpoint/2010/main" val="7546297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4/18/2026</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94C600"/>
              </a:solidFill>
              <a:effectLst/>
              <a:uLnTx/>
              <a:uFillTx/>
              <a:latin typeface="Century Gothic"/>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Tree>
    <p:extLst>
      <p:ext uri="{BB962C8B-B14F-4D97-AF65-F5344CB8AC3E}">
        <p14:creationId xmlns:p14="http://schemas.microsoft.com/office/powerpoint/2010/main" val="8343059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4/18/2026</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94C600"/>
              </a:solidFill>
              <a:effectLst/>
              <a:uLnTx/>
              <a:uFillTx/>
              <a:latin typeface="Century Gothic"/>
              <a:ea typeface="+mn-ea"/>
              <a:cs typeface="+mn-cs"/>
            </a:endParaRPr>
          </a:p>
        </p:txBody>
      </p:sp>
      <p:sp>
        <p:nvSpPr>
          <p:cNvPr id="7" name="Slide Number Placeholder 6"/>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892448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4/18/2026</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
        <p:nvSpPr>
          <p:cNvPr id="8" name="Footer Placeholder 7"/>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94C600"/>
              </a:solidFill>
              <a:effectLst/>
              <a:uLnTx/>
              <a:uFillTx/>
              <a:latin typeface="Century Gothic"/>
              <a:ea typeface="+mn-ea"/>
              <a:cs typeface="+mn-cs"/>
            </a:endParaRPr>
          </a:p>
        </p:txBody>
      </p:sp>
      <p:sp>
        <p:nvSpPr>
          <p:cNvPr id="9" name="Slide Number Placeholder 8"/>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Tree>
    <p:extLst>
      <p:ext uri="{BB962C8B-B14F-4D97-AF65-F5344CB8AC3E}">
        <p14:creationId xmlns:p14="http://schemas.microsoft.com/office/powerpoint/2010/main" val="38363213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4/18/2026</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94C600"/>
              </a:solidFill>
              <a:effectLst/>
              <a:uLnTx/>
              <a:uFillTx/>
              <a:latin typeface="Century Gothic"/>
              <a:ea typeface="+mn-ea"/>
              <a:cs typeface="+mn-cs"/>
            </a:endParaRPr>
          </a:p>
        </p:txBody>
      </p:sp>
      <p:sp>
        <p:nvSpPr>
          <p:cNvPr id="5" name="Slide Number Placeholder 4"/>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Tree>
    <p:extLst>
      <p:ext uri="{BB962C8B-B14F-4D97-AF65-F5344CB8AC3E}">
        <p14:creationId xmlns:p14="http://schemas.microsoft.com/office/powerpoint/2010/main" val="16091074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4/18/2026</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94C600"/>
              </a:solidFill>
              <a:effectLst/>
              <a:uLnTx/>
              <a:uFillTx/>
              <a:latin typeface="Century Gothic"/>
              <a:ea typeface="+mn-ea"/>
              <a:cs typeface="+mn-cs"/>
            </a:endParaRPr>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Tree>
    <p:extLst>
      <p:ext uri="{BB962C8B-B14F-4D97-AF65-F5344CB8AC3E}">
        <p14:creationId xmlns:p14="http://schemas.microsoft.com/office/powerpoint/2010/main" val="40740680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4/18/2026</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
        <p:nvSpPr>
          <p:cNvPr id="7" name="Slide Number Placeholder 6"/>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 name="Footer Placeholder 5"/>
          <p:cNvSpPr>
            <a:spLocks noGrp="1"/>
          </p:cNvSpPr>
          <p:nvPr>
            <p:ph type="ftr" sz="quarter" idx="11"/>
          </p:nvPr>
        </p:nvSpPr>
        <p:spPr>
          <a:xfrm>
            <a:off x="4641448" y="5724835"/>
            <a:ext cx="3493664"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94C600"/>
              </a:solidFill>
              <a:effectLst/>
              <a:uLnTx/>
              <a:uFillTx/>
              <a:latin typeface="Century Gothic"/>
              <a:ea typeface="+mn-ea"/>
              <a:cs typeface="+mn-cs"/>
            </a:endParaRPr>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9895215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4/18/2026</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
        <p:nvSpPr>
          <p:cNvPr id="6" name="Footer Placeholder 5"/>
          <p:cNvSpPr>
            <a:spLocks noGrp="1"/>
          </p:cNvSpPr>
          <p:nvPr>
            <p:ph type="ftr" sz="quarter" idx="11"/>
          </p:nvPr>
        </p:nvSpPr>
        <p:spPr>
          <a:xfrm>
            <a:off x="4641448" y="5724835"/>
            <a:ext cx="3493664"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94C600"/>
              </a:solidFill>
              <a:effectLst/>
              <a:uLnTx/>
              <a:uFillTx/>
              <a:latin typeface="Century Gothic"/>
              <a:ea typeface="+mn-ea"/>
              <a:cs typeface="+mn-cs"/>
            </a:endParaRPr>
          </a:p>
        </p:txBody>
      </p:sp>
      <p:sp>
        <p:nvSpPr>
          <p:cNvPr id="7" name="Slide Number Placeholder 6"/>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Tree>
    <p:extLst>
      <p:ext uri="{BB962C8B-B14F-4D97-AF65-F5344CB8AC3E}">
        <p14:creationId xmlns:p14="http://schemas.microsoft.com/office/powerpoint/2010/main" val="13609874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4/18/2026</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94C600"/>
              </a:solidFill>
              <a:effectLst/>
              <a:uLnTx/>
              <a:uFillTx/>
              <a:latin typeface="Century Gothic"/>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Tree>
    <p:extLst>
      <p:ext uri="{BB962C8B-B14F-4D97-AF65-F5344CB8AC3E}">
        <p14:creationId xmlns:p14="http://schemas.microsoft.com/office/powerpoint/2010/main" val="22525598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4/18/2026</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94C600"/>
              </a:solidFill>
              <a:effectLst/>
              <a:uLnTx/>
              <a:uFillTx/>
              <a:latin typeface="Century Gothic"/>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Tree>
    <p:extLst>
      <p:ext uri="{BB962C8B-B14F-4D97-AF65-F5344CB8AC3E}">
        <p14:creationId xmlns:p14="http://schemas.microsoft.com/office/powerpoint/2010/main" val="1245573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1D8BD707-D9CF-40AE-B4C6-C98DA3205C09}" type="datetimeFigureOut">
              <a:rPr lang="en-US" smtClean="0"/>
              <a:pPr/>
              <a:t>4/18/2026</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solidFill>
                <a:srgbClr val="94C600"/>
              </a:solidFill>
            </a:endParaRPr>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505214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spcBef>
          <a:spcPct val="0"/>
        </a:spcBef>
        <a:buNone/>
        <a:defRPr sz="4000" kern="1200">
          <a:solidFill>
            <a:schemeClr val="accent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274320" algn="r" defTabSz="914400" rtl="1"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r" defTabSz="914400" rtl="1"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r" defTabSz="914400" rtl="1"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r" defTabSz="914400" rtl="1"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r" defTabSz="914400" rtl="1"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a:ea typeface="+mn-ea"/>
                <a:cs typeface="+mn-cs"/>
              </a:endParaRPr>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4/18/2026</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94C600"/>
              </a:solidFill>
              <a:effectLst/>
              <a:uLnTx/>
              <a:uFillTx/>
              <a:latin typeface="Century Gothic"/>
              <a:ea typeface="+mn-ea"/>
              <a:cs typeface="+mn-cs"/>
            </a:endParaRPr>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FEFEFE"/>
                </a:solidFill>
                <a:effectLst/>
                <a:uLnTx/>
                <a:uFillTx/>
                <a:latin typeface="Century Gothic"/>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FEFEFE"/>
              </a:solidFill>
              <a:effectLst/>
              <a:uLnTx/>
              <a:uFillTx/>
              <a:latin typeface="Century Gothic"/>
              <a:ea typeface="+mn-ea"/>
              <a:cs typeface="+mn-cs"/>
            </a:endParaRPr>
          </a:p>
        </p:txBody>
      </p:sp>
    </p:spTree>
    <p:extLst>
      <p:ext uri="{BB962C8B-B14F-4D97-AF65-F5344CB8AC3E}">
        <p14:creationId xmlns:p14="http://schemas.microsoft.com/office/powerpoint/2010/main" val="17307894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1" eaLnBrk="1" latinLnBrk="0" hangingPunct="1">
        <a:spcBef>
          <a:spcPct val="0"/>
        </a:spcBef>
        <a:buNone/>
        <a:defRPr sz="4000" kern="1200">
          <a:solidFill>
            <a:schemeClr val="accent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274320" algn="r" defTabSz="914400" rtl="1"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r" defTabSz="914400" rtl="1"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r" defTabSz="914400" rtl="1"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r" defTabSz="914400" rtl="1"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r" defTabSz="914400" rtl="1"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b="1"/>
              <a:t>Strategic </a:t>
            </a:r>
            <a:r>
              <a:rPr lang="en-US" b="1" smtClean="0"/>
              <a:t>Excellence</a:t>
            </a:r>
            <a:endParaRPr lang="en-US" b="1"/>
          </a:p>
        </p:txBody>
      </p:sp>
      <p:sp>
        <p:nvSpPr>
          <p:cNvPr id="3" name="Subtitle 2"/>
          <p:cNvSpPr>
            <a:spLocks noGrp="1"/>
          </p:cNvSpPr>
          <p:nvPr>
            <p:ph type="subTitle" idx="1"/>
          </p:nvPr>
        </p:nvSpPr>
        <p:spPr/>
        <p:txBody>
          <a:bodyPr/>
          <a:lstStyle/>
          <a:p>
            <a:r>
              <a:rPr lang="en-US" b="1" smtClean="0"/>
              <a:t>Prof. </a:t>
            </a:r>
            <a:r>
              <a:rPr lang="en-US" b="1" dirty="0" err="1" smtClean="0"/>
              <a:t>Marwa</a:t>
            </a:r>
            <a:r>
              <a:rPr lang="en-US" b="1" dirty="0" smtClean="0"/>
              <a:t> Tarek</a:t>
            </a:r>
          </a:p>
          <a:p>
            <a:endParaRPr lang="en-US" b="1" dirty="0"/>
          </a:p>
          <a:p>
            <a:r>
              <a:rPr lang="en-US" b="1" dirty="0" smtClean="0"/>
              <a:t>Class 2 </a:t>
            </a:r>
            <a:endParaRPr lang="ar-EG" b="1" dirty="0"/>
          </a:p>
        </p:txBody>
      </p:sp>
    </p:spTree>
    <p:extLst>
      <p:ext uri="{BB962C8B-B14F-4D97-AF65-F5344CB8AC3E}">
        <p14:creationId xmlns:p14="http://schemas.microsoft.com/office/powerpoint/2010/main" val="12787631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5800"/>
            <a:ext cx="7024744" cy="801136"/>
          </a:xfrm>
        </p:spPr>
        <p:txBody>
          <a:bodyPr>
            <a:normAutofit/>
          </a:bodyPr>
          <a:lstStyle/>
          <a:p>
            <a:r>
              <a:rPr lang="en-US" sz="2600" b="1" dirty="0" smtClean="0">
                <a:solidFill>
                  <a:srgbClr val="0070C0"/>
                </a:solidFill>
              </a:rPr>
              <a:t>Strategic management process</a:t>
            </a:r>
            <a:endParaRPr lang="ar-EG" sz="2600" b="1" dirty="0">
              <a:solidFill>
                <a:srgbClr val="0070C0"/>
              </a:solidFill>
            </a:endParaRP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638300"/>
            <a:ext cx="8001000"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Connector 4"/>
          <p:cNvCxnSpPr/>
          <p:nvPr/>
        </p:nvCxnSpPr>
        <p:spPr>
          <a:xfrm>
            <a:off x="4800600" y="2362200"/>
            <a:ext cx="0" cy="29718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315200" y="2362200"/>
            <a:ext cx="0" cy="297180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0673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558144" cy="1143000"/>
          </a:xfrm>
        </p:spPr>
        <p:txBody>
          <a:bodyPr>
            <a:normAutofit/>
          </a:bodyPr>
          <a:lstStyle/>
          <a:p>
            <a:r>
              <a:rPr lang="en-US" b="1" dirty="0" smtClean="0"/>
              <a:t>Vision statement </a:t>
            </a:r>
            <a:endParaRPr lang="ar-EG" dirty="0"/>
          </a:p>
        </p:txBody>
      </p:sp>
      <p:sp>
        <p:nvSpPr>
          <p:cNvPr id="3" name="Content Placeholder 2"/>
          <p:cNvSpPr>
            <a:spLocks noGrp="1"/>
          </p:cNvSpPr>
          <p:nvPr>
            <p:ph idx="1"/>
          </p:nvPr>
        </p:nvSpPr>
        <p:spPr>
          <a:xfrm>
            <a:off x="609600" y="1143000"/>
            <a:ext cx="7924800" cy="5181600"/>
          </a:xfrm>
        </p:spPr>
        <p:txBody>
          <a:bodyPr>
            <a:normAutofit fontScale="92500" lnSpcReduction="20000"/>
          </a:bodyPr>
          <a:lstStyle/>
          <a:p>
            <a:pPr marL="68580" indent="0" algn="just" rtl="0">
              <a:buNone/>
            </a:pPr>
            <a:endParaRPr lang="en-US" b="1" dirty="0" smtClean="0"/>
          </a:p>
          <a:p>
            <a:pPr algn="just" rtl="0"/>
            <a:r>
              <a:rPr lang="en-US" b="1" dirty="0" smtClean="0"/>
              <a:t>The </a:t>
            </a:r>
            <a:r>
              <a:rPr lang="en-US" b="1" dirty="0"/>
              <a:t>Importance of Vision</a:t>
            </a:r>
          </a:p>
          <a:p>
            <a:pPr marL="68580" indent="0" algn="just" rtl="0">
              <a:buNone/>
            </a:pPr>
            <a:r>
              <a:rPr lang="en-US" dirty="0"/>
              <a:t>“Good business leaders create a vision, articulate the vision, own the vision, and drive it to completion.”</a:t>
            </a:r>
          </a:p>
          <a:p>
            <a:pPr marL="68580" indent="0" algn="just" rtl="0">
              <a:buNone/>
            </a:pPr>
            <a:r>
              <a:rPr lang="en-US" dirty="0"/>
              <a:t>    –</a:t>
            </a:r>
            <a:r>
              <a:rPr lang="en-US" i="1" dirty="0"/>
              <a:t>Jack Welch, former CEO of General Electric</a:t>
            </a:r>
          </a:p>
          <a:p>
            <a:pPr marL="68580" indent="0" algn="just" rtl="0">
              <a:buNone/>
            </a:pPr>
            <a:endParaRPr lang="en-US" b="1" dirty="0" smtClean="0"/>
          </a:p>
          <a:p>
            <a:pPr marL="68580" indent="0" algn="just" rtl="0">
              <a:buNone/>
            </a:pPr>
            <a:endParaRPr lang="en-US" b="1" dirty="0"/>
          </a:p>
          <a:p>
            <a:pPr marL="68580" indent="0" algn="just" rtl="0">
              <a:buNone/>
            </a:pPr>
            <a:r>
              <a:rPr lang="en-US" b="1" dirty="0" smtClean="0"/>
              <a:t>Vision</a:t>
            </a:r>
            <a:r>
              <a:rPr lang="en-US" b="1" dirty="0"/>
              <a:t>= </a:t>
            </a:r>
            <a:r>
              <a:rPr lang="en-US" b="1" dirty="0" smtClean="0"/>
              <a:t>dream that you want to reach in your industry that your business is operating in.</a:t>
            </a:r>
            <a:endParaRPr lang="en-US" dirty="0" smtClean="0"/>
          </a:p>
          <a:p>
            <a:pPr marL="68580" indent="0" algn="just" rtl="0">
              <a:buNone/>
            </a:pPr>
            <a:r>
              <a:rPr lang="en-US" dirty="0" smtClean="0"/>
              <a:t>What is the main criterion that I can depend upon to determine whether the vision is a good one?</a:t>
            </a:r>
          </a:p>
          <a:p>
            <a:pPr marL="68580" indent="0" algn="just" rtl="0">
              <a:buNone/>
            </a:pPr>
            <a:r>
              <a:rPr lang="en-US" b="1" dirty="0" smtClean="0"/>
              <a:t>The main criterion is that:</a:t>
            </a:r>
          </a:p>
          <a:p>
            <a:pPr marL="68580" indent="0" algn="just" rtl="0">
              <a:buNone/>
            </a:pPr>
            <a:r>
              <a:rPr lang="en-US" dirty="0" smtClean="0"/>
              <a:t> </a:t>
            </a:r>
          </a:p>
          <a:p>
            <a:pPr marL="68580" indent="0" algn="just" rtl="0">
              <a:buNone/>
            </a:pPr>
            <a:r>
              <a:rPr lang="en-US" b="1" u="sng" dirty="0"/>
              <a:t>A vision statement should answer the </a:t>
            </a:r>
            <a:r>
              <a:rPr lang="en-US" b="1" u="sng" dirty="0" smtClean="0"/>
              <a:t>basic question, </a:t>
            </a:r>
            <a:r>
              <a:rPr lang="en-US" b="1" u="sng" dirty="0" smtClean="0">
                <a:solidFill>
                  <a:schemeClr val="accent3">
                    <a:lumMod val="75000"/>
                  </a:schemeClr>
                </a:solidFill>
              </a:rPr>
              <a:t>“</a:t>
            </a:r>
            <a:r>
              <a:rPr lang="en-US" b="1" u="sng" dirty="0">
                <a:solidFill>
                  <a:schemeClr val="accent3">
                    <a:lumMod val="75000"/>
                  </a:schemeClr>
                </a:solidFill>
              </a:rPr>
              <a:t>What do we want to become</a:t>
            </a:r>
            <a:r>
              <a:rPr lang="en-US" b="1" u="sng" dirty="0" smtClean="0">
                <a:solidFill>
                  <a:schemeClr val="accent3">
                    <a:lumMod val="75000"/>
                  </a:schemeClr>
                </a:solidFill>
              </a:rPr>
              <a:t>?”</a:t>
            </a:r>
            <a:r>
              <a:rPr lang="en-US" b="1" dirty="0" smtClean="0">
                <a:solidFill>
                  <a:schemeClr val="accent3">
                    <a:lumMod val="75000"/>
                  </a:schemeClr>
                </a:solidFill>
              </a:rPr>
              <a:t>.</a:t>
            </a:r>
          </a:p>
          <a:p>
            <a:pPr marL="68580" indent="0" algn="just" rtl="0">
              <a:buNone/>
            </a:pPr>
            <a:endParaRPr lang="en-US" b="1" dirty="0"/>
          </a:p>
        </p:txBody>
      </p:sp>
    </p:spTree>
    <p:extLst>
      <p:ext uri="{BB962C8B-B14F-4D97-AF65-F5344CB8AC3E}">
        <p14:creationId xmlns:p14="http://schemas.microsoft.com/office/powerpoint/2010/main" val="26019523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558144" cy="1143000"/>
          </a:xfrm>
        </p:spPr>
        <p:txBody>
          <a:bodyPr>
            <a:normAutofit/>
          </a:bodyPr>
          <a:lstStyle/>
          <a:p>
            <a:r>
              <a:rPr lang="en-US" b="1" dirty="0" smtClean="0"/>
              <a:t>Vision statement </a:t>
            </a:r>
            <a:endParaRPr lang="ar-EG" dirty="0"/>
          </a:p>
        </p:txBody>
      </p:sp>
      <p:sp>
        <p:nvSpPr>
          <p:cNvPr id="3" name="Content Placeholder 2"/>
          <p:cNvSpPr>
            <a:spLocks noGrp="1"/>
          </p:cNvSpPr>
          <p:nvPr>
            <p:ph idx="1"/>
          </p:nvPr>
        </p:nvSpPr>
        <p:spPr>
          <a:xfrm>
            <a:off x="609600" y="1143000"/>
            <a:ext cx="7924800" cy="5181600"/>
          </a:xfrm>
        </p:spPr>
        <p:txBody>
          <a:bodyPr>
            <a:normAutofit/>
          </a:bodyPr>
          <a:lstStyle/>
          <a:p>
            <a:pPr marL="68580" indent="0" algn="just" rtl="0">
              <a:buNone/>
            </a:pPr>
            <a:r>
              <a:rPr lang="en-US" b="1" dirty="0" smtClean="0"/>
              <a:t>First thing you have to get: the current vision and mission.</a:t>
            </a:r>
          </a:p>
          <a:p>
            <a:pPr marL="68580" indent="0" algn="just" rtl="0">
              <a:buNone/>
            </a:pPr>
            <a:r>
              <a:rPr lang="en-US" b="1" dirty="0" smtClean="0">
                <a:solidFill>
                  <a:schemeClr val="accent3">
                    <a:lumMod val="75000"/>
                  </a:schemeClr>
                </a:solidFill>
              </a:rPr>
              <a:t>If org. has no vision and mission, what you </a:t>
            </a:r>
            <a:r>
              <a:rPr lang="en-US" b="1" dirty="0" err="1" smtClean="0">
                <a:solidFill>
                  <a:schemeClr val="accent3">
                    <a:lumMod val="75000"/>
                  </a:schemeClr>
                </a:solidFill>
              </a:rPr>
              <a:t>ll</a:t>
            </a:r>
            <a:r>
              <a:rPr lang="en-US" b="1" dirty="0" smtClean="0">
                <a:solidFill>
                  <a:schemeClr val="accent3">
                    <a:lumMod val="75000"/>
                  </a:schemeClr>
                </a:solidFill>
              </a:rPr>
              <a:t> do???</a:t>
            </a:r>
          </a:p>
          <a:p>
            <a:pPr marL="68580" indent="0" algn="just" rtl="0">
              <a:buNone/>
            </a:pPr>
            <a:r>
              <a:rPr lang="en-US" b="1" dirty="0" smtClean="0">
                <a:solidFill>
                  <a:schemeClr val="accent3">
                    <a:lumMod val="75000"/>
                  </a:schemeClr>
                </a:solidFill>
              </a:rPr>
              <a:t>Just formulate it.</a:t>
            </a:r>
          </a:p>
          <a:p>
            <a:pPr marL="68580" indent="0" algn="just" rtl="0">
              <a:buNone/>
            </a:pPr>
            <a:r>
              <a:rPr lang="en-US" b="1" dirty="0" smtClean="0">
                <a:solidFill>
                  <a:schemeClr val="accent3">
                    <a:lumMod val="75000"/>
                  </a:schemeClr>
                </a:solidFill>
              </a:rPr>
              <a:t>1- Current vision and mission (If no current, go to propose directly)</a:t>
            </a:r>
          </a:p>
          <a:p>
            <a:pPr marL="68580" indent="0" algn="just" rtl="0">
              <a:buNone/>
            </a:pPr>
            <a:r>
              <a:rPr lang="en-US" b="1" dirty="0" smtClean="0">
                <a:solidFill>
                  <a:schemeClr val="accent3">
                    <a:lumMod val="75000"/>
                  </a:schemeClr>
                </a:solidFill>
              </a:rPr>
              <a:t>2- Critique</a:t>
            </a:r>
          </a:p>
          <a:p>
            <a:pPr marL="68580" indent="0" algn="just" rtl="0">
              <a:buNone/>
            </a:pPr>
            <a:r>
              <a:rPr lang="en-US" b="1" dirty="0" smtClean="0">
                <a:solidFill>
                  <a:schemeClr val="accent3">
                    <a:lumMod val="75000"/>
                  </a:schemeClr>
                </a:solidFill>
              </a:rPr>
              <a:t>3- Propose</a:t>
            </a:r>
          </a:p>
          <a:p>
            <a:pPr marL="68580" indent="0" algn="just" rtl="0">
              <a:buNone/>
            </a:pPr>
            <a:endParaRPr lang="en-US" b="1" dirty="0">
              <a:solidFill>
                <a:schemeClr val="accent3">
                  <a:lumMod val="75000"/>
                </a:schemeClr>
              </a:solidFill>
            </a:endParaRPr>
          </a:p>
          <a:p>
            <a:pPr marL="68580" indent="0" algn="just" rtl="0">
              <a:buNone/>
            </a:pPr>
            <a:r>
              <a:rPr lang="en-US" b="1" dirty="0" smtClean="0">
                <a:solidFill>
                  <a:srgbClr val="FF0000"/>
                </a:solidFill>
              </a:rPr>
              <a:t>Vision: </a:t>
            </a:r>
            <a:r>
              <a:rPr lang="en-US" b="1" dirty="0" smtClean="0">
                <a:solidFill>
                  <a:schemeClr val="accent1">
                    <a:lumMod val="75000"/>
                  </a:schemeClr>
                </a:solidFill>
              </a:rPr>
              <a:t>you will not reach it in the short term, it is a dream not realistic now, it is future oriented and short (one or max 2 sentences).</a:t>
            </a:r>
          </a:p>
          <a:p>
            <a:pPr marL="68580" indent="0" algn="just" rtl="0">
              <a:buNone/>
            </a:pPr>
            <a:endParaRPr lang="en-US" b="1" dirty="0"/>
          </a:p>
        </p:txBody>
      </p:sp>
    </p:spTree>
    <p:extLst>
      <p:ext uri="{BB962C8B-B14F-4D97-AF65-F5344CB8AC3E}">
        <p14:creationId xmlns:p14="http://schemas.microsoft.com/office/powerpoint/2010/main" val="22379146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558144" cy="1143000"/>
          </a:xfrm>
        </p:spPr>
        <p:txBody>
          <a:bodyPr>
            <a:normAutofit/>
          </a:bodyPr>
          <a:lstStyle/>
          <a:p>
            <a:r>
              <a:rPr lang="en-US" b="1" dirty="0" smtClean="0"/>
              <a:t>Vision statement </a:t>
            </a:r>
            <a:endParaRPr lang="ar-EG" dirty="0"/>
          </a:p>
        </p:txBody>
      </p:sp>
      <p:sp>
        <p:nvSpPr>
          <p:cNvPr id="3" name="Content Placeholder 2"/>
          <p:cNvSpPr>
            <a:spLocks noGrp="1"/>
          </p:cNvSpPr>
          <p:nvPr>
            <p:ph idx="1"/>
          </p:nvPr>
        </p:nvSpPr>
        <p:spPr>
          <a:xfrm>
            <a:off x="609600" y="1143000"/>
            <a:ext cx="8001000" cy="5181600"/>
          </a:xfrm>
        </p:spPr>
        <p:txBody>
          <a:bodyPr>
            <a:normAutofit fontScale="92500" lnSpcReduction="10000"/>
          </a:bodyPr>
          <a:lstStyle/>
          <a:p>
            <a:pPr marL="68580" indent="0" algn="just" rtl="0">
              <a:buNone/>
            </a:pPr>
            <a:r>
              <a:rPr lang="en-US" b="1" dirty="0"/>
              <a:t>A good vision structure has several key characteristics that make it inspiring, clear, and effective for guiding an organization or individual. </a:t>
            </a:r>
            <a:endParaRPr lang="en-US" b="1" dirty="0" smtClean="0"/>
          </a:p>
          <a:p>
            <a:pPr marL="68580" indent="0" algn="just" rtl="0">
              <a:buNone/>
            </a:pPr>
            <a:r>
              <a:rPr lang="en-US" b="1" u="sng" dirty="0" smtClean="0">
                <a:solidFill>
                  <a:schemeClr val="bg2">
                    <a:lumMod val="50000"/>
                  </a:schemeClr>
                </a:solidFill>
              </a:rPr>
              <a:t>Below </a:t>
            </a:r>
            <a:r>
              <a:rPr lang="en-US" b="1" u="sng" dirty="0">
                <a:solidFill>
                  <a:schemeClr val="bg2">
                    <a:lumMod val="50000"/>
                  </a:schemeClr>
                </a:solidFill>
              </a:rPr>
              <a:t>are the essential traits</a:t>
            </a:r>
            <a:r>
              <a:rPr lang="en-US" b="1" u="sng" dirty="0" smtClean="0">
                <a:solidFill>
                  <a:schemeClr val="bg2">
                    <a:lumMod val="50000"/>
                  </a:schemeClr>
                </a:solidFill>
              </a:rPr>
              <a:t>:</a:t>
            </a:r>
          </a:p>
          <a:p>
            <a:pPr marL="525780" indent="-457200" algn="just" rtl="0">
              <a:buAutoNum type="arabicPeriod"/>
            </a:pPr>
            <a:r>
              <a:rPr lang="en-US" b="1" dirty="0" smtClean="0">
                <a:solidFill>
                  <a:srgbClr val="FF0000"/>
                </a:solidFill>
              </a:rPr>
              <a:t>Clarity</a:t>
            </a:r>
            <a:r>
              <a:rPr lang="en-US" b="1" dirty="0" smtClean="0"/>
              <a:t> : </a:t>
            </a:r>
            <a:r>
              <a:rPr lang="en-US" b="1" dirty="0"/>
              <a:t>A good vision is simple and easy </a:t>
            </a:r>
            <a:r>
              <a:rPr lang="en-US" b="1" dirty="0" smtClean="0"/>
              <a:t>to understand</a:t>
            </a:r>
          </a:p>
          <a:p>
            <a:pPr marL="525780" indent="-457200" algn="just" rtl="0">
              <a:buAutoNum type="arabicPeriod"/>
            </a:pPr>
            <a:r>
              <a:rPr lang="en-US" b="1" dirty="0" smtClean="0">
                <a:solidFill>
                  <a:srgbClr val="FF0000"/>
                </a:solidFill>
              </a:rPr>
              <a:t>Future-Oriented</a:t>
            </a:r>
            <a:r>
              <a:rPr lang="en-US" b="1" dirty="0" smtClean="0"/>
              <a:t>: </a:t>
            </a:r>
            <a:r>
              <a:rPr lang="en-US" b="1" dirty="0"/>
              <a:t>Focuses on a desired future state </a:t>
            </a:r>
            <a:endParaRPr lang="en-US" b="1" dirty="0" smtClean="0"/>
          </a:p>
          <a:p>
            <a:pPr marL="525780" indent="-457200" algn="just" rtl="0">
              <a:buAutoNum type="arabicPeriod"/>
            </a:pPr>
            <a:r>
              <a:rPr lang="en-US" b="1" dirty="0" smtClean="0">
                <a:solidFill>
                  <a:srgbClr val="FF0000"/>
                </a:solidFill>
              </a:rPr>
              <a:t>Inspirational</a:t>
            </a:r>
            <a:r>
              <a:rPr lang="en-US" b="1" dirty="0" smtClean="0"/>
              <a:t>: </a:t>
            </a:r>
            <a:r>
              <a:rPr lang="en-US" b="1" dirty="0"/>
              <a:t>Motivates and energizes people to strive for </a:t>
            </a:r>
            <a:r>
              <a:rPr lang="en-US" b="1" dirty="0" smtClean="0"/>
              <a:t>excellence.</a:t>
            </a:r>
          </a:p>
          <a:p>
            <a:pPr marL="525780" indent="-457200" algn="just" rtl="0">
              <a:buAutoNum type="arabicPeriod"/>
            </a:pPr>
            <a:r>
              <a:rPr lang="en-US" b="1" dirty="0" smtClean="0">
                <a:solidFill>
                  <a:srgbClr val="FF0000"/>
                </a:solidFill>
              </a:rPr>
              <a:t>Unique</a:t>
            </a:r>
            <a:r>
              <a:rPr lang="en-US" b="1" dirty="0" smtClean="0"/>
              <a:t>: </a:t>
            </a:r>
            <a:r>
              <a:rPr lang="en-US" b="1" dirty="0"/>
              <a:t>Reflects the distinct identity and purpose of the organization </a:t>
            </a:r>
            <a:r>
              <a:rPr lang="en-US" b="1" dirty="0" smtClean="0"/>
              <a:t>.</a:t>
            </a:r>
          </a:p>
          <a:p>
            <a:pPr marL="525780" indent="-457200" algn="just" rtl="0">
              <a:buAutoNum type="arabicPeriod"/>
            </a:pPr>
            <a:r>
              <a:rPr lang="en-US" b="1" dirty="0" smtClean="0">
                <a:solidFill>
                  <a:srgbClr val="FF0000"/>
                </a:solidFill>
              </a:rPr>
              <a:t>Short </a:t>
            </a:r>
            <a:r>
              <a:rPr lang="en-US" b="1" dirty="0">
                <a:solidFill>
                  <a:srgbClr val="FF0000"/>
                </a:solidFill>
              </a:rPr>
              <a:t>and </a:t>
            </a:r>
            <a:r>
              <a:rPr lang="en-US" b="1" dirty="0" smtClean="0">
                <a:solidFill>
                  <a:srgbClr val="FF0000"/>
                </a:solidFill>
              </a:rPr>
              <a:t>Memorable</a:t>
            </a:r>
            <a:r>
              <a:rPr lang="en-US" b="1" dirty="0" smtClean="0"/>
              <a:t>: Concise </a:t>
            </a:r>
            <a:r>
              <a:rPr lang="en-US" b="1" dirty="0"/>
              <a:t>and easy to remember</a:t>
            </a:r>
            <a:r>
              <a:rPr lang="en-US" b="1" dirty="0" smtClean="0"/>
              <a:t>. </a:t>
            </a:r>
          </a:p>
          <a:p>
            <a:pPr marL="525780" indent="-457200" algn="just" rtl="0">
              <a:buAutoNum type="arabicPeriod"/>
            </a:pPr>
            <a:r>
              <a:rPr lang="en-US" b="1" dirty="0" smtClean="0">
                <a:solidFill>
                  <a:srgbClr val="FF0000"/>
                </a:solidFill>
              </a:rPr>
              <a:t>Adaptable</a:t>
            </a:r>
            <a:r>
              <a:rPr lang="en-US" b="1" dirty="0" smtClean="0"/>
              <a:t> : </a:t>
            </a:r>
            <a:r>
              <a:rPr lang="en-US" b="1" dirty="0"/>
              <a:t>Flexible enough to remain relevant as circumstances </a:t>
            </a:r>
            <a:r>
              <a:rPr lang="en-US" b="1" dirty="0" smtClean="0"/>
              <a:t>change (DYNAMIC ENVIRONEMENT).</a:t>
            </a:r>
          </a:p>
        </p:txBody>
      </p:sp>
    </p:spTree>
    <p:extLst>
      <p:ext uri="{BB962C8B-B14F-4D97-AF65-F5344CB8AC3E}">
        <p14:creationId xmlns:p14="http://schemas.microsoft.com/office/powerpoint/2010/main" val="36219318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558144" cy="1143000"/>
          </a:xfrm>
        </p:spPr>
        <p:txBody>
          <a:bodyPr>
            <a:normAutofit/>
          </a:bodyPr>
          <a:lstStyle/>
          <a:p>
            <a:r>
              <a:rPr lang="en-US" b="1" dirty="0" smtClean="0"/>
              <a:t>Vision statement </a:t>
            </a:r>
            <a:endParaRPr lang="ar-EG" dirty="0"/>
          </a:p>
        </p:txBody>
      </p:sp>
      <p:sp>
        <p:nvSpPr>
          <p:cNvPr id="3" name="Content Placeholder 2"/>
          <p:cNvSpPr>
            <a:spLocks noGrp="1"/>
          </p:cNvSpPr>
          <p:nvPr>
            <p:ph idx="1"/>
          </p:nvPr>
        </p:nvSpPr>
        <p:spPr>
          <a:xfrm>
            <a:off x="609600" y="1143000"/>
            <a:ext cx="7924800" cy="5181600"/>
          </a:xfrm>
        </p:spPr>
        <p:txBody>
          <a:bodyPr>
            <a:normAutofit/>
          </a:bodyPr>
          <a:lstStyle/>
          <a:p>
            <a:pPr algn="just" rtl="0"/>
            <a:r>
              <a:rPr lang="en-US" b="1" dirty="0"/>
              <a:t>Avon’s vision</a:t>
            </a:r>
            <a:r>
              <a:rPr lang="en-US" dirty="0"/>
              <a:t> </a:t>
            </a:r>
            <a:endParaRPr lang="en-US" dirty="0" smtClean="0"/>
          </a:p>
          <a:p>
            <a:pPr algn="just" rtl="0"/>
            <a:r>
              <a:rPr lang="en-US" dirty="0" smtClean="0"/>
              <a:t>is </a:t>
            </a:r>
            <a:r>
              <a:rPr lang="en-US" dirty="0"/>
              <a:t>“to be the company that best understands and satisfies the product, service, and self-fulfillment needs of women—globally.” </a:t>
            </a:r>
            <a:endParaRPr lang="en-US" dirty="0" smtClean="0"/>
          </a:p>
          <a:p>
            <a:pPr algn="just" rtl="0"/>
            <a:endParaRPr lang="en-US" dirty="0"/>
          </a:p>
          <a:p>
            <a:pPr algn="just" rtl="0"/>
            <a:r>
              <a:rPr lang="en-US" dirty="0" smtClean="0"/>
              <a:t>This </a:t>
            </a:r>
            <a:r>
              <a:rPr lang="en-US" dirty="0"/>
              <a:t>brief but powerful statement emphasizes several aims that are important to Avon, including excellence in customer service, empowering women, and the intent to be a worldwide player</a:t>
            </a:r>
            <a:r>
              <a:rPr lang="en-US" dirty="0" smtClean="0"/>
              <a:t>.</a:t>
            </a:r>
          </a:p>
          <a:p>
            <a:pPr algn="just" rtl="0"/>
            <a:r>
              <a:rPr lang="en-US" dirty="0" smtClean="0"/>
              <a:t> </a:t>
            </a:r>
            <a:r>
              <a:rPr lang="en-US" dirty="0"/>
              <a:t>Like all good visions, </a:t>
            </a:r>
            <a:r>
              <a:rPr lang="en-US" b="1" dirty="0">
                <a:solidFill>
                  <a:srgbClr val="FF0000"/>
                </a:solidFill>
              </a:rPr>
              <a:t>Avon sets a high standard for employees to work collectively toward.</a:t>
            </a:r>
          </a:p>
        </p:txBody>
      </p:sp>
    </p:spTree>
    <p:extLst>
      <p:ext uri="{BB962C8B-B14F-4D97-AF65-F5344CB8AC3E}">
        <p14:creationId xmlns:p14="http://schemas.microsoft.com/office/powerpoint/2010/main" val="10356642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558144" cy="1143000"/>
          </a:xfrm>
        </p:spPr>
        <p:txBody>
          <a:bodyPr>
            <a:normAutofit/>
          </a:bodyPr>
          <a:lstStyle/>
          <a:p>
            <a:r>
              <a:rPr lang="en-US" b="1" dirty="0" smtClean="0"/>
              <a:t>Vision statement </a:t>
            </a:r>
            <a:endParaRPr lang="ar-EG" dirty="0"/>
          </a:p>
        </p:txBody>
      </p:sp>
      <p:sp>
        <p:nvSpPr>
          <p:cNvPr id="3" name="Content Placeholder 2"/>
          <p:cNvSpPr>
            <a:spLocks noGrp="1"/>
          </p:cNvSpPr>
          <p:nvPr>
            <p:ph idx="1"/>
          </p:nvPr>
        </p:nvSpPr>
        <p:spPr>
          <a:xfrm>
            <a:off x="609600" y="1143000"/>
            <a:ext cx="7924800" cy="5181600"/>
          </a:xfrm>
        </p:spPr>
        <p:txBody>
          <a:bodyPr>
            <a:normAutofit/>
          </a:bodyPr>
          <a:lstStyle/>
          <a:p>
            <a:pPr algn="just" rtl="0"/>
            <a:r>
              <a:rPr lang="en-US" dirty="0"/>
              <a:t>Not surprisingly, many organizations do not have formal visions. Many organizations that do have visions find that employees do not embrace and pursue the visions. </a:t>
            </a:r>
            <a:endParaRPr lang="en-US" dirty="0" smtClean="0"/>
          </a:p>
          <a:p>
            <a:pPr marL="68580" indent="0" algn="just" rtl="0">
              <a:buNone/>
            </a:pPr>
            <a:endParaRPr lang="en-US" dirty="0" smtClean="0"/>
          </a:p>
          <a:p>
            <a:pPr algn="just" rtl="0"/>
            <a:r>
              <a:rPr lang="en-US" b="1" dirty="0" smtClean="0">
                <a:solidFill>
                  <a:srgbClr val="FF0000"/>
                </a:solidFill>
              </a:rPr>
              <a:t>Having </a:t>
            </a:r>
            <a:r>
              <a:rPr lang="en-US" b="1" dirty="0">
                <a:solidFill>
                  <a:srgbClr val="FF0000"/>
                </a:solidFill>
              </a:rPr>
              <a:t>a well-formulated vision employees embrace can therefore give an organization an </a:t>
            </a:r>
            <a:r>
              <a:rPr lang="en-US" b="1" dirty="0" smtClean="0">
                <a:solidFill>
                  <a:srgbClr val="FF0000"/>
                </a:solidFill>
              </a:rPr>
              <a:t>edge </a:t>
            </a:r>
            <a:r>
              <a:rPr lang="en-US" b="1" dirty="0">
                <a:solidFill>
                  <a:srgbClr val="FF0000"/>
                </a:solidFill>
              </a:rPr>
              <a:t>over its rivals</a:t>
            </a:r>
            <a:r>
              <a:rPr lang="en-US" b="1" dirty="0" smtClean="0">
                <a:solidFill>
                  <a:srgbClr val="FF0000"/>
                </a:solidFill>
              </a:rPr>
              <a:t>.</a:t>
            </a:r>
          </a:p>
          <a:p>
            <a:pPr algn="just" rtl="0"/>
            <a:endParaRPr lang="en-US" b="1" dirty="0">
              <a:solidFill>
                <a:srgbClr val="FF0000"/>
              </a:solidFill>
            </a:endParaRPr>
          </a:p>
        </p:txBody>
      </p:sp>
    </p:spTree>
    <p:extLst>
      <p:ext uri="{BB962C8B-B14F-4D97-AF65-F5344CB8AC3E}">
        <p14:creationId xmlns:p14="http://schemas.microsoft.com/office/powerpoint/2010/main" val="10106996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558144" cy="1143000"/>
          </a:xfrm>
        </p:spPr>
        <p:txBody>
          <a:bodyPr>
            <a:normAutofit/>
          </a:bodyPr>
          <a:lstStyle/>
          <a:p>
            <a:r>
              <a:rPr lang="en-US" b="1" dirty="0" smtClean="0"/>
              <a:t>Vision statement </a:t>
            </a:r>
            <a:endParaRPr lang="ar-EG" dirty="0"/>
          </a:p>
        </p:txBody>
      </p:sp>
      <p:sp>
        <p:nvSpPr>
          <p:cNvPr id="3" name="Content Placeholder 2"/>
          <p:cNvSpPr>
            <a:spLocks noGrp="1"/>
          </p:cNvSpPr>
          <p:nvPr>
            <p:ph idx="1"/>
          </p:nvPr>
        </p:nvSpPr>
        <p:spPr>
          <a:xfrm>
            <a:off x="609600" y="1143000"/>
            <a:ext cx="7924800" cy="5181600"/>
          </a:xfrm>
        </p:spPr>
        <p:txBody>
          <a:bodyPr>
            <a:normAutofit fontScale="40000" lnSpcReduction="20000"/>
          </a:bodyPr>
          <a:lstStyle/>
          <a:p>
            <a:pPr algn="just" rtl="0"/>
            <a:r>
              <a:rPr lang="en-US" sz="5600" b="1" u="sng" dirty="0">
                <a:solidFill>
                  <a:srgbClr val="FF0000"/>
                </a:solidFill>
              </a:rPr>
              <a:t>Limitations of Vision </a:t>
            </a:r>
            <a:r>
              <a:rPr lang="en-US" sz="5600" b="1" u="sng" dirty="0" smtClean="0">
                <a:solidFill>
                  <a:srgbClr val="FF0000"/>
                </a:solidFill>
              </a:rPr>
              <a:t>:</a:t>
            </a:r>
            <a:endParaRPr lang="en-US" sz="4800" u="sng" dirty="0">
              <a:solidFill>
                <a:srgbClr val="FF0000"/>
              </a:solidFill>
            </a:endParaRPr>
          </a:p>
          <a:p>
            <a:pPr marL="68580" indent="0" algn="l" rtl="0">
              <a:buNone/>
            </a:pPr>
            <a:r>
              <a:rPr lang="en-US" sz="5600" b="1" dirty="0"/>
              <a:t/>
            </a:r>
            <a:br>
              <a:rPr lang="en-US" sz="5600" b="1" dirty="0"/>
            </a:br>
            <a:r>
              <a:rPr lang="en-US" sz="5500" b="1" dirty="0"/>
              <a:t>1- Vision statements are generally not written in detail with specifications regarding the desired future position of </a:t>
            </a:r>
            <a:r>
              <a:rPr lang="en-US" sz="5500" b="1" dirty="0" smtClean="0"/>
              <a:t>the organization</a:t>
            </a:r>
            <a:r>
              <a:rPr lang="en-US" sz="5500" b="1" dirty="0"/>
              <a:t>. </a:t>
            </a:r>
            <a:br>
              <a:rPr lang="en-US" sz="5500" b="1" dirty="0"/>
            </a:br>
            <a:endParaRPr lang="en-US" sz="5500" b="1" dirty="0"/>
          </a:p>
          <a:p>
            <a:pPr marL="68580" indent="0" algn="just" rtl="0">
              <a:buNone/>
            </a:pPr>
            <a:r>
              <a:rPr lang="en-US" sz="5500" b="1" dirty="0"/>
              <a:t>2- The vision statement only projects an image of what the organization wishes to achieve, but it does not tell if and how the organization will realize the desired goals.</a:t>
            </a:r>
          </a:p>
          <a:p>
            <a:pPr marL="68580" indent="0" algn="just" rtl="0">
              <a:buNone/>
            </a:pPr>
            <a:r>
              <a:rPr lang="en-US" sz="5500" b="1" dirty="0"/>
              <a:t/>
            </a:r>
            <a:br>
              <a:rPr lang="en-US" sz="5500" b="1" dirty="0"/>
            </a:br>
            <a:endParaRPr lang="en-US" sz="5500" b="1" dirty="0"/>
          </a:p>
          <a:p>
            <a:pPr marL="68580" indent="0" algn="just" rtl="0">
              <a:buNone/>
            </a:pPr>
            <a:r>
              <a:rPr lang="en-US" sz="5500" b="1" dirty="0"/>
              <a:t>3- The vision statements are so wide-ranging that the company can move in any direction. </a:t>
            </a:r>
          </a:p>
          <a:p>
            <a:pPr marL="68580" indent="0" algn="just" rtl="0">
              <a:buNone/>
            </a:pPr>
            <a:endParaRPr lang="en-US" sz="4800" b="1" dirty="0" smtClean="0"/>
          </a:p>
          <a:p>
            <a:pPr marL="68580" indent="0" algn="just" rtl="0">
              <a:buNone/>
            </a:pPr>
            <a:r>
              <a:rPr lang="en-US" sz="4800" dirty="0"/>
              <a:t/>
            </a:r>
            <a:br>
              <a:rPr lang="en-US" sz="4800" dirty="0"/>
            </a:br>
            <a:endParaRPr lang="en-US" sz="4800" dirty="0"/>
          </a:p>
        </p:txBody>
      </p:sp>
    </p:spTree>
    <p:extLst>
      <p:ext uri="{BB962C8B-B14F-4D97-AF65-F5344CB8AC3E}">
        <p14:creationId xmlns:p14="http://schemas.microsoft.com/office/powerpoint/2010/main" val="41804181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558144" cy="1143000"/>
          </a:xfrm>
        </p:spPr>
        <p:txBody>
          <a:bodyPr>
            <a:normAutofit/>
          </a:bodyPr>
          <a:lstStyle/>
          <a:p>
            <a:r>
              <a:rPr lang="en-US" b="1" dirty="0" smtClean="0"/>
              <a:t>Vision statement </a:t>
            </a:r>
            <a:endParaRPr lang="ar-EG"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242425212"/>
              </p:ext>
            </p:extLst>
          </p:nvPr>
        </p:nvGraphicFramePr>
        <p:xfrm>
          <a:off x="609600" y="1828800"/>
          <a:ext cx="7924800" cy="4101448"/>
        </p:xfrm>
        <a:graphic>
          <a:graphicData uri="http://schemas.openxmlformats.org/drawingml/2006/table">
            <a:tbl>
              <a:tblPr/>
              <a:tblGrid>
                <a:gridCol w="2507848">
                  <a:extLst>
                    <a:ext uri="{9D8B030D-6E8A-4147-A177-3AD203B41FA5}">
                      <a16:colId xmlns:a16="http://schemas.microsoft.com/office/drawing/2014/main" val="20000"/>
                    </a:ext>
                  </a:extLst>
                </a:gridCol>
                <a:gridCol w="5416952">
                  <a:extLst>
                    <a:ext uri="{9D8B030D-6E8A-4147-A177-3AD203B41FA5}">
                      <a16:colId xmlns:a16="http://schemas.microsoft.com/office/drawing/2014/main" val="20001"/>
                    </a:ext>
                  </a:extLst>
                </a:gridCol>
              </a:tblGrid>
              <a:tr h="221493">
                <a:tc>
                  <a:txBody>
                    <a:bodyPr/>
                    <a:lstStyle/>
                    <a:p>
                      <a:pPr algn="just" rtl="0"/>
                      <a:r>
                        <a:rPr lang="en-US" sz="1400" b="1" dirty="0">
                          <a:solidFill>
                            <a:srgbClr val="FF0000"/>
                          </a:solidFill>
                        </a:rPr>
                        <a:t>Company</a:t>
                      </a:r>
                    </a:p>
                  </a:txBody>
                  <a:tcPr marL="70981" marR="70981" marT="35490" marB="35490"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algn="just" rtl="0"/>
                      <a:r>
                        <a:rPr lang="en-US" sz="1400" dirty="0">
                          <a:solidFill>
                            <a:srgbClr val="FF0000"/>
                          </a:solidFill>
                        </a:rPr>
                        <a:t>Vision</a:t>
                      </a:r>
                    </a:p>
                  </a:txBody>
                  <a:tcPr marL="70981" marR="70981" marT="35490" marB="35490"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720098">
                <a:tc>
                  <a:txBody>
                    <a:bodyPr/>
                    <a:lstStyle/>
                    <a:p>
                      <a:pPr algn="just" rtl="0"/>
                      <a:r>
                        <a:rPr lang="en-US" sz="1400" b="1" dirty="0"/>
                        <a:t>Alcoa</a:t>
                      </a:r>
                    </a:p>
                  </a:txBody>
                  <a:tcPr marL="70981" marR="70981" marT="35490" marB="35490"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algn="just" rtl="0"/>
                      <a:r>
                        <a:rPr lang="en-US" sz="1400" b="1" dirty="0"/>
                        <a:t>To be the best company in the world–in the eyes of our customers, shareholders, communities and people.</a:t>
                      </a:r>
                    </a:p>
                  </a:txBody>
                  <a:tcPr marL="70981" marR="70981" marT="35490" marB="35490"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884674">
                <a:tc>
                  <a:txBody>
                    <a:bodyPr/>
                    <a:lstStyle/>
                    <a:p>
                      <a:pPr algn="just" rtl="0"/>
                      <a:r>
                        <a:rPr lang="en-US" sz="1400" b="1" dirty="0"/>
                        <a:t>Avon</a:t>
                      </a:r>
                    </a:p>
                  </a:txBody>
                  <a:tcPr marL="70981" marR="70981" marT="35490" marB="35490"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algn="just" rtl="0"/>
                      <a:r>
                        <a:rPr lang="en-US" sz="1400" b="1" dirty="0"/>
                        <a:t>To be the company that best understands and satisfies the product, service and self-fulfillment needs women–globally.</a:t>
                      </a:r>
                    </a:p>
                  </a:txBody>
                  <a:tcPr marL="70981" marR="70981" marT="35490" marB="35490"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718798">
                <a:tc>
                  <a:txBody>
                    <a:bodyPr/>
                    <a:lstStyle/>
                    <a:p>
                      <a:pPr algn="just" rtl="0"/>
                      <a:r>
                        <a:rPr lang="en-US" sz="1400" b="1" dirty="0"/>
                        <a:t>Chevron</a:t>
                      </a:r>
                    </a:p>
                  </a:txBody>
                  <a:tcPr marL="70981" marR="70981" marT="35490" marB="35490"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algn="just" rtl="0"/>
                      <a:r>
                        <a:rPr lang="en-US" sz="1400" b="1" dirty="0"/>
                        <a:t>To be the global energy company most admired for its people, partnership and performance.</a:t>
                      </a:r>
                    </a:p>
                  </a:txBody>
                  <a:tcPr marL="70981" marR="70981" marT="35490" marB="35490"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r h="387045">
                <a:tc>
                  <a:txBody>
                    <a:bodyPr/>
                    <a:lstStyle/>
                    <a:p>
                      <a:pPr algn="just" rtl="0"/>
                      <a:r>
                        <a:rPr lang="en-US" sz="1400" b="1"/>
                        <a:t>Google</a:t>
                      </a:r>
                    </a:p>
                  </a:txBody>
                  <a:tcPr marL="70981" marR="70981" marT="35490" marB="35490"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algn="just" rtl="0"/>
                      <a:r>
                        <a:rPr lang="en-US" sz="1400" b="1" dirty="0"/>
                        <a:t>To develop a perfect search engine.</a:t>
                      </a:r>
                    </a:p>
                  </a:txBody>
                  <a:tcPr marL="70981" marR="70981" marT="35490" marB="35490"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4"/>
                  </a:ext>
                </a:extLst>
              </a:tr>
              <a:tr h="387695">
                <a:tc>
                  <a:txBody>
                    <a:bodyPr/>
                    <a:lstStyle/>
                    <a:p>
                      <a:pPr algn="just" rtl="0"/>
                      <a:r>
                        <a:rPr lang="en-US" sz="1400" b="1"/>
                        <a:t>Kraft Foods</a:t>
                      </a:r>
                    </a:p>
                  </a:txBody>
                  <a:tcPr marL="70981" marR="70981" marT="35490" marB="35490"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algn="just" rtl="0"/>
                      <a:r>
                        <a:rPr lang="en-US" sz="1400" b="1" dirty="0"/>
                        <a:t>Helping people around the world eat and live better.</a:t>
                      </a:r>
                    </a:p>
                  </a:txBody>
                  <a:tcPr marL="70981" marR="70981" marT="35490" marB="35490"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5"/>
                  </a:ext>
                </a:extLst>
              </a:tr>
              <a:tr h="718798">
                <a:tc>
                  <a:txBody>
                    <a:bodyPr/>
                    <a:lstStyle/>
                    <a:p>
                      <a:pPr algn="just" rtl="0"/>
                      <a:r>
                        <a:rPr lang="en-US" sz="1400" b="1"/>
                        <a:t>Proctor and Gamble</a:t>
                      </a:r>
                    </a:p>
                  </a:txBody>
                  <a:tcPr marL="70981" marR="70981" marT="35490" marB="35490"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algn="just" rtl="0"/>
                      <a:r>
                        <a:rPr lang="en-US" sz="1400" b="1" dirty="0"/>
                        <a:t>Be, and be recognized as, the best consumer products and services company in the world.</a:t>
                      </a:r>
                    </a:p>
                  </a:txBody>
                  <a:tcPr marL="70981" marR="70981" marT="35490" marB="35490"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6"/>
                  </a:ext>
                </a:extLst>
              </a:tr>
            </a:tbl>
          </a:graphicData>
        </a:graphic>
      </p:graphicFrame>
      <p:sp>
        <p:nvSpPr>
          <p:cNvPr id="8" name="Rectangle 7"/>
          <p:cNvSpPr/>
          <p:nvPr/>
        </p:nvSpPr>
        <p:spPr>
          <a:xfrm>
            <a:off x="609600" y="1295400"/>
            <a:ext cx="7924800" cy="369332"/>
          </a:xfrm>
          <a:prstGeom prst="rect">
            <a:avLst/>
          </a:prstGeom>
        </p:spPr>
        <p:txBody>
          <a:bodyPr wrap="square">
            <a:spAutoFit/>
          </a:bodyPr>
          <a:lstStyle/>
          <a:p>
            <a:pPr lvl="0" fontAlgn="base">
              <a:spcBef>
                <a:spcPct val="0"/>
              </a:spcBef>
              <a:spcAft>
                <a:spcPct val="0"/>
              </a:spcAft>
            </a:pPr>
            <a:r>
              <a:rPr lang="en-US" altLang="en-US" b="1" dirty="0">
                <a:latin typeface="Arial" charset="0"/>
                <a:cs typeface="Arial" charset="0"/>
              </a:rPr>
              <a:t>Some of </a:t>
            </a:r>
            <a:r>
              <a:rPr lang="en-US" altLang="en-US" b="1" dirty="0" smtClean="0">
                <a:latin typeface="Arial" charset="0"/>
                <a:cs typeface="Arial" charset="0"/>
              </a:rPr>
              <a:t>visions </a:t>
            </a:r>
            <a:r>
              <a:rPr lang="en-US" altLang="en-US" b="1" dirty="0">
                <a:latin typeface="Arial" charset="0"/>
                <a:cs typeface="Arial" charset="0"/>
              </a:rPr>
              <a:t>being pursued by businesses </a:t>
            </a:r>
            <a:r>
              <a:rPr lang="en-US" altLang="en-US" b="1" dirty="0" smtClean="0">
                <a:latin typeface="Arial" charset="0"/>
                <a:cs typeface="Arial" charset="0"/>
              </a:rPr>
              <a:t>are </a:t>
            </a:r>
            <a:r>
              <a:rPr lang="en-US" altLang="en-US" b="1" dirty="0">
                <a:latin typeface="Arial" charset="0"/>
                <a:cs typeface="Arial" charset="0"/>
              </a:rPr>
              <a:t>offered below.</a:t>
            </a:r>
          </a:p>
        </p:txBody>
      </p:sp>
    </p:spTree>
    <p:extLst>
      <p:ext uri="{BB962C8B-B14F-4D97-AF65-F5344CB8AC3E}">
        <p14:creationId xmlns:p14="http://schemas.microsoft.com/office/powerpoint/2010/main" val="14806496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558144" cy="1143000"/>
          </a:xfrm>
        </p:spPr>
        <p:txBody>
          <a:bodyPr>
            <a:normAutofit/>
          </a:bodyPr>
          <a:lstStyle/>
          <a:p>
            <a:r>
              <a:rPr lang="en-US" b="1" dirty="0"/>
              <a:t>Vision statement </a:t>
            </a:r>
            <a:endParaRPr lang="ar-EG" dirty="0"/>
          </a:p>
        </p:txBody>
      </p:sp>
      <p:sp>
        <p:nvSpPr>
          <p:cNvPr id="3" name="Content Placeholder 2"/>
          <p:cNvSpPr>
            <a:spLocks noGrp="1"/>
          </p:cNvSpPr>
          <p:nvPr>
            <p:ph idx="1"/>
          </p:nvPr>
        </p:nvSpPr>
        <p:spPr>
          <a:xfrm>
            <a:off x="457200" y="1143000"/>
            <a:ext cx="8305800" cy="5410200"/>
          </a:xfrm>
        </p:spPr>
        <p:txBody>
          <a:bodyPr>
            <a:normAutofit/>
          </a:bodyPr>
          <a:lstStyle/>
          <a:p>
            <a:pPr marL="68580" indent="0" algn="just" rtl="0">
              <a:buNone/>
            </a:pPr>
            <a:r>
              <a:rPr lang="en-US" b="1" u="sng" dirty="0" smtClean="0"/>
              <a:t>Examples of vision statement:</a:t>
            </a:r>
            <a:endParaRPr lang="en-US" b="1" dirty="0" smtClean="0"/>
          </a:p>
          <a:p>
            <a:pPr marL="68580" indent="0" algn="just" rtl="0">
              <a:buNone/>
            </a:pPr>
            <a:r>
              <a:rPr lang="en-US" b="1" dirty="0" smtClean="0"/>
              <a:t>1-</a:t>
            </a:r>
            <a:r>
              <a:rPr lang="en-US" dirty="0" smtClean="0"/>
              <a:t> </a:t>
            </a:r>
            <a:r>
              <a:rPr lang="en-US" b="1" dirty="0" smtClean="0"/>
              <a:t>Tyson Foods’ vision </a:t>
            </a:r>
            <a:r>
              <a:rPr lang="en-US" b="1" dirty="0"/>
              <a:t>is to be the world’s first choice for protein solutions while maximizing shareholder </a:t>
            </a:r>
            <a:r>
              <a:rPr lang="en-US" b="1" dirty="0" smtClean="0"/>
              <a:t>value.</a:t>
            </a:r>
          </a:p>
          <a:p>
            <a:pPr marL="68580" indent="0" algn="just" rtl="0">
              <a:buNone/>
            </a:pPr>
            <a:endParaRPr lang="ar-EG" dirty="0"/>
          </a:p>
          <a:p>
            <a:pPr marL="68580" indent="0" algn="l" rtl="0">
              <a:buNone/>
            </a:pPr>
            <a:r>
              <a:rPr lang="en-US" b="1" dirty="0" smtClean="0">
                <a:solidFill>
                  <a:schemeClr val="accent1">
                    <a:lumMod val="75000"/>
                  </a:schemeClr>
                </a:solidFill>
              </a:rPr>
              <a:t>2- Dubai </a:t>
            </a:r>
            <a:r>
              <a:rPr lang="en-US" b="1" dirty="0">
                <a:solidFill>
                  <a:schemeClr val="accent1">
                    <a:lumMod val="75000"/>
                  </a:schemeClr>
                </a:solidFill>
              </a:rPr>
              <a:t>International Financial Centre’s vision is to shape tomorrow’s financial map as a global gateway for capital and investment. </a:t>
            </a:r>
            <a:endParaRPr lang="en-US" b="1" dirty="0" smtClean="0">
              <a:solidFill>
                <a:schemeClr val="accent1">
                  <a:lumMod val="75000"/>
                </a:schemeClr>
              </a:solidFill>
            </a:endParaRPr>
          </a:p>
          <a:p>
            <a:pPr marL="68580" indent="0" algn="l" rtl="0">
              <a:buNone/>
            </a:pPr>
            <a:endParaRPr lang="en-US" b="1" dirty="0">
              <a:solidFill>
                <a:schemeClr val="accent1">
                  <a:lumMod val="75000"/>
                </a:schemeClr>
              </a:solidFill>
            </a:endParaRPr>
          </a:p>
          <a:p>
            <a:pPr marL="68580" indent="0" algn="just" rtl="0">
              <a:buNone/>
            </a:pPr>
            <a:r>
              <a:rPr lang="en-US" b="1" dirty="0" smtClean="0">
                <a:solidFill>
                  <a:srgbClr val="FF0000"/>
                </a:solidFill>
              </a:rPr>
              <a:t>3- General </a:t>
            </a:r>
            <a:r>
              <a:rPr lang="en-US" b="1" dirty="0">
                <a:solidFill>
                  <a:srgbClr val="FF0000"/>
                </a:solidFill>
              </a:rPr>
              <a:t>Motors</a:t>
            </a:r>
            <a:r>
              <a:rPr lang="en-US" b="1" dirty="0" smtClean="0">
                <a:solidFill>
                  <a:srgbClr val="FF0000"/>
                </a:solidFill>
              </a:rPr>
              <a:t>’ vision </a:t>
            </a:r>
            <a:r>
              <a:rPr lang="en-US" b="1" dirty="0">
                <a:solidFill>
                  <a:srgbClr val="FF0000"/>
                </a:solidFill>
              </a:rPr>
              <a:t>is to be the world leader in transportation products and related services</a:t>
            </a:r>
            <a:r>
              <a:rPr lang="en-US" b="1" dirty="0" smtClean="0">
                <a:solidFill>
                  <a:srgbClr val="FF0000"/>
                </a:solidFill>
              </a:rPr>
              <a:t>.</a:t>
            </a:r>
          </a:p>
        </p:txBody>
      </p:sp>
    </p:spTree>
    <p:extLst>
      <p:ext uri="{BB962C8B-B14F-4D97-AF65-F5344CB8AC3E}">
        <p14:creationId xmlns:p14="http://schemas.microsoft.com/office/powerpoint/2010/main" val="10056028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558144" cy="1143000"/>
          </a:xfrm>
        </p:spPr>
        <p:txBody>
          <a:bodyPr>
            <a:normAutofit/>
          </a:bodyPr>
          <a:lstStyle/>
          <a:p>
            <a:r>
              <a:rPr lang="en-US" b="1" dirty="0"/>
              <a:t>Vision statement </a:t>
            </a:r>
            <a:endParaRPr lang="ar-EG" dirty="0"/>
          </a:p>
        </p:txBody>
      </p:sp>
      <p:sp>
        <p:nvSpPr>
          <p:cNvPr id="3" name="Content Placeholder 2"/>
          <p:cNvSpPr>
            <a:spLocks noGrp="1"/>
          </p:cNvSpPr>
          <p:nvPr>
            <p:ph idx="1"/>
          </p:nvPr>
        </p:nvSpPr>
        <p:spPr>
          <a:xfrm>
            <a:off x="457200" y="1143000"/>
            <a:ext cx="8305800" cy="5410200"/>
          </a:xfrm>
        </p:spPr>
        <p:txBody>
          <a:bodyPr>
            <a:normAutofit/>
          </a:bodyPr>
          <a:lstStyle/>
          <a:p>
            <a:pPr marL="68580" indent="0" algn="just" rtl="0">
              <a:buNone/>
            </a:pPr>
            <a:r>
              <a:rPr lang="en-US" b="1" u="sng" dirty="0" smtClean="0"/>
              <a:t>Examples of vision statement:</a:t>
            </a:r>
            <a:r>
              <a:rPr lang="en-US" b="1" dirty="0" smtClean="0"/>
              <a:t> </a:t>
            </a:r>
          </a:p>
          <a:p>
            <a:pPr algn="just" rtl="0"/>
            <a:r>
              <a:rPr lang="en-US" b="1" dirty="0" smtClean="0">
                <a:solidFill>
                  <a:schemeClr val="tx1"/>
                </a:solidFill>
              </a:rPr>
              <a:t>PepsiCo’s </a:t>
            </a:r>
            <a:r>
              <a:rPr lang="en-US" b="1" dirty="0">
                <a:solidFill>
                  <a:schemeClr val="tx1"/>
                </a:solidFill>
              </a:rPr>
              <a:t>responsibility is to continually improve all aspects of the world in which we operate – environment, social, economic – creating a better tomorrow than today. </a:t>
            </a:r>
            <a:endParaRPr lang="ar-EG" b="1" dirty="0">
              <a:solidFill>
                <a:schemeClr val="tx1"/>
              </a:solidFill>
            </a:endParaRPr>
          </a:p>
          <a:p>
            <a:pPr algn="l" rtl="0"/>
            <a:endParaRPr lang="en-US" b="1" dirty="0" smtClean="0">
              <a:solidFill>
                <a:schemeClr val="accent3">
                  <a:lumMod val="75000"/>
                </a:schemeClr>
              </a:solidFill>
            </a:endParaRPr>
          </a:p>
          <a:p>
            <a:pPr marL="68580" indent="0" algn="l" rtl="0">
              <a:buNone/>
            </a:pPr>
            <a:endParaRPr lang="en-US" b="1" dirty="0" smtClean="0">
              <a:solidFill>
                <a:schemeClr val="accent3">
                  <a:lumMod val="75000"/>
                </a:schemeClr>
              </a:solidFill>
            </a:endParaRPr>
          </a:p>
          <a:p>
            <a:pPr algn="l" rtl="0"/>
            <a:r>
              <a:rPr lang="en-US" b="1" dirty="0" smtClean="0">
                <a:solidFill>
                  <a:schemeClr val="tx1"/>
                </a:solidFill>
              </a:rPr>
              <a:t>Samsonite’s </a:t>
            </a:r>
            <a:r>
              <a:rPr lang="en-US" b="1" dirty="0">
                <a:solidFill>
                  <a:schemeClr val="tx1"/>
                </a:solidFill>
              </a:rPr>
              <a:t>vision is to provide innovative solution for the travelling world. </a:t>
            </a:r>
            <a:endParaRPr lang="en-US" b="1" dirty="0">
              <a:solidFill>
                <a:srgbClr val="FF0000"/>
              </a:solidFill>
            </a:endParaRPr>
          </a:p>
          <a:p>
            <a:endParaRPr lang="ar-EG" dirty="0" smtClean="0"/>
          </a:p>
          <a:p>
            <a:pPr marL="68580" indent="0" algn="l" rtl="0">
              <a:buNone/>
            </a:pPr>
            <a:endParaRPr lang="en-US" b="1" dirty="0">
              <a:solidFill>
                <a:schemeClr val="accent3">
                  <a:lumMod val="75000"/>
                </a:schemeClr>
              </a:solidFill>
            </a:endParaRPr>
          </a:p>
        </p:txBody>
      </p:sp>
    </p:spTree>
    <p:extLst>
      <p:ext uri="{BB962C8B-B14F-4D97-AF65-F5344CB8AC3E}">
        <p14:creationId xmlns:p14="http://schemas.microsoft.com/office/powerpoint/2010/main" val="24965682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558144" cy="1143000"/>
          </a:xfrm>
        </p:spPr>
        <p:txBody>
          <a:bodyPr>
            <a:normAutofit/>
          </a:bodyPr>
          <a:lstStyle/>
          <a:p>
            <a:r>
              <a:rPr lang="en-US" b="1" dirty="0"/>
              <a:t>Vision statement </a:t>
            </a:r>
            <a:endParaRPr lang="ar-EG" dirty="0"/>
          </a:p>
        </p:txBody>
      </p:sp>
      <p:sp>
        <p:nvSpPr>
          <p:cNvPr id="3" name="Content Placeholder 2"/>
          <p:cNvSpPr>
            <a:spLocks noGrp="1"/>
          </p:cNvSpPr>
          <p:nvPr>
            <p:ph idx="1"/>
          </p:nvPr>
        </p:nvSpPr>
        <p:spPr>
          <a:xfrm>
            <a:off x="457200" y="1143000"/>
            <a:ext cx="8305800" cy="5410200"/>
          </a:xfrm>
        </p:spPr>
        <p:txBody>
          <a:bodyPr>
            <a:normAutofit/>
          </a:bodyPr>
          <a:lstStyle/>
          <a:p>
            <a:pPr marL="68580" indent="0" algn="just" rtl="0">
              <a:buNone/>
            </a:pPr>
            <a:r>
              <a:rPr lang="en-US" b="1" u="sng" dirty="0" smtClean="0"/>
              <a:t>Examples of vision statement:</a:t>
            </a:r>
            <a:r>
              <a:rPr lang="en-US" b="1" dirty="0" smtClean="0"/>
              <a:t> </a:t>
            </a:r>
          </a:p>
          <a:p>
            <a:pPr algn="just" rtl="0"/>
            <a:r>
              <a:rPr lang="en-US" b="1" dirty="0" smtClean="0"/>
              <a:t>Dell’s vision is: </a:t>
            </a:r>
            <a:r>
              <a:rPr lang="en-US" dirty="0" smtClean="0"/>
              <a:t>“</a:t>
            </a:r>
            <a:r>
              <a:rPr lang="en-US" b="1" dirty="0"/>
              <a:t>It’s the way we do business. It’s the way we interact with the community. It’s the way we interpret the world around us– our customers’ needs, the future of technology, and the global business climate. </a:t>
            </a:r>
            <a:endParaRPr lang="en-US" b="1" dirty="0" smtClean="0">
              <a:solidFill>
                <a:schemeClr val="accent3">
                  <a:lumMod val="75000"/>
                </a:schemeClr>
              </a:solidFill>
            </a:endParaRPr>
          </a:p>
          <a:p>
            <a:pPr algn="just" rtl="0"/>
            <a:endParaRPr lang="en-US" b="1" dirty="0">
              <a:solidFill>
                <a:schemeClr val="accent3">
                  <a:lumMod val="75000"/>
                </a:schemeClr>
              </a:solidFill>
            </a:endParaRPr>
          </a:p>
          <a:p>
            <a:pPr marL="68580" indent="0" algn="just" rtl="0">
              <a:buNone/>
            </a:pPr>
            <a:endParaRPr lang="ar-EG" dirty="0"/>
          </a:p>
          <a:p>
            <a:pPr algn="just" rtl="0"/>
            <a:r>
              <a:rPr lang="en-US" b="1" dirty="0"/>
              <a:t>Procter &amp; Gamble’s vision is to </a:t>
            </a:r>
            <a:r>
              <a:rPr lang="en-US" b="1" dirty="0" smtClean="0"/>
              <a:t>be the </a:t>
            </a:r>
            <a:r>
              <a:rPr lang="en-US" b="1" dirty="0"/>
              <a:t>best consumer products company in the world. </a:t>
            </a:r>
            <a:endParaRPr lang="ar-EG" dirty="0"/>
          </a:p>
        </p:txBody>
      </p:sp>
    </p:spTree>
    <p:extLst>
      <p:ext uri="{BB962C8B-B14F-4D97-AF65-F5344CB8AC3E}">
        <p14:creationId xmlns:p14="http://schemas.microsoft.com/office/powerpoint/2010/main" val="16023469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558144" cy="1143000"/>
          </a:xfrm>
        </p:spPr>
        <p:txBody>
          <a:bodyPr>
            <a:normAutofit fontScale="90000"/>
          </a:bodyPr>
          <a:lstStyle/>
          <a:p>
            <a:r>
              <a:rPr lang="en-US" b="1" dirty="0" smtClean="0"/>
              <a:t>Mission statement</a:t>
            </a:r>
            <a:br>
              <a:rPr lang="en-US" b="1" dirty="0" smtClean="0"/>
            </a:br>
            <a:endParaRPr lang="ar-EG" dirty="0"/>
          </a:p>
        </p:txBody>
      </p:sp>
      <p:sp>
        <p:nvSpPr>
          <p:cNvPr id="3" name="Content Placeholder 2"/>
          <p:cNvSpPr>
            <a:spLocks noGrp="1"/>
          </p:cNvSpPr>
          <p:nvPr>
            <p:ph idx="1"/>
          </p:nvPr>
        </p:nvSpPr>
        <p:spPr>
          <a:xfrm>
            <a:off x="457200" y="1143000"/>
            <a:ext cx="8305800" cy="5410200"/>
          </a:xfrm>
        </p:spPr>
        <p:txBody>
          <a:bodyPr>
            <a:normAutofit fontScale="85000" lnSpcReduction="20000"/>
          </a:bodyPr>
          <a:lstStyle/>
          <a:p>
            <a:pPr marL="68580" indent="0">
              <a:buNone/>
            </a:pPr>
            <a:endParaRPr lang="ar-EG" dirty="0"/>
          </a:p>
          <a:p>
            <a:pPr algn="l" rtl="0"/>
            <a:r>
              <a:rPr lang="en-US" sz="2800" b="1" dirty="0"/>
              <a:t>Mission</a:t>
            </a:r>
            <a:r>
              <a:rPr lang="en-US" sz="2800" dirty="0"/>
              <a:t>: Focuses on the present and explains </a:t>
            </a:r>
            <a:r>
              <a:rPr lang="en-US" sz="2800" i="1" dirty="0"/>
              <a:t>what</a:t>
            </a:r>
            <a:r>
              <a:rPr lang="en-US" sz="2800" dirty="0"/>
              <a:t> the organization </a:t>
            </a:r>
            <a:r>
              <a:rPr lang="en-US" sz="2800" dirty="0" smtClean="0"/>
              <a:t>does</a:t>
            </a:r>
          </a:p>
          <a:p>
            <a:pPr algn="l" rtl="0"/>
            <a:r>
              <a:rPr lang="fr-FR" sz="2800" b="1" dirty="0" err="1" smtClean="0"/>
              <a:t>Clear</a:t>
            </a:r>
            <a:r>
              <a:rPr lang="fr-FR" sz="2800" b="1" dirty="0" smtClean="0"/>
              <a:t> </a:t>
            </a:r>
            <a:r>
              <a:rPr lang="fr-FR" sz="2800" b="1" dirty="0"/>
              <a:t>Business vision leads to </a:t>
            </a:r>
            <a:endParaRPr lang="ar-EG" sz="2800" dirty="0"/>
          </a:p>
          <a:p>
            <a:r>
              <a:rPr lang="fr-FR" sz="2800" b="1" dirty="0" err="1"/>
              <a:t>Comprehensive</a:t>
            </a:r>
            <a:r>
              <a:rPr lang="fr-FR" sz="2800" b="1" dirty="0"/>
              <a:t> mission </a:t>
            </a:r>
            <a:r>
              <a:rPr lang="fr-FR" sz="2800" b="1" dirty="0" err="1"/>
              <a:t>Statement</a:t>
            </a:r>
            <a:endParaRPr lang="fr-FR" sz="2800" b="1" dirty="0"/>
          </a:p>
          <a:p>
            <a:pPr algn="l" rtl="0"/>
            <a:r>
              <a:rPr lang="fr-FR" sz="2800" b="1" u="sng" dirty="0" err="1" smtClean="0">
                <a:solidFill>
                  <a:srgbClr val="FF0000"/>
                </a:solidFill>
              </a:rPr>
              <a:t>Answers</a:t>
            </a:r>
            <a:r>
              <a:rPr lang="fr-FR" sz="2800" b="1" u="sng" dirty="0" smtClean="0">
                <a:solidFill>
                  <a:srgbClr val="FF0000"/>
                </a:solidFill>
              </a:rPr>
              <a:t> </a:t>
            </a:r>
            <a:r>
              <a:rPr lang="fr-FR" sz="2800" b="1" u="sng" dirty="0">
                <a:solidFill>
                  <a:srgbClr val="FF0000"/>
                </a:solidFill>
              </a:rPr>
              <a:t>the question: </a:t>
            </a:r>
            <a:endParaRPr lang="fr-FR" sz="2800" u="sng" dirty="0">
              <a:solidFill>
                <a:srgbClr val="FF0000"/>
              </a:solidFill>
            </a:endParaRPr>
          </a:p>
          <a:p>
            <a:pPr marL="68580" indent="0" algn="l" rtl="0">
              <a:buNone/>
            </a:pPr>
            <a:r>
              <a:rPr lang="fr-FR" sz="2800" dirty="0" smtClean="0"/>
              <a:t>-</a:t>
            </a:r>
            <a:r>
              <a:rPr lang="fr-FR" sz="2800" b="1" dirty="0" smtClean="0"/>
              <a:t> “</a:t>
            </a:r>
            <a:r>
              <a:rPr lang="fr-FR" sz="2800" b="1" dirty="0" err="1"/>
              <a:t>What</a:t>
            </a:r>
            <a:r>
              <a:rPr lang="fr-FR" sz="2800" b="1" dirty="0"/>
              <a:t> </a:t>
            </a:r>
            <a:r>
              <a:rPr lang="fr-FR" sz="2800" b="1" dirty="0" err="1"/>
              <a:t>is</a:t>
            </a:r>
            <a:r>
              <a:rPr lang="fr-FR" sz="2800" b="1" dirty="0"/>
              <a:t> </a:t>
            </a:r>
            <a:r>
              <a:rPr lang="fr-FR" sz="2800" b="1" dirty="0" err="1"/>
              <a:t>our</a:t>
            </a:r>
            <a:r>
              <a:rPr lang="fr-FR" sz="2800" b="1" dirty="0"/>
              <a:t> business</a:t>
            </a:r>
            <a:r>
              <a:rPr lang="fr-FR" sz="2800" b="1" dirty="0" smtClean="0"/>
              <a:t>?”</a:t>
            </a:r>
          </a:p>
          <a:p>
            <a:pPr marL="68580" indent="0" algn="l" rtl="0">
              <a:buNone/>
            </a:pPr>
            <a:endParaRPr lang="fr-FR" sz="2800" dirty="0"/>
          </a:p>
          <a:p>
            <a:pPr algn="l" rtl="0"/>
            <a:r>
              <a:rPr lang="fr-FR" sz="2800" b="1" u="sng" dirty="0" smtClean="0">
                <a:solidFill>
                  <a:srgbClr val="FF0000"/>
                </a:solidFill>
              </a:rPr>
              <a:t>It </a:t>
            </a:r>
            <a:r>
              <a:rPr lang="fr-FR" sz="2800" b="1" u="sng" dirty="0" err="1" smtClean="0">
                <a:solidFill>
                  <a:srgbClr val="FF0000"/>
                </a:solidFill>
              </a:rPr>
              <a:t>reveals</a:t>
            </a:r>
            <a:r>
              <a:rPr lang="fr-FR" sz="2800" b="1" dirty="0">
                <a:solidFill>
                  <a:srgbClr val="FF0000"/>
                </a:solidFill>
              </a:rPr>
              <a:t>: </a:t>
            </a:r>
            <a:endParaRPr lang="fr-FR" sz="2800" dirty="0">
              <a:solidFill>
                <a:srgbClr val="FF0000"/>
              </a:solidFill>
            </a:endParaRPr>
          </a:p>
          <a:p>
            <a:pPr algn="l" rtl="0">
              <a:buFontTx/>
              <a:buChar char="-"/>
            </a:pPr>
            <a:r>
              <a:rPr lang="en-US" sz="2800" b="1" dirty="0" smtClean="0"/>
              <a:t>What </a:t>
            </a:r>
            <a:r>
              <a:rPr lang="en-US" sz="2800" b="1" dirty="0"/>
              <a:t>the organization wants to </a:t>
            </a:r>
            <a:r>
              <a:rPr lang="en-US" sz="2800" b="1" dirty="0" smtClean="0"/>
              <a:t>be? </a:t>
            </a:r>
            <a:endParaRPr lang="en-US" sz="2800" dirty="0"/>
          </a:p>
          <a:p>
            <a:pPr algn="l" rtl="0">
              <a:buFontTx/>
              <a:buChar char="-"/>
            </a:pPr>
            <a:r>
              <a:rPr lang="en-US" sz="2800" b="1" dirty="0" smtClean="0"/>
              <a:t>Whom </a:t>
            </a:r>
            <a:r>
              <a:rPr lang="en-US" sz="2800" b="1" dirty="0"/>
              <a:t>we want to </a:t>
            </a:r>
            <a:r>
              <a:rPr lang="en-US" sz="2800" b="1" dirty="0" smtClean="0"/>
              <a:t>serve? </a:t>
            </a:r>
            <a:endParaRPr lang="ar-EG" sz="2800" dirty="0"/>
          </a:p>
          <a:p>
            <a:endParaRPr lang="ar-EG" sz="2800" dirty="0"/>
          </a:p>
          <a:p>
            <a:pPr algn="l" rtl="0"/>
            <a:r>
              <a:rPr lang="fr-FR" sz="2800" b="1" u="sng" dirty="0" smtClean="0">
                <a:solidFill>
                  <a:srgbClr val="FF0000"/>
                </a:solidFill>
              </a:rPr>
              <a:t>Essential </a:t>
            </a:r>
            <a:r>
              <a:rPr lang="fr-FR" sz="2800" b="1" u="sng" dirty="0">
                <a:solidFill>
                  <a:srgbClr val="FF0000"/>
                </a:solidFill>
              </a:rPr>
              <a:t>for</a:t>
            </a:r>
            <a:r>
              <a:rPr lang="fr-FR" sz="2800" b="1" dirty="0">
                <a:solidFill>
                  <a:srgbClr val="FF0000"/>
                </a:solidFill>
              </a:rPr>
              <a:t>: </a:t>
            </a:r>
            <a:endParaRPr lang="fr-FR" sz="2800" dirty="0">
              <a:solidFill>
                <a:srgbClr val="FF0000"/>
              </a:solidFill>
            </a:endParaRPr>
          </a:p>
          <a:p>
            <a:pPr marL="347663" indent="-279400" algn="l" rtl="0">
              <a:buNone/>
            </a:pPr>
            <a:r>
              <a:rPr lang="en-US" sz="2800" dirty="0" smtClean="0"/>
              <a:t>-  </a:t>
            </a:r>
            <a:r>
              <a:rPr lang="en-US" sz="2800" b="1" dirty="0" smtClean="0"/>
              <a:t>Effectively </a:t>
            </a:r>
            <a:r>
              <a:rPr lang="en-US" sz="2800" b="1" dirty="0"/>
              <a:t>establishing objectives and formulating strategies </a:t>
            </a:r>
            <a:endParaRPr lang="en-US" sz="2800" dirty="0"/>
          </a:p>
          <a:p>
            <a:pPr algn="l" rtl="0">
              <a:buFontTx/>
              <a:buChar char="-"/>
            </a:pPr>
            <a:endParaRPr lang="en-US" sz="2800" dirty="0"/>
          </a:p>
        </p:txBody>
      </p:sp>
    </p:spTree>
    <p:extLst>
      <p:ext uri="{BB962C8B-B14F-4D97-AF65-F5344CB8AC3E}">
        <p14:creationId xmlns:p14="http://schemas.microsoft.com/office/powerpoint/2010/main" val="15767010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558144" cy="1143000"/>
          </a:xfrm>
        </p:spPr>
        <p:txBody>
          <a:bodyPr>
            <a:normAutofit fontScale="90000"/>
          </a:bodyPr>
          <a:lstStyle/>
          <a:p>
            <a:r>
              <a:rPr lang="en-US" b="1" dirty="0" smtClean="0"/>
              <a:t>Mission statement</a:t>
            </a:r>
            <a:br>
              <a:rPr lang="en-US" b="1" dirty="0" smtClean="0"/>
            </a:br>
            <a:endParaRPr lang="ar-EG" dirty="0"/>
          </a:p>
        </p:txBody>
      </p:sp>
      <p:sp>
        <p:nvSpPr>
          <p:cNvPr id="3" name="Content Placeholder 2"/>
          <p:cNvSpPr>
            <a:spLocks noGrp="1"/>
          </p:cNvSpPr>
          <p:nvPr>
            <p:ph idx="1"/>
          </p:nvPr>
        </p:nvSpPr>
        <p:spPr>
          <a:xfrm>
            <a:off x="457200" y="1143000"/>
            <a:ext cx="8305800" cy="5410200"/>
          </a:xfrm>
        </p:spPr>
        <p:txBody>
          <a:bodyPr>
            <a:normAutofit fontScale="70000" lnSpcReduction="20000"/>
          </a:bodyPr>
          <a:lstStyle/>
          <a:p>
            <a:pPr marL="68580" indent="0" algn="l" rtl="0">
              <a:buNone/>
            </a:pPr>
            <a:r>
              <a:rPr lang="en-US" sz="2800" b="1" dirty="0" smtClean="0">
                <a:solidFill>
                  <a:schemeClr val="accent1">
                    <a:lumMod val="75000"/>
                  </a:schemeClr>
                </a:solidFill>
              </a:rPr>
              <a:t>Longer than vision</a:t>
            </a:r>
          </a:p>
          <a:p>
            <a:pPr algn="l" rtl="0">
              <a:buFontTx/>
              <a:buChar char="-"/>
            </a:pPr>
            <a:r>
              <a:rPr lang="en-US" sz="2800" b="1" dirty="0" smtClean="0">
                <a:solidFill>
                  <a:schemeClr val="accent1">
                    <a:lumMod val="75000"/>
                  </a:schemeClr>
                </a:solidFill>
              </a:rPr>
              <a:t> It includes:</a:t>
            </a:r>
          </a:p>
          <a:p>
            <a:pPr algn="l" rtl="0">
              <a:buFontTx/>
              <a:buChar char="-"/>
            </a:pPr>
            <a:r>
              <a:rPr lang="en-US" sz="2800" dirty="0" smtClean="0"/>
              <a:t>1- customer</a:t>
            </a:r>
          </a:p>
          <a:p>
            <a:pPr algn="l" rtl="0">
              <a:buFontTx/>
              <a:buChar char="-"/>
            </a:pPr>
            <a:r>
              <a:rPr lang="en-US" sz="2800" dirty="0" smtClean="0"/>
              <a:t>2- product or service</a:t>
            </a:r>
          </a:p>
          <a:p>
            <a:pPr algn="l" rtl="0">
              <a:buFontTx/>
              <a:buChar char="-"/>
            </a:pPr>
            <a:r>
              <a:rPr lang="en-US" sz="2800" dirty="0" smtClean="0"/>
              <a:t>3- Market</a:t>
            </a:r>
          </a:p>
          <a:p>
            <a:pPr algn="l" rtl="0">
              <a:buFontTx/>
              <a:buChar char="-"/>
            </a:pPr>
            <a:r>
              <a:rPr lang="en-US" sz="2800" dirty="0" smtClean="0"/>
              <a:t>4-Technology</a:t>
            </a:r>
          </a:p>
          <a:p>
            <a:pPr algn="l" rtl="0">
              <a:buFontTx/>
              <a:buChar char="-"/>
            </a:pPr>
            <a:r>
              <a:rPr lang="en-US" sz="2800" dirty="0" smtClean="0"/>
              <a:t>5- Concern for survival, growth and profitability</a:t>
            </a:r>
          </a:p>
          <a:p>
            <a:pPr algn="l" rtl="0">
              <a:buFontTx/>
              <a:buChar char="-"/>
            </a:pPr>
            <a:r>
              <a:rPr lang="en-US" sz="2800" dirty="0" smtClean="0"/>
              <a:t>6- Philosophy</a:t>
            </a:r>
          </a:p>
          <a:p>
            <a:pPr algn="l" rtl="0">
              <a:buFontTx/>
              <a:buChar char="-"/>
            </a:pPr>
            <a:r>
              <a:rPr lang="en-US" sz="2800" dirty="0" smtClean="0"/>
              <a:t>7- Self-concept</a:t>
            </a:r>
          </a:p>
          <a:p>
            <a:pPr algn="l" rtl="0">
              <a:buFontTx/>
              <a:buChar char="-"/>
            </a:pPr>
            <a:r>
              <a:rPr lang="en-US" sz="2800" dirty="0" smtClean="0"/>
              <a:t>8- Concern for public image (all are used in marketing and achieve profits in real life).</a:t>
            </a:r>
          </a:p>
          <a:p>
            <a:pPr algn="l" rtl="0">
              <a:buFontTx/>
              <a:buChar char="-"/>
            </a:pPr>
            <a:r>
              <a:rPr lang="en-US" sz="2800" dirty="0" smtClean="0"/>
              <a:t>9- Concern for employees</a:t>
            </a:r>
          </a:p>
          <a:p>
            <a:pPr algn="l" rtl="0">
              <a:buFont typeface="Wingdings" panose="05000000000000000000" pitchFamily="2" charset="2"/>
              <a:buChar char="§"/>
            </a:pPr>
            <a:r>
              <a:rPr lang="en-US" sz="2800" b="1" dirty="0" smtClean="0">
                <a:solidFill>
                  <a:schemeClr val="accent1">
                    <a:lumMod val="75000"/>
                  </a:schemeClr>
                </a:solidFill>
              </a:rPr>
              <a:t>Mission should include at least 7 points, it is ok, if less than you have to propose….</a:t>
            </a:r>
          </a:p>
          <a:p>
            <a:pPr algn="l" rtl="0">
              <a:buFont typeface="Wingdings" panose="05000000000000000000" pitchFamily="2" charset="2"/>
              <a:buChar char="§"/>
            </a:pPr>
            <a:r>
              <a:rPr lang="en-US" sz="2800" b="1" dirty="0" smtClean="0">
                <a:solidFill>
                  <a:schemeClr val="accent1">
                    <a:lumMod val="75000"/>
                  </a:schemeClr>
                </a:solidFill>
              </a:rPr>
              <a:t>If no mission, so propose directly.</a:t>
            </a:r>
          </a:p>
          <a:p>
            <a:pPr algn="l" rtl="0">
              <a:buFont typeface="Wingdings" panose="05000000000000000000" pitchFamily="2" charset="2"/>
              <a:buChar char="§"/>
            </a:pPr>
            <a:r>
              <a:rPr lang="en-US" sz="2800" b="1" dirty="0" smtClean="0">
                <a:solidFill>
                  <a:srgbClr val="C00000"/>
                </a:solidFill>
              </a:rPr>
              <a:t>To formulate vision and mission should communicate with the stakeholders to shape the vision and mission.</a:t>
            </a:r>
          </a:p>
        </p:txBody>
      </p:sp>
    </p:spTree>
    <p:extLst>
      <p:ext uri="{BB962C8B-B14F-4D97-AF65-F5344CB8AC3E}">
        <p14:creationId xmlns:p14="http://schemas.microsoft.com/office/powerpoint/2010/main" val="30209977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558144" cy="1143000"/>
          </a:xfrm>
        </p:spPr>
        <p:txBody>
          <a:bodyPr>
            <a:normAutofit fontScale="90000"/>
          </a:bodyPr>
          <a:lstStyle/>
          <a:p>
            <a:r>
              <a:rPr lang="en-US" b="1" dirty="0" smtClean="0"/>
              <a:t>Mission statement</a:t>
            </a:r>
            <a:r>
              <a:rPr lang="en-US" b="1" dirty="0"/>
              <a:t/>
            </a:r>
            <a:br>
              <a:rPr lang="en-US" b="1" dirty="0"/>
            </a:br>
            <a:endParaRPr lang="ar-EG" dirty="0"/>
          </a:p>
        </p:txBody>
      </p:sp>
      <p:sp>
        <p:nvSpPr>
          <p:cNvPr id="3" name="Content Placeholder 2"/>
          <p:cNvSpPr>
            <a:spLocks noGrp="1"/>
          </p:cNvSpPr>
          <p:nvPr>
            <p:ph idx="1"/>
          </p:nvPr>
        </p:nvSpPr>
        <p:spPr>
          <a:xfrm>
            <a:off x="457200" y="1143000"/>
            <a:ext cx="8305800" cy="5410200"/>
          </a:xfrm>
        </p:spPr>
        <p:txBody>
          <a:bodyPr>
            <a:normAutofit/>
          </a:bodyPr>
          <a:lstStyle/>
          <a:p>
            <a:pPr marL="68580" indent="0" algn="l" rtl="0">
              <a:buNone/>
            </a:pPr>
            <a:endParaRPr lang="ar-EG" sz="2800" dirty="0"/>
          </a:p>
          <a:p>
            <a:pPr algn="l" rtl="0"/>
            <a:r>
              <a:rPr lang="en-US" sz="2800" b="1" dirty="0"/>
              <a:t>Mission Statements are also called </a:t>
            </a:r>
            <a:endParaRPr lang="en-US" sz="2800" dirty="0"/>
          </a:p>
          <a:p>
            <a:pPr algn="l" rtl="0">
              <a:buFont typeface="Wingdings" panose="05000000000000000000" pitchFamily="2" charset="2"/>
              <a:buChar char="§"/>
            </a:pPr>
            <a:r>
              <a:rPr lang="fr-FR" sz="2800" dirty="0" err="1" smtClean="0"/>
              <a:t>Creed</a:t>
            </a:r>
            <a:r>
              <a:rPr lang="fr-FR" sz="2800" dirty="0" smtClean="0"/>
              <a:t> </a:t>
            </a:r>
            <a:r>
              <a:rPr lang="fr-FR" sz="2800" dirty="0" err="1"/>
              <a:t>statement</a:t>
            </a:r>
            <a:r>
              <a:rPr lang="fr-FR" sz="2800" dirty="0"/>
              <a:t> </a:t>
            </a:r>
          </a:p>
          <a:p>
            <a:pPr algn="l" rtl="0">
              <a:buFont typeface="Wingdings" panose="05000000000000000000" pitchFamily="2" charset="2"/>
              <a:buChar char="§"/>
            </a:pPr>
            <a:r>
              <a:rPr lang="fr-FR" sz="2800" dirty="0" err="1" smtClean="0"/>
              <a:t>Statement</a:t>
            </a:r>
            <a:r>
              <a:rPr lang="fr-FR" sz="2800" dirty="0" smtClean="0"/>
              <a:t> </a:t>
            </a:r>
            <a:r>
              <a:rPr lang="fr-FR" sz="2800" dirty="0"/>
              <a:t>of </a:t>
            </a:r>
            <a:r>
              <a:rPr lang="fr-FR" sz="2800" dirty="0" err="1"/>
              <a:t>purpose</a:t>
            </a:r>
            <a:r>
              <a:rPr lang="fr-FR" sz="2800" dirty="0"/>
              <a:t> </a:t>
            </a:r>
          </a:p>
          <a:p>
            <a:pPr algn="l" rtl="0">
              <a:buFont typeface="Wingdings" panose="05000000000000000000" pitchFamily="2" charset="2"/>
              <a:buChar char="§"/>
            </a:pPr>
            <a:r>
              <a:rPr lang="fr-FR" sz="2800" dirty="0" err="1" smtClean="0"/>
              <a:t>Statement</a:t>
            </a:r>
            <a:r>
              <a:rPr lang="fr-FR" sz="2800" dirty="0" smtClean="0"/>
              <a:t> </a:t>
            </a:r>
            <a:r>
              <a:rPr lang="fr-FR" sz="2800" dirty="0"/>
              <a:t>of </a:t>
            </a:r>
            <a:r>
              <a:rPr lang="fr-FR" sz="2800" dirty="0" err="1"/>
              <a:t>philosophy</a:t>
            </a:r>
            <a:r>
              <a:rPr lang="fr-FR" sz="2800" dirty="0"/>
              <a:t> </a:t>
            </a:r>
          </a:p>
          <a:p>
            <a:pPr algn="l" rtl="0">
              <a:buFont typeface="Wingdings" panose="05000000000000000000" pitchFamily="2" charset="2"/>
              <a:buChar char="§"/>
            </a:pPr>
            <a:r>
              <a:rPr lang="fr-FR" sz="2800" dirty="0" err="1" smtClean="0"/>
              <a:t>Statement</a:t>
            </a:r>
            <a:r>
              <a:rPr lang="fr-FR" sz="2800" dirty="0" smtClean="0"/>
              <a:t> </a:t>
            </a:r>
            <a:r>
              <a:rPr lang="fr-FR" sz="2800" dirty="0"/>
              <a:t>of </a:t>
            </a:r>
            <a:r>
              <a:rPr lang="fr-FR" sz="2800" dirty="0" err="1"/>
              <a:t>beliefs</a:t>
            </a:r>
            <a:r>
              <a:rPr lang="fr-FR" sz="2800" dirty="0"/>
              <a:t> </a:t>
            </a:r>
          </a:p>
          <a:p>
            <a:pPr algn="l" rtl="0">
              <a:buFont typeface="Wingdings" panose="05000000000000000000" pitchFamily="2" charset="2"/>
              <a:buChar char="§"/>
            </a:pPr>
            <a:r>
              <a:rPr lang="fr-FR" sz="2800" dirty="0" err="1" smtClean="0"/>
              <a:t>Statement</a:t>
            </a:r>
            <a:r>
              <a:rPr lang="fr-FR" sz="2800" dirty="0" smtClean="0"/>
              <a:t> </a:t>
            </a:r>
            <a:r>
              <a:rPr lang="fr-FR" sz="2800" dirty="0"/>
              <a:t>of business </a:t>
            </a:r>
            <a:r>
              <a:rPr lang="fr-FR" sz="2800" dirty="0" err="1"/>
              <a:t>principles</a:t>
            </a:r>
            <a:r>
              <a:rPr lang="fr-FR" sz="2800" dirty="0"/>
              <a:t> </a:t>
            </a:r>
          </a:p>
          <a:p>
            <a:pPr algn="l" rtl="0">
              <a:buFont typeface="Wingdings" panose="05000000000000000000" pitchFamily="2" charset="2"/>
              <a:buChar char="§"/>
            </a:pPr>
            <a:r>
              <a:rPr lang="en-US" sz="2800" dirty="0" smtClean="0"/>
              <a:t>A </a:t>
            </a:r>
            <a:r>
              <a:rPr lang="en-US" sz="2800" dirty="0"/>
              <a:t>statement “defining our business” </a:t>
            </a:r>
          </a:p>
        </p:txBody>
      </p:sp>
    </p:spTree>
    <p:extLst>
      <p:ext uri="{BB962C8B-B14F-4D97-AF65-F5344CB8AC3E}">
        <p14:creationId xmlns:p14="http://schemas.microsoft.com/office/powerpoint/2010/main" val="20708861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153400" cy="1143000"/>
          </a:xfrm>
        </p:spPr>
        <p:txBody>
          <a:bodyPr>
            <a:normAutofit/>
          </a:bodyPr>
          <a:lstStyle/>
          <a:p>
            <a:r>
              <a:rPr lang="fr-FR" sz="3000" b="1" dirty="0"/>
              <a:t>Mission </a:t>
            </a:r>
            <a:r>
              <a:rPr lang="fr-FR" sz="3000" b="1" dirty="0" err="1"/>
              <a:t>Statement</a:t>
            </a:r>
            <a:r>
              <a:rPr lang="fr-FR" sz="3000" b="1" dirty="0"/>
              <a:t> Components </a:t>
            </a:r>
            <a:r>
              <a:rPr lang="fr-FR" sz="3000" b="1" dirty="0" smtClean="0"/>
              <a:t/>
            </a:r>
            <a:br>
              <a:rPr lang="fr-FR" sz="3000" b="1" dirty="0" smtClean="0"/>
            </a:br>
            <a:endParaRPr lang="ar-EG" sz="3000" b="1" dirty="0"/>
          </a:p>
        </p:txBody>
      </p:sp>
      <p:sp>
        <p:nvSpPr>
          <p:cNvPr id="3" name="Content Placeholder 2"/>
          <p:cNvSpPr>
            <a:spLocks noGrp="1"/>
          </p:cNvSpPr>
          <p:nvPr>
            <p:ph idx="1"/>
          </p:nvPr>
        </p:nvSpPr>
        <p:spPr>
          <a:xfrm>
            <a:off x="457200" y="1371600"/>
            <a:ext cx="8153400" cy="5105400"/>
          </a:xfrm>
        </p:spPr>
        <p:txBody>
          <a:bodyPr>
            <a:normAutofit/>
          </a:bodyPr>
          <a:lstStyle/>
          <a:p>
            <a:pPr marL="68580" indent="0" algn="just" rtl="0">
              <a:buNone/>
            </a:pPr>
            <a:r>
              <a:rPr lang="fr-FR" b="1" dirty="0" err="1" smtClean="0"/>
              <a:t>We</a:t>
            </a:r>
            <a:r>
              <a:rPr lang="fr-FR" b="1" dirty="0" smtClean="0"/>
              <a:t> </a:t>
            </a:r>
            <a:r>
              <a:rPr lang="fr-FR" b="1" dirty="0"/>
              <a:t>have </a:t>
            </a:r>
            <a:r>
              <a:rPr lang="fr-FR" b="1" dirty="0" err="1"/>
              <a:t>some</a:t>
            </a:r>
            <a:r>
              <a:rPr lang="fr-FR" b="1" dirty="0"/>
              <a:t> questions to </a:t>
            </a:r>
            <a:r>
              <a:rPr lang="fr-FR" b="1" dirty="0" err="1"/>
              <a:t>be</a:t>
            </a:r>
            <a:r>
              <a:rPr lang="fr-FR" b="1" dirty="0"/>
              <a:t> </a:t>
            </a:r>
            <a:r>
              <a:rPr lang="fr-FR" b="1" dirty="0" err="1" smtClean="0"/>
              <a:t>answered</a:t>
            </a:r>
            <a:r>
              <a:rPr lang="fr-FR" b="1" dirty="0" smtClean="0"/>
              <a:t> to </a:t>
            </a:r>
            <a:r>
              <a:rPr lang="fr-FR" b="1" dirty="0" err="1" smtClean="0"/>
              <a:t>develop</a:t>
            </a:r>
            <a:r>
              <a:rPr lang="fr-FR" b="1" dirty="0" smtClean="0"/>
              <a:t> mission </a:t>
            </a:r>
            <a:r>
              <a:rPr lang="fr-FR" b="1" dirty="0" err="1" smtClean="0"/>
              <a:t>statement</a:t>
            </a:r>
            <a:r>
              <a:rPr lang="fr-FR" b="1" dirty="0" smtClean="0"/>
              <a:t>. </a:t>
            </a:r>
            <a:r>
              <a:rPr lang="fr-FR" b="1" dirty="0" err="1" smtClean="0"/>
              <a:t>These</a:t>
            </a:r>
            <a:r>
              <a:rPr lang="fr-FR" b="1" dirty="0" smtClean="0"/>
              <a:t> </a:t>
            </a:r>
            <a:r>
              <a:rPr lang="fr-FR" b="1" dirty="0" err="1"/>
              <a:t>answers</a:t>
            </a:r>
            <a:r>
              <a:rPr lang="fr-FR" b="1" dirty="0"/>
              <a:t> are </a:t>
            </a:r>
            <a:r>
              <a:rPr lang="fr-FR" b="1" dirty="0" err="1"/>
              <a:t>included</a:t>
            </a:r>
            <a:r>
              <a:rPr lang="fr-FR" b="1" dirty="0"/>
              <a:t> </a:t>
            </a:r>
            <a:r>
              <a:rPr lang="fr-FR" b="1" dirty="0" smtClean="0"/>
              <a:t>in an </a:t>
            </a:r>
            <a:r>
              <a:rPr lang="fr-FR" b="1" dirty="0" err="1" smtClean="0"/>
              <a:t>essay</a:t>
            </a:r>
            <a:r>
              <a:rPr lang="fr-FR" b="1" dirty="0" smtClean="0"/>
              <a:t> format not in </a:t>
            </a:r>
            <a:r>
              <a:rPr lang="fr-FR" b="1" dirty="0" err="1" smtClean="0"/>
              <a:t>terms</a:t>
            </a:r>
            <a:r>
              <a:rPr lang="fr-FR" b="1" dirty="0" smtClean="0"/>
              <a:t> of questions:</a:t>
            </a:r>
            <a:r>
              <a:rPr lang="fr-FR" b="1" dirty="0"/>
              <a:t/>
            </a:r>
            <a:br>
              <a:rPr lang="fr-FR" b="1" dirty="0"/>
            </a:br>
            <a:endParaRPr lang="ar-EG" dirty="0"/>
          </a:p>
          <a:p>
            <a:pPr algn="just" rtl="0"/>
            <a:r>
              <a:rPr lang="en-US" b="1" dirty="0" err="1" smtClean="0"/>
              <a:t>1.Customer</a:t>
            </a:r>
            <a:r>
              <a:rPr lang="en-US" b="1" dirty="0"/>
              <a:t>: </a:t>
            </a:r>
            <a:r>
              <a:rPr lang="en-US" dirty="0"/>
              <a:t>Who are the firm’s customers? </a:t>
            </a:r>
          </a:p>
          <a:p>
            <a:pPr algn="just" rtl="0"/>
            <a:r>
              <a:rPr lang="en-US" b="1" dirty="0" err="1"/>
              <a:t>2.Products</a:t>
            </a:r>
            <a:r>
              <a:rPr lang="en-US" b="1" dirty="0"/>
              <a:t> or services: </a:t>
            </a:r>
            <a:r>
              <a:rPr lang="en-US" dirty="0"/>
              <a:t>What are the firm’s </a:t>
            </a:r>
            <a:r>
              <a:rPr lang="en-US" b="1" u="sng" dirty="0"/>
              <a:t>major</a:t>
            </a:r>
            <a:r>
              <a:rPr lang="en-US" dirty="0"/>
              <a:t> products or services</a:t>
            </a:r>
            <a:r>
              <a:rPr lang="en-US" dirty="0" smtClean="0"/>
              <a:t>? (we need to focus on the major because the company may produce multiple products). </a:t>
            </a:r>
            <a:endParaRPr lang="en-US" dirty="0"/>
          </a:p>
          <a:p>
            <a:pPr algn="just" rtl="0"/>
            <a:r>
              <a:rPr lang="en-US" b="1" dirty="0" err="1"/>
              <a:t>3.Markets</a:t>
            </a:r>
            <a:r>
              <a:rPr lang="en-US" b="1" dirty="0"/>
              <a:t>: </a:t>
            </a:r>
            <a:r>
              <a:rPr lang="en-US" dirty="0"/>
              <a:t>Geographically, where does the firm compete? </a:t>
            </a:r>
          </a:p>
        </p:txBody>
      </p:sp>
    </p:spTree>
    <p:extLst>
      <p:ext uri="{BB962C8B-B14F-4D97-AF65-F5344CB8AC3E}">
        <p14:creationId xmlns:p14="http://schemas.microsoft.com/office/powerpoint/2010/main" val="6923204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153400" cy="1143000"/>
          </a:xfrm>
        </p:spPr>
        <p:txBody>
          <a:bodyPr>
            <a:normAutofit/>
          </a:bodyPr>
          <a:lstStyle/>
          <a:p>
            <a:r>
              <a:rPr lang="fr-FR" sz="3000" b="1" dirty="0"/>
              <a:t>Mission </a:t>
            </a:r>
            <a:r>
              <a:rPr lang="fr-FR" sz="3000" b="1" dirty="0" err="1"/>
              <a:t>Statement</a:t>
            </a:r>
            <a:r>
              <a:rPr lang="fr-FR" sz="3000" b="1" dirty="0"/>
              <a:t> Components </a:t>
            </a:r>
            <a:r>
              <a:rPr lang="fr-FR" sz="3000" b="1" dirty="0" smtClean="0"/>
              <a:t/>
            </a:r>
            <a:br>
              <a:rPr lang="fr-FR" sz="3000" b="1" dirty="0" smtClean="0"/>
            </a:br>
            <a:endParaRPr lang="ar-EG" sz="3000" b="1" dirty="0"/>
          </a:p>
        </p:txBody>
      </p:sp>
      <p:sp>
        <p:nvSpPr>
          <p:cNvPr id="3" name="Content Placeholder 2"/>
          <p:cNvSpPr>
            <a:spLocks noGrp="1"/>
          </p:cNvSpPr>
          <p:nvPr>
            <p:ph idx="1"/>
          </p:nvPr>
        </p:nvSpPr>
        <p:spPr>
          <a:xfrm>
            <a:off x="457200" y="1371600"/>
            <a:ext cx="8153400" cy="5105400"/>
          </a:xfrm>
        </p:spPr>
        <p:txBody>
          <a:bodyPr>
            <a:normAutofit fontScale="92500" lnSpcReduction="10000"/>
          </a:bodyPr>
          <a:lstStyle/>
          <a:p>
            <a:pPr algn="just" rtl="0"/>
            <a:r>
              <a:rPr lang="en-US" b="1" dirty="0" err="1"/>
              <a:t>4.Technology</a:t>
            </a:r>
            <a:r>
              <a:rPr lang="en-US" b="1" dirty="0"/>
              <a:t>: </a:t>
            </a:r>
            <a:r>
              <a:rPr lang="en-US" dirty="0"/>
              <a:t>Is the firm technologically current</a:t>
            </a:r>
            <a:r>
              <a:rPr lang="en-US" dirty="0" smtClean="0"/>
              <a:t>?</a:t>
            </a:r>
          </a:p>
          <a:p>
            <a:pPr algn="just" rtl="0"/>
            <a:r>
              <a:rPr lang="en-US" dirty="0" smtClean="0">
                <a:solidFill>
                  <a:schemeClr val="accent3">
                    <a:lumMod val="75000"/>
                  </a:schemeClr>
                </a:solidFill>
              </a:rPr>
              <a:t> </a:t>
            </a:r>
            <a:r>
              <a:rPr lang="en-US" b="1" u="sng" dirty="0">
                <a:solidFill>
                  <a:schemeClr val="accent3">
                    <a:lumMod val="75000"/>
                  </a:schemeClr>
                </a:solidFill>
              </a:rPr>
              <a:t>Technology has two categories:</a:t>
            </a:r>
          </a:p>
          <a:p>
            <a:pPr marL="68263" indent="0" algn="just" rtl="0">
              <a:buNone/>
            </a:pPr>
            <a:r>
              <a:rPr lang="en-US" b="1" dirty="0" smtClean="0">
                <a:solidFill>
                  <a:schemeClr val="bg2">
                    <a:lumMod val="50000"/>
                  </a:schemeClr>
                </a:solidFill>
              </a:rPr>
              <a:t>-</a:t>
            </a:r>
            <a:r>
              <a:rPr lang="en-US" b="1" u="sng" dirty="0" smtClean="0">
                <a:solidFill>
                  <a:schemeClr val="bg2">
                    <a:lumMod val="50000"/>
                  </a:schemeClr>
                </a:solidFill>
              </a:rPr>
              <a:t>Core </a:t>
            </a:r>
            <a:r>
              <a:rPr lang="en-US" b="1" u="sng" dirty="0">
                <a:solidFill>
                  <a:schemeClr val="bg2">
                    <a:lumMod val="50000"/>
                  </a:schemeClr>
                </a:solidFill>
              </a:rPr>
              <a:t>technology</a:t>
            </a:r>
            <a:r>
              <a:rPr lang="en-US" b="1" dirty="0">
                <a:solidFill>
                  <a:schemeClr val="bg2">
                    <a:lumMod val="50000"/>
                  </a:schemeClr>
                </a:solidFill>
              </a:rPr>
              <a:t> refers </a:t>
            </a:r>
            <a:r>
              <a:rPr lang="en-US" b="1" dirty="0" smtClean="0">
                <a:solidFill>
                  <a:schemeClr val="bg2">
                    <a:lumMod val="50000"/>
                  </a:schemeClr>
                </a:solidFill>
              </a:rPr>
              <a:t>to technology </a:t>
            </a:r>
            <a:r>
              <a:rPr lang="en-US" b="1" dirty="0">
                <a:solidFill>
                  <a:schemeClr val="bg2">
                    <a:lumMod val="50000"/>
                  </a:schemeClr>
                </a:solidFill>
              </a:rPr>
              <a:t>used by the company to transfer the input to </a:t>
            </a:r>
            <a:r>
              <a:rPr lang="en-US" b="1" dirty="0" err="1">
                <a:solidFill>
                  <a:schemeClr val="bg2">
                    <a:lumMod val="50000"/>
                  </a:schemeClr>
                </a:solidFill>
              </a:rPr>
              <a:t>ouput</a:t>
            </a:r>
            <a:r>
              <a:rPr lang="en-US" b="1" dirty="0">
                <a:solidFill>
                  <a:schemeClr val="bg2">
                    <a:lumMod val="50000"/>
                  </a:schemeClr>
                </a:solidFill>
              </a:rPr>
              <a:t> (product /service</a:t>
            </a:r>
            <a:r>
              <a:rPr lang="en-US" b="1" dirty="0" smtClean="0">
                <a:solidFill>
                  <a:schemeClr val="bg2">
                    <a:lumMod val="50000"/>
                  </a:schemeClr>
                </a:solidFill>
              </a:rPr>
              <a:t>). </a:t>
            </a:r>
            <a:r>
              <a:rPr lang="en-US" b="1" dirty="0" smtClean="0">
                <a:solidFill>
                  <a:schemeClr val="accent3">
                    <a:lumMod val="75000"/>
                  </a:schemeClr>
                </a:solidFill>
              </a:rPr>
              <a:t>It is directly </a:t>
            </a:r>
            <a:r>
              <a:rPr lang="en-US" b="1" dirty="0">
                <a:solidFill>
                  <a:schemeClr val="accent3">
                    <a:lumMod val="75000"/>
                  </a:schemeClr>
                </a:solidFill>
              </a:rPr>
              <a:t>related </a:t>
            </a:r>
            <a:r>
              <a:rPr lang="en-US" b="1" dirty="0" smtClean="0">
                <a:solidFill>
                  <a:schemeClr val="accent3">
                    <a:lumMod val="75000"/>
                  </a:schemeClr>
                </a:solidFill>
              </a:rPr>
              <a:t>to the organization mission.</a:t>
            </a:r>
          </a:p>
          <a:p>
            <a:pPr algn="just" rtl="0"/>
            <a:r>
              <a:rPr lang="en-US" b="1" dirty="0" smtClean="0">
                <a:solidFill>
                  <a:schemeClr val="bg2">
                    <a:lumMod val="50000"/>
                  </a:schemeClr>
                </a:solidFill>
              </a:rPr>
              <a:t>(teaching in school, medical services in a clinic).</a:t>
            </a:r>
            <a:endParaRPr lang="en-US" b="1" dirty="0">
              <a:solidFill>
                <a:schemeClr val="bg2">
                  <a:lumMod val="50000"/>
                </a:schemeClr>
              </a:solidFill>
            </a:endParaRPr>
          </a:p>
          <a:p>
            <a:pPr marL="68580" indent="0" algn="just" rtl="0">
              <a:buNone/>
            </a:pPr>
            <a:r>
              <a:rPr lang="en-US" b="1" u="sng" dirty="0">
                <a:solidFill>
                  <a:schemeClr val="bg2">
                    <a:lumMod val="50000"/>
                  </a:schemeClr>
                </a:solidFill>
              </a:rPr>
              <a:t>Ex:</a:t>
            </a:r>
            <a:r>
              <a:rPr lang="en-US" b="1" dirty="0">
                <a:solidFill>
                  <a:schemeClr val="bg2">
                    <a:lumMod val="50000"/>
                  </a:schemeClr>
                </a:solidFill>
              </a:rPr>
              <a:t> in the university, the technology is used by the profs. and assistants that use to deliver the lectures and </a:t>
            </a:r>
            <a:r>
              <a:rPr lang="en-US" b="1" dirty="0" smtClean="0">
                <a:solidFill>
                  <a:schemeClr val="bg2">
                    <a:lumMod val="50000"/>
                  </a:schemeClr>
                </a:solidFill>
              </a:rPr>
              <a:t>sections.</a:t>
            </a:r>
          </a:p>
          <a:p>
            <a:pPr marL="68580" indent="0" algn="just" rtl="0">
              <a:buNone/>
            </a:pPr>
            <a:r>
              <a:rPr lang="en-US" b="1" dirty="0" smtClean="0"/>
              <a:t>-</a:t>
            </a:r>
            <a:r>
              <a:rPr lang="en-US" b="1" u="sng" dirty="0" smtClean="0"/>
              <a:t>Non-core </a:t>
            </a:r>
            <a:r>
              <a:rPr lang="en-US" b="1" u="sng" dirty="0"/>
              <a:t>technology </a:t>
            </a:r>
            <a:r>
              <a:rPr lang="en-US" b="1" dirty="0"/>
              <a:t>refers to </a:t>
            </a:r>
            <a:r>
              <a:rPr lang="en-US" b="1" dirty="0" smtClean="0"/>
              <a:t>technology </a:t>
            </a:r>
            <a:r>
              <a:rPr lang="en-US" b="1" dirty="0"/>
              <a:t>that used </a:t>
            </a:r>
            <a:r>
              <a:rPr lang="en-US" b="1" dirty="0" smtClean="0"/>
              <a:t>by  departments which </a:t>
            </a:r>
            <a:r>
              <a:rPr lang="en-US" b="1" u="sng" dirty="0" smtClean="0"/>
              <a:t>support</a:t>
            </a:r>
            <a:r>
              <a:rPr lang="en-US" b="1" dirty="0" smtClean="0"/>
              <a:t> </a:t>
            </a:r>
            <a:r>
              <a:rPr lang="en-US" b="1" dirty="0"/>
              <a:t>the main </a:t>
            </a:r>
            <a:r>
              <a:rPr lang="en-US" b="1" dirty="0" smtClean="0"/>
              <a:t>work process but </a:t>
            </a:r>
            <a:r>
              <a:rPr lang="en-US" b="1" dirty="0">
                <a:solidFill>
                  <a:schemeClr val="accent3">
                    <a:lumMod val="75000"/>
                  </a:schemeClr>
                </a:solidFill>
              </a:rPr>
              <a:t>is not directly related to the organization mission. </a:t>
            </a:r>
          </a:p>
          <a:p>
            <a:pPr marL="68580" indent="0" algn="just" rtl="0">
              <a:buNone/>
            </a:pPr>
            <a:r>
              <a:rPr lang="en-US" b="1" u="sng" dirty="0"/>
              <a:t>Ex:</a:t>
            </a:r>
            <a:r>
              <a:rPr lang="en-US" b="1" dirty="0"/>
              <a:t> in </a:t>
            </a:r>
            <a:r>
              <a:rPr lang="en-US" b="1" dirty="0" smtClean="0"/>
              <a:t>the university (HR, Accounting, R&amp;D and finance departments) </a:t>
            </a:r>
            <a:r>
              <a:rPr lang="en-US" b="1" dirty="0"/>
              <a:t>are using </a:t>
            </a:r>
            <a:r>
              <a:rPr lang="en-US" b="1" dirty="0" smtClean="0"/>
              <a:t>technology </a:t>
            </a:r>
            <a:r>
              <a:rPr lang="en-US" b="1" dirty="0"/>
              <a:t>to accomplish their </a:t>
            </a:r>
            <a:r>
              <a:rPr lang="en-US" b="1" dirty="0" smtClean="0"/>
              <a:t>tasks which support the teaching process which is (the core work process in the university).</a:t>
            </a:r>
            <a:endParaRPr lang="en-US" b="1" dirty="0"/>
          </a:p>
        </p:txBody>
      </p:sp>
    </p:spTree>
    <p:extLst>
      <p:ext uri="{BB962C8B-B14F-4D97-AF65-F5344CB8AC3E}">
        <p14:creationId xmlns:p14="http://schemas.microsoft.com/office/powerpoint/2010/main" val="17650638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7534834" cy="1143000"/>
          </a:xfrm>
        </p:spPr>
        <p:txBody>
          <a:bodyPr>
            <a:normAutofit fontScale="90000"/>
          </a:bodyPr>
          <a:lstStyle/>
          <a:p>
            <a:r>
              <a:rPr lang="fr-FR" b="1" dirty="0"/>
              <a:t>Mission </a:t>
            </a:r>
            <a:r>
              <a:rPr lang="fr-FR" b="1" dirty="0" err="1"/>
              <a:t>Statement</a:t>
            </a:r>
            <a:r>
              <a:rPr lang="fr-FR" b="1" dirty="0"/>
              <a:t> Components </a:t>
            </a:r>
            <a:br>
              <a:rPr lang="fr-FR" b="1" dirty="0"/>
            </a:br>
            <a:endParaRPr lang="ar-EG" b="1" dirty="0"/>
          </a:p>
        </p:txBody>
      </p:sp>
      <p:sp>
        <p:nvSpPr>
          <p:cNvPr id="3" name="Content Placeholder 2"/>
          <p:cNvSpPr>
            <a:spLocks noGrp="1"/>
          </p:cNvSpPr>
          <p:nvPr>
            <p:ph idx="1"/>
          </p:nvPr>
        </p:nvSpPr>
        <p:spPr>
          <a:xfrm>
            <a:off x="381000" y="1143000"/>
            <a:ext cx="8229600" cy="4953000"/>
          </a:xfrm>
        </p:spPr>
        <p:txBody>
          <a:bodyPr>
            <a:normAutofit lnSpcReduction="10000"/>
          </a:bodyPr>
          <a:lstStyle/>
          <a:p>
            <a:pPr algn="l" rtl="0"/>
            <a:r>
              <a:rPr lang="en-US" b="1" dirty="0"/>
              <a:t>5</a:t>
            </a:r>
            <a:r>
              <a:rPr lang="en-US" b="1" dirty="0" smtClean="0"/>
              <a:t>. Concern </a:t>
            </a:r>
            <a:r>
              <a:rPr lang="en-US" b="1" dirty="0"/>
              <a:t>for survival, growth, </a:t>
            </a:r>
            <a:r>
              <a:rPr lang="en-US" b="1" dirty="0" smtClean="0"/>
              <a:t>&amp; profitability</a:t>
            </a:r>
            <a:r>
              <a:rPr lang="en-US" b="1" dirty="0"/>
              <a:t>: </a:t>
            </a:r>
            <a:r>
              <a:rPr lang="en-US" dirty="0"/>
              <a:t>Is the firm committed to growth and financial soundness? </a:t>
            </a:r>
            <a:endParaRPr lang="en-US" dirty="0" smtClean="0"/>
          </a:p>
          <a:p>
            <a:pPr marL="68580" indent="0" algn="l" rtl="0">
              <a:buNone/>
            </a:pPr>
            <a:r>
              <a:rPr lang="en-US" dirty="0" smtClean="0"/>
              <a:t>- If we talk about the organizational life cycle.</a:t>
            </a:r>
          </a:p>
          <a:p>
            <a:pPr marL="68580" indent="0" algn="l" rtl="0">
              <a:buNone/>
            </a:pPr>
            <a:endParaRPr lang="ar-EG" dirty="0"/>
          </a:p>
          <a:p>
            <a:pPr algn="just" rtl="0"/>
            <a:endParaRPr lang="en-US" dirty="0" smtClean="0"/>
          </a:p>
          <a:p>
            <a:pPr algn="just" rtl="0"/>
            <a:endParaRPr lang="en-US" dirty="0"/>
          </a:p>
          <a:p>
            <a:pPr algn="just" rtl="0"/>
            <a:endParaRPr lang="en-US" dirty="0" smtClean="0"/>
          </a:p>
          <a:p>
            <a:pPr algn="just" rtl="0"/>
            <a:endParaRPr lang="en-US" dirty="0"/>
          </a:p>
          <a:p>
            <a:pPr algn="just" rtl="0"/>
            <a:endParaRPr lang="en-US" dirty="0" smtClean="0"/>
          </a:p>
          <a:p>
            <a:pPr algn="just" rtl="0"/>
            <a:r>
              <a:rPr lang="en-US" dirty="0" smtClean="0"/>
              <a:t>If the company knows how to grow, to survive, and  to make profits it can survive and reduce the opportunity to decline. </a:t>
            </a:r>
            <a:endParaRPr lang="ar-EG"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438400"/>
            <a:ext cx="7924800"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778222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838200"/>
            <a:ext cx="7534834" cy="1143000"/>
          </a:xfrm>
        </p:spPr>
        <p:txBody>
          <a:bodyPr>
            <a:normAutofit fontScale="90000"/>
          </a:bodyPr>
          <a:lstStyle/>
          <a:p>
            <a:r>
              <a:rPr lang="fr-FR" b="1" dirty="0"/>
              <a:t>Mission </a:t>
            </a:r>
            <a:r>
              <a:rPr lang="fr-FR" b="1" dirty="0" err="1"/>
              <a:t>Statement</a:t>
            </a:r>
            <a:r>
              <a:rPr lang="fr-FR" b="1" dirty="0"/>
              <a:t> Components </a:t>
            </a:r>
            <a:br>
              <a:rPr lang="fr-FR" b="1" dirty="0"/>
            </a:br>
            <a:endParaRPr lang="ar-EG" b="1" dirty="0"/>
          </a:p>
        </p:txBody>
      </p:sp>
      <p:sp>
        <p:nvSpPr>
          <p:cNvPr id="3" name="Content Placeholder 2"/>
          <p:cNvSpPr>
            <a:spLocks noGrp="1"/>
          </p:cNvSpPr>
          <p:nvPr>
            <p:ph idx="1"/>
          </p:nvPr>
        </p:nvSpPr>
        <p:spPr>
          <a:xfrm>
            <a:off x="457200" y="1524000"/>
            <a:ext cx="8229600" cy="4953000"/>
          </a:xfrm>
        </p:spPr>
        <p:txBody>
          <a:bodyPr>
            <a:normAutofit fontScale="85000" lnSpcReduction="10000"/>
          </a:bodyPr>
          <a:lstStyle/>
          <a:p>
            <a:pPr algn="just" rtl="0">
              <a:spcBef>
                <a:spcPts val="1200"/>
              </a:spcBef>
            </a:pPr>
            <a:r>
              <a:rPr lang="en-US" b="1" dirty="0" err="1"/>
              <a:t>6.Philosophy</a:t>
            </a:r>
            <a:r>
              <a:rPr lang="en-US" b="1" dirty="0"/>
              <a:t>: </a:t>
            </a:r>
            <a:r>
              <a:rPr lang="en-US" dirty="0"/>
              <a:t>What are the basic beliefs, values, aspirations, and ethical priorities of the firm</a:t>
            </a:r>
            <a:r>
              <a:rPr lang="en-US" dirty="0" smtClean="0"/>
              <a:t>? (which guide the process inside the company, how to deal with colleagues, your bosses, your followers, the customers, </a:t>
            </a:r>
            <a:r>
              <a:rPr lang="en-US" dirty="0" err="1" smtClean="0"/>
              <a:t>etc</a:t>
            </a:r>
            <a:r>
              <a:rPr lang="en-US" dirty="0" smtClean="0"/>
              <a:t>…such as transparency).</a:t>
            </a:r>
          </a:p>
          <a:p>
            <a:pPr algn="just" rtl="0">
              <a:spcBef>
                <a:spcPts val="1200"/>
              </a:spcBef>
            </a:pPr>
            <a:r>
              <a:rPr lang="en-US" b="1" dirty="0" err="1" smtClean="0"/>
              <a:t>7.Self</a:t>
            </a:r>
            <a:r>
              <a:rPr lang="en-US" b="1" dirty="0" smtClean="0"/>
              <a:t>-concept</a:t>
            </a:r>
            <a:r>
              <a:rPr lang="en-US" b="1" dirty="0"/>
              <a:t>:</a:t>
            </a:r>
            <a:r>
              <a:rPr lang="en-US" dirty="0"/>
              <a:t> What is the firm’s </a:t>
            </a:r>
            <a:r>
              <a:rPr lang="en-US" b="1" dirty="0"/>
              <a:t>distinctive</a:t>
            </a:r>
            <a:r>
              <a:rPr lang="en-US" dirty="0"/>
              <a:t> competence or major competitive advantage? </a:t>
            </a:r>
            <a:r>
              <a:rPr lang="en-US" b="1" dirty="0" smtClean="0">
                <a:solidFill>
                  <a:schemeClr val="accent3">
                    <a:lumMod val="75000"/>
                  </a:schemeClr>
                </a:solidFill>
              </a:rPr>
              <a:t>Something that I do have and the competitors don’t have.</a:t>
            </a:r>
            <a:endParaRPr lang="en-US" b="1" dirty="0">
              <a:solidFill>
                <a:schemeClr val="accent3">
                  <a:lumMod val="75000"/>
                </a:schemeClr>
              </a:solidFill>
            </a:endParaRPr>
          </a:p>
          <a:p>
            <a:pPr algn="just" rtl="0">
              <a:spcBef>
                <a:spcPts val="1200"/>
              </a:spcBef>
            </a:pPr>
            <a:r>
              <a:rPr lang="en-US" b="1" dirty="0" err="1"/>
              <a:t>8.Concern</a:t>
            </a:r>
            <a:r>
              <a:rPr lang="en-US" b="1" dirty="0"/>
              <a:t> for public image: </a:t>
            </a:r>
            <a:r>
              <a:rPr lang="en-US" dirty="0"/>
              <a:t>Is the firm responsive to social, community, and environmental concerns? </a:t>
            </a:r>
            <a:r>
              <a:rPr lang="en-US" b="1" dirty="0" smtClean="0">
                <a:solidFill>
                  <a:schemeClr val="accent3">
                    <a:lumMod val="75000"/>
                  </a:schemeClr>
                </a:solidFill>
              </a:rPr>
              <a:t>The value that I add to the public as a social responsibility.</a:t>
            </a:r>
          </a:p>
          <a:p>
            <a:pPr algn="just" rtl="0">
              <a:spcBef>
                <a:spcPts val="1200"/>
              </a:spcBef>
            </a:pPr>
            <a:endParaRPr lang="en-US" dirty="0"/>
          </a:p>
          <a:p>
            <a:pPr algn="just" rtl="0">
              <a:spcBef>
                <a:spcPts val="1200"/>
              </a:spcBef>
            </a:pPr>
            <a:r>
              <a:rPr lang="en-US" b="1" dirty="0" err="1"/>
              <a:t>9.Concern</a:t>
            </a:r>
            <a:r>
              <a:rPr lang="en-US" b="1" dirty="0"/>
              <a:t> for employees: </a:t>
            </a:r>
            <a:r>
              <a:rPr lang="en-US" dirty="0"/>
              <a:t>Are employees a valuable asset of the firm</a:t>
            </a:r>
            <a:r>
              <a:rPr lang="en-US" dirty="0" smtClean="0"/>
              <a:t>? </a:t>
            </a:r>
            <a:r>
              <a:rPr lang="en-US" b="1" dirty="0" smtClean="0">
                <a:solidFill>
                  <a:schemeClr val="accent3">
                    <a:lumMod val="75000"/>
                  </a:schemeClr>
                </a:solidFill>
              </a:rPr>
              <a:t>The most important resources at any company.</a:t>
            </a:r>
            <a:endParaRPr lang="en-US" b="1" dirty="0">
              <a:solidFill>
                <a:schemeClr val="accent3">
                  <a:lumMod val="75000"/>
                </a:schemeClr>
              </a:solidFill>
            </a:endParaRPr>
          </a:p>
        </p:txBody>
      </p:sp>
    </p:spTree>
    <p:extLst>
      <p:ext uri="{BB962C8B-B14F-4D97-AF65-F5344CB8AC3E}">
        <p14:creationId xmlns:p14="http://schemas.microsoft.com/office/powerpoint/2010/main" val="33587775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558144" cy="1143000"/>
          </a:xfrm>
        </p:spPr>
        <p:txBody>
          <a:bodyPr>
            <a:normAutofit fontScale="90000"/>
          </a:bodyPr>
          <a:lstStyle/>
          <a:p>
            <a:r>
              <a:rPr lang="en-US" b="1" dirty="0" smtClean="0"/>
              <a:t>Mission statement</a:t>
            </a:r>
            <a:r>
              <a:rPr lang="en-US" b="1" dirty="0"/>
              <a:t/>
            </a:r>
            <a:br>
              <a:rPr lang="en-US" b="1" dirty="0"/>
            </a:br>
            <a:endParaRPr lang="ar-EG"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276350"/>
            <a:ext cx="8001000" cy="497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674239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7611034" cy="1143000"/>
          </a:xfrm>
        </p:spPr>
        <p:txBody>
          <a:bodyPr>
            <a:normAutofit fontScale="90000"/>
          </a:bodyPr>
          <a:lstStyle/>
          <a:p>
            <a:r>
              <a:rPr lang="fr-FR" b="1" dirty="0"/>
              <a:t>Mission </a:t>
            </a:r>
            <a:r>
              <a:rPr lang="fr-FR" b="1" dirty="0" err="1"/>
              <a:t>Statement</a:t>
            </a:r>
            <a:r>
              <a:rPr lang="fr-FR" b="1" dirty="0"/>
              <a:t> Components </a:t>
            </a:r>
            <a:br>
              <a:rPr lang="fr-FR" b="1" dirty="0"/>
            </a:br>
            <a:endParaRPr lang="ar-EG" dirty="0"/>
          </a:p>
        </p:txBody>
      </p:sp>
      <p:sp>
        <p:nvSpPr>
          <p:cNvPr id="3" name="Content Placeholder 2"/>
          <p:cNvSpPr>
            <a:spLocks noGrp="1"/>
          </p:cNvSpPr>
          <p:nvPr>
            <p:ph idx="1"/>
          </p:nvPr>
        </p:nvSpPr>
        <p:spPr>
          <a:xfrm>
            <a:off x="533400" y="1447800"/>
            <a:ext cx="8229600" cy="4876800"/>
          </a:xfrm>
        </p:spPr>
        <p:txBody>
          <a:bodyPr/>
          <a:lstStyle/>
          <a:p>
            <a:pPr algn="l" rtl="0"/>
            <a:r>
              <a:rPr lang="en-US" dirty="0" smtClean="0"/>
              <a:t>The question is: </a:t>
            </a:r>
            <a:r>
              <a:rPr lang="en-US" b="1" dirty="0" smtClean="0">
                <a:solidFill>
                  <a:schemeClr val="accent3">
                    <a:lumMod val="75000"/>
                  </a:schemeClr>
                </a:solidFill>
              </a:rPr>
              <a:t>should I include all of these components into my mission statement</a:t>
            </a:r>
            <a:r>
              <a:rPr lang="en-US" dirty="0">
                <a:solidFill>
                  <a:schemeClr val="accent3">
                    <a:lumMod val="75000"/>
                  </a:schemeClr>
                </a:solidFill>
              </a:rPr>
              <a:t>?</a:t>
            </a:r>
            <a:endParaRPr lang="en-US" dirty="0" smtClean="0">
              <a:solidFill>
                <a:schemeClr val="accent3">
                  <a:lumMod val="75000"/>
                </a:schemeClr>
              </a:solidFill>
            </a:endParaRPr>
          </a:p>
          <a:p>
            <a:pPr algn="l" rtl="0"/>
            <a:r>
              <a:rPr lang="en-US" b="1" dirty="0" smtClean="0">
                <a:solidFill>
                  <a:srgbClr val="7030A0"/>
                </a:solidFill>
              </a:rPr>
              <a:t>The answer is: No.</a:t>
            </a:r>
          </a:p>
          <a:p>
            <a:pPr marL="68580" indent="0" algn="just" rtl="0">
              <a:buNone/>
            </a:pPr>
            <a:r>
              <a:rPr lang="en-US" b="1" dirty="0" smtClean="0">
                <a:solidFill>
                  <a:srgbClr val="7030A0"/>
                </a:solidFill>
              </a:rPr>
              <a:t>I can include some components or part of it according to your decision as a strategist, as he/she decides on the most important components should be included. </a:t>
            </a:r>
            <a:r>
              <a:rPr lang="en-US" b="1" u="sng" dirty="0" smtClean="0">
                <a:solidFill>
                  <a:srgbClr val="7030A0"/>
                </a:solidFill>
                <a:effectLst>
                  <a:outerShdw blurRad="38100" dist="38100" dir="2700000" algn="tl">
                    <a:srgbClr val="000000">
                      <a:alpha val="43137"/>
                    </a:srgbClr>
                  </a:outerShdw>
                </a:effectLst>
              </a:rPr>
              <a:t>However to develop a comprehensive mission statement I have to include all of them. </a:t>
            </a:r>
          </a:p>
          <a:p>
            <a:pPr marL="68580" indent="0" algn="l" rtl="0">
              <a:buNone/>
            </a:pPr>
            <a:endParaRPr lang="ar-EG" b="1" dirty="0">
              <a:solidFill>
                <a:srgbClr val="7030A0"/>
              </a:solidFill>
            </a:endParaRPr>
          </a:p>
        </p:txBody>
      </p:sp>
    </p:spTree>
    <p:extLst>
      <p:ext uri="{BB962C8B-B14F-4D97-AF65-F5344CB8AC3E}">
        <p14:creationId xmlns:p14="http://schemas.microsoft.com/office/powerpoint/2010/main" val="13134268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948110" cy="1143000"/>
          </a:xfrm>
        </p:spPr>
        <p:txBody>
          <a:bodyPr>
            <a:normAutofit/>
          </a:bodyPr>
          <a:lstStyle/>
          <a:p>
            <a:r>
              <a:rPr lang="en-US" sz="3000" b="1" dirty="0" smtClean="0"/>
              <a:t>Three crucial components of the mission</a:t>
            </a:r>
            <a:endParaRPr lang="ar-EG" sz="3000" b="1" dirty="0"/>
          </a:p>
        </p:txBody>
      </p:sp>
      <p:sp>
        <p:nvSpPr>
          <p:cNvPr id="3" name="Content Placeholder 2"/>
          <p:cNvSpPr>
            <a:spLocks noGrp="1"/>
          </p:cNvSpPr>
          <p:nvPr>
            <p:ph idx="1"/>
          </p:nvPr>
        </p:nvSpPr>
        <p:spPr>
          <a:xfrm>
            <a:off x="533400" y="1752600"/>
            <a:ext cx="8077200" cy="4080029"/>
          </a:xfrm>
        </p:spPr>
        <p:txBody>
          <a:bodyPr>
            <a:normAutofit lnSpcReduction="10000"/>
          </a:bodyPr>
          <a:lstStyle/>
          <a:p>
            <a:pPr marL="68580" indent="0" algn="just" rtl="0">
              <a:buNone/>
            </a:pPr>
            <a:r>
              <a:rPr lang="en-US" sz="2800" b="1" dirty="0" smtClean="0"/>
              <a:t>Components cannot be ignored:</a:t>
            </a:r>
          </a:p>
          <a:p>
            <a:pPr algn="just" rtl="0"/>
            <a:r>
              <a:rPr lang="en-US" sz="2800" b="1" dirty="0" smtClean="0">
                <a:solidFill>
                  <a:srgbClr val="FF0000"/>
                </a:solidFill>
              </a:rPr>
              <a:t>Basic Product/service (2)</a:t>
            </a:r>
          </a:p>
          <a:p>
            <a:pPr algn="just" rtl="0"/>
            <a:r>
              <a:rPr lang="en-US" sz="2800" b="1" dirty="0" smtClean="0">
                <a:solidFill>
                  <a:srgbClr val="FF0000"/>
                </a:solidFill>
              </a:rPr>
              <a:t>Primary market (3)</a:t>
            </a:r>
          </a:p>
          <a:p>
            <a:pPr algn="just" rtl="0"/>
            <a:r>
              <a:rPr lang="en-US" sz="2800" b="1" smtClean="0">
                <a:solidFill>
                  <a:srgbClr val="FF0000"/>
                </a:solidFill>
              </a:rPr>
              <a:t>Principal technology (4)</a:t>
            </a:r>
            <a:endParaRPr lang="en-US" sz="2800" b="1" dirty="0" smtClean="0">
              <a:solidFill>
                <a:srgbClr val="FF0000"/>
              </a:solidFill>
            </a:endParaRPr>
          </a:p>
          <a:p>
            <a:pPr marL="68580" indent="0" algn="l" rtl="0">
              <a:buNone/>
            </a:pPr>
            <a:endParaRPr lang="en-US" sz="2800" dirty="0"/>
          </a:p>
          <a:p>
            <a:pPr marL="68580" indent="0" algn="just" rtl="0">
              <a:buNone/>
            </a:pPr>
            <a:r>
              <a:rPr lang="en-US" sz="2800" dirty="0" smtClean="0"/>
              <a:t>If you decide to use them in your mission statement, it is called </a:t>
            </a:r>
            <a:r>
              <a:rPr lang="en-US" sz="2800" b="1" i="1" dirty="0">
                <a:solidFill>
                  <a:schemeClr val="accent3">
                    <a:lumMod val="75000"/>
                  </a:schemeClr>
                </a:solidFill>
              </a:rPr>
              <a:t>“</a:t>
            </a:r>
            <a:r>
              <a:rPr lang="en-US" sz="2800" b="1" i="1" dirty="0" smtClean="0">
                <a:solidFill>
                  <a:schemeClr val="accent3">
                    <a:lumMod val="75000"/>
                  </a:schemeClr>
                </a:solidFill>
              </a:rPr>
              <a:t>silver bullet” </a:t>
            </a:r>
            <a:r>
              <a:rPr lang="en-US" sz="2800" dirty="0" smtClean="0"/>
              <a:t>mission for the outsiders to make it much more easier to read it.</a:t>
            </a:r>
          </a:p>
          <a:p>
            <a:pPr marL="68580" indent="0" algn="l" rtl="0">
              <a:buNone/>
            </a:pPr>
            <a:endParaRPr lang="en-US" sz="2800" dirty="0"/>
          </a:p>
        </p:txBody>
      </p:sp>
    </p:spTree>
    <p:extLst>
      <p:ext uri="{BB962C8B-B14F-4D97-AF65-F5344CB8AC3E}">
        <p14:creationId xmlns:p14="http://schemas.microsoft.com/office/powerpoint/2010/main" val="16422322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024744" cy="1143000"/>
          </a:xfrm>
        </p:spPr>
        <p:txBody>
          <a:bodyPr>
            <a:normAutofit fontScale="90000"/>
          </a:bodyPr>
          <a:lstStyle/>
          <a:p>
            <a:r>
              <a:rPr lang="ar-EG" dirty="0"/>
              <a:t/>
            </a:r>
            <a:br>
              <a:rPr lang="ar-EG" dirty="0"/>
            </a:br>
            <a:r>
              <a:rPr lang="fr-FR" b="1" dirty="0"/>
              <a:t>Mission </a:t>
            </a:r>
            <a:r>
              <a:rPr lang="fr-FR" b="1" dirty="0" err="1"/>
              <a:t>Statement</a:t>
            </a:r>
            <a:r>
              <a:rPr lang="fr-FR" b="1" dirty="0"/>
              <a:t> </a:t>
            </a:r>
            <a:r>
              <a:rPr lang="fr-FR" b="1" dirty="0" err="1"/>
              <a:t>Examples</a:t>
            </a:r>
            <a:r>
              <a:rPr lang="fr-FR" b="1" dirty="0"/>
              <a:t> </a:t>
            </a:r>
            <a:endParaRPr lang="ar-EG" dirty="0"/>
          </a:p>
        </p:txBody>
      </p:sp>
      <p:sp>
        <p:nvSpPr>
          <p:cNvPr id="3" name="Content Placeholder 2"/>
          <p:cNvSpPr>
            <a:spLocks noGrp="1"/>
          </p:cNvSpPr>
          <p:nvPr>
            <p:ph idx="1"/>
          </p:nvPr>
        </p:nvSpPr>
        <p:spPr>
          <a:xfrm>
            <a:off x="685800" y="1600200"/>
            <a:ext cx="7848600" cy="4648200"/>
          </a:xfrm>
        </p:spPr>
        <p:txBody>
          <a:bodyPr>
            <a:normAutofit/>
          </a:bodyPr>
          <a:lstStyle/>
          <a:p>
            <a:endParaRPr lang="ar-EG" dirty="0"/>
          </a:p>
          <a:p>
            <a:pPr algn="just" rtl="0"/>
            <a:r>
              <a:rPr lang="en-US" dirty="0"/>
              <a:t>Dell’s mission is to be the most successful computer company </a:t>
            </a:r>
            <a:r>
              <a:rPr lang="en-US" dirty="0" smtClean="0"/>
              <a:t>in </a:t>
            </a:r>
            <a:r>
              <a:rPr lang="en-US" dirty="0"/>
              <a:t>the world </a:t>
            </a:r>
            <a:r>
              <a:rPr lang="en-US" dirty="0" smtClean="0"/>
              <a:t>at </a:t>
            </a:r>
            <a:r>
              <a:rPr lang="en-US" dirty="0"/>
              <a:t>delivering the best customer experience in markets we </a:t>
            </a:r>
            <a:r>
              <a:rPr lang="en-US" dirty="0" smtClean="0"/>
              <a:t>serve. </a:t>
            </a:r>
            <a:r>
              <a:rPr lang="en-US" dirty="0"/>
              <a:t>In doing so, Dell will meet consumer expectations of highest quality; leading </a:t>
            </a:r>
            <a:r>
              <a:rPr lang="en-US" dirty="0" smtClean="0"/>
              <a:t>technology; </a:t>
            </a:r>
            <a:r>
              <a:rPr lang="en-US" dirty="0"/>
              <a:t>competitive pricing; individual and company </a:t>
            </a:r>
            <a:r>
              <a:rPr lang="en-US" dirty="0" smtClean="0"/>
              <a:t>accountability; </a:t>
            </a:r>
            <a:r>
              <a:rPr lang="en-US" dirty="0"/>
              <a:t>best-in-class service and </a:t>
            </a:r>
            <a:r>
              <a:rPr lang="en-US" dirty="0" smtClean="0"/>
              <a:t>support; </a:t>
            </a:r>
            <a:r>
              <a:rPr lang="en-US" dirty="0"/>
              <a:t>flexible customization </a:t>
            </a:r>
            <a:r>
              <a:rPr lang="en-US" dirty="0" smtClean="0"/>
              <a:t>capability; </a:t>
            </a:r>
            <a:r>
              <a:rPr lang="en-US" dirty="0"/>
              <a:t>superior corporate </a:t>
            </a:r>
            <a:r>
              <a:rPr lang="en-US" dirty="0" smtClean="0"/>
              <a:t>citizenship; </a:t>
            </a:r>
            <a:r>
              <a:rPr lang="en-US" dirty="0"/>
              <a:t>financial </a:t>
            </a:r>
            <a:r>
              <a:rPr lang="en-US" dirty="0" smtClean="0"/>
              <a:t>stability. </a:t>
            </a:r>
          </a:p>
          <a:p>
            <a:pPr algn="just" rtl="0"/>
            <a:endParaRPr lang="en-US" b="1" dirty="0"/>
          </a:p>
          <a:p>
            <a:pPr algn="just" rtl="0"/>
            <a:endParaRPr lang="en-US" b="1" dirty="0" smtClean="0"/>
          </a:p>
          <a:p>
            <a:pPr marL="68580" indent="0" algn="l" rtl="0">
              <a:buNone/>
            </a:pPr>
            <a:endParaRPr lang="en-US" dirty="0"/>
          </a:p>
        </p:txBody>
      </p:sp>
    </p:spTree>
    <p:extLst>
      <p:ext uri="{BB962C8B-B14F-4D97-AF65-F5344CB8AC3E}">
        <p14:creationId xmlns:p14="http://schemas.microsoft.com/office/powerpoint/2010/main" val="41106549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024744" cy="1143000"/>
          </a:xfrm>
        </p:spPr>
        <p:txBody>
          <a:bodyPr>
            <a:normAutofit fontScale="90000"/>
          </a:bodyPr>
          <a:lstStyle/>
          <a:p>
            <a:r>
              <a:rPr lang="ar-EG" dirty="0"/>
              <a:t/>
            </a:r>
            <a:br>
              <a:rPr lang="ar-EG" dirty="0"/>
            </a:br>
            <a:r>
              <a:rPr lang="fr-FR" b="1" dirty="0"/>
              <a:t>Mission </a:t>
            </a:r>
            <a:r>
              <a:rPr lang="fr-FR" b="1" dirty="0" err="1"/>
              <a:t>Statement</a:t>
            </a:r>
            <a:r>
              <a:rPr lang="fr-FR" b="1" dirty="0"/>
              <a:t> </a:t>
            </a:r>
            <a:r>
              <a:rPr lang="fr-FR" b="1" dirty="0" err="1"/>
              <a:t>Examples</a:t>
            </a:r>
            <a:r>
              <a:rPr lang="fr-FR" b="1" dirty="0"/>
              <a:t> </a:t>
            </a:r>
            <a:endParaRPr lang="ar-EG" dirty="0"/>
          </a:p>
        </p:txBody>
      </p:sp>
      <p:sp>
        <p:nvSpPr>
          <p:cNvPr id="3" name="Content Placeholder 2"/>
          <p:cNvSpPr>
            <a:spLocks noGrp="1"/>
          </p:cNvSpPr>
          <p:nvPr>
            <p:ph idx="1"/>
          </p:nvPr>
        </p:nvSpPr>
        <p:spPr>
          <a:xfrm>
            <a:off x="685800" y="1600200"/>
            <a:ext cx="7848600" cy="4648200"/>
          </a:xfrm>
        </p:spPr>
        <p:txBody>
          <a:bodyPr>
            <a:normAutofit fontScale="85000" lnSpcReduction="20000"/>
          </a:bodyPr>
          <a:lstStyle/>
          <a:p>
            <a:endParaRPr lang="ar-EG" dirty="0"/>
          </a:p>
          <a:p>
            <a:pPr algn="just" rtl="0"/>
            <a:r>
              <a:rPr lang="en-US" dirty="0"/>
              <a:t>Dell’s mission is to be the most successful computer company </a:t>
            </a:r>
            <a:r>
              <a:rPr lang="en-US" b="1" dirty="0">
                <a:solidFill>
                  <a:srgbClr val="C00000"/>
                </a:solidFill>
              </a:rPr>
              <a:t>(</a:t>
            </a:r>
            <a:r>
              <a:rPr lang="en-US" b="1" dirty="0" smtClean="0">
                <a:solidFill>
                  <a:srgbClr val="C00000"/>
                </a:solidFill>
              </a:rPr>
              <a:t>2 product)</a:t>
            </a:r>
            <a:r>
              <a:rPr lang="en-US" dirty="0" smtClean="0"/>
              <a:t> </a:t>
            </a:r>
            <a:r>
              <a:rPr lang="en-US" dirty="0"/>
              <a:t>in the world </a:t>
            </a:r>
            <a:r>
              <a:rPr lang="en-US" b="1" dirty="0">
                <a:solidFill>
                  <a:srgbClr val="C00000"/>
                </a:solidFill>
              </a:rPr>
              <a:t>(</a:t>
            </a:r>
            <a:r>
              <a:rPr lang="en-US" b="1" dirty="0" smtClean="0">
                <a:solidFill>
                  <a:srgbClr val="C00000"/>
                </a:solidFill>
              </a:rPr>
              <a:t>3 market)</a:t>
            </a:r>
            <a:r>
              <a:rPr lang="en-US" dirty="0" smtClean="0"/>
              <a:t> </a:t>
            </a:r>
            <a:r>
              <a:rPr lang="en-US" dirty="0"/>
              <a:t>at delivering the best customer experience in markets we serve </a:t>
            </a:r>
            <a:r>
              <a:rPr lang="en-US" b="1" dirty="0">
                <a:solidFill>
                  <a:srgbClr val="C00000"/>
                </a:solidFill>
              </a:rPr>
              <a:t>(</a:t>
            </a:r>
            <a:r>
              <a:rPr lang="en-US" b="1" dirty="0" err="1" smtClean="0">
                <a:solidFill>
                  <a:srgbClr val="C00000"/>
                </a:solidFill>
              </a:rPr>
              <a:t>1customer</a:t>
            </a:r>
            <a:r>
              <a:rPr lang="en-US" b="1" dirty="0" smtClean="0">
                <a:solidFill>
                  <a:srgbClr val="C00000"/>
                </a:solidFill>
              </a:rPr>
              <a:t>)</a:t>
            </a:r>
            <a:r>
              <a:rPr lang="en-US" dirty="0" smtClean="0"/>
              <a:t>. </a:t>
            </a:r>
            <a:r>
              <a:rPr lang="en-US" dirty="0"/>
              <a:t>In doing so, Dell will meet consumer expectations of highest </a:t>
            </a:r>
            <a:r>
              <a:rPr lang="en-US" dirty="0" smtClean="0"/>
              <a:t>quality </a:t>
            </a:r>
            <a:r>
              <a:rPr lang="en-US" b="1" dirty="0" smtClean="0">
                <a:solidFill>
                  <a:srgbClr val="C00000"/>
                </a:solidFill>
              </a:rPr>
              <a:t>(10 quality); </a:t>
            </a:r>
            <a:r>
              <a:rPr lang="en-US" dirty="0"/>
              <a:t>leading technology </a:t>
            </a:r>
            <a:r>
              <a:rPr lang="en-US" b="1" dirty="0">
                <a:solidFill>
                  <a:srgbClr val="C00000"/>
                </a:solidFill>
              </a:rPr>
              <a:t>(</a:t>
            </a:r>
            <a:r>
              <a:rPr lang="en-US" b="1" dirty="0" smtClean="0">
                <a:solidFill>
                  <a:srgbClr val="C00000"/>
                </a:solidFill>
              </a:rPr>
              <a:t>4 technology)</a:t>
            </a:r>
            <a:r>
              <a:rPr lang="en-US" dirty="0" smtClean="0"/>
              <a:t>; </a:t>
            </a:r>
            <a:r>
              <a:rPr lang="en-US" dirty="0"/>
              <a:t>competitive pricing; individual and company accountability </a:t>
            </a:r>
            <a:r>
              <a:rPr lang="en-US" b="1" dirty="0">
                <a:solidFill>
                  <a:srgbClr val="C00000"/>
                </a:solidFill>
              </a:rPr>
              <a:t>(</a:t>
            </a:r>
            <a:r>
              <a:rPr lang="en-US" b="1" dirty="0" smtClean="0">
                <a:solidFill>
                  <a:srgbClr val="C00000"/>
                </a:solidFill>
              </a:rPr>
              <a:t>6 philosophy)</a:t>
            </a:r>
            <a:r>
              <a:rPr lang="en-US" dirty="0" smtClean="0"/>
              <a:t>; </a:t>
            </a:r>
            <a:r>
              <a:rPr lang="en-US" dirty="0"/>
              <a:t>best-in-class service and support </a:t>
            </a:r>
            <a:r>
              <a:rPr lang="en-US" b="1" dirty="0">
                <a:solidFill>
                  <a:srgbClr val="C00000"/>
                </a:solidFill>
              </a:rPr>
              <a:t>(</a:t>
            </a:r>
            <a:r>
              <a:rPr lang="en-US" b="1" dirty="0" smtClean="0">
                <a:solidFill>
                  <a:srgbClr val="C00000"/>
                </a:solidFill>
              </a:rPr>
              <a:t>7 self-concept)</a:t>
            </a:r>
            <a:r>
              <a:rPr lang="en-US" dirty="0" smtClean="0"/>
              <a:t>; </a:t>
            </a:r>
            <a:r>
              <a:rPr lang="en-US" dirty="0"/>
              <a:t>flexible customization capability </a:t>
            </a:r>
            <a:r>
              <a:rPr lang="en-US" b="1" dirty="0">
                <a:solidFill>
                  <a:srgbClr val="C00000"/>
                </a:solidFill>
              </a:rPr>
              <a:t>(</a:t>
            </a:r>
            <a:r>
              <a:rPr lang="en-US" b="1" dirty="0" smtClean="0">
                <a:solidFill>
                  <a:srgbClr val="C00000"/>
                </a:solidFill>
              </a:rPr>
              <a:t>7</a:t>
            </a:r>
            <a:r>
              <a:rPr lang="en-US" b="1" dirty="0">
                <a:solidFill>
                  <a:srgbClr val="C00000"/>
                </a:solidFill>
              </a:rPr>
              <a:t> self-concept</a:t>
            </a:r>
            <a:r>
              <a:rPr lang="en-US" b="1" dirty="0" smtClean="0">
                <a:solidFill>
                  <a:srgbClr val="C00000"/>
                </a:solidFill>
              </a:rPr>
              <a:t>)</a:t>
            </a:r>
            <a:r>
              <a:rPr lang="en-US" dirty="0" smtClean="0"/>
              <a:t>; </a:t>
            </a:r>
            <a:r>
              <a:rPr lang="en-US" dirty="0"/>
              <a:t>superior corporate citizenship </a:t>
            </a:r>
            <a:r>
              <a:rPr lang="en-US" b="1" dirty="0">
                <a:solidFill>
                  <a:srgbClr val="C00000"/>
                </a:solidFill>
              </a:rPr>
              <a:t>(</a:t>
            </a:r>
            <a:r>
              <a:rPr lang="en-US" b="1" dirty="0" smtClean="0">
                <a:solidFill>
                  <a:srgbClr val="C00000"/>
                </a:solidFill>
              </a:rPr>
              <a:t>8 concern for public image)</a:t>
            </a:r>
            <a:r>
              <a:rPr lang="en-US" dirty="0" smtClean="0"/>
              <a:t>; </a:t>
            </a:r>
            <a:r>
              <a:rPr lang="en-US" dirty="0"/>
              <a:t>financial stability </a:t>
            </a:r>
            <a:r>
              <a:rPr lang="en-US" b="1" dirty="0">
                <a:solidFill>
                  <a:srgbClr val="C00000"/>
                </a:solidFill>
              </a:rPr>
              <a:t>(</a:t>
            </a:r>
            <a:r>
              <a:rPr lang="en-US" b="1" dirty="0" smtClean="0">
                <a:solidFill>
                  <a:srgbClr val="C00000"/>
                </a:solidFill>
              </a:rPr>
              <a:t>5 concern for survival)</a:t>
            </a:r>
            <a:r>
              <a:rPr lang="en-US" dirty="0" smtClean="0"/>
              <a:t>. </a:t>
            </a:r>
          </a:p>
          <a:p>
            <a:pPr algn="just" rtl="0"/>
            <a:endParaRPr lang="en-US" b="1" dirty="0" smtClean="0"/>
          </a:p>
          <a:p>
            <a:pPr marL="68580" indent="0" algn="just" rtl="0">
              <a:buNone/>
            </a:pPr>
            <a:r>
              <a:rPr lang="en-US" sz="2100" dirty="0">
                <a:solidFill>
                  <a:srgbClr val="7030A0"/>
                </a:solidFill>
              </a:rPr>
              <a:t>– Statement lacks only 1 component: Concern for Employees</a:t>
            </a:r>
            <a:r>
              <a:rPr lang="en-US" sz="2100" dirty="0" smtClean="0">
                <a:solidFill>
                  <a:srgbClr val="7030A0"/>
                </a:solidFill>
              </a:rPr>
              <a:t>.</a:t>
            </a:r>
          </a:p>
          <a:p>
            <a:pPr marL="68580" indent="0" algn="just" rtl="0">
              <a:buNone/>
            </a:pPr>
            <a:r>
              <a:rPr lang="en-US" sz="2100" b="1" dirty="0" smtClean="0">
                <a:solidFill>
                  <a:schemeClr val="accent3">
                    <a:lumMod val="75000"/>
                  </a:schemeClr>
                </a:solidFill>
              </a:rPr>
              <a:t>Comment: the first statement is the vision as it answers the question of (what Dell’s wants to become?). Many companies can merge vision and mission statements together in one statement in order to communicate their vision with mission together.</a:t>
            </a:r>
            <a:endParaRPr lang="en-US" sz="2100" b="1" dirty="0">
              <a:solidFill>
                <a:schemeClr val="accent3">
                  <a:lumMod val="75000"/>
                </a:schemeClr>
              </a:solidFill>
            </a:endParaRPr>
          </a:p>
          <a:p>
            <a:pPr marL="68580" indent="0" algn="l" rtl="0">
              <a:buNone/>
            </a:pPr>
            <a:endParaRPr lang="en-US" dirty="0"/>
          </a:p>
        </p:txBody>
      </p:sp>
    </p:spTree>
    <p:extLst>
      <p:ext uri="{BB962C8B-B14F-4D97-AF65-F5344CB8AC3E}">
        <p14:creationId xmlns:p14="http://schemas.microsoft.com/office/powerpoint/2010/main" val="41837645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024744" cy="1143000"/>
          </a:xfrm>
        </p:spPr>
        <p:txBody>
          <a:bodyPr>
            <a:normAutofit fontScale="90000"/>
          </a:bodyPr>
          <a:lstStyle/>
          <a:p>
            <a:r>
              <a:rPr lang="ar-EG" dirty="0"/>
              <a:t/>
            </a:r>
            <a:br>
              <a:rPr lang="ar-EG" dirty="0"/>
            </a:br>
            <a:r>
              <a:rPr lang="fr-FR" b="1" dirty="0"/>
              <a:t>Mission </a:t>
            </a:r>
            <a:r>
              <a:rPr lang="fr-FR" b="1" dirty="0" err="1"/>
              <a:t>Statement</a:t>
            </a:r>
            <a:r>
              <a:rPr lang="fr-FR" b="1" dirty="0"/>
              <a:t> </a:t>
            </a:r>
            <a:r>
              <a:rPr lang="fr-FR" b="1" dirty="0" err="1"/>
              <a:t>Examples</a:t>
            </a:r>
            <a:r>
              <a:rPr lang="fr-FR" b="1" dirty="0"/>
              <a:t> </a:t>
            </a:r>
            <a:endParaRPr lang="ar-EG" dirty="0"/>
          </a:p>
        </p:txBody>
      </p:sp>
      <p:sp>
        <p:nvSpPr>
          <p:cNvPr id="3" name="Content Placeholder 2"/>
          <p:cNvSpPr>
            <a:spLocks noGrp="1"/>
          </p:cNvSpPr>
          <p:nvPr>
            <p:ph idx="1"/>
          </p:nvPr>
        </p:nvSpPr>
        <p:spPr>
          <a:xfrm>
            <a:off x="533400" y="1600200"/>
            <a:ext cx="7848600" cy="4648200"/>
          </a:xfrm>
        </p:spPr>
        <p:txBody>
          <a:bodyPr>
            <a:normAutofit lnSpcReduction="10000"/>
          </a:bodyPr>
          <a:lstStyle/>
          <a:p>
            <a:pPr marL="68580" indent="0" algn="just" rtl="0">
              <a:buNone/>
            </a:pPr>
            <a:endParaRPr lang="ar-EG" dirty="0"/>
          </a:p>
          <a:p>
            <a:pPr algn="just" rtl="0"/>
            <a:r>
              <a:rPr lang="en-US" dirty="0"/>
              <a:t>Tesla's mission is to accelerate the world's transition to sustainable energy. To achieve our mission, we're building a world powered by solar, enabled by battery storage and transported by electric vehicles (EV). Tesla's EVs include the following - </a:t>
            </a:r>
            <a:r>
              <a:rPr lang="en-US" dirty="0" err="1"/>
              <a:t>Cybertruck</a:t>
            </a:r>
            <a:r>
              <a:rPr lang="en-US" dirty="0"/>
              <a:t>, Model S, Model 3, Model X and Model Y</a:t>
            </a:r>
            <a:r>
              <a:rPr lang="en-US" dirty="0" smtClean="0"/>
              <a:t>.</a:t>
            </a:r>
          </a:p>
          <a:p>
            <a:pPr algn="just" rtl="0"/>
            <a:r>
              <a:rPr lang="en-US" dirty="0" smtClean="0"/>
              <a:t>Eva </a:t>
            </a:r>
            <a:r>
              <a:rPr lang="en-US" dirty="0" err="1" smtClean="0"/>
              <a:t>Pharma:</a:t>
            </a:r>
            <a:r>
              <a:rPr lang="en-US" dirty="0" err="1"/>
              <a:t>A</a:t>
            </a:r>
            <a:r>
              <a:rPr lang="en-US" dirty="0"/>
              <a:t> purpose driven diverse top team that strives to save and improve millions of lives by sustainably offering accessible, high value medicines and health care solutions that address local patients' needs.</a:t>
            </a:r>
            <a:endParaRPr lang="en-US" dirty="0" smtClean="0"/>
          </a:p>
        </p:txBody>
      </p:sp>
    </p:spTree>
    <p:extLst>
      <p:ext uri="{BB962C8B-B14F-4D97-AF65-F5344CB8AC3E}">
        <p14:creationId xmlns:p14="http://schemas.microsoft.com/office/powerpoint/2010/main" val="30553353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024744" cy="1143000"/>
          </a:xfrm>
        </p:spPr>
        <p:txBody>
          <a:bodyPr>
            <a:normAutofit fontScale="90000"/>
          </a:bodyPr>
          <a:lstStyle/>
          <a:p>
            <a:r>
              <a:rPr lang="ar-EG" dirty="0"/>
              <a:t/>
            </a:r>
            <a:br>
              <a:rPr lang="ar-EG" dirty="0"/>
            </a:br>
            <a:r>
              <a:rPr lang="fr-FR" b="1" dirty="0"/>
              <a:t>Mission </a:t>
            </a:r>
            <a:r>
              <a:rPr lang="fr-FR" b="1" dirty="0" err="1"/>
              <a:t>Statement</a:t>
            </a:r>
            <a:r>
              <a:rPr lang="fr-FR" b="1" dirty="0"/>
              <a:t> </a:t>
            </a:r>
            <a:r>
              <a:rPr lang="fr-FR" b="1" dirty="0" err="1"/>
              <a:t>Examples</a:t>
            </a:r>
            <a:r>
              <a:rPr lang="fr-FR" b="1" dirty="0"/>
              <a:t> </a:t>
            </a:r>
            <a:endParaRPr lang="ar-EG" dirty="0"/>
          </a:p>
        </p:txBody>
      </p:sp>
      <p:sp>
        <p:nvSpPr>
          <p:cNvPr id="3" name="Content Placeholder 2"/>
          <p:cNvSpPr>
            <a:spLocks noGrp="1"/>
          </p:cNvSpPr>
          <p:nvPr>
            <p:ph idx="1"/>
          </p:nvPr>
        </p:nvSpPr>
        <p:spPr>
          <a:xfrm>
            <a:off x="685800" y="1600200"/>
            <a:ext cx="7848600" cy="4648200"/>
          </a:xfrm>
        </p:spPr>
        <p:txBody>
          <a:bodyPr>
            <a:normAutofit lnSpcReduction="10000"/>
          </a:bodyPr>
          <a:lstStyle/>
          <a:p>
            <a:endParaRPr lang="ar-EG" dirty="0"/>
          </a:p>
          <a:p>
            <a:pPr marL="68580" indent="0" algn="just" rtl="0">
              <a:buNone/>
            </a:pPr>
            <a:r>
              <a:rPr lang="en-US" dirty="0" smtClean="0"/>
              <a:t>Fleetwood </a:t>
            </a:r>
            <a:r>
              <a:rPr lang="en-US" dirty="0"/>
              <a:t>Enterprises will lead the recreational vehicle and manufactured housing industries </a:t>
            </a:r>
            <a:r>
              <a:rPr lang="en-US" dirty="0" smtClean="0"/>
              <a:t>in </a:t>
            </a:r>
            <a:r>
              <a:rPr lang="en-US" dirty="0"/>
              <a:t>providing quality products with a passion for customer-driven </a:t>
            </a:r>
            <a:r>
              <a:rPr lang="en-US" dirty="0" smtClean="0"/>
              <a:t>innovation. We </a:t>
            </a:r>
            <a:r>
              <a:rPr lang="en-US" dirty="0"/>
              <a:t>will emphasize training, embrace diversity and provide growth opportunities for our associates and our </a:t>
            </a:r>
            <a:r>
              <a:rPr lang="en-US" dirty="0" smtClean="0"/>
              <a:t>dealers. We </a:t>
            </a:r>
            <a:r>
              <a:rPr lang="en-US" dirty="0"/>
              <a:t>will lead our industry in the application of appropriate </a:t>
            </a:r>
            <a:r>
              <a:rPr lang="en-US" dirty="0" smtClean="0"/>
              <a:t>technologies. We </a:t>
            </a:r>
            <a:r>
              <a:rPr lang="en-US" dirty="0"/>
              <a:t>will operate at the highest levels of ethics and compliance with a focus on exemplary corporate </a:t>
            </a:r>
            <a:r>
              <a:rPr lang="en-US" dirty="0" smtClean="0"/>
              <a:t>governance. </a:t>
            </a:r>
            <a:r>
              <a:rPr lang="en-US" dirty="0"/>
              <a:t>We will deliver value to our shareholders, positive operating results and industry-leading </a:t>
            </a:r>
            <a:r>
              <a:rPr lang="en-US" dirty="0" smtClean="0"/>
              <a:t>earnings.</a:t>
            </a:r>
            <a:endParaRPr lang="en-US" b="1" dirty="0" smtClean="0"/>
          </a:p>
          <a:p>
            <a:pPr algn="just" rtl="0"/>
            <a:endParaRPr lang="en-US" sz="2100" dirty="0">
              <a:solidFill>
                <a:srgbClr val="7030A0"/>
              </a:solidFill>
            </a:endParaRPr>
          </a:p>
          <a:p>
            <a:pPr marL="68580" indent="0" algn="l" rtl="0">
              <a:buNone/>
            </a:pPr>
            <a:endParaRPr lang="en-US" dirty="0"/>
          </a:p>
        </p:txBody>
      </p:sp>
    </p:spTree>
    <p:extLst>
      <p:ext uri="{BB962C8B-B14F-4D97-AF65-F5344CB8AC3E}">
        <p14:creationId xmlns:p14="http://schemas.microsoft.com/office/powerpoint/2010/main" val="38818338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024744" cy="1143000"/>
          </a:xfrm>
        </p:spPr>
        <p:txBody>
          <a:bodyPr>
            <a:normAutofit fontScale="90000"/>
          </a:bodyPr>
          <a:lstStyle/>
          <a:p>
            <a:r>
              <a:rPr lang="ar-EG" dirty="0"/>
              <a:t/>
            </a:r>
            <a:br>
              <a:rPr lang="ar-EG" dirty="0"/>
            </a:br>
            <a:r>
              <a:rPr lang="fr-FR" b="1" dirty="0"/>
              <a:t>Mission </a:t>
            </a:r>
            <a:r>
              <a:rPr lang="fr-FR" b="1" dirty="0" err="1"/>
              <a:t>Statement</a:t>
            </a:r>
            <a:r>
              <a:rPr lang="fr-FR" b="1" dirty="0"/>
              <a:t> </a:t>
            </a:r>
            <a:r>
              <a:rPr lang="fr-FR" b="1" dirty="0" err="1"/>
              <a:t>Examples</a:t>
            </a:r>
            <a:r>
              <a:rPr lang="fr-FR" b="1" dirty="0"/>
              <a:t> </a:t>
            </a:r>
            <a:endParaRPr lang="ar-EG" dirty="0"/>
          </a:p>
        </p:txBody>
      </p:sp>
      <p:sp>
        <p:nvSpPr>
          <p:cNvPr id="3" name="Content Placeholder 2"/>
          <p:cNvSpPr>
            <a:spLocks noGrp="1"/>
          </p:cNvSpPr>
          <p:nvPr>
            <p:ph idx="1"/>
          </p:nvPr>
        </p:nvSpPr>
        <p:spPr>
          <a:xfrm>
            <a:off x="685800" y="1600200"/>
            <a:ext cx="7848600" cy="4648200"/>
          </a:xfrm>
        </p:spPr>
        <p:txBody>
          <a:bodyPr>
            <a:normAutofit fontScale="85000" lnSpcReduction="20000"/>
          </a:bodyPr>
          <a:lstStyle/>
          <a:p>
            <a:endParaRPr lang="ar-EG" dirty="0"/>
          </a:p>
          <a:p>
            <a:pPr algn="just"/>
            <a:endParaRPr lang="ar-EG" dirty="0"/>
          </a:p>
          <a:p>
            <a:pPr marL="68580" indent="0" algn="just" rtl="0">
              <a:buNone/>
            </a:pPr>
            <a:r>
              <a:rPr lang="en-US" dirty="0"/>
              <a:t>Fleetwood Enterprises will lead the recreational vehicle and manufactured housing industries </a:t>
            </a:r>
            <a:r>
              <a:rPr lang="en-US" b="1" dirty="0">
                <a:solidFill>
                  <a:srgbClr val="C00000"/>
                </a:solidFill>
              </a:rPr>
              <a:t>(</a:t>
            </a:r>
            <a:r>
              <a:rPr lang="en-US" b="1" dirty="0" smtClean="0">
                <a:solidFill>
                  <a:srgbClr val="C00000"/>
                </a:solidFill>
              </a:rPr>
              <a:t>2,7 product/self-concept) </a:t>
            </a:r>
            <a:r>
              <a:rPr lang="en-US" dirty="0"/>
              <a:t>in providing quality products with a passion for customer-driven innovation </a:t>
            </a:r>
            <a:r>
              <a:rPr lang="en-US" b="1" dirty="0">
                <a:solidFill>
                  <a:srgbClr val="C00000"/>
                </a:solidFill>
              </a:rPr>
              <a:t>(</a:t>
            </a:r>
            <a:r>
              <a:rPr lang="en-US" b="1" dirty="0" smtClean="0">
                <a:solidFill>
                  <a:srgbClr val="C00000"/>
                </a:solidFill>
              </a:rPr>
              <a:t>1 customer)</a:t>
            </a:r>
            <a:r>
              <a:rPr lang="en-US" dirty="0" smtClean="0"/>
              <a:t>. </a:t>
            </a:r>
            <a:r>
              <a:rPr lang="en-US" dirty="0"/>
              <a:t>We will emphasize training, embrace diversity and provide growth opportunities for our associates and our dealers </a:t>
            </a:r>
            <a:r>
              <a:rPr lang="en-US" b="1" dirty="0">
                <a:solidFill>
                  <a:srgbClr val="C00000"/>
                </a:solidFill>
              </a:rPr>
              <a:t>(</a:t>
            </a:r>
            <a:r>
              <a:rPr lang="en-US" b="1" dirty="0" smtClean="0">
                <a:solidFill>
                  <a:srgbClr val="C00000"/>
                </a:solidFill>
              </a:rPr>
              <a:t>9 concern for employees)</a:t>
            </a:r>
            <a:r>
              <a:rPr lang="en-US" dirty="0" smtClean="0"/>
              <a:t>. </a:t>
            </a:r>
            <a:r>
              <a:rPr lang="en-US" dirty="0"/>
              <a:t>We will lead our industry in the application of appropriate technologies </a:t>
            </a:r>
            <a:r>
              <a:rPr lang="en-US" b="1" dirty="0">
                <a:solidFill>
                  <a:srgbClr val="C00000"/>
                </a:solidFill>
              </a:rPr>
              <a:t>(</a:t>
            </a:r>
            <a:r>
              <a:rPr lang="en-US" b="1" dirty="0" smtClean="0">
                <a:solidFill>
                  <a:srgbClr val="C00000"/>
                </a:solidFill>
              </a:rPr>
              <a:t>4 technology)</a:t>
            </a:r>
            <a:r>
              <a:rPr lang="en-US" dirty="0" smtClean="0"/>
              <a:t>. </a:t>
            </a:r>
            <a:r>
              <a:rPr lang="en-US" dirty="0"/>
              <a:t>We will operate at the highest levels of ethics and compliance with a focus on exemplary corporate governance </a:t>
            </a:r>
            <a:r>
              <a:rPr lang="en-US" b="1" dirty="0">
                <a:solidFill>
                  <a:srgbClr val="C00000"/>
                </a:solidFill>
              </a:rPr>
              <a:t>(</a:t>
            </a:r>
            <a:r>
              <a:rPr lang="en-US" b="1" dirty="0" smtClean="0">
                <a:solidFill>
                  <a:srgbClr val="C00000"/>
                </a:solidFill>
              </a:rPr>
              <a:t>6 philosophy)</a:t>
            </a:r>
            <a:r>
              <a:rPr lang="en-US" dirty="0" smtClean="0"/>
              <a:t>. </a:t>
            </a:r>
            <a:r>
              <a:rPr lang="en-US" dirty="0"/>
              <a:t>We will deliver value to our shareholders, positive operating results and industry-leading earnings </a:t>
            </a:r>
            <a:r>
              <a:rPr lang="en-US" b="1" dirty="0">
                <a:solidFill>
                  <a:srgbClr val="C00000"/>
                </a:solidFill>
              </a:rPr>
              <a:t>(</a:t>
            </a:r>
            <a:r>
              <a:rPr lang="en-US" b="1" dirty="0" smtClean="0">
                <a:solidFill>
                  <a:srgbClr val="C00000"/>
                </a:solidFill>
              </a:rPr>
              <a:t>5 concern for survival). </a:t>
            </a:r>
          </a:p>
          <a:p>
            <a:pPr algn="l" rtl="0"/>
            <a:endParaRPr lang="en-US" b="1" dirty="0" smtClean="0"/>
          </a:p>
          <a:p>
            <a:pPr marL="68580" indent="0" algn="l" rtl="0">
              <a:buNone/>
            </a:pPr>
            <a:r>
              <a:rPr lang="en-US" sz="2100" dirty="0">
                <a:solidFill>
                  <a:srgbClr val="7030A0"/>
                </a:solidFill>
              </a:rPr>
              <a:t>– Statement lacks 2 components: Markets and Concern for Public Image.</a:t>
            </a:r>
          </a:p>
          <a:p>
            <a:pPr algn="just" rtl="0"/>
            <a:endParaRPr lang="en-US" sz="2100" dirty="0">
              <a:solidFill>
                <a:srgbClr val="7030A0"/>
              </a:solidFill>
            </a:endParaRPr>
          </a:p>
          <a:p>
            <a:pPr marL="68580" indent="0" algn="l" rtl="0">
              <a:buNone/>
            </a:pPr>
            <a:endParaRPr lang="en-US" dirty="0"/>
          </a:p>
        </p:txBody>
      </p:sp>
    </p:spTree>
    <p:extLst>
      <p:ext uri="{BB962C8B-B14F-4D97-AF65-F5344CB8AC3E}">
        <p14:creationId xmlns:p14="http://schemas.microsoft.com/office/powerpoint/2010/main" val="22230161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0"/>
            <a:ext cx="7924800" cy="4724400"/>
          </a:xfrm>
        </p:spPr>
        <p:txBody>
          <a:bodyPr>
            <a:normAutofit/>
          </a:bodyPr>
          <a:lstStyle/>
          <a:p>
            <a:pPr lvl="0" algn="just" rtl="0">
              <a:buClr>
                <a:srgbClr val="94C600"/>
              </a:buClr>
              <a:buFont typeface="Arial" panose="020B0604020202020204" pitchFamily="34" charset="0"/>
              <a:buChar char="•"/>
            </a:pPr>
            <a:r>
              <a:rPr lang="en-US" b="1" smtClean="0"/>
              <a:t>Core </a:t>
            </a:r>
            <a:r>
              <a:rPr lang="en-US" b="1"/>
              <a:t>values</a:t>
            </a:r>
            <a:r>
              <a:rPr lang="en-US"/>
              <a:t> are the fundamental principles </a:t>
            </a:r>
            <a:r>
              <a:rPr lang="en-US" smtClean="0"/>
              <a:t>&amp; </a:t>
            </a:r>
            <a:r>
              <a:rPr lang="en-US"/>
              <a:t>beliefs that guide a company’s behavior, decision-making, </a:t>
            </a:r>
            <a:r>
              <a:rPr lang="en-US" smtClean="0"/>
              <a:t>&amp; </a:t>
            </a:r>
            <a:r>
              <a:rPr lang="en-US"/>
              <a:t>culture. They represent what the organization stands for </a:t>
            </a:r>
            <a:r>
              <a:rPr lang="en-US" smtClean="0"/>
              <a:t>&amp; </a:t>
            </a:r>
            <a:r>
              <a:rPr lang="en-US"/>
              <a:t>influence how employees act, how the company interacts with stakeholders, </a:t>
            </a:r>
            <a:r>
              <a:rPr lang="en-US" smtClean="0"/>
              <a:t>&amp; </a:t>
            </a:r>
            <a:r>
              <a:rPr lang="en-US"/>
              <a:t>how it pursues its strategic goals</a:t>
            </a:r>
            <a:r>
              <a:rPr lang="en-US" smtClean="0"/>
              <a:t>.</a:t>
            </a:r>
            <a:r>
              <a:rPr lang="ar-EG" b="1" dirty="0" smtClean="0">
                <a:solidFill>
                  <a:srgbClr val="3E3D2D"/>
                </a:solidFill>
              </a:rPr>
              <a:t/>
            </a:r>
            <a:br>
              <a:rPr lang="ar-EG" b="1" dirty="0" smtClean="0">
                <a:solidFill>
                  <a:srgbClr val="3E3D2D"/>
                </a:solidFill>
              </a:rPr>
            </a:br>
            <a:endParaRPr lang="en-US" b="1" dirty="0" smtClean="0">
              <a:solidFill>
                <a:srgbClr val="3E3D2D"/>
              </a:solidFill>
            </a:endParaRPr>
          </a:p>
          <a:p>
            <a:pPr lvl="0" algn="l" rtl="0">
              <a:buClr>
                <a:srgbClr val="94C600"/>
              </a:buClr>
              <a:buFont typeface="Arial" panose="020B0604020202020204" pitchFamily="34" charset="0"/>
              <a:buChar char="•"/>
            </a:pPr>
            <a:endParaRPr lang="en-US" b="1" dirty="0" smtClean="0">
              <a:solidFill>
                <a:srgbClr val="3E3D2D"/>
              </a:solidFill>
            </a:endParaRPr>
          </a:p>
          <a:p>
            <a:pPr marL="68580" lvl="0" indent="0" algn="just" rtl="0">
              <a:buClr>
                <a:srgbClr val="94C600"/>
              </a:buClr>
              <a:buNone/>
            </a:pPr>
            <a:endParaRPr lang="en-US" b="1" dirty="0" smtClean="0">
              <a:solidFill>
                <a:srgbClr val="3E3D2D"/>
              </a:solidFill>
            </a:endParaRPr>
          </a:p>
        </p:txBody>
      </p:sp>
    </p:spTree>
    <p:extLst>
      <p:ext uri="{BB962C8B-B14F-4D97-AF65-F5344CB8AC3E}">
        <p14:creationId xmlns:p14="http://schemas.microsoft.com/office/powerpoint/2010/main" val="125412716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5029200"/>
          </a:xfrm>
        </p:spPr>
        <p:txBody>
          <a:bodyPr>
            <a:normAutofit fontScale="70000" lnSpcReduction="20000"/>
          </a:bodyPr>
          <a:lstStyle/>
          <a:p>
            <a:pPr marL="68580" lvl="0" indent="0" algn="just" rtl="0">
              <a:buClr>
                <a:srgbClr val="94C600"/>
              </a:buClr>
              <a:buNone/>
            </a:pPr>
            <a:r>
              <a:rPr lang="en-US" b="1" dirty="0" smtClean="0">
                <a:solidFill>
                  <a:schemeClr val="bg2">
                    <a:lumMod val="50000"/>
                  </a:schemeClr>
                </a:solidFill>
              </a:rPr>
              <a:t>Values types are 4</a:t>
            </a:r>
          </a:p>
          <a:p>
            <a:pPr marL="68580" lvl="0" indent="0" algn="just" rtl="0">
              <a:buClr>
                <a:srgbClr val="94C600"/>
              </a:buClr>
              <a:buNone/>
            </a:pPr>
            <a:r>
              <a:rPr lang="en-US" b="1" dirty="0" smtClean="0">
                <a:solidFill>
                  <a:srgbClr val="C00000"/>
                </a:solidFill>
              </a:rPr>
              <a:t>1- Generic Values (1-2)</a:t>
            </a:r>
          </a:p>
          <a:p>
            <a:pPr marL="68580" lvl="0" indent="0" algn="just" rtl="0">
              <a:buClr>
                <a:srgbClr val="94C600"/>
              </a:buClr>
              <a:buNone/>
            </a:pPr>
            <a:r>
              <a:rPr lang="en-US" b="1" dirty="0" smtClean="0">
                <a:solidFill>
                  <a:schemeClr val="bg2">
                    <a:lumMod val="50000"/>
                  </a:schemeClr>
                </a:solidFill>
              </a:rPr>
              <a:t>To get core values, you have to get the qualities in industry (common in all org in this industry).</a:t>
            </a:r>
            <a:endParaRPr lang="en-US" b="1" dirty="0">
              <a:solidFill>
                <a:schemeClr val="bg2">
                  <a:lumMod val="50000"/>
                </a:schemeClr>
              </a:solidFill>
            </a:endParaRPr>
          </a:p>
          <a:p>
            <a:pPr marL="68580" lvl="0" indent="0" algn="just" rtl="0">
              <a:buClr>
                <a:srgbClr val="94C600"/>
              </a:buClr>
              <a:buNone/>
            </a:pPr>
            <a:r>
              <a:rPr lang="en-US" b="1" smtClean="0">
                <a:solidFill>
                  <a:schemeClr val="bg2">
                    <a:lumMod val="50000"/>
                  </a:schemeClr>
                </a:solidFill>
              </a:rPr>
              <a:t>It should </a:t>
            </a:r>
            <a:r>
              <a:rPr lang="en-US" b="1" dirty="0" smtClean="0">
                <a:solidFill>
                  <a:schemeClr val="bg2">
                    <a:lumMod val="50000"/>
                  </a:schemeClr>
                </a:solidFill>
              </a:rPr>
              <a:t>be available in your company</a:t>
            </a:r>
          </a:p>
          <a:p>
            <a:pPr marL="68580" lvl="0" indent="0" algn="just" rtl="0">
              <a:buClr>
                <a:srgbClr val="94C600"/>
              </a:buClr>
              <a:buNone/>
            </a:pPr>
            <a:r>
              <a:rPr lang="en-US" b="1" dirty="0">
                <a:solidFill>
                  <a:srgbClr val="C00000"/>
                </a:solidFill>
              </a:rPr>
              <a:t>2- Shadow </a:t>
            </a:r>
            <a:r>
              <a:rPr lang="en-US" b="1" dirty="0" smtClean="0">
                <a:solidFill>
                  <a:srgbClr val="C00000"/>
                </a:solidFill>
              </a:rPr>
              <a:t>Values (1-2)</a:t>
            </a:r>
            <a:endParaRPr lang="en-US" b="1" dirty="0">
              <a:solidFill>
                <a:srgbClr val="C00000"/>
              </a:solidFill>
            </a:endParaRPr>
          </a:p>
          <a:p>
            <a:pPr algn="just" rtl="0">
              <a:buClr>
                <a:srgbClr val="94C600"/>
              </a:buClr>
            </a:pPr>
            <a:r>
              <a:rPr lang="en-US" b="1">
                <a:solidFill>
                  <a:schemeClr val="bg2">
                    <a:lumMod val="50000"/>
                  </a:schemeClr>
                </a:solidFill>
              </a:rPr>
              <a:t>These are the values that outsiders perceive in the organization but may not be fully acknowledged internally.</a:t>
            </a:r>
          </a:p>
          <a:p>
            <a:pPr algn="just" rtl="0">
              <a:buClr>
                <a:srgbClr val="94C600"/>
              </a:buClr>
            </a:pPr>
            <a:r>
              <a:rPr lang="en-US" b="1">
                <a:solidFill>
                  <a:schemeClr val="bg2">
                    <a:lumMod val="50000"/>
                  </a:schemeClr>
                </a:solidFill>
              </a:rPr>
              <a:t>To </a:t>
            </a:r>
            <a:r>
              <a:rPr lang="en-US" b="1" dirty="0">
                <a:solidFill>
                  <a:schemeClr val="bg2">
                    <a:lumMod val="50000"/>
                  </a:schemeClr>
                </a:solidFill>
              </a:rPr>
              <a:t>get it , we can make a survey from outsiders, which is very important to them to deal or not to deal with the org.</a:t>
            </a:r>
          </a:p>
          <a:p>
            <a:pPr algn="just" rtl="0">
              <a:buClr>
                <a:srgbClr val="94C600"/>
              </a:buClr>
            </a:pPr>
            <a:r>
              <a:rPr lang="en-US" b="1" dirty="0">
                <a:solidFill>
                  <a:schemeClr val="bg2">
                    <a:lumMod val="50000"/>
                  </a:schemeClr>
                </a:solidFill>
              </a:rPr>
              <a:t>It may be positive or negative</a:t>
            </a:r>
          </a:p>
          <a:p>
            <a:pPr algn="just" rtl="0">
              <a:buClr>
                <a:srgbClr val="94C600"/>
              </a:buClr>
            </a:pPr>
            <a:r>
              <a:rPr lang="en-US" b="1" dirty="0">
                <a:solidFill>
                  <a:schemeClr val="bg2">
                    <a:lumMod val="50000"/>
                  </a:schemeClr>
                </a:solidFill>
              </a:rPr>
              <a:t>If negative (Marketers </a:t>
            </a:r>
            <a:r>
              <a:rPr lang="en-US" b="1" dirty="0" smtClean="0">
                <a:solidFill>
                  <a:schemeClr val="bg2">
                    <a:lumMod val="50000"/>
                  </a:schemeClr>
                </a:solidFill>
              </a:rPr>
              <a:t>should work on it to communicate to outsiders)</a:t>
            </a:r>
          </a:p>
          <a:p>
            <a:pPr algn="just" rtl="0">
              <a:buClr>
                <a:srgbClr val="94C600"/>
              </a:buClr>
            </a:pPr>
            <a:r>
              <a:rPr lang="en-US" b="1" dirty="0" smtClean="0">
                <a:solidFill>
                  <a:schemeClr val="bg2">
                    <a:lumMod val="50000"/>
                  </a:schemeClr>
                </a:solidFill>
              </a:rPr>
              <a:t>If positive, I have to take it into consideration</a:t>
            </a:r>
          </a:p>
          <a:p>
            <a:pPr algn="just" rtl="0">
              <a:buClr>
                <a:srgbClr val="94C600"/>
              </a:buClr>
            </a:pPr>
            <a:r>
              <a:rPr lang="en-US" b="1" dirty="0" smtClean="0">
                <a:solidFill>
                  <a:schemeClr val="bg2">
                    <a:lumMod val="50000"/>
                  </a:schemeClr>
                </a:solidFill>
              </a:rPr>
              <a:t>e.g., I am selecting people by certain attributes that consistent with our values which is reflecting on the outsiders and it may hurt my branding if I did choose wrongly. </a:t>
            </a:r>
          </a:p>
          <a:p>
            <a:pPr algn="just" rtl="0">
              <a:buClr>
                <a:srgbClr val="94C600"/>
              </a:buClr>
            </a:pPr>
            <a:r>
              <a:rPr lang="en-US" b="1" dirty="0" smtClean="0">
                <a:solidFill>
                  <a:schemeClr val="bg2">
                    <a:lumMod val="50000"/>
                  </a:schemeClr>
                </a:solidFill>
              </a:rPr>
              <a:t>You may be a good person but you are not fitting in our org.</a:t>
            </a:r>
          </a:p>
          <a:p>
            <a:pPr algn="just" rtl="0">
              <a:buClr>
                <a:srgbClr val="94C600"/>
              </a:buClr>
            </a:pPr>
            <a:r>
              <a:rPr lang="en-US" b="1" dirty="0" smtClean="0">
                <a:solidFill>
                  <a:schemeClr val="bg2">
                    <a:lumMod val="50000"/>
                  </a:schemeClr>
                </a:solidFill>
              </a:rPr>
              <a:t>(graduated from bad reputation university)</a:t>
            </a:r>
            <a:endParaRPr lang="en-US" b="1" dirty="0" smtClean="0">
              <a:solidFill>
                <a:srgbClr val="3E3D2D"/>
              </a:solidFill>
            </a:endParaRPr>
          </a:p>
          <a:p>
            <a:pPr lvl="0" algn="l" rtl="0">
              <a:buClr>
                <a:srgbClr val="94C600"/>
              </a:buClr>
              <a:buFont typeface="Arial" panose="020B0604020202020204" pitchFamily="34" charset="0"/>
              <a:buChar char="•"/>
            </a:pPr>
            <a:endParaRPr lang="en-US" b="1" dirty="0" smtClean="0">
              <a:solidFill>
                <a:srgbClr val="3E3D2D"/>
              </a:solidFill>
            </a:endParaRPr>
          </a:p>
          <a:p>
            <a:pPr marL="68580" lvl="0" indent="0" algn="just" rtl="0">
              <a:buClr>
                <a:srgbClr val="94C600"/>
              </a:buClr>
              <a:buNone/>
            </a:pPr>
            <a:endParaRPr lang="en-US" b="1" dirty="0" smtClean="0">
              <a:solidFill>
                <a:srgbClr val="3E3D2D"/>
              </a:solidFill>
            </a:endParaRPr>
          </a:p>
        </p:txBody>
      </p:sp>
    </p:spTree>
    <p:extLst>
      <p:ext uri="{BB962C8B-B14F-4D97-AF65-F5344CB8AC3E}">
        <p14:creationId xmlns:p14="http://schemas.microsoft.com/office/powerpoint/2010/main" val="14568884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5029200"/>
          </a:xfrm>
        </p:spPr>
        <p:txBody>
          <a:bodyPr>
            <a:normAutofit fontScale="92500" lnSpcReduction="10000"/>
          </a:bodyPr>
          <a:lstStyle/>
          <a:p>
            <a:pPr marL="68580" lvl="0" indent="0" algn="just" rtl="0">
              <a:buClr>
                <a:srgbClr val="94C600"/>
              </a:buClr>
              <a:buNone/>
            </a:pPr>
            <a:r>
              <a:rPr lang="en-US" b="1" dirty="0" smtClean="0">
                <a:solidFill>
                  <a:schemeClr val="bg2">
                    <a:lumMod val="50000"/>
                  </a:schemeClr>
                </a:solidFill>
              </a:rPr>
              <a:t>Values types are 4</a:t>
            </a:r>
          </a:p>
          <a:p>
            <a:pPr marL="68580" lvl="0" indent="0" algn="just" rtl="0">
              <a:buClr>
                <a:srgbClr val="94C600"/>
              </a:buClr>
              <a:buNone/>
            </a:pPr>
            <a:r>
              <a:rPr lang="en-US" b="1" dirty="0" smtClean="0">
                <a:solidFill>
                  <a:srgbClr val="C00000"/>
                </a:solidFill>
              </a:rPr>
              <a:t>3- Progressive values (1-2)</a:t>
            </a:r>
          </a:p>
          <a:p>
            <a:pPr marL="68580" lvl="0" indent="0" algn="just" rtl="0">
              <a:buClr>
                <a:srgbClr val="94C600"/>
              </a:buClr>
              <a:buNone/>
            </a:pPr>
            <a:r>
              <a:rPr lang="en-US" b="1">
                <a:solidFill>
                  <a:schemeClr val="bg2">
                    <a:lumMod val="50000"/>
                  </a:schemeClr>
                </a:solidFill>
              </a:rPr>
              <a:t>These are emerging values actively promoted internally, often driven by leadership to shape culture for future goals.They reflect what the organization is working toward, rather than fully achieved yet.Example: A CEO encouraging sustainability practices or digital transformation </a:t>
            </a:r>
            <a:r>
              <a:rPr lang="en-US" b="1" smtClean="0">
                <a:solidFill>
                  <a:schemeClr val="bg2">
                    <a:lumMod val="50000"/>
                  </a:schemeClr>
                </a:solidFill>
              </a:rPr>
              <a:t>initiatives</a:t>
            </a:r>
          </a:p>
          <a:p>
            <a:pPr marL="68580" lvl="0" indent="0" algn="just" rtl="0">
              <a:buClr>
                <a:srgbClr val="94C600"/>
              </a:buClr>
              <a:buNone/>
            </a:pPr>
            <a:endParaRPr lang="en-US" b="1">
              <a:solidFill>
                <a:schemeClr val="bg2">
                  <a:lumMod val="50000"/>
                </a:schemeClr>
              </a:solidFill>
            </a:endParaRPr>
          </a:p>
          <a:p>
            <a:pPr marL="68580" lvl="0" indent="0" algn="just" rtl="0">
              <a:buClr>
                <a:srgbClr val="94C600"/>
              </a:buClr>
              <a:buNone/>
            </a:pPr>
            <a:r>
              <a:rPr lang="en-US" b="1" smtClean="0">
                <a:solidFill>
                  <a:schemeClr val="bg2">
                    <a:lumMod val="50000"/>
                  </a:schemeClr>
                </a:solidFill>
              </a:rPr>
              <a:t>Values </a:t>
            </a:r>
            <a:r>
              <a:rPr lang="en-US" b="1" dirty="0" smtClean="0">
                <a:solidFill>
                  <a:schemeClr val="bg2">
                    <a:lumMod val="50000"/>
                  </a:schemeClr>
                </a:solidFill>
              </a:rPr>
              <a:t>that </a:t>
            </a:r>
            <a:r>
              <a:rPr lang="en-US" b="1" smtClean="0">
                <a:solidFill>
                  <a:schemeClr val="bg2">
                    <a:lumMod val="50000"/>
                  </a:schemeClr>
                </a:solidFill>
              </a:rPr>
              <a:t>insiders are </a:t>
            </a:r>
            <a:r>
              <a:rPr lang="en-US" b="1" dirty="0" smtClean="0">
                <a:solidFill>
                  <a:schemeClr val="bg2">
                    <a:lumMod val="50000"/>
                  </a:schemeClr>
                </a:solidFill>
              </a:rPr>
              <a:t>working on (It is coming from CEO- top </a:t>
            </a:r>
            <a:r>
              <a:rPr lang="en-US" b="1" err="1" smtClean="0">
                <a:solidFill>
                  <a:schemeClr val="bg2">
                    <a:lumMod val="50000"/>
                  </a:schemeClr>
                </a:solidFill>
              </a:rPr>
              <a:t>mgt</a:t>
            </a:r>
            <a:r>
              <a:rPr lang="en-US" b="1" smtClean="0">
                <a:solidFill>
                  <a:schemeClr val="bg2">
                    <a:lumMod val="50000"/>
                  </a:schemeClr>
                </a:solidFill>
              </a:rPr>
              <a:t>).</a:t>
            </a:r>
          </a:p>
          <a:p>
            <a:pPr marL="68580" lvl="0" indent="0" algn="just" rtl="0">
              <a:buClr>
                <a:srgbClr val="94C600"/>
              </a:buClr>
              <a:buNone/>
            </a:pPr>
            <a:endParaRPr lang="en-US" b="1" dirty="0" smtClean="0">
              <a:solidFill>
                <a:schemeClr val="bg2">
                  <a:lumMod val="50000"/>
                </a:schemeClr>
              </a:solidFill>
            </a:endParaRPr>
          </a:p>
          <a:p>
            <a:pPr marL="68580" lvl="0" indent="0" algn="just" rtl="0">
              <a:buClr>
                <a:srgbClr val="94C600"/>
              </a:buClr>
              <a:buNone/>
            </a:pPr>
            <a:r>
              <a:rPr lang="en-US" b="1" dirty="0">
                <a:solidFill>
                  <a:srgbClr val="C00000"/>
                </a:solidFill>
              </a:rPr>
              <a:t>4- Core values (defined values</a:t>
            </a:r>
            <a:r>
              <a:rPr lang="en-US" b="1" dirty="0" smtClean="0">
                <a:solidFill>
                  <a:srgbClr val="C00000"/>
                </a:solidFill>
              </a:rPr>
              <a:t>) </a:t>
            </a:r>
          </a:p>
          <a:p>
            <a:pPr marL="68580" lvl="0" indent="0" algn="just" rtl="0">
              <a:buClr>
                <a:srgbClr val="94C600"/>
              </a:buClr>
              <a:buNone/>
            </a:pPr>
            <a:r>
              <a:rPr lang="en-US" b="1" dirty="0" smtClean="0">
                <a:solidFill>
                  <a:schemeClr val="bg2">
                    <a:lumMod val="50000"/>
                  </a:schemeClr>
                </a:solidFill>
              </a:rPr>
              <a:t>The overall previous values</a:t>
            </a:r>
            <a:endParaRPr lang="en-US" b="1" dirty="0">
              <a:solidFill>
                <a:srgbClr val="C00000"/>
              </a:solidFill>
            </a:endParaRPr>
          </a:p>
          <a:p>
            <a:pPr lvl="0" algn="l" rtl="0">
              <a:buClr>
                <a:srgbClr val="94C600"/>
              </a:buClr>
              <a:buFont typeface="Arial" panose="020B0604020202020204" pitchFamily="34" charset="0"/>
              <a:buChar char="•"/>
            </a:pPr>
            <a:endParaRPr lang="en-US" b="1" dirty="0">
              <a:solidFill>
                <a:srgbClr val="C00000"/>
              </a:solidFill>
            </a:endParaRPr>
          </a:p>
          <a:p>
            <a:pPr marL="68580" lvl="0" indent="0" algn="just" rtl="0">
              <a:buClr>
                <a:srgbClr val="94C600"/>
              </a:buClr>
              <a:buNone/>
            </a:pPr>
            <a:endParaRPr lang="en-US" b="1" dirty="0" smtClean="0">
              <a:solidFill>
                <a:srgbClr val="3E3D2D"/>
              </a:solidFill>
            </a:endParaRPr>
          </a:p>
        </p:txBody>
      </p:sp>
    </p:spTree>
    <p:extLst>
      <p:ext uri="{BB962C8B-B14F-4D97-AF65-F5344CB8AC3E}">
        <p14:creationId xmlns:p14="http://schemas.microsoft.com/office/powerpoint/2010/main" val="393147045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5029200"/>
          </a:xfrm>
        </p:spPr>
        <p:txBody>
          <a:bodyPr>
            <a:normAutofit fontScale="92500"/>
          </a:bodyPr>
          <a:lstStyle/>
          <a:p>
            <a:pPr lvl="0" algn="l" rtl="0">
              <a:buClr>
                <a:srgbClr val="94C600"/>
              </a:buClr>
              <a:buFont typeface="Arial" panose="020B0604020202020204" pitchFamily="34" charset="0"/>
              <a:buChar char="•"/>
            </a:pPr>
            <a:r>
              <a:rPr lang="en-US" b="1" dirty="0" smtClean="0">
                <a:solidFill>
                  <a:schemeClr val="bg2">
                    <a:lumMod val="50000"/>
                  </a:schemeClr>
                </a:solidFill>
              </a:rPr>
              <a:t>So core values are very critical to shape the org culture.</a:t>
            </a:r>
          </a:p>
          <a:p>
            <a:pPr lvl="0" algn="l" rtl="0">
              <a:buClr>
                <a:srgbClr val="94C600"/>
              </a:buClr>
              <a:buFont typeface="Arial" panose="020B0604020202020204" pitchFamily="34" charset="0"/>
              <a:buChar char="•"/>
            </a:pPr>
            <a:r>
              <a:rPr lang="en-US" b="1" dirty="0" smtClean="0">
                <a:solidFill>
                  <a:srgbClr val="C00000"/>
                </a:solidFill>
              </a:rPr>
              <a:t>It is the origin (starting point) of branding.</a:t>
            </a:r>
          </a:p>
          <a:p>
            <a:pPr lvl="0" algn="l" rtl="0">
              <a:buClr>
                <a:srgbClr val="94C600"/>
              </a:buClr>
              <a:buFont typeface="Arial" panose="020B0604020202020204" pitchFamily="34" charset="0"/>
              <a:buChar char="•"/>
            </a:pPr>
            <a:endParaRPr lang="en-US" b="1" dirty="0">
              <a:solidFill>
                <a:schemeClr val="bg2">
                  <a:lumMod val="50000"/>
                </a:schemeClr>
              </a:solidFill>
            </a:endParaRPr>
          </a:p>
          <a:p>
            <a:pPr lvl="0" algn="l" rtl="0">
              <a:buClr>
                <a:srgbClr val="94C600"/>
              </a:buClr>
              <a:buFont typeface="Arial" panose="020B0604020202020204" pitchFamily="34" charset="0"/>
              <a:buChar char="•"/>
            </a:pPr>
            <a:r>
              <a:rPr lang="en-US" b="1" dirty="0" smtClean="0">
                <a:solidFill>
                  <a:schemeClr val="bg2">
                    <a:lumMod val="50000"/>
                  </a:schemeClr>
                </a:solidFill>
              </a:rPr>
              <a:t>First of all you have to analyze the 3 sources of the values and then compare it with the core values that you already have in the website or documents of org….If they are close, this is good, if no, we have a big problem now in values. </a:t>
            </a:r>
          </a:p>
          <a:p>
            <a:pPr lvl="0" algn="l" rtl="0">
              <a:buClr>
                <a:srgbClr val="94C600"/>
              </a:buClr>
              <a:buFont typeface="Arial" panose="020B0604020202020204" pitchFamily="34" charset="0"/>
              <a:buChar char="•"/>
            </a:pPr>
            <a:endParaRPr lang="en-US" b="1" dirty="0">
              <a:solidFill>
                <a:schemeClr val="bg2">
                  <a:lumMod val="50000"/>
                </a:schemeClr>
              </a:solidFill>
            </a:endParaRPr>
          </a:p>
          <a:p>
            <a:pPr lvl="0" algn="l" rtl="0">
              <a:buClr>
                <a:srgbClr val="94C600"/>
              </a:buClr>
              <a:buFont typeface="Arial" panose="020B0604020202020204" pitchFamily="34" charset="0"/>
              <a:buChar char="•"/>
            </a:pPr>
            <a:r>
              <a:rPr lang="en-US" b="1" dirty="0" smtClean="0">
                <a:solidFill>
                  <a:schemeClr val="bg2">
                    <a:lumMod val="50000"/>
                  </a:schemeClr>
                </a:solidFill>
              </a:rPr>
              <a:t>If you are a new org, it is ok…propose..</a:t>
            </a:r>
          </a:p>
          <a:p>
            <a:pPr lvl="0" algn="l" rtl="0">
              <a:buClr>
                <a:srgbClr val="94C600"/>
              </a:buClr>
              <a:buFont typeface="Arial" panose="020B0604020202020204" pitchFamily="34" charset="0"/>
              <a:buChar char="•"/>
            </a:pPr>
            <a:r>
              <a:rPr lang="en-US" b="1" dirty="0" smtClean="0">
                <a:solidFill>
                  <a:srgbClr val="C00000"/>
                </a:solidFill>
              </a:rPr>
              <a:t>From practical perspective, core values are the most important ones.</a:t>
            </a:r>
          </a:p>
          <a:p>
            <a:pPr lvl="0" algn="l" rtl="0">
              <a:buClr>
                <a:srgbClr val="94C600"/>
              </a:buClr>
              <a:buFont typeface="Arial" panose="020B0604020202020204" pitchFamily="34" charset="0"/>
              <a:buChar char="•"/>
            </a:pPr>
            <a:r>
              <a:rPr lang="en-US" b="1" dirty="0" smtClean="0">
                <a:solidFill>
                  <a:srgbClr val="C00000"/>
                </a:solidFill>
              </a:rPr>
              <a:t>It shapes the organizational culture</a:t>
            </a:r>
            <a:endParaRPr lang="en-US" b="1" dirty="0">
              <a:solidFill>
                <a:srgbClr val="C00000"/>
              </a:solidFill>
            </a:endParaRPr>
          </a:p>
          <a:p>
            <a:pPr marL="68580" lvl="0" indent="0" algn="just" rtl="0">
              <a:buClr>
                <a:srgbClr val="94C600"/>
              </a:buClr>
              <a:buNone/>
            </a:pPr>
            <a:endParaRPr lang="en-US" b="1" dirty="0" smtClean="0">
              <a:solidFill>
                <a:srgbClr val="3E3D2D"/>
              </a:solidFill>
            </a:endParaRPr>
          </a:p>
        </p:txBody>
      </p:sp>
    </p:spTree>
    <p:extLst>
      <p:ext uri="{BB962C8B-B14F-4D97-AF65-F5344CB8AC3E}">
        <p14:creationId xmlns:p14="http://schemas.microsoft.com/office/powerpoint/2010/main" val="380759663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5029200"/>
          </a:xfrm>
        </p:spPr>
        <p:txBody>
          <a:bodyPr>
            <a:normAutofit/>
          </a:bodyPr>
          <a:lstStyle/>
          <a:p>
            <a:pPr algn="l" rtl="0"/>
            <a:r>
              <a:rPr lang="en-US" b="1"/>
              <a:t>Assignment 1:</a:t>
            </a:r>
            <a:endParaRPr lang="en-US"/>
          </a:p>
          <a:p>
            <a:pPr algn="l" rtl="0"/>
            <a:r>
              <a:rPr lang="en-US" b="1"/>
              <a:t>Choose a company and write a summary about it</a:t>
            </a:r>
            <a:r>
              <a:rPr lang="en-US"/>
              <a:t> </a:t>
            </a:r>
          </a:p>
          <a:p>
            <a:pPr algn="l" rtl="0"/>
            <a:r>
              <a:rPr lang="en-US" b="1"/>
              <a:t>Company Summary:</a:t>
            </a:r>
            <a:endParaRPr lang="en-US"/>
          </a:p>
          <a:p>
            <a:pPr algn="l" rtl="0"/>
            <a:r>
              <a:rPr lang="en-US"/>
              <a:t>Company name and industry </a:t>
            </a:r>
          </a:p>
          <a:p>
            <a:pPr algn="l" rtl="0"/>
            <a:r>
              <a:rPr lang="en-US"/>
              <a:t>Founding date and headquarters </a:t>
            </a:r>
          </a:p>
          <a:p>
            <a:pPr algn="l" rtl="0"/>
            <a:r>
              <a:rPr lang="en-US"/>
              <a:t>Main products or services </a:t>
            </a:r>
          </a:p>
          <a:p>
            <a:pPr algn="l" rtl="0"/>
            <a:r>
              <a:rPr lang="en-US"/>
              <a:t>Target market and customers </a:t>
            </a:r>
          </a:p>
          <a:p>
            <a:pPr algn="l" rtl="0"/>
            <a:r>
              <a:rPr lang="en-US"/>
              <a:t>Major achievements or awards </a:t>
            </a:r>
          </a:p>
          <a:p>
            <a:pPr algn="l" rtl="0"/>
            <a:r>
              <a:rPr lang="en-US"/>
              <a:t>Number of employees and company size </a:t>
            </a:r>
          </a:p>
          <a:p>
            <a:pPr algn="l" rtl="0"/>
            <a:r>
              <a:rPr lang="en-US" b="1"/>
              <a:t>Write the vision, mission, and core values, and provide a critique</a:t>
            </a:r>
            <a:r>
              <a:rPr lang="en-US"/>
              <a:t> </a:t>
            </a:r>
          </a:p>
          <a:p>
            <a:pPr marL="68580" lvl="0" indent="0" algn="just" rtl="0">
              <a:buClr>
                <a:srgbClr val="94C600"/>
              </a:buClr>
              <a:buNone/>
            </a:pPr>
            <a:endParaRPr lang="en-US" b="1" dirty="0" smtClean="0">
              <a:solidFill>
                <a:srgbClr val="3E3D2D"/>
              </a:solidFill>
            </a:endParaRPr>
          </a:p>
        </p:txBody>
      </p:sp>
    </p:spTree>
    <p:extLst>
      <p:ext uri="{BB962C8B-B14F-4D97-AF65-F5344CB8AC3E}">
        <p14:creationId xmlns:p14="http://schemas.microsoft.com/office/powerpoint/2010/main" val="4205310747"/>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1_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3351</TotalTime>
  <Words>2210</Words>
  <Application>Microsoft Office PowerPoint</Application>
  <PresentationFormat>On-screen Show (4:3)</PresentationFormat>
  <Paragraphs>230</Paragraphs>
  <Slides>32</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32</vt:i4>
      </vt:variant>
    </vt:vector>
  </HeadingPairs>
  <TitlesOfParts>
    <vt:vector size="41" baseType="lpstr">
      <vt:lpstr>Arial</vt:lpstr>
      <vt:lpstr>Calibri</vt:lpstr>
      <vt:lpstr>Century Gothic</vt:lpstr>
      <vt:lpstr>Tahoma</vt:lpstr>
      <vt:lpstr>Wingdings</vt:lpstr>
      <vt:lpstr>Wingdings 2</vt:lpstr>
      <vt:lpstr>Office Theme</vt:lpstr>
      <vt:lpstr>Austin</vt:lpstr>
      <vt:lpstr>1_Austin</vt:lpstr>
      <vt:lpstr>Strategic Excellence</vt:lpstr>
      <vt:lpstr>Strategic management process</vt:lpstr>
      <vt:lpstr>Vision statement </vt:lpstr>
      <vt:lpstr>Vision statement </vt:lpstr>
      <vt:lpstr>Vision statement </vt:lpstr>
      <vt:lpstr>Vision statement </vt:lpstr>
      <vt:lpstr>Vision statement </vt:lpstr>
      <vt:lpstr>Vision statement </vt:lpstr>
      <vt:lpstr>Vision statement </vt:lpstr>
      <vt:lpstr>Vision statement </vt:lpstr>
      <vt:lpstr>Vision statement </vt:lpstr>
      <vt:lpstr>Vision statement </vt:lpstr>
      <vt:lpstr>Mission statement </vt:lpstr>
      <vt:lpstr>Mission statement </vt:lpstr>
      <vt:lpstr>Mission statement </vt:lpstr>
      <vt:lpstr>Mission Statement Components  </vt:lpstr>
      <vt:lpstr>Mission Statement Components  </vt:lpstr>
      <vt:lpstr>Mission Statement Components  </vt:lpstr>
      <vt:lpstr>Mission Statement Components  </vt:lpstr>
      <vt:lpstr>Mission statement </vt:lpstr>
      <vt:lpstr>Mission Statement Components  </vt:lpstr>
      <vt:lpstr>Three crucial components of the mission</vt:lpstr>
      <vt:lpstr> Mission Statement Examples </vt:lpstr>
      <vt:lpstr> Mission Statement Examples </vt:lpstr>
      <vt:lpstr> Mission Statement Examples </vt:lpstr>
      <vt:lpstr> Mission Statement Examples </vt:lpstr>
      <vt:lpstr> Mission Statement Examples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Management</dc:title>
  <dc:creator>Dr.Tarek</dc:creator>
  <cp:lastModifiedBy>Dr. Marwa</cp:lastModifiedBy>
  <cp:revision>132</cp:revision>
  <dcterms:created xsi:type="dcterms:W3CDTF">2006-08-16T00:00:00Z</dcterms:created>
  <dcterms:modified xsi:type="dcterms:W3CDTF">2026-04-18T01:22:44Z</dcterms:modified>
</cp:coreProperties>
</file>