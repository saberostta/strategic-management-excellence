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7" r:id="rId3"/>
    <p:sldId id="256" r:id="rId4"/>
    <p:sldId id="272" r:id="rId5"/>
    <p:sldId id="261" r:id="rId6"/>
    <p:sldId id="288" r:id="rId7"/>
    <p:sldId id="262" r:id="rId8"/>
    <p:sldId id="263" r:id="rId9"/>
    <p:sldId id="292" r:id="rId10"/>
    <p:sldId id="291" r:id="rId11"/>
    <p:sldId id="290" r:id="rId12"/>
    <p:sldId id="289" r:id="rId13"/>
    <p:sldId id="264" r:id="rId14"/>
    <p:sldId id="258" r:id="rId15"/>
    <p:sldId id="259" r:id="rId16"/>
    <p:sldId id="266" r:id="rId17"/>
    <p:sldId id="269" r:id="rId18"/>
    <p:sldId id="270" r:id="rId19"/>
    <p:sldId id="271" r:id="rId20"/>
    <p:sldId id="293"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1422"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n-US" smtClean="0"/>
              <a:t>Click to edit Master title style</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1D8BD707-D9CF-40AE-B4C6-C98DA3205C09}" type="datetimeFigureOut">
              <a:rPr lang="en-US" smtClean="0"/>
              <a:pPr/>
              <a:t>5/19/2026</a:t>
            </a:fld>
            <a:endParaRPr lang="en-US"/>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en-US">
              <a:solidFill>
                <a:srgbClr val="94C600"/>
              </a:solidFill>
            </a:endParaRPr>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B6F15528-21DE-4FAA-801E-634DDDAF4B2B}" type="slidenum">
              <a:rPr lang="en-US" smtClean="0">
                <a:solidFill>
                  <a:srgbClr val="94C600"/>
                </a:solidFill>
              </a:rPr>
              <a:pPr/>
              <a:t>‹#›</a:t>
            </a:fld>
            <a:endParaRPr lang="en-US">
              <a:solidFill>
                <a:srgbClr val="94C600"/>
              </a:solidFill>
            </a:endParaRPr>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13287943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solidFill>
                <a:srgbClr val="94C600"/>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457699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solidFill>
                <a:srgbClr val="94C600"/>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659367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5/19/2026</a:t>
            </a:fld>
            <a:endParaRPr lang="en-US"/>
          </a:p>
        </p:txBody>
      </p:sp>
      <p:sp>
        <p:nvSpPr>
          <p:cNvPr id="6" name="Footer Placeholder 5"/>
          <p:cNvSpPr>
            <a:spLocks noGrp="1"/>
          </p:cNvSpPr>
          <p:nvPr>
            <p:ph type="ftr" sz="quarter" idx="11"/>
          </p:nvPr>
        </p:nvSpPr>
        <p:spPr/>
        <p:txBody>
          <a:bodyPr/>
          <a:lstStyle/>
          <a:p>
            <a:endParaRPr lang="en-US">
              <a:solidFill>
                <a:srgbClr val="94C60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1042416" y="2313432"/>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3472985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5/19/2026</a:t>
            </a:fld>
            <a:endParaRPr lang="en-US"/>
          </a:p>
        </p:txBody>
      </p:sp>
      <p:sp>
        <p:nvSpPr>
          <p:cNvPr id="8" name="Footer Placeholder 7"/>
          <p:cNvSpPr>
            <a:spLocks noGrp="1"/>
          </p:cNvSpPr>
          <p:nvPr>
            <p:ph type="ftr" sz="quarter" idx="11"/>
          </p:nvPr>
        </p:nvSpPr>
        <p:spPr/>
        <p:txBody>
          <a:bodyPr/>
          <a:lstStyle/>
          <a:p>
            <a:endParaRPr lang="en-US">
              <a:solidFill>
                <a:srgbClr val="94C600"/>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482155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5/19/2026</a:t>
            </a:fld>
            <a:endParaRPr lang="en-US"/>
          </a:p>
        </p:txBody>
      </p:sp>
      <p:sp>
        <p:nvSpPr>
          <p:cNvPr id="4" name="Footer Placeholder 3"/>
          <p:cNvSpPr>
            <a:spLocks noGrp="1"/>
          </p:cNvSpPr>
          <p:nvPr>
            <p:ph type="ftr" sz="quarter" idx="11"/>
          </p:nvPr>
        </p:nvSpPr>
        <p:spPr/>
        <p:txBody>
          <a:bodyPr/>
          <a:lstStyle/>
          <a:p>
            <a:endParaRPr lang="en-US">
              <a:solidFill>
                <a:srgbClr val="94C60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606965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5/19/2026</a:t>
            </a:fld>
            <a:endParaRPr lang="en-US"/>
          </a:p>
        </p:txBody>
      </p:sp>
      <p:sp>
        <p:nvSpPr>
          <p:cNvPr id="3" name="Footer Placeholder 2"/>
          <p:cNvSpPr>
            <a:spLocks noGrp="1"/>
          </p:cNvSpPr>
          <p:nvPr>
            <p:ph type="ftr" sz="quarter" idx="11"/>
          </p:nvPr>
        </p:nvSpPr>
        <p:spPr/>
        <p:txBody>
          <a:bodyPr/>
          <a:lstStyle/>
          <a:p>
            <a:endParaRPr lang="en-US">
              <a:solidFill>
                <a:srgbClr val="94C600"/>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993215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 name="Date Placeholder 4"/>
          <p:cNvSpPr>
            <a:spLocks noGrp="1"/>
          </p:cNvSpPr>
          <p:nvPr>
            <p:ph type="dt" sz="half" idx="10"/>
          </p:nvPr>
        </p:nvSpPr>
        <p:spPr/>
        <p:txBody>
          <a:bodyPr/>
          <a:lstStyle/>
          <a:p>
            <a:fld id="{1D8BD707-D9CF-40AE-B4C6-C98DA3205C09}" type="datetimeFigureOut">
              <a:rPr lang="en-US" smtClean="0"/>
              <a:pPr/>
              <a:t>5/19/2026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solidFill>
                <a:srgbClr val="94C600"/>
              </a:solidFill>
            </a:endParaRPr>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n-US" smtClean="0"/>
              <a:t>Click to edit Master title style</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6843189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n-US" smtClean="0"/>
              <a:t>Click to edit Master title style</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5/19/2026</a:t>
            </a:fld>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solidFill>
                <a:srgbClr val="94C60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060186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solidFill>
                <a:srgbClr val="94C600"/>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536100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n-US" smtClean="0"/>
              <a:t>Click to edit Master title style</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solidFill>
                <a:srgbClr val="94C600"/>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976627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1D8BD707-D9CF-40AE-B4C6-C98DA3205C09}" type="datetimeFigureOut">
              <a:rPr lang="en-US" smtClean="0"/>
              <a:pPr/>
              <a:t>5/19/2026</a:t>
            </a:fld>
            <a:endParaRPr lang="en-US"/>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en-US">
              <a:solidFill>
                <a:srgbClr val="94C600"/>
              </a:solidFill>
            </a:endParaRPr>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7410088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1" eaLnBrk="1" latinLnBrk="0" hangingPunct="1">
        <a:spcBef>
          <a:spcPct val="0"/>
        </a:spcBef>
        <a:buNone/>
        <a:defRPr sz="4000" kern="1200">
          <a:solidFill>
            <a:schemeClr val="accent1"/>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42900" indent="-274320" algn="r" defTabSz="914400" rtl="1"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r" defTabSz="914400" rtl="1"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r" defTabSz="914400" rtl="1"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r" defTabSz="914400" rtl="1"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r" defTabSz="914400" rtl="1"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24400" y="2286000"/>
            <a:ext cx="3313355" cy="1702160"/>
          </a:xfrm>
        </p:spPr>
        <p:txBody>
          <a:bodyPr>
            <a:normAutofit/>
          </a:bodyPr>
          <a:lstStyle/>
          <a:p>
            <a:pPr algn="ctr"/>
            <a:r>
              <a:rPr lang="en-US" b="1" dirty="0" smtClean="0"/>
              <a:t>Strategic Management</a:t>
            </a:r>
            <a:endParaRPr lang="ar-EG" b="1" dirty="0"/>
          </a:p>
        </p:txBody>
      </p:sp>
      <p:sp>
        <p:nvSpPr>
          <p:cNvPr id="3" name="Subtitle 2"/>
          <p:cNvSpPr>
            <a:spLocks noGrp="1"/>
          </p:cNvSpPr>
          <p:nvPr>
            <p:ph type="subTitle" idx="1"/>
          </p:nvPr>
        </p:nvSpPr>
        <p:spPr>
          <a:xfrm>
            <a:off x="4800600" y="4191000"/>
            <a:ext cx="3309803" cy="1600200"/>
          </a:xfrm>
        </p:spPr>
        <p:txBody>
          <a:bodyPr>
            <a:normAutofit fontScale="92500" lnSpcReduction="20000"/>
          </a:bodyPr>
          <a:lstStyle/>
          <a:p>
            <a:r>
              <a:rPr lang="en-US" b="1" dirty="0" smtClean="0"/>
              <a:t>Dr. </a:t>
            </a:r>
            <a:r>
              <a:rPr lang="en-US" b="1" dirty="0" err="1" smtClean="0"/>
              <a:t>Marwa</a:t>
            </a:r>
            <a:r>
              <a:rPr lang="en-US" b="1" dirty="0" smtClean="0"/>
              <a:t> Tarek</a:t>
            </a:r>
          </a:p>
          <a:p>
            <a:r>
              <a:rPr lang="en-US" b="1" dirty="0"/>
              <a:t>7</a:t>
            </a:r>
            <a:r>
              <a:rPr lang="en-US" b="1" baseline="30000" dirty="0" smtClean="0"/>
              <a:t>th</a:t>
            </a:r>
            <a:r>
              <a:rPr lang="en-US" b="1" dirty="0" smtClean="0"/>
              <a:t>  class </a:t>
            </a:r>
          </a:p>
          <a:p>
            <a:r>
              <a:rPr lang="ar-EG" dirty="0"/>
              <a:t/>
            </a:r>
            <a:br>
              <a:rPr lang="ar-EG" dirty="0"/>
            </a:br>
            <a:endParaRPr lang="ar-EG" dirty="0"/>
          </a:p>
          <a:p>
            <a:endParaRPr lang="ar-EG" dirty="0"/>
          </a:p>
          <a:p>
            <a:pPr algn="ctr"/>
            <a:r>
              <a:rPr lang="fr-FR" b="1" dirty="0"/>
              <a:t> </a:t>
            </a:r>
            <a:r>
              <a:rPr lang="en-US" b="1" dirty="0" smtClean="0"/>
              <a:t>Generating strategies </a:t>
            </a:r>
            <a:r>
              <a:rPr lang="fr-FR" b="1" dirty="0" smtClean="0"/>
              <a:t> </a:t>
            </a:r>
            <a:endParaRPr lang="ar-EG" b="1" dirty="0"/>
          </a:p>
        </p:txBody>
      </p:sp>
    </p:spTree>
    <p:extLst>
      <p:ext uri="{BB962C8B-B14F-4D97-AF65-F5344CB8AC3E}">
        <p14:creationId xmlns:p14="http://schemas.microsoft.com/office/powerpoint/2010/main" val="26980775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7024744" cy="1143000"/>
          </a:xfrm>
        </p:spPr>
        <p:txBody>
          <a:bodyPr>
            <a:noAutofit/>
          </a:bodyPr>
          <a:lstStyle/>
          <a:p>
            <a:r>
              <a:rPr lang="ar-EG" sz="2400" dirty="0"/>
              <a:t/>
            </a:r>
            <a:br>
              <a:rPr lang="ar-EG" sz="2400" dirty="0"/>
            </a:br>
            <a:r>
              <a:rPr lang="fr-FR" sz="2400" b="1" dirty="0" err="1" smtClean="0"/>
              <a:t>Strategy</a:t>
            </a:r>
            <a:r>
              <a:rPr lang="fr-FR" sz="2400" b="1" dirty="0" smtClean="0"/>
              <a:t> </a:t>
            </a:r>
            <a:r>
              <a:rPr lang="fr-FR" sz="2400" b="1" dirty="0" err="1"/>
              <a:t>Analysis</a:t>
            </a:r>
            <a:r>
              <a:rPr lang="fr-FR" sz="2400" b="1" dirty="0"/>
              <a:t> &amp; </a:t>
            </a:r>
            <a:r>
              <a:rPr lang="fr-FR" sz="2400" b="1" dirty="0" err="1"/>
              <a:t>Choice</a:t>
            </a:r>
            <a:r>
              <a:rPr lang="fr-FR" sz="2400" b="1" dirty="0"/>
              <a:t> </a:t>
            </a:r>
            <a:r>
              <a:rPr lang="fr-FR" sz="2400" b="1" dirty="0" smtClean="0"/>
              <a:t> </a:t>
            </a:r>
            <a:endParaRPr lang="ar-EG" sz="2400"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8800" y="914400"/>
            <a:ext cx="7962600" cy="548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353385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 y="1066800"/>
            <a:ext cx="8001000" cy="5257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188525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153400" cy="1143000"/>
          </a:xfrm>
        </p:spPr>
        <p:txBody>
          <a:bodyPr>
            <a:normAutofit fontScale="90000"/>
          </a:bodyPr>
          <a:lstStyle/>
          <a:p>
            <a:r>
              <a:rPr lang="en-US" b="1" dirty="0"/>
              <a:t>Steps to Develop a SPACE Matrix</a:t>
            </a:r>
            <a:br>
              <a:rPr lang="en-US" b="1" dirty="0"/>
            </a:br>
            <a:endParaRPr lang="ar-EG" b="1" dirty="0"/>
          </a:p>
        </p:txBody>
      </p:sp>
      <p:sp>
        <p:nvSpPr>
          <p:cNvPr id="3" name="Content Placeholder 2"/>
          <p:cNvSpPr>
            <a:spLocks noGrp="1"/>
          </p:cNvSpPr>
          <p:nvPr>
            <p:ph idx="1"/>
          </p:nvPr>
        </p:nvSpPr>
        <p:spPr>
          <a:xfrm>
            <a:off x="609600" y="1447800"/>
            <a:ext cx="7924800" cy="5029200"/>
          </a:xfrm>
        </p:spPr>
        <p:txBody>
          <a:bodyPr>
            <a:normAutofit fontScale="92500" lnSpcReduction="20000"/>
          </a:bodyPr>
          <a:lstStyle/>
          <a:p>
            <a:pPr algn="l" rtl="0"/>
            <a:r>
              <a:rPr lang="en-US" dirty="0" smtClean="0"/>
              <a:t>If SPACE matching tool is used we have to stick to 2 internal dimensions and 2 external dimensions which is more limited rather than </a:t>
            </a:r>
            <a:r>
              <a:rPr lang="en-US" dirty="0" err="1" smtClean="0"/>
              <a:t>SWOT</a:t>
            </a:r>
            <a:r>
              <a:rPr lang="en-US" dirty="0" smtClean="0"/>
              <a:t>. They are the most critical dimensions in the audit process.</a:t>
            </a:r>
          </a:p>
          <a:p>
            <a:pPr marL="68580" indent="0" algn="just" rtl="0">
              <a:buNone/>
            </a:pPr>
            <a:endParaRPr lang="en-US" dirty="0" smtClean="0"/>
          </a:p>
          <a:p>
            <a:pPr marL="68580" indent="0" algn="just" rtl="0">
              <a:buNone/>
            </a:pPr>
            <a:r>
              <a:rPr lang="en-US" b="1" dirty="0" smtClean="0"/>
              <a:t>1. Select </a:t>
            </a:r>
            <a:r>
              <a:rPr lang="en-US" b="1" dirty="0"/>
              <a:t>a set of variables to define financial position (FP), competitive position (CP), stability position (SP), and industry position (IP)</a:t>
            </a:r>
          </a:p>
          <a:p>
            <a:pPr marL="68580" indent="0" algn="l" rtl="0">
              <a:buNone/>
            </a:pPr>
            <a:endParaRPr lang="en-US" dirty="0" smtClean="0"/>
          </a:p>
          <a:p>
            <a:pPr algn="l" rtl="0"/>
            <a:r>
              <a:rPr lang="fr-FR" b="1" dirty="0" err="1" smtClean="0"/>
              <a:t>Internal</a:t>
            </a:r>
            <a:r>
              <a:rPr lang="fr-FR" b="1" dirty="0" smtClean="0"/>
              <a:t> dimensions </a:t>
            </a:r>
          </a:p>
          <a:p>
            <a:pPr marL="68580" indent="0" algn="l" rtl="0">
              <a:buNone/>
            </a:pPr>
            <a:r>
              <a:rPr lang="fr-FR" b="1" dirty="0"/>
              <a:t> </a:t>
            </a:r>
            <a:r>
              <a:rPr lang="fr-FR" b="1" dirty="0" smtClean="0"/>
              <a:t>     </a:t>
            </a:r>
            <a:r>
              <a:rPr lang="fr-FR" dirty="0" smtClean="0"/>
              <a:t>Financial </a:t>
            </a:r>
            <a:r>
              <a:rPr lang="fr-FR" dirty="0"/>
              <a:t>position (</a:t>
            </a:r>
            <a:r>
              <a:rPr lang="fr-FR" dirty="0" err="1"/>
              <a:t>FP</a:t>
            </a:r>
            <a:r>
              <a:rPr lang="fr-FR" dirty="0"/>
              <a:t>)</a:t>
            </a:r>
          </a:p>
          <a:p>
            <a:pPr marL="68263" indent="511175" algn="l" rtl="0">
              <a:buNone/>
            </a:pPr>
            <a:r>
              <a:rPr lang="fr-FR" dirty="0" err="1" smtClean="0"/>
              <a:t>Competitive</a:t>
            </a:r>
            <a:r>
              <a:rPr lang="fr-FR" dirty="0" smtClean="0"/>
              <a:t> </a:t>
            </a:r>
            <a:r>
              <a:rPr lang="fr-FR" dirty="0"/>
              <a:t>position (CP)</a:t>
            </a:r>
          </a:p>
          <a:p>
            <a:pPr algn="l" rtl="0"/>
            <a:r>
              <a:rPr lang="fr-FR" b="1" dirty="0" err="1" smtClean="0"/>
              <a:t>External</a:t>
            </a:r>
            <a:r>
              <a:rPr lang="fr-FR" b="1" dirty="0" smtClean="0"/>
              <a:t> </a:t>
            </a:r>
            <a:r>
              <a:rPr lang="fr-FR" b="1" dirty="0"/>
              <a:t>dimensions</a:t>
            </a:r>
          </a:p>
          <a:p>
            <a:pPr marL="68263" indent="511175" algn="l" rtl="0">
              <a:buNone/>
            </a:pPr>
            <a:r>
              <a:rPr lang="fr-FR" dirty="0" err="1" smtClean="0"/>
              <a:t>Environmental</a:t>
            </a:r>
            <a:r>
              <a:rPr lang="fr-FR" dirty="0" smtClean="0"/>
              <a:t> </a:t>
            </a:r>
            <a:r>
              <a:rPr lang="fr-FR" dirty="0" err="1" smtClean="0"/>
              <a:t>Stability</a:t>
            </a:r>
            <a:r>
              <a:rPr lang="fr-FR" dirty="0" smtClean="0"/>
              <a:t> </a:t>
            </a:r>
            <a:r>
              <a:rPr lang="fr-FR" dirty="0"/>
              <a:t>position (</a:t>
            </a:r>
            <a:r>
              <a:rPr lang="fr-FR" dirty="0" err="1"/>
              <a:t>SP</a:t>
            </a:r>
            <a:r>
              <a:rPr lang="fr-FR" dirty="0"/>
              <a:t>)</a:t>
            </a:r>
          </a:p>
          <a:p>
            <a:pPr marL="68263" indent="511175" algn="l" rtl="0">
              <a:buNone/>
            </a:pPr>
            <a:r>
              <a:rPr lang="fr-FR" dirty="0" err="1" smtClean="0"/>
              <a:t>Industry</a:t>
            </a:r>
            <a:r>
              <a:rPr lang="fr-FR" dirty="0" smtClean="0"/>
              <a:t> </a:t>
            </a:r>
            <a:r>
              <a:rPr lang="fr-FR" dirty="0"/>
              <a:t>position (IP) </a:t>
            </a:r>
          </a:p>
          <a:p>
            <a:endParaRPr lang="ar-EG" dirty="0"/>
          </a:p>
        </p:txBody>
      </p:sp>
    </p:spTree>
    <p:extLst>
      <p:ext uri="{BB962C8B-B14F-4D97-AF65-F5344CB8AC3E}">
        <p14:creationId xmlns:p14="http://schemas.microsoft.com/office/powerpoint/2010/main" val="24564955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153400" cy="1143000"/>
          </a:xfrm>
        </p:spPr>
        <p:txBody>
          <a:bodyPr>
            <a:normAutofit/>
          </a:bodyPr>
          <a:lstStyle/>
          <a:p>
            <a:r>
              <a:rPr lang="en-US" sz="3000" b="1" dirty="0"/>
              <a:t>Steps to Develop a SPACE Matrix</a:t>
            </a:r>
            <a:br>
              <a:rPr lang="en-US" sz="3000" b="1" dirty="0"/>
            </a:br>
            <a:endParaRPr lang="ar-EG" sz="3000" b="1" dirty="0"/>
          </a:p>
        </p:txBody>
      </p:sp>
      <p:sp>
        <p:nvSpPr>
          <p:cNvPr id="3" name="Content Placeholder 2"/>
          <p:cNvSpPr>
            <a:spLocks noGrp="1"/>
          </p:cNvSpPr>
          <p:nvPr>
            <p:ph idx="1"/>
          </p:nvPr>
        </p:nvSpPr>
        <p:spPr>
          <a:xfrm>
            <a:off x="609600" y="1143000"/>
            <a:ext cx="7924800" cy="5334000"/>
          </a:xfrm>
        </p:spPr>
        <p:txBody>
          <a:bodyPr>
            <a:normAutofit fontScale="62500" lnSpcReduction="20000"/>
          </a:bodyPr>
          <a:lstStyle/>
          <a:p>
            <a:pPr algn="l" rtl="0"/>
            <a:r>
              <a:rPr lang="fr-FR" b="1" dirty="0" err="1" smtClean="0"/>
              <a:t>Internal</a:t>
            </a:r>
            <a:r>
              <a:rPr lang="fr-FR" b="1" dirty="0" smtClean="0"/>
              <a:t> dimensions </a:t>
            </a:r>
          </a:p>
          <a:p>
            <a:pPr marL="68580" indent="0" algn="l" rtl="0">
              <a:buNone/>
            </a:pPr>
            <a:r>
              <a:rPr lang="fr-FR" b="1" dirty="0"/>
              <a:t> </a:t>
            </a:r>
            <a:r>
              <a:rPr lang="fr-FR" b="1" dirty="0" smtClean="0"/>
              <a:t>     - </a:t>
            </a:r>
            <a:r>
              <a:rPr lang="fr-FR" dirty="0" smtClean="0"/>
              <a:t>Financial </a:t>
            </a:r>
            <a:r>
              <a:rPr lang="fr-FR" dirty="0"/>
              <a:t>position (</a:t>
            </a:r>
            <a:r>
              <a:rPr lang="fr-FR" dirty="0" err="1" smtClean="0"/>
              <a:t>FP</a:t>
            </a:r>
            <a:r>
              <a:rPr lang="fr-FR" dirty="0" smtClean="0"/>
              <a:t>)</a:t>
            </a:r>
          </a:p>
          <a:p>
            <a:pPr marL="68580" indent="0" algn="l" rtl="0">
              <a:buNone/>
            </a:pPr>
            <a:r>
              <a:rPr lang="fr-FR" dirty="0"/>
              <a:t> </a:t>
            </a:r>
            <a:r>
              <a:rPr lang="fr-FR" dirty="0" smtClean="0"/>
              <a:t>      </a:t>
            </a:r>
            <a:r>
              <a:rPr lang="fr-FR" b="1" dirty="0" smtClean="0"/>
              <a:t>-</a:t>
            </a:r>
            <a:r>
              <a:rPr lang="fr-FR" dirty="0" smtClean="0"/>
              <a:t> </a:t>
            </a:r>
            <a:r>
              <a:rPr lang="fr-FR" dirty="0" err="1" smtClean="0"/>
              <a:t>Competitive</a:t>
            </a:r>
            <a:r>
              <a:rPr lang="fr-FR" dirty="0" smtClean="0"/>
              <a:t> </a:t>
            </a:r>
            <a:r>
              <a:rPr lang="fr-FR" dirty="0"/>
              <a:t>position (CP</a:t>
            </a:r>
            <a:r>
              <a:rPr lang="fr-FR" dirty="0" smtClean="0"/>
              <a:t>)</a:t>
            </a:r>
          </a:p>
          <a:p>
            <a:pPr algn="just" rtl="0"/>
            <a:r>
              <a:rPr lang="en-US" dirty="0"/>
              <a:t>There are many SPACE matrix factors under the internal strategic dimension. These factors analyze a business internal strategic position. </a:t>
            </a:r>
            <a:endParaRPr lang="en-US" dirty="0" smtClean="0"/>
          </a:p>
          <a:p>
            <a:pPr algn="just" rtl="0"/>
            <a:r>
              <a:rPr lang="en-US" b="1" dirty="0" smtClean="0"/>
              <a:t>The </a:t>
            </a:r>
            <a:r>
              <a:rPr lang="en-US" b="1" dirty="0"/>
              <a:t>financial strength factors</a:t>
            </a:r>
            <a:r>
              <a:rPr lang="en-US" dirty="0"/>
              <a:t> </a:t>
            </a:r>
            <a:r>
              <a:rPr lang="en-US" b="1" dirty="0"/>
              <a:t>often come from company accounting. </a:t>
            </a:r>
            <a:r>
              <a:rPr lang="en-US" dirty="0"/>
              <a:t>These SPACE matrix factors can include for example </a:t>
            </a:r>
            <a:r>
              <a:rPr lang="en-US" b="1" dirty="0"/>
              <a:t>return on investment, leverage, turnover, liquidity, working capital, cash flow, and others. </a:t>
            </a:r>
            <a:endParaRPr lang="en-US" b="1" dirty="0" smtClean="0"/>
          </a:p>
          <a:p>
            <a:pPr algn="just" rtl="0"/>
            <a:endParaRPr lang="en-US" b="1" dirty="0"/>
          </a:p>
          <a:p>
            <a:pPr algn="just" rtl="0"/>
            <a:r>
              <a:rPr lang="en-US" b="1" dirty="0" smtClean="0"/>
              <a:t>Competitive </a:t>
            </a:r>
            <a:r>
              <a:rPr lang="en-US" b="1" dirty="0"/>
              <a:t>advantage factors </a:t>
            </a:r>
            <a:r>
              <a:rPr lang="en-US" dirty="0"/>
              <a:t>include for example </a:t>
            </a:r>
            <a:r>
              <a:rPr lang="en-US" b="1" dirty="0">
                <a:solidFill>
                  <a:schemeClr val="tx1"/>
                </a:solidFill>
              </a:rPr>
              <a:t>the speed of innovation by the company, market niche position, customer loyalty, product </a:t>
            </a:r>
            <a:r>
              <a:rPr lang="en-US" b="1" dirty="0" smtClean="0">
                <a:solidFill>
                  <a:schemeClr val="tx1"/>
                </a:solidFill>
              </a:rPr>
              <a:t>quality and </a:t>
            </a:r>
            <a:r>
              <a:rPr lang="en-US" b="1" dirty="0">
                <a:solidFill>
                  <a:schemeClr val="tx1"/>
                </a:solidFill>
              </a:rPr>
              <a:t>market </a:t>
            </a:r>
            <a:r>
              <a:rPr lang="en-US" b="1" dirty="0" smtClean="0">
                <a:solidFill>
                  <a:schemeClr val="tx1"/>
                </a:solidFill>
              </a:rPr>
              <a:t>share.</a:t>
            </a:r>
          </a:p>
          <a:p>
            <a:pPr marL="68580" indent="0" algn="just" rtl="0">
              <a:buNone/>
            </a:pPr>
            <a:endParaRPr lang="en-US" b="1" dirty="0">
              <a:solidFill>
                <a:schemeClr val="tx1"/>
              </a:solidFill>
            </a:endParaRPr>
          </a:p>
          <a:p>
            <a:pPr algn="l" rtl="0"/>
            <a:r>
              <a:rPr lang="fr-FR" b="1" dirty="0" err="1"/>
              <a:t>External</a:t>
            </a:r>
            <a:r>
              <a:rPr lang="fr-FR" b="1" dirty="0"/>
              <a:t> dimensions</a:t>
            </a:r>
          </a:p>
          <a:p>
            <a:pPr marL="68263" indent="511175" algn="l" rtl="0">
              <a:buNone/>
            </a:pPr>
            <a:r>
              <a:rPr lang="fr-FR" dirty="0" err="1"/>
              <a:t>Environmental</a:t>
            </a:r>
            <a:r>
              <a:rPr lang="fr-FR" dirty="0"/>
              <a:t> </a:t>
            </a:r>
            <a:r>
              <a:rPr lang="fr-FR" dirty="0" err="1"/>
              <a:t>Stability</a:t>
            </a:r>
            <a:r>
              <a:rPr lang="fr-FR" dirty="0"/>
              <a:t> position (</a:t>
            </a:r>
            <a:r>
              <a:rPr lang="fr-FR" dirty="0" err="1"/>
              <a:t>SP</a:t>
            </a:r>
            <a:r>
              <a:rPr lang="fr-FR" dirty="0"/>
              <a:t>)</a:t>
            </a:r>
          </a:p>
          <a:p>
            <a:pPr marL="68263" indent="511175" algn="l" rtl="0">
              <a:buNone/>
            </a:pPr>
            <a:r>
              <a:rPr lang="fr-FR" dirty="0" err="1"/>
              <a:t>Industry</a:t>
            </a:r>
            <a:r>
              <a:rPr lang="fr-FR" dirty="0"/>
              <a:t> position (IP) </a:t>
            </a:r>
            <a:endParaRPr lang="fr-FR" dirty="0" smtClean="0"/>
          </a:p>
          <a:p>
            <a:pPr marL="68263" indent="511175" algn="l" rtl="0">
              <a:buNone/>
            </a:pPr>
            <a:endParaRPr lang="fr-FR" dirty="0"/>
          </a:p>
          <a:p>
            <a:pPr algn="just" rtl="0"/>
            <a:r>
              <a:rPr lang="en-US" dirty="0" smtClean="0"/>
              <a:t>Every </a:t>
            </a:r>
            <a:r>
              <a:rPr lang="en-US" dirty="0"/>
              <a:t>business is also affected by the environment in which it operates. SPACE matrix factors related to business external strategic dimension are for example overall economic condition, GDP growth, inflation, price elasticity, technology, barriers to entry, competitive pressures, industry growth potential, and others. </a:t>
            </a:r>
            <a:endParaRPr lang="ar-EG" dirty="0"/>
          </a:p>
        </p:txBody>
      </p:sp>
    </p:spTree>
    <p:extLst>
      <p:ext uri="{BB962C8B-B14F-4D97-AF65-F5344CB8AC3E}">
        <p14:creationId xmlns:p14="http://schemas.microsoft.com/office/powerpoint/2010/main" val="42386847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66800"/>
            <a:ext cx="8153400" cy="1143000"/>
          </a:xfrm>
        </p:spPr>
        <p:txBody>
          <a:bodyPr>
            <a:normAutofit fontScale="90000"/>
          </a:bodyPr>
          <a:lstStyle/>
          <a:p>
            <a:r>
              <a:rPr lang="en-US" sz="3100" b="1" dirty="0" smtClean="0"/>
              <a:t/>
            </a:r>
            <a:br>
              <a:rPr lang="en-US" sz="3100" b="1" dirty="0" smtClean="0"/>
            </a:br>
            <a:r>
              <a:rPr lang="en-US" sz="3100" b="1" dirty="0" smtClean="0"/>
              <a:t>Factors </a:t>
            </a:r>
            <a:r>
              <a:rPr lang="en-US" sz="3100" b="1" dirty="0"/>
              <a:t>That Make Up the SPACE Matrix Axes </a:t>
            </a:r>
            <a:br>
              <a:rPr lang="en-US" sz="3100" b="1" dirty="0"/>
            </a:br>
            <a:r>
              <a:rPr lang="en-US" b="1" dirty="0"/>
              <a:t/>
            </a:r>
            <a:br>
              <a:rPr lang="en-US" b="1" dirty="0"/>
            </a:br>
            <a:endParaRPr lang="ar-EG" b="1"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1219200"/>
            <a:ext cx="8153400" cy="5257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0936386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33400" y="685800"/>
            <a:ext cx="8001000" cy="5678478"/>
          </a:xfrm>
          <a:prstGeom prst="rect">
            <a:avLst/>
          </a:prstGeom>
        </p:spPr>
        <p:txBody>
          <a:bodyPr wrap="square">
            <a:spAutoFit/>
          </a:bodyPr>
          <a:lstStyle/>
          <a:p>
            <a:r>
              <a:rPr lang="en-US" sz="2400" b="1" dirty="0">
                <a:solidFill>
                  <a:srgbClr val="C00000"/>
                </a:solidFill>
              </a:rPr>
              <a:t>T</a:t>
            </a:r>
            <a:r>
              <a:rPr lang="en-US" sz="2400" b="1" dirty="0" smtClean="0">
                <a:solidFill>
                  <a:srgbClr val="C00000"/>
                </a:solidFill>
              </a:rPr>
              <a:t>he </a:t>
            </a:r>
            <a:r>
              <a:rPr lang="en-US" sz="2400" b="1" dirty="0">
                <a:solidFill>
                  <a:srgbClr val="C00000"/>
                </a:solidFill>
              </a:rPr>
              <a:t>following items should be considered when assessing </a:t>
            </a:r>
            <a:r>
              <a:rPr lang="en-US" sz="2400" b="1" u="sng" dirty="0">
                <a:solidFill>
                  <a:srgbClr val="C00000"/>
                </a:solidFill>
              </a:rPr>
              <a:t>Financial Strength</a:t>
            </a:r>
            <a:r>
              <a:rPr lang="en-US" sz="2400" b="1" dirty="0">
                <a:solidFill>
                  <a:srgbClr val="C00000"/>
                </a:solidFill>
              </a:rPr>
              <a:t>:</a:t>
            </a:r>
          </a:p>
          <a:p>
            <a:pPr marL="342900" indent="-342900" algn="just">
              <a:lnSpc>
                <a:spcPct val="150000"/>
              </a:lnSpc>
              <a:buFont typeface="Arial" panose="020B0604020202020204" pitchFamily="34" charset="0"/>
              <a:buChar char="•"/>
            </a:pPr>
            <a:r>
              <a:rPr lang="en-US" sz="2100" b="1" dirty="0"/>
              <a:t>Return on investment (low to high)</a:t>
            </a:r>
          </a:p>
          <a:p>
            <a:pPr marL="342900" indent="-342900" algn="just">
              <a:lnSpc>
                <a:spcPct val="150000"/>
              </a:lnSpc>
              <a:buFont typeface="Arial" panose="020B0604020202020204" pitchFamily="34" charset="0"/>
              <a:buChar char="•"/>
            </a:pPr>
            <a:r>
              <a:rPr lang="en-US" sz="2100" b="1" dirty="0"/>
              <a:t>Leverage (debt to equity ratio) (</a:t>
            </a:r>
            <a:r>
              <a:rPr lang="en-US" sz="2100" b="1" dirty="0" err="1"/>
              <a:t>inbalanced</a:t>
            </a:r>
            <a:r>
              <a:rPr lang="en-US" sz="2100" b="1" dirty="0"/>
              <a:t> to balanced)</a:t>
            </a:r>
          </a:p>
          <a:p>
            <a:pPr marL="342900" indent="-342900" algn="just">
              <a:lnSpc>
                <a:spcPct val="150000"/>
              </a:lnSpc>
              <a:buFont typeface="Arial" panose="020B0604020202020204" pitchFamily="34" charset="0"/>
              <a:buChar char="•"/>
            </a:pPr>
            <a:r>
              <a:rPr lang="en-US" sz="2100" b="1" dirty="0"/>
              <a:t>Liquidity (access to quick money when needed) (</a:t>
            </a:r>
            <a:r>
              <a:rPr lang="en-US" sz="2100" b="1" dirty="0" err="1"/>
              <a:t>inbalanced</a:t>
            </a:r>
            <a:r>
              <a:rPr lang="en-US" sz="2100" b="1" dirty="0"/>
              <a:t> to solid)</a:t>
            </a:r>
          </a:p>
          <a:p>
            <a:pPr marL="342900" indent="-342900" algn="just">
              <a:lnSpc>
                <a:spcPct val="150000"/>
              </a:lnSpc>
              <a:buFont typeface="Arial" panose="020B0604020202020204" pitchFamily="34" charset="0"/>
              <a:buChar char="•"/>
            </a:pPr>
            <a:r>
              <a:rPr lang="en-US" sz="2100" b="1" dirty="0"/>
              <a:t>Capital required versus capital available) (high to low)</a:t>
            </a:r>
          </a:p>
          <a:p>
            <a:pPr marL="342900" indent="-342900" algn="just">
              <a:lnSpc>
                <a:spcPct val="150000"/>
              </a:lnSpc>
              <a:buFont typeface="Arial" panose="020B0604020202020204" pitchFamily="34" charset="0"/>
              <a:buChar char="•"/>
            </a:pPr>
            <a:r>
              <a:rPr lang="en-US" sz="2100" b="1" dirty="0"/>
              <a:t>Cash flow (low to high)</a:t>
            </a:r>
          </a:p>
          <a:p>
            <a:pPr marL="342900" indent="-342900" algn="just">
              <a:lnSpc>
                <a:spcPct val="150000"/>
              </a:lnSpc>
              <a:buFont typeface="Arial" panose="020B0604020202020204" pitchFamily="34" charset="0"/>
              <a:buChar char="•"/>
            </a:pPr>
            <a:r>
              <a:rPr lang="en-US" sz="2100" b="1" dirty="0"/>
              <a:t>Ease of exit from market (difficult to easy)</a:t>
            </a:r>
          </a:p>
          <a:p>
            <a:pPr marL="342900" indent="-342900" algn="just">
              <a:lnSpc>
                <a:spcPct val="150000"/>
              </a:lnSpc>
              <a:buFont typeface="Arial" panose="020B0604020202020204" pitchFamily="34" charset="0"/>
              <a:buChar char="•"/>
            </a:pPr>
            <a:r>
              <a:rPr lang="en-US" sz="2100" b="1" dirty="0"/>
              <a:t>Risk involved in the business (much to little)</a:t>
            </a:r>
          </a:p>
          <a:p>
            <a:pPr marL="342900" indent="-342900" algn="just">
              <a:lnSpc>
                <a:spcPct val="150000"/>
              </a:lnSpc>
              <a:buFont typeface="Arial" panose="020B0604020202020204" pitchFamily="34" charset="0"/>
              <a:buChar char="•"/>
            </a:pPr>
            <a:r>
              <a:rPr lang="en-US" sz="2100" b="1" dirty="0"/>
              <a:t>Inventory turnover (slow to fast)</a:t>
            </a:r>
          </a:p>
          <a:p>
            <a:pPr marL="342900" indent="-342900" algn="just">
              <a:lnSpc>
                <a:spcPct val="150000"/>
              </a:lnSpc>
              <a:buFont typeface="Arial" panose="020B0604020202020204" pitchFamily="34" charset="0"/>
              <a:buChar char="•"/>
            </a:pPr>
            <a:r>
              <a:rPr lang="en-US" sz="2100" b="1" dirty="0"/>
              <a:t>Use of economies of scale and experience (low to high)</a:t>
            </a:r>
          </a:p>
        </p:txBody>
      </p:sp>
    </p:spTree>
    <p:extLst>
      <p:ext uri="{BB962C8B-B14F-4D97-AF65-F5344CB8AC3E}">
        <p14:creationId xmlns:p14="http://schemas.microsoft.com/office/powerpoint/2010/main" val="18475022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85800" y="685800"/>
            <a:ext cx="7848600" cy="4878259"/>
          </a:xfrm>
          <a:prstGeom prst="rect">
            <a:avLst/>
          </a:prstGeom>
        </p:spPr>
        <p:txBody>
          <a:bodyPr wrap="square">
            <a:spAutoFit/>
          </a:bodyPr>
          <a:lstStyle/>
          <a:p>
            <a:r>
              <a:rPr lang="en-US" sz="2200" b="1" dirty="0">
                <a:solidFill>
                  <a:srgbClr val="C00000"/>
                </a:solidFill>
              </a:rPr>
              <a:t>T</a:t>
            </a:r>
            <a:r>
              <a:rPr lang="en-US" sz="2200" b="1" dirty="0" smtClean="0">
                <a:solidFill>
                  <a:srgbClr val="C00000"/>
                </a:solidFill>
              </a:rPr>
              <a:t>he </a:t>
            </a:r>
            <a:r>
              <a:rPr lang="en-US" sz="2200" b="1" dirty="0">
                <a:solidFill>
                  <a:srgbClr val="C00000"/>
                </a:solidFill>
              </a:rPr>
              <a:t>following items should be considered when assessing </a:t>
            </a:r>
            <a:r>
              <a:rPr lang="en-US" sz="2200" b="1" u="sng" dirty="0">
                <a:solidFill>
                  <a:srgbClr val="C00000"/>
                </a:solidFill>
              </a:rPr>
              <a:t>Competitive Advantage</a:t>
            </a:r>
            <a:r>
              <a:rPr lang="en-US" sz="2200" b="1" dirty="0">
                <a:solidFill>
                  <a:srgbClr val="C00000"/>
                </a:solidFill>
              </a:rPr>
              <a:t>:</a:t>
            </a:r>
          </a:p>
          <a:p>
            <a:pPr marL="342900" indent="-342900">
              <a:lnSpc>
                <a:spcPct val="150000"/>
              </a:lnSpc>
              <a:buFont typeface="Arial" panose="020B0604020202020204" pitchFamily="34" charset="0"/>
              <a:buChar char="•"/>
            </a:pPr>
            <a:r>
              <a:rPr lang="en-US" sz="2200" b="1" dirty="0"/>
              <a:t>Market share (small to large</a:t>
            </a:r>
            <a:r>
              <a:rPr lang="en-US" sz="2200" b="1" dirty="0" smtClean="0"/>
              <a:t>)</a:t>
            </a:r>
            <a:endParaRPr lang="en-US" sz="2200" b="1" dirty="0"/>
          </a:p>
          <a:p>
            <a:pPr marL="342900" indent="-342900">
              <a:lnSpc>
                <a:spcPct val="150000"/>
              </a:lnSpc>
              <a:buFont typeface="Arial" panose="020B0604020202020204" pitchFamily="34" charset="0"/>
              <a:buChar char="•"/>
            </a:pPr>
            <a:r>
              <a:rPr lang="en-US" sz="2200" b="1" dirty="0"/>
              <a:t>Product quality (inferior to superior</a:t>
            </a:r>
            <a:r>
              <a:rPr lang="en-US" sz="2200" b="1" dirty="0" smtClean="0"/>
              <a:t>)</a:t>
            </a:r>
            <a:endParaRPr lang="en-US" sz="2200" b="1" dirty="0"/>
          </a:p>
          <a:p>
            <a:pPr marL="342900" indent="-342900">
              <a:lnSpc>
                <a:spcPct val="150000"/>
              </a:lnSpc>
              <a:buFont typeface="Arial" panose="020B0604020202020204" pitchFamily="34" charset="0"/>
              <a:buChar char="•"/>
            </a:pPr>
            <a:r>
              <a:rPr lang="en-US" sz="2200" b="1" dirty="0"/>
              <a:t>Product life cycle (late to early</a:t>
            </a:r>
            <a:r>
              <a:rPr lang="en-US" sz="2200" b="1" dirty="0" smtClean="0"/>
              <a:t>)</a:t>
            </a:r>
            <a:endParaRPr lang="en-US" sz="2200" b="1" dirty="0"/>
          </a:p>
          <a:p>
            <a:pPr marL="342900" indent="-342900">
              <a:lnSpc>
                <a:spcPct val="150000"/>
              </a:lnSpc>
              <a:buFont typeface="Arial" panose="020B0604020202020204" pitchFamily="34" charset="0"/>
              <a:buChar char="•"/>
            </a:pPr>
            <a:r>
              <a:rPr lang="en-US" sz="2200" b="1" dirty="0"/>
              <a:t>Product replacement cycle (variable to fixed</a:t>
            </a:r>
            <a:r>
              <a:rPr lang="en-US" sz="2200" b="1" dirty="0" smtClean="0"/>
              <a:t>)</a:t>
            </a:r>
            <a:endParaRPr lang="en-US" sz="2200" b="1" dirty="0"/>
          </a:p>
          <a:p>
            <a:pPr marL="342900" indent="-342900">
              <a:lnSpc>
                <a:spcPct val="150000"/>
              </a:lnSpc>
              <a:buFont typeface="Arial" panose="020B0604020202020204" pitchFamily="34" charset="0"/>
              <a:buChar char="•"/>
            </a:pPr>
            <a:r>
              <a:rPr lang="en-US" sz="2200" b="1" dirty="0"/>
              <a:t>Customer loyalty (low to high</a:t>
            </a:r>
            <a:r>
              <a:rPr lang="en-US" sz="2200" b="1" dirty="0" smtClean="0"/>
              <a:t>)</a:t>
            </a:r>
            <a:endParaRPr lang="en-US" sz="2200" b="1" dirty="0"/>
          </a:p>
          <a:p>
            <a:pPr marL="342900" indent="-342900">
              <a:lnSpc>
                <a:spcPct val="150000"/>
              </a:lnSpc>
              <a:buFont typeface="Arial" panose="020B0604020202020204" pitchFamily="34" charset="0"/>
              <a:buChar char="•"/>
            </a:pPr>
            <a:r>
              <a:rPr lang="en-US" sz="2200" b="1" dirty="0"/>
              <a:t>Competition’s capacity </a:t>
            </a:r>
            <a:r>
              <a:rPr lang="en-US" sz="2200" b="1" dirty="0" smtClean="0"/>
              <a:t>utilization </a:t>
            </a:r>
            <a:r>
              <a:rPr lang="en-US" sz="2200" b="1" dirty="0"/>
              <a:t>(low to high</a:t>
            </a:r>
            <a:r>
              <a:rPr lang="en-US" sz="2200" b="1" dirty="0" smtClean="0"/>
              <a:t>)</a:t>
            </a:r>
            <a:endParaRPr lang="en-US" sz="2200" b="1" dirty="0"/>
          </a:p>
          <a:p>
            <a:pPr marL="342900" indent="-342900">
              <a:lnSpc>
                <a:spcPct val="150000"/>
              </a:lnSpc>
              <a:buFont typeface="Arial" panose="020B0604020202020204" pitchFamily="34" charset="0"/>
              <a:buChar char="•"/>
            </a:pPr>
            <a:r>
              <a:rPr lang="en-US" sz="2200" b="1" dirty="0"/>
              <a:t>Technological know-how (low to high</a:t>
            </a:r>
            <a:r>
              <a:rPr lang="en-US" sz="2200" b="1" dirty="0" smtClean="0"/>
              <a:t>)</a:t>
            </a:r>
            <a:endParaRPr lang="en-US" sz="2200" b="1" dirty="0"/>
          </a:p>
          <a:p>
            <a:pPr marL="342900" indent="-342900">
              <a:lnSpc>
                <a:spcPct val="150000"/>
              </a:lnSpc>
              <a:buFont typeface="Arial" panose="020B0604020202020204" pitchFamily="34" charset="0"/>
              <a:buChar char="•"/>
            </a:pPr>
            <a:r>
              <a:rPr lang="en-US" sz="2200" b="1" dirty="0"/>
              <a:t>Speed of new product introductions (slow to fast</a:t>
            </a:r>
            <a:r>
              <a:rPr lang="en-US" sz="2400" b="1" dirty="0"/>
              <a:t>)</a:t>
            </a:r>
          </a:p>
        </p:txBody>
      </p:sp>
    </p:spTree>
    <p:extLst>
      <p:ext uri="{BB962C8B-B14F-4D97-AF65-F5344CB8AC3E}">
        <p14:creationId xmlns:p14="http://schemas.microsoft.com/office/powerpoint/2010/main" val="36106074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85800" y="685800"/>
            <a:ext cx="7848600" cy="5816977"/>
          </a:xfrm>
          <a:prstGeom prst="rect">
            <a:avLst/>
          </a:prstGeom>
        </p:spPr>
        <p:txBody>
          <a:bodyPr wrap="square">
            <a:spAutoFit/>
          </a:bodyPr>
          <a:lstStyle/>
          <a:p>
            <a:r>
              <a:rPr lang="en-US" sz="2300" b="1" dirty="0" smtClean="0">
                <a:solidFill>
                  <a:srgbClr val="C00000"/>
                </a:solidFill>
              </a:rPr>
              <a:t>The </a:t>
            </a:r>
            <a:r>
              <a:rPr lang="en-US" sz="2300" b="1" dirty="0">
                <a:solidFill>
                  <a:srgbClr val="C00000"/>
                </a:solidFill>
              </a:rPr>
              <a:t>following items should be considered when assessing </a:t>
            </a:r>
            <a:r>
              <a:rPr lang="en-US" sz="2300" b="1" u="sng" dirty="0">
                <a:solidFill>
                  <a:srgbClr val="C00000"/>
                </a:solidFill>
              </a:rPr>
              <a:t>Industry Attractiveness </a:t>
            </a:r>
            <a:r>
              <a:rPr lang="en-US" sz="2300" b="1" dirty="0" smtClean="0">
                <a:solidFill>
                  <a:srgbClr val="C00000"/>
                </a:solidFill>
              </a:rPr>
              <a:t>:</a:t>
            </a:r>
          </a:p>
          <a:p>
            <a:endParaRPr lang="en-US" sz="2300" b="1" dirty="0"/>
          </a:p>
          <a:p>
            <a:pPr marL="342900" indent="-342900" algn="just">
              <a:lnSpc>
                <a:spcPct val="150000"/>
              </a:lnSpc>
              <a:buFont typeface="Arial" panose="020B0604020202020204" pitchFamily="34" charset="0"/>
              <a:buChar char="•"/>
            </a:pPr>
            <a:r>
              <a:rPr lang="en-US" sz="2300" b="1" dirty="0"/>
              <a:t>Growth potential (low to high</a:t>
            </a:r>
            <a:r>
              <a:rPr lang="en-US" sz="2300" b="1" dirty="0" smtClean="0"/>
              <a:t>)</a:t>
            </a:r>
            <a:endParaRPr lang="en-US" sz="2300" b="1" dirty="0"/>
          </a:p>
          <a:p>
            <a:pPr marL="342900" indent="-342900" algn="just">
              <a:lnSpc>
                <a:spcPct val="150000"/>
              </a:lnSpc>
              <a:buFont typeface="Arial" panose="020B0604020202020204" pitchFamily="34" charset="0"/>
              <a:buChar char="•"/>
            </a:pPr>
            <a:r>
              <a:rPr lang="en-US" sz="2300" b="1" dirty="0"/>
              <a:t>Profit potential (low to high</a:t>
            </a:r>
            <a:r>
              <a:rPr lang="en-US" sz="2300" b="1" dirty="0" smtClean="0"/>
              <a:t>)</a:t>
            </a:r>
            <a:endParaRPr lang="en-US" sz="2300" b="1" dirty="0"/>
          </a:p>
          <a:p>
            <a:pPr marL="342900" indent="-342900" algn="just">
              <a:lnSpc>
                <a:spcPct val="150000"/>
              </a:lnSpc>
              <a:buFont typeface="Arial" panose="020B0604020202020204" pitchFamily="34" charset="0"/>
              <a:buChar char="•"/>
            </a:pPr>
            <a:r>
              <a:rPr lang="en-US" sz="2300" b="1" dirty="0"/>
              <a:t>Financial stability (low to high</a:t>
            </a:r>
            <a:r>
              <a:rPr lang="en-US" sz="2300" b="1" dirty="0" smtClean="0"/>
              <a:t>)</a:t>
            </a:r>
            <a:endParaRPr lang="en-US" sz="2300" b="1" dirty="0"/>
          </a:p>
          <a:p>
            <a:pPr marL="342900" indent="-342900" algn="just">
              <a:lnSpc>
                <a:spcPct val="150000"/>
              </a:lnSpc>
              <a:buFont typeface="Arial" panose="020B0604020202020204" pitchFamily="34" charset="0"/>
              <a:buChar char="•"/>
            </a:pPr>
            <a:r>
              <a:rPr lang="en-US" sz="2300" b="1" dirty="0"/>
              <a:t>Technological know-how (simple to complex</a:t>
            </a:r>
            <a:r>
              <a:rPr lang="en-US" sz="2300" b="1" dirty="0" smtClean="0"/>
              <a:t>)</a:t>
            </a:r>
            <a:endParaRPr lang="en-US" sz="2300" b="1" dirty="0"/>
          </a:p>
          <a:p>
            <a:pPr marL="342900" indent="-342900" algn="just">
              <a:lnSpc>
                <a:spcPct val="150000"/>
              </a:lnSpc>
              <a:buFont typeface="Arial" panose="020B0604020202020204" pitchFamily="34" charset="0"/>
              <a:buChar char="•"/>
            </a:pPr>
            <a:r>
              <a:rPr lang="en-US" sz="2300" b="1" dirty="0"/>
              <a:t>Resource </a:t>
            </a:r>
            <a:r>
              <a:rPr lang="en-US" sz="2300" b="1" dirty="0" smtClean="0"/>
              <a:t>utilization </a:t>
            </a:r>
            <a:r>
              <a:rPr lang="en-US" sz="2300" b="1" dirty="0"/>
              <a:t>(inefficient to efficient</a:t>
            </a:r>
            <a:r>
              <a:rPr lang="en-US" sz="2300" b="1" dirty="0" smtClean="0"/>
              <a:t>)</a:t>
            </a:r>
            <a:endParaRPr lang="en-US" sz="2300" b="1" dirty="0"/>
          </a:p>
          <a:p>
            <a:pPr marL="342900" indent="-342900" algn="just">
              <a:lnSpc>
                <a:spcPct val="150000"/>
              </a:lnSpc>
              <a:buFont typeface="Arial" panose="020B0604020202020204" pitchFamily="34" charset="0"/>
              <a:buChar char="•"/>
            </a:pPr>
            <a:r>
              <a:rPr lang="en-US" sz="2300" b="1" dirty="0"/>
              <a:t>Capital intensity (low to high</a:t>
            </a:r>
            <a:r>
              <a:rPr lang="en-US" sz="2300" b="1" dirty="0" smtClean="0"/>
              <a:t>)</a:t>
            </a:r>
            <a:endParaRPr lang="en-US" sz="2300" b="1" dirty="0"/>
          </a:p>
          <a:p>
            <a:pPr marL="342900" indent="-342900" algn="just">
              <a:lnSpc>
                <a:spcPct val="150000"/>
              </a:lnSpc>
              <a:buFont typeface="Arial" panose="020B0604020202020204" pitchFamily="34" charset="0"/>
              <a:buChar char="•"/>
            </a:pPr>
            <a:r>
              <a:rPr lang="en-US" sz="2300" b="1" dirty="0"/>
              <a:t>Ease of entry into the market (easy to difficult</a:t>
            </a:r>
            <a:r>
              <a:rPr lang="en-US" sz="2300" b="1" dirty="0" smtClean="0"/>
              <a:t>)</a:t>
            </a:r>
            <a:endParaRPr lang="en-US" sz="2300" b="1" dirty="0"/>
          </a:p>
          <a:p>
            <a:pPr marL="342900" indent="-342900" algn="just">
              <a:lnSpc>
                <a:spcPct val="150000"/>
              </a:lnSpc>
              <a:buFont typeface="Arial" panose="020B0604020202020204" pitchFamily="34" charset="0"/>
              <a:buChar char="•"/>
            </a:pPr>
            <a:r>
              <a:rPr lang="en-US" sz="2300" b="1" dirty="0"/>
              <a:t>Productivity; capacity </a:t>
            </a:r>
            <a:r>
              <a:rPr lang="en-US" sz="2300" b="1" dirty="0" err="1"/>
              <a:t>utilisation</a:t>
            </a:r>
            <a:r>
              <a:rPr lang="en-US" sz="2300" b="1" dirty="0"/>
              <a:t> (low to high)</a:t>
            </a:r>
          </a:p>
          <a:p>
            <a:pPr marL="285750" indent="-285750" algn="just">
              <a:lnSpc>
                <a:spcPct val="150000"/>
              </a:lnSpc>
              <a:buFont typeface="Arial" panose="020B0604020202020204" pitchFamily="34" charset="0"/>
              <a:buChar char="•"/>
            </a:pPr>
            <a:endParaRPr lang="ar-EG" b="1" dirty="0">
              <a:solidFill>
                <a:srgbClr val="000000"/>
              </a:solidFill>
              <a:latin typeface="Arial"/>
            </a:endParaRPr>
          </a:p>
        </p:txBody>
      </p:sp>
    </p:spTree>
    <p:extLst>
      <p:ext uri="{BB962C8B-B14F-4D97-AF65-F5344CB8AC3E}">
        <p14:creationId xmlns:p14="http://schemas.microsoft.com/office/powerpoint/2010/main" val="41648389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85800" y="685800"/>
            <a:ext cx="7848600" cy="5678478"/>
          </a:xfrm>
          <a:prstGeom prst="rect">
            <a:avLst/>
          </a:prstGeom>
        </p:spPr>
        <p:txBody>
          <a:bodyPr wrap="square">
            <a:spAutoFit/>
          </a:bodyPr>
          <a:lstStyle/>
          <a:p>
            <a:pPr algn="just"/>
            <a:r>
              <a:rPr lang="en-US" sz="2400" b="1" dirty="0" smtClean="0">
                <a:solidFill>
                  <a:srgbClr val="C00000"/>
                </a:solidFill>
              </a:rPr>
              <a:t>The </a:t>
            </a:r>
            <a:r>
              <a:rPr lang="en-US" sz="2400" b="1" dirty="0">
                <a:solidFill>
                  <a:srgbClr val="C00000"/>
                </a:solidFill>
              </a:rPr>
              <a:t>following items should be considered when assessing </a:t>
            </a:r>
            <a:r>
              <a:rPr lang="en-US" sz="2400" b="1" u="sng" dirty="0">
                <a:solidFill>
                  <a:srgbClr val="C00000"/>
                </a:solidFill>
              </a:rPr>
              <a:t>Environmental Stability</a:t>
            </a:r>
            <a:r>
              <a:rPr lang="en-US" sz="2400" b="1" dirty="0" smtClean="0">
                <a:solidFill>
                  <a:srgbClr val="C00000"/>
                </a:solidFill>
              </a:rPr>
              <a:t>:</a:t>
            </a:r>
          </a:p>
          <a:p>
            <a:pPr algn="just">
              <a:lnSpc>
                <a:spcPct val="150000"/>
              </a:lnSpc>
            </a:pPr>
            <a:endParaRPr lang="en-US" sz="2400" b="1" dirty="0" smtClean="0">
              <a:solidFill>
                <a:srgbClr val="C00000"/>
              </a:solidFill>
            </a:endParaRPr>
          </a:p>
          <a:p>
            <a:pPr marL="342900" indent="-342900">
              <a:lnSpc>
                <a:spcPct val="150000"/>
              </a:lnSpc>
              <a:buFont typeface="Arial" panose="020B0604020202020204" pitchFamily="34" charset="0"/>
              <a:buChar char="•"/>
            </a:pPr>
            <a:r>
              <a:rPr lang="en-US" sz="2400" b="1" dirty="0" smtClean="0"/>
              <a:t>Technological changes</a:t>
            </a:r>
          </a:p>
          <a:p>
            <a:pPr marL="342900" indent="-342900">
              <a:lnSpc>
                <a:spcPct val="150000"/>
              </a:lnSpc>
              <a:buFont typeface="Arial" panose="020B0604020202020204" pitchFamily="34" charset="0"/>
              <a:buChar char="•"/>
            </a:pPr>
            <a:r>
              <a:rPr lang="en-US" sz="2400" b="1" dirty="0" smtClean="0"/>
              <a:t>Rate </a:t>
            </a:r>
            <a:r>
              <a:rPr lang="en-US" sz="2400" b="1" dirty="0"/>
              <a:t>of </a:t>
            </a:r>
            <a:r>
              <a:rPr lang="en-US" sz="2400" b="1" dirty="0" smtClean="0"/>
              <a:t>inflation</a:t>
            </a:r>
          </a:p>
          <a:p>
            <a:pPr marL="342900" indent="-342900">
              <a:lnSpc>
                <a:spcPct val="150000"/>
              </a:lnSpc>
              <a:buFont typeface="Arial" panose="020B0604020202020204" pitchFamily="34" charset="0"/>
              <a:buChar char="•"/>
            </a:pPr>
            <a:r>
              <a:rPr lang="en-US" sz="2400" b="1" dirty="0" smtClean="0"/>
              <a:t>Demand variability</a:t>
            </a:r>
          </a:p>
          <a:p>
            <a:pPr marL="342900" indent="-342900">
              <a:lnSpc>
                <a:spcPct val="150000"/>
              </a:lnSpc>
              <a:buFont typeface="Arial" panose="020B0604020202020204" pitchFamily="34" charset="0"/>
              <a:buChar char="•"/>
            </a:pPr>
            <a:r>
              <a:rPr lang="en-US" sz="2400" b="1" dirty="0" smtClean="0"/>
              <a:t>Price </a:t>
            </a:r>
            <a:r>
              <a:rPr lang="en-US" sz="2400" b="1" dirty="0"/>
              <a:t>range of competing </a:t>
            </a:r>
            <a:r>
              <a:rPr lang="en-US" sz="2400" b="1" dirty="0" smtClean="0"/>
              <a:t>products</a:t>
            </a:r>
            <a:endParaRPr lang="en-US" sz="2400" b="1" dirty="0"/>
          </a:p>
          <a:p>
            <a:pPr marL="342900" indent="-342900">
              <a:lnSpc>
                <a:spcPct val="150000"/>
              </a:lnSpc>
              <a:buFont typeface="Arial" panose="020B0604020202020204" pitchFamily="34" charset="0"/>
              <a:buChar char="•"/>
            </a:pPr>
            <a:r>
              <a:rPr lang="en-US" sz="2400" b="1" dirty="0" smtClean="0"/>
              <a:t>Barriers to entry into market</a:t>
            </a:r>
          </a:p>
          <a:p>
            <a:pPr marL="342900" indent="-342900">
              <a:lnSpc>
                <a:spcPct val="150000"/>
              </a:lnSpc>
              <a:buFont typeface="Arial" panose="020B0604020202020204" pitchFamily="34" charset="0"/>
              <a:buChar char="•"/>
            </a:pPr>
            <a:r>
              <a:rPr lang="en-US" sz="2400" b="1" dirty="0" smtClean="0"/>
              <a:t>Competitive barriers</a:t>
            </a:r>
            <a:endParaRPr lang="en-US" sz="2400" b="1" dirty="0"/>
          </a:p>
          <a:p>
            <a:pPr marL="342900" indent="-342900">
              <a:lnSpc>
                <a:spcPct val="150000"/>
              </a:lnSpc>
              <a:buFont typeface="Arial" panose="020B0604020202020204" pitchFamily="34" charset="0"/>
              <a:buChar char="•"/>
            </a:pPr>
            <a:r>
              <a:rPr lang="en-US" sz="2400" b="1" dirty="0"/>
              <a:t>Price elasticity of demand</a:t>
            </a:r>
          </a:p>
          <a:p>
            <a:pPr marL="285750" indent="-285750" algn="just">
              <a:lnSpc>
                <a:spcPct val="150000"/>
              </a:lnSpc>
              <a:buFont typeface="Arial" panose="020B0604020202020204" pitchFamily="34" charset="0"/>
              <a:buChar char="•"/>
            </a:pPr>
            <a:endParaRPr lang="ar-EG" b="1" dirty="0">
              <a:solidFill>
                <a:srgbClr val="000000"/>
              </a:solidFill>
              <a:latin typeface="Arial"/>
            </a:endParaRPr>
          </a:p>
        </p:txBody>
      </p:sp>
    </p:spTree>
    <p:extLst>
      <p:ext uri="{BB962C8B-B14F-4D97-AF65-F5344CB8AC3E}">
        <p14:creationId xmlns:p14="http://schemas.microsoft.com/office/powerpoint/2010/main" val="30906713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85800" y="914400"/>
            <a:ext cx="7848600" cy="4216539"/>
          </a:xfrm>
          <a:prstGeom prst="rect">
            <a:avLst/>
          </a:prstGeom>
        </p:spPr>
        <p:txBody>
          <a:bodyPr wrap="square">
            <a:spAutoFit/>
          </a:bodyPr>
          <a:lstStyle/>
          <a:p>
            <a:r>
              <a:rPr lang="en-US" sz="3600" dirty="0">
                <a:solidFill>
                  <a:srgbClr val="FF0000"/>
                </a:solidFill>
                <a:latin typeface="Arial"/>
              </a:rPr>
              <a:t>Steps to Develop a SPACE </a:t>
            </a:r>
            <a:r>
              <a:rPr lang="en-US" sz="3600" dirty="0" smtClean="0">
                <a:solidFill>
                  <a:srgbClr val="FF0000"/>
                </a:solidFill>
                <a:latin typeface="Arial"/>
              </a:rPr>
              <a:t>Matrix</a:t>
            </a:r>
          </a:p>
          <a:p>
            <a:endParaRPr lang="en-US" sz="3600" dirty="0">
              <a:solidFill>
                <a:srgbClr val="FF0000"/>
              </a:solidFill>
              <a:latin typeface="Arial"/>
            </a:endParaRPr>
          </a:p>
          <a:p>
            <a:pPr algn="just"/>
            <a:r>
              <a:rPr lang="en-US" sz="2400" dirty="0">
                <a:solidFill>
                  <a:srgbClr val="000000"/>
                </a:solidFill>
                <a:latin typeface="Arial"/>
              </a:rPr>
              <a:t>2</a:t>
            </a:r>
            <a:r>
              <a:rPr lang="en-US" sz="2400" dirty="0" smtClean="0">
                <a:solidFill>
                  <a:srgbClr val="000000"/>
                </a:solidFill>
                <a:latin typeface="Arial"/>
              </a:rPr>
              <a:t>. Assign </a:t>
            </a:r>
            <a:r>
              <a:rPr lang="en-US" sz="2400" dirty="0">
                <a:solidFill>
                  <a:srgbClr val="000000"/>
                </a:solidFill>
                <a:latin typeface="Arial"/>
              </a:rPr>
              <a:t>a numerical value ranging from +1 (worst) to +7 (best) to each of the variables that make up the FP and IP dimensions</a:t>
            </a:r>
            <a:r>
              <a:rPr lang="en-US" sz="2400" dirty="0" smtClean="0">
                <a:solidFill>
                  <a:srgbClr val="000000"/>
                </a:solidFill>
                <a:latin typeface="Arial"/>
              </a:rPr>
              <a:t>.</a:t>
            </a:r>
          </a:p>
          <a:p>
            <a:pPr algn="just"/>
            <a:r>
              <a:rPr lang="en-US" sz="2400" dirty="0" smtClean="0">
                <a:solidFill>
                  <a:srgbClr val="000000"/>
                </a:solidFill>
                <a:latin typeface="Arial"/>
              </a:rPr>
              <a:t> </a:t>
            </a:r>
          </a:p>
          <a:p>
            <a:pPr algn="just"/>
            <a:r>
              <a:rPr lang="en-US" sz="2400" dirty="0" smtClean="0">
                <a:solidFill>
                  <a:srgbClr val="000000"/>
                </a:solidFill>
                <a:latin typeface="Arial"/>
              </a:rPr>
              <a:t>3. Assign </a:t>
            </a:r>
            <a:r>
              <a:rPr lang="en-US" sz="2400" dirty="0">
                <a:solidFill>
                  <a:srgbClr val="000000"/>
                </a:solidFill>
                <a:latin typeface="Arial"/>
              </a:rPr>
              <a:t>a numerical value ranging from –1 (best) to –7 (worst) to each of the variables that make up the SP and CP </a:t>
            </a:r>
            <a:r>
              <a:rPr lang="en-US" sz="2400" dirty="0" smtClean="0">
                <a:solidFill>
                  <a:srgbClr val="000000"/>
                </a:solidFill>
                <a:latin typeface="Arial"/>
              </a:rPr>
              <a:t>dimensions.</a:t>
            </a:r>
            <a:endParaRPr lang="en-US" sz="2400" dirty="0">
              <a:solidFill>
                <a:srgbClr val="000000"/>
              </a:solidFill>
              <a:latin typeface="Arial"/>
            </a:endParaRPr>
          </a:p>
          <a:p>
            <a:endParaRPr lang="ar-EG" dirty="0">
              <a:solidFill>
                <a:srgbClr val="000000"/>
              </a:solidFill>
              <a:latin typeface="Arial"/>
            </a:endParaRPr>
          </a:p>
        </p:txBody>
      </p:sp>
    </p:spTree>
    <p:extLst>
      <p:ext uri="{BB962C8B-B14F-4D97-AF65-F5344CB8AC3E}">
        <p14:creationId xmlns:p14="http://schemas.microsoft.com/office/powerpoint/2010/main" val="208828704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85800"/>
            <a:ext cx="8077200" cy="1143000"/>
          </a:xfrm>
        </p:spPr>
        <p:txBody>
          <a:bodyPr>
            <a:normAutofit fontScale="90000"/>
          </a:bodyPr>
          <a:lstStyle/>
          <a:p>
            <a:r>
              <a:rPr lang="en-US" b="1" dirty="0"/>
              <a:t>Steps to Develop a SPACE Matrix</a:t>
            </a:r>
            <a:br>
              <a:rPr lang="en-US" b="1" dirty="0"/>
            </a:br>
            <a:endParaRPr lang="ar-EG" b="1" dirty="0"/>
          </a:p>
        </p:txBody>
      </p:sp>
      <p:sp>
        <p:nvSpPr>
          <p:cNvPr id="3" name="Content Placeholder 2"/>
          <p:cNvSpPr>
            <a:spLocks noGrp="1"/>
          </p:cNvSpPr>
          <p:nvPr>
            <p:ph idx="1"/>
          </p:nvPr>
        </p:nvSpPr>
        <p:spPr>
          <a:xfrm>
            <a:off x="609600" y="1447800"/>
            <a:ext cx="7848600" cy="4953000"/>
          </a:xfrm>
        </p:spPr>
        <p:txBody>
          <a:bodyPr>
            <a:normAutofit lnSpcReduction="10000"/>
          </a:bodyPr>
          <a:lstStyle/>
          <a:p>
            <a:pPr algn="just" rtl="0"/>
            <a:r>
              <a:rPr lang="en-US" sz="2800" dirty="0" smtClean="0"/>
              <a:t>3. Compute </a:t>
            </a:r>
            <a:r>
              <a:rPr lang="en-US" sz="2800" dirty="0"/>
              <a:t>an average score for FP, CP, IP, and </a:t>
            </a:r>
            <a:r>
              <a:rPr lang="en-US" sz="2800" dirty="0" smtClean="0"/>
              <a:t>SP. (</a:t>
            </a:r>
            <a:r>
              <a:rPr lang="en-US" sz="2800" b="1" i="1" dirty="0" smtClean="0"/>
              <a:t>Total numerical values divided by the number of chosen elements of each dimension</a:t>
            </a:r>
            <a:r>
              <a:rPr lang="en-US" sz="2800" dirty="0" smtClean="0"/>
              <a:t>).</a:t>
            </a:r>
            <a:endParaRPr lang="en-US" sz="2800" dirty="0"/>
          </a:p>
          <a:p>
            <a:pPr algn="just" rtl="0"/>
            <a:r>
              <a:rPr lang="en-US" sz="2800" dirty="0"/>
              <a:t>4</a:t>
            </a:r>
            <a:r>
              <a:rPr lang="en-US" sz="2800" dirty="0" smtClean="0"/>
              <a:t>. Plot </a:t>
            </a:r>
            <a:r>
              <a:rPr lang="en-US" sz="2800" dirty="0"/>
              <a:t>the average scores for FP, IP, SP, and CP on the appropriate axis in the SPACE </a:t>
            </a:r>
            <a:r>
              <a:rPr lang="en-US" sz="2800" dirty="0" smtClean="0"/>
              <a:t>Matrix.</a:t>
            </a:r>
            <a:endParaRPr lang="en-US" sz="2800" dirty="0"/>
          </a:p>
          <a:p>
            <a:pPr algn="just" rtl="0"/>
            <a:r>
              <a:rPr lang="en-US" sz="2800" dirty="0"/>
              <a:t>5</a:t>
            </a:r>
            <a:r>
              <a:rPr lang="en-US" sz="2800" dirty="0" smtClean="0"/>
              <a:t>. Add </a:t>
            </a:r>
            <a:r>
              <a:rPr lang="en-US" sz="2800" dirty="0"/>
              <a:t>the two scores on the </a:t>
            </a:r>
            <a:r>
              <a:rPr lang="en-US" sz="2800" i="1" dirty="0"/>
              <a:t>x</a:t>
            </a:r>
            <a:r>
              <a:rPr lang="en-US" sz="2800" dirty="0"/>
              <a:t>-axis and plot the resultant point on </a:t>
            </a:r>
            <a:r>
              <a:rPr lang="en-US" sz="2800" i="1" dirty="0"/>
              <a:t>X. </a:t>
            </a:r>
            <a:r>
              <a:rPr lang="en-US" sz="2800" dirty="0"/>
              <a:t>Add the two scores on the </a:t>
            </a:r>
            <a:r>
              <a:rPr lang="en-US" sz="2800" i="1" dirty="0"/>
              <a:t>y</a:t>
            </a:r>
            <a:r>
              <a:rPr lang="en-US" sz="2800" dirty="0"/>
              <a:t>-axis and plot the resultant point on </a:t>
            </a:r>
            <a:r>
              <a:rPr lang="en-US" sz="2800" i="1" dirty="0"/>
              <a:t>Y. </a:t>
            </a:r>
            <a:r>
              <a:rPr lang="en-US" sz="2800" dirty="0"/>
              <a:t>Plot the intersection of the new </a:t>
            </a:r>
            <a:r>
              <a:rPr lang="en-US" sz="2800" i="1" dirty="0" err="1"/>
              <a:t>xy</a:t>
            </a:r>
            <a:r>
              <a:rPr lang="en-US" sz="2800" i="1" dirty="0"/>
              <a:t> </a:t>
            </a:r>
            <a:r>
              <a:rPr lang="en-US" sz="2800" dirty="0" smtClean="0"/>
              <a:t>point.</a:t>
            </a:r>
            <a:endParaRPr lang="en-US" sz="2800" dirty="0"/>
          </a:p>
          <a:p>
            <a:pPr algn="l"/>
            <a:endParaRPr lang="ar-EG" dirty="0"/>
          </a:p>
        </p:txBody>
      </p:sp>
    </p:spTree>
    <p:extLst>
      <p:ext uri="{BB962C8B-B14F-4D97-AF65-F5344CB8AC3E}">
        <p14:creationId xmlns:p14="http://schemas.microsoft.com/office/powerpoint/2010/main" val="173564051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838200"/>
            <a:ext cx="8229600" cy="5486400"/>
          </a:xfrm>
        </p:spPr>
        <p:txBody>
          <a:bodyPr>
            <a:normAutofit/>
          </a:bodyPr>
          <a:lstStyle/>
          <a:p>
            <a:pPr marL="68580" indent="0" algn="just" rtl="0">
              <a:buNone/>
            </a:pPr>
            <a:r>
              <a:rPr lang="en-US" sz="2600" b="1" dirty="0" smtClean="0">
                <a:solidFill>
                  <a:schemeClr val="accent3">
                    <a:lumMod val="75000"/>
                  </a:schemeClr>
                </a:solidFill>
              </a:rPr>
              <a:t>Stage </a:t>
            </a:r>
            <a:r>
              <a:rPr lang="en-US" sz="2600" b="1" dirty="0">
                <a:solidFill>
                  <a:schemeClr val="accent3">
                    <a:lumMod val="75000"/>
                  </a:schemeClr>
                </a:solidFill>
              </a:rPr>
              <a:t>2: The Matching </a:t>
            </a:r>
            <a:r>
              <a:rPr lang="en-US" sz="2600" b="1" dirty="0" smtClean="0">
                <a:solidFill>
                  <a:schemeClr val="accent3">
                    <a:lumMod val="75000"/>
                  </a:schemeClr>
                </a:solidFill>
              </a:rPr>
              <a:t>Stage </a:t>
            </a:r>
            <a:endParaRPr lang="en-US" sz="2600" dirty="0" smtClean="0"/>
          </a:p>
          <a:p>
            <a:pPr marL="68580" indent="0" algn="just" rtl="0">
              <a:buNone/>
            </a:pPr>
            <a:r>
              <a:rPr lang="fr-FR" b="1" dirty="0" err="1" smtClean="0"/>
              <a:t>SPACE</a:t>
            </a:r>
            <a:r>
              <a:rPr lang="fr-FR" b="1" dirty="0" smtClean="0"/>
              <a:t> Matrix….</a:t>
            </a:r>
            <a:r>
              <a:rPr lang="fr-FR" b="1" dirty="0" err="1" smtClean="0"/>
              <a:t>Matching</a:t>
            </a:r>
            <a:r>
              <a:rPr lang="fr-FR" b="1" dirty="0" smtClean="0"/>
              <a:t> </a:t>
            </a:r>
            <a:r>
              <a:rPr lang="fr-FR" b="1" dirty="0" err="1" smtClean="0"/>
              <a:t>tool</a:t>
            </a:r>
            <a:endParaRPr lang="ar-EG" sz="2800" dirty="0"/>
          </a:p>
          <a:p>
            <a:pPr marL="68580" indent="0" algn="just" rtl="0">
              <a:buNone/>
            </a:pPr>
            <a:endParaRPr lang="fr-FR" b="1" dirty="0"/>
          </a:p>
          <a:p>
            <a:pPr marL="68580" indent="0" algn="l" rtl="0">
              <a:buNone/>
            </a:pPr>
            <a:r>
              <a:rPr lang="fr-FR" sz="2600" b="1" dirty="0"/>
              <a:t>Strategic Position &amp; Action </a:t>
            </a:r>
            <a:r>
              <a:rPr lang="fr-FR" sz="2600" b="1" dirty="0" err="1"/>
              <a:t>Evaluation</a:t>
            </a:r>
            <a:r>
              <a:rPr lang="fr-FR" sz="2600" b="1" dirty="0"/>
              <a:t> Matrix</a:t>
            </a:r>
            <a:endParaRPr lang="fr-FR" sz="2600" dirty="0"/>
          </a:p>
          <a:p>
            <a:pPr algn="l" rtl="0"/>
            <a:r>
              <a:rPr lang="fr-FR" sz="3200" dirty="0" err="1" smtClean="0"/>
              <a:t>Aggressive</a:t>
            </a:r>
            <a:endParaRPr lang="fr-FR" sz="3200" dirty="0"/>
          </a:p>
          <a:p>
            <a:pPr algn="l" rtl="0"/>
            <a:r>
              <a:rPr lang="fr-FR" sz="3200" dirty="0" smtClean="0"/>
              <a:t>Conservative</a:t>
            </a:r>
            <a:endParaRPr lang="fr-FR" sz="3200" dirty="0"/>
          </a:p>
          <a:p>
            <a:pPr algn="l" rtl="0"/>
            <a:r>
              <a:rPr lang="fr-FR" sz="3200" dirty="0" err="1" smtClean="0"/>
              <a:t>Defensive</a:t>
            </a:r>
            <a:endParaRPr lang="fr-FR" sz="3200" dirty="0"/>
          </a:p>
          <a:p>
            <a:pPr algn="l" rtl="0"/>
            <a:r>
              <a:rPr lang="fr-FR" sz="3200" dirty="0" err="1" smtClean="0"/>
              <a:t>Competitive</a:t>
            </a:r>
            <a:r>
              <a:rPr lang="fr-FR" sz="3200" dirty="0" smtClean="0"/>
              <a:t> </a:t>
            </a:r>
            <a:endParaRPr lang="fr-FR" sz="3200" dirty="0"/>
          </a:p>
          <a:p>
            <a:pPr marL="68580" indent="0" algn="just" rtl="0">
              <a:buNone/>
            </a:pPr>
            <a:r>
              <a:rPr lang="en-US" sz="3000" dirty="0" smtClean="0"/>
              <a:t>.</a:t>
            </a:r>
            <a:endParaRPr lang="ar-EG" sz="3000" dirty="0"/>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spTree>
    <p:extLst>
      <p:ext uri="{BB962C8B-B14F-4D97-AF65-F5344CB8AC3E}">
        <p14:creationId xmlns:p14="http://schemas.microsoft.com/office/powerpoint/2010/main" val="5171869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38150" y="457200"/>
            <a:ext cx="8229600" cy="5486400"/>
          </a:xfrm>
        </p:spPr>
        <p:txBody>
          <a:bodyPr>
            <a:normAutofit/>
          </a:bodyPr>
          <a:lstStyle/>
          <a:p>
            <a:pPr marL="68580" indent="0" algn="just" rtl="0">
              <a:buNone/>
            </a:pPr>
            <a:r>
              <a:rPr lang="fr-FR" b="1" dirty="0" err="1" smtClean="0"/>
              <a:t>SPACE</a:t>
            </a:r>
            <a:r>
              <a:rPr lang="fr-FR" b="1" dirty="0" smtClean="0"/>
              <a:t> Matrix</a:t>
            </a:r>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 y="975360"/>
            <a:ext cx="8153400" cy="548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302031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027664"/>
            <a:ext cx="8001000" cy="1143000"/>
          </a:xfrm>
        </p:spPr>
        <p:txBody>
          <a:bodyPr>
            <a:normAutofit fontScale="90000"/>
          </a:bodyPr>
          <a:lstStyle/>
          <a:p>
            <a:r>
              <a:rPr lang="en-US" b="1" dirty="0"/>
              <a:t>Steps to Develop a SPACE Matrix</a:t>
            </a:r>
            <a:br>
              <a:rPr lang="en-US" b="1" dirty="0"/>
            </a:br>
            <a:endParaRPr lang="ar-EG" b="1" dirty="0"/>
          </a:p>
        </p:txBody>
      </p:sp>
      <p:sp>
        <p:nvSpPr>
          <p:cNvPr id="3" name="Content Placeholder 2"/>
          <p:cNvSpPr>
            <a:spLocks noGrp="1"/>
          </p:cNvSpPr>
          <p:nvPr>
            <p:ph idx="1"/>
          </p:nvPr>
        </p:nvSpPr>
        <p:spPr>
          <a:xfrm>
            <a:off x="838200" y="1828800"/>
            <a:ext cx="7543800" cy="4419600"/>
          </a:xfrm>
        </p:spPr>
        <p:txBody>
          <a:bodyPr/>
          <a:lstStyle/>
          <a:p>
            <a:pPr marL="68580" indent="0" algn="just" rtl="0">
              <a:buNone/>
            </a:pPr>
            <a:r>
              <a:rPr lang="en-US" b="1" dirty="0" smtClean="0"/>
              <a:t>6. Draw </a:t>
            </a:r>
            <a:r>
              <a:rPr lang="en-US" b="1" dirty="0"/>
              <a:t>a </a:t>
            </a:r>
            <a:r>
              <a:rPr lang="en-US" b="1" i="1" dirty="0"/>
              <a:t>directional vector </a:t>
            </a:r>
            <a:r>
              <a:rPr lang="en-US" b="1" dirty="0"/>
              <a:t>from the origin of the SPACE Matrix through the new intersection </a:t>
            </a:r>
            <a:r>
              <a:rPr lang="en-US" b="1" dirty="0" smtClean="0"/>
              <a:t>point.</a:t>
            </a:r>
            <a:endParaRPr lang="en-US" b="1" dirty="0"/>
          </a:p>
          <a:p>
            <a:pPr marL="68580" indent="0" algn="just" rtl="0">
              <a:buNone/>
            </a:pPr>
            <a:r>
              <a:rPr lang="en-US" dirty="0" smtClean="0"/>
              <a:t>This </a:t>
            </a:r>
            <a:r>
              <a:rPr lang="en-US" dirty="0"/>
              <a:t>vector reveals the type of strategies recommended for the organization: aggressive, competitive, defensive, or conservative </a:t>
            </a:r>
          </a:p>
          <a:p>
            <a:pPr algn="just" rtl="0"/>
            <a:endParaRPr lang="ar-EG" dirty="0"/>
          </a:p>
        </p:txBody>
      </p:sp>
    </p:spTree>
    <p:extLst>
      <p:ext uri="{BB962C8B-B14F-4D97-AF65-F5344CB8AC3E}">
        <p14:creationId xmlns:p14="http://schemas.microsoft.com/office/powerpoint/2010/main" val="25506168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7024744" cy="1143000"/>
          </a:xfrm>
        </p:spPr>
        <p:txBody>
          <a:bodyPr>
            <a:normAutofit/>
          </a:bodyPr>
          <a:lstStyle/>
          <a:p>
            <a:r>
              <a:rPr lang="fr-FR" sz="3000" b="1" dirty="0"/>
              <a:t>A </a:t>
            </a:r>
            <a:r>
              <a:rPr lang="fr-FR" sz="3000" b="1" dirty="0" err="1"/>
              <a:t>SPACE</a:t>
            </a:r>
            <a:r>
              <a:rPr lang="fr-FR" sz="3000" b="1" dirty="0"/>
              <a:t> Matrix for a Bank</a:t>
            </a:r>
            <a:endParaRPr lang="ar-EG" sz="3000" b="1" dirty="0"/>
          </a:p>
        </p:txBody>
      </p:sp>
      <p:sp>
        <p:nvSpPr>
          <p:cNvPr id="4" name="Content Placeholder 3"/>
          <p:cNvSpPr>
            <a:spLocks noGrp="1"/>
          </p:cNvSpPr>
          <p:nvPr>
            <p:ph idx="1"/>
          </p:nvPr>
        </p:nvSpPr>
        <p:spPr/>
        <p:txBody>
          <a:bodyPr/>
          <a:lstStyle/>
          <a:p>
            <a:endParaRPr lang="ar-EG"/>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1" y="1752600"/>
            <a:ext cx="7848600" cy="441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2855889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7024744" cy="1143000"/>
          </a:xfrm>
        </p:spPr>
        <p:txBody>
          <a:bodyPr>
            <a:normAutofit/>
          </a:bodyPr>
          <a:lstStyle/>
          <a:p>
            <a:r>
              <a:rPr lang="fr-FR" sz="3000" b="1" dirty="0"/>
              <a:t>A </a:t>
            </a:r>
            <a:r>
              <a:rPr lang="fr-FR" sz="3000" b="1" dirty="0" err="1"/>
              <a:t>SPACE</a:t>
            </a:r>
            <a:r>
              <a:rPr lang="fr-FR" sz="3000" b="1" dirty="0"/>
              <a:t> Matrix for a Bank</a:t>
            </a:r>
            <a:endParaRPr lang="ar-EG" sz="3000" b="1" dirty="0"/>
          </a:p>
        </p:txBody>
      </p:sp>
      <p:sp>
        <p:nvSpPr>
          <p:cNvPr id="4" name="Content Placeholder 3"/>
          <p:cNvSpPr>
            <a:spLocks noGrp="1"/>
          </p:cNvSpPr>
          <p:nvPr>
            <p:ph idx="1"/>
          </p:nvPr>
        </p:nvSpPr>
        <p:spPr/>
        <p:txBody>
          <a:bodyPr/>
          <a:lstStyle/>
          <a:p>
            <a:endParaRPr lang="ar-EG"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433513"/>
            <a:ext cx="7848600" cy="4814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637497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7024744" cy="1143000"/>
          </a:xfrm>
        </p:spPr>
        <p:txBody>
          <a:bodyPr>
            <a:normAutofit/>
          </a:bodyPr>
          <a:lstStyle/>
          <a:p>
            <a:r>
              <a:rPr lang="fr-FR" sz="3000" b="1" dirty="0"/>
              <a:t>A </a:t>
            </a:r>
            <a:r>
              <a:rPr lang="fr-FR" sz="3000" b="1" dirty="0" err="1"/>
              <a:t>SPACE</a:t>
            </a:r>
            <a:r>
              <a:rPr lang="fr-FR" sz="3000" b="1" dirty="0"/>
              <a:t> Matrix for a Bank</a:t>
            </a:r>
            <a:endParaRPr lang="ar-EG" sz="3000" b="1" dirty="0"/>
          </a:p>
        </p:txBody>
      </p:sp>
      <p:sp>
        <p:nvSpPr>
          <p:cNvPr id="4" name="Content Placeholder 3"/>
          <p:cNvSpPr>
            <a:spLocks noGrp="1"/>
          </p:cNvSpPr>
          <p:nvPr>
            <p:ph idx="1"/>
          </p:nvPr>
        </p:nvSpPr>
        <p:spPr/>
        <p:txBody>
          <a:bodyPr/>
          <a:lstStyle/>
          <a:p>
            <a:endParaRPr lang="ar-EG"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600200"/>
            <a:ext cx="7772399" cy="457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0068957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38150" y="457200"/>
            <a:ext cx="8229600" cy="5486400"/>
          </a:xfrm>
        </p:spPr>
        <p:txBody>
          <a:bodyPr>
            <a:normAutofit/>
          </a:bodyPr>
          <a:lstStyle/>
          <a:p>
            <a:pPr marL="68580" indent="0" algn="just" rtl="0">
              <a:buNone/>
            </a:pPr>
            <a:r>
              <a:rPr lang="fr-FR" b="1" dirty="0" err="1" smtClean="0"/>
              <a:t>SPACE</a:t>
            </a:r>
            <a:r>
              <a:rPr lang="fr-FR" b="1" dirty="0" smtClean="0"/>
              <a:t> Matrix</a:t>
            </a:r>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 y="975360"/>
            <a:ext cx="8153400" cy="548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Picture 1"/>
          <p:cNvPicPr>
            <a:picLocks noChangeAspect="1"/>
          </p:cNvPicPr>
          <p:nvPr/>
        </p:nvPicPr>
        <p:blipFill>
          <a:blip r:embed="rId3"/>
          <a:stretch>
            <a:fillRect/>
          </a:stretch>
        </p:blipFill>
        <p:spPr>
          <a:xfrm>
            <a:off x="4743000" y="4419600"/>
            <a:ext cx="335730" cy="107545"/>
          </a:xfrm>
          <a:prstGeom prst="rect">
            <a:avLst/>
          </a:prstGeom>
        </p:spPr>
      </p:pic>
    </p:spTree>
    <p:extLst>
      <p:ext uri="{BB962C8B-B14F-4D97-AF65-F5344CB8AC3E}">
        <p14:creationId xmlns:p14="http://schemas.microsoft.com/office/powerpoint/2010/main" val="1344030654"/>
      </p:ext>
    </p:extLst>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7303</TotalTime>
  <Words>685</Words>
  <Application>Microsoft Office PowerPoint</Application>
  <PresentationFormat>On-screen Show (4:3)</PresentationFormat>
  <Paragraphs>97</Paragraphs>
  <Slides>19</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19</vt:i4>
      </vt:variant>
    </vt:vector>
  </HeadingPairs>
  <TitlesOfParts>
    <vt:vector size="26" baseType="lpstr">
      <vt:lpstr>Arial</vt:lpstr>
      <vt:lpstr>Calibri</vt:lpstr>
      <vt:lpstr>Century Gothic</vt:lpstr>
      <vt:lpstr>Tahoma</vt:lpstr>
      <vt:lpstr>Wingdings 2</vt:lpstr>
      <vt:lpstr>Office Theme</vt:lpstr>
      <vt:lpstr>Austin</vt:lpstr>
      <vt:lpstr>Strategic Management</vt:lpstr>
      <vt:lpstr> Strategy Analysis &amp; Choice  </vt:lpstr>
      <vt:lpstr>PowerPoint Presentation</vt:lpstr>
      <vt:lpstr>Steps to Develop a SPACE Matrix </vt:lpstr>
      <vt:lpstr>Steps to Develop a SPACE Matrix </vt:lpstr>
      <vt:lpstr> Factors That Make Up the SPACE Matrix Axes   </vt:lpstr>
      <vt:lpstr>PowerPoint Presentation</vt:lpstr>
      <vt:lpstr>PowerPoint Presentation</vt:lpstr>
      <vt:lpstr>PowerPoint Presentation</vt:lpstr>
      <vt:lpstr>PowerPoint Presentation</vt:lpstr>
      <vt:lpstr>PowerPoint Presentation</vt:lpstr>
      <vt:lpstr>Steps to Develop a SPACE Matrix </vt:lpstr>
      <vt:lpstr>PowerPoint Presentation</vt:lpstr>
      <vt:lpstr>PowerPoint Presentation</vt:lpstr>
      <vt:lpstr>Steps to Develop a SPACE Matrix </vt:lpstr>
      <vt:lpstr>A SPACE Matrix for a Bank</vt:lpstr>
      <vt:lpstr>A SPACE Matrix for a Bank</vt:lpstr>
      <vt:lpstr>A SPACE Matrix for a Bank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Strategic Management</dc:title>
  <dc:creator>Dr.Tarek</dc:creator>
  <cp:lastModifiedBy>Dr. Marwa</cp:lastModifiedBy>
  <cp:revision>63</cp:revision>
  <dcterms:created xsi:type="dcterms:W3CDTF">2006-08-16T00:00:00Z</dcterms:created>
  <dcterms:modified xsi:type="dcterms:W3CDTF">2026-05-19T19:35:43Z</dcterms:modified>
</cp:coreProperties>
</file>