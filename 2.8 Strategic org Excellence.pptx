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56" r:id="rId4"/>
    <p:sldId id="260" r:id="rId5"/>
    <p:sldId id="273" r:id="rId6"/>
    <p:sldId id="274" r:id="rId7"/>
    <p:sldId id="294" r:id="rId8"/>
    <p:sldId id="293" r:id="rId9"/>
    <p:sldId id="303" r:id="rId10"/>
    <p:sldId id="275" r:id="rId11"/>
    <p:sldId id="276" r:id="rId12"/>
    <p:sldId id="295" r:id="rId13"/>
    <p:sldId id="297" r:id="rId14"/>
    <p:sldId id="298" r:id="rId15"/>
    <p:sldId id="296" r:id="rId16"/>
    <p:sldId id="278" r:id="rId17"/>
    <p:sldId id="284" r:id="rId18"/>
    <p:sldId id="299" r:id="rId19"/>
    <p:sldId id="300" r:id="rId20"/>
    <p:sldId id="301" r:id="rId21"/>
    <p:sldId id="277" r:id="rId22"/>
    <p:sldId id="283" r:id="rId23"/>
    <p:sldId id="287" r:id="rId24"/>
    <p:sldId id="30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5/23/2026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solidFill>
                  <a:srgbClr val="94C600"/>
                </a:solidFill>
              </a:rPr>
              <a:pPr/>
              <a:t>‹#›</a:t>
            </a:fld>
            <a:endParaRPr lang="en-US">
              <a:solidFill>
                <a:srgbClr val="94C600"/>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328794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57699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5936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p:txBody>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47298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8" name="Footer Placeholder 7"/>
          <p:cNvSpPr>
            <a:spLocks noGrp="1"/>
          </p:cNvSpPr>
          <p:nvPr>
            <p:ph type="ftr" sz="quarter" idx="11"/>
          </p:nvPr>
        </p:nvSpPr>
        <p:spPr/>
        <p:txBody>
          <a:bodyPr/>
          <a:lstStyle/>
          <a:p>
            <a:endParaRPr lang="en-US">
              <a:solidFill>
                <a:srgbClr val="94C60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48215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Footer Placeholder 3"/>
          <p:cNvSpPr>
            <a:spLocks noGrp="1"/>
          </p:cNvSpPr>
          <p:nvPr>
            <p:ph type="ftr" sz="quarter" idx="11"/>
          </p:nvPr>
        </p:nvSpPr>
        <p:spPr/>
        <p:txBody>
          <a:bodyPr/>
          <a:lstStyle/>
          <a:p>
            <a:endParaRPr lang="en-US">
              <a:solidFill>
                <a:srgbClr val="94C60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0696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3" name="Footer Placeholder 2"/>
          <p:cNvSpPr>
            <a:spLocks noGrp="1"/>
          </p:cNvSpPr>
          <p:nvPr>
            <p:ph type="ftr" sz="quarter" idx="11"/>
          </p:nvPr>
        </p:nvSpPr>
        <p:spPr/>
        <p:txBody>
          <a:bodyPr/>
          <a:lstStyle/>
          <a:p>
            <a:endParaRPr lang="en-US">
              <a:solidFill>
                <a:srgbClr val="94C6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9321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843189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060186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36100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7662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5/23/2026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410088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marketingstudyguide.com/marketing-strategy-approaches-stage-plc/" TargetMode="Externa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4400" y="2286000"/>
            <a:ext cx="3313355" cy="1702160"/>
          </a:xfrm>
        </p:spPr>
        <p:txBody>
          <a:bodyPr>
            <a:normAutofit/>
          </a:bodyPr>
          <a:lstStyle/>
          <a:p>
            <a:pPr algn="ctr"/>
            <a:r>
              <a:rPr lang="en-US" b="1" dirty="0" smtClean="0"/>
              <a:t>Strategic Management</a:t>
            </a:r>
            <a:endParaRPr lang="ar-EG" b="1" dirty="0"/>
          </a:p>
        </p:txBody>
      </p:sp>
      <p:sp>
        <p:nvSpPr>
          <p:cNvPr id="3" name="Subtitle 2"/>
          <p:cNvSpPr>
            <a:spLocks noGrp="1"/>
          </p:cNvSpPr>
          <p:nvPr>
            <p:ph type="subTitle" idx="1"/>
          </p:nvPr>
        </p:nvSpPr>
        <p:spPr>
          <a:xfrm>
            <a:off x="4800600" y="4191000"/>
            <a:ext cx="3309803" cy="1600200"/>
          </a:xfrm>
        </p:spPr>
        <p:txBody>
          <a:bodyPr>
            <a:normAutofit fontScale="92500" lnSpcReduction="20000"/>
          </a:bodyPr>
          <a:lstStyle/>
          <a:p>
            <a:r>
              <a:rPr lang="en-US" b="1" dirty="0" smtClean="0"/>
              <a:t>Dr. </a:t>
            </a:r>
            <a:r>
              <a:rPr lang="en-US" b="1" dirty="0" err="1" smtClean="0"/>
              <a:t>Marwa</a:t>
            </a:r>
            <a:r>
              <a:rPr lang="en-US" b="1" dirty="0" smtClean="0"/>
              <a:t> Tarek</a:t>
            </a:r>
          </a:p>
          <a:p>
            <a:r>
              <a:rPr lang="en-US" b="1" smtClean="0"/>
              <a:t>8</a:t>
            </a:r>
            <a:r>
              <a:rPr lang="en-US" b="1" baseline="30000" smtClean="0"/>
              <a:t>th</a:t>
            </a:r>
            <a:r>
              <a:rPr lang="en-US" b="1" smtClean="0"/>
              <a:t>  </a:t>
            </a:r>
            <a:r>
              <a:rPr lang="en-US" b="1" dirty="0" smtClean="0"/>
              <a:t>class </a:t>
            </a:r>
          </a:p>
          <a:p>
            <a:r>
              <a:rPr lang="ar-EG" dirty="0"/>
              <a:t/>
            </a:r>
            <a:br>
              <a:rPr lang="ar-EG" dirty="0"/>
            </a:br>
            <a:endParaRPr lang="ar-EG" dirty="0"/>
          </a:p>
          <a:p>
            <a:endParaRPr lang="ar-EG" dirty="0"/>
          </a:p>
          <a:p>
            <a:pPr algn="ctr"/>
            <a:r>
              <a:rPr lang="fr-FR" b="1" dirty="0"/>
              <a:t> </a:t>
            </a:r>
            <a:r>
              <a:rPr lang="en-US" b="1" dirty="0" smtClean="0"/>
              <a:t>Generating strategies </a:t>
            </a:r>
            <a:r>
              <a:rPr lang="fr-FR" b="1" dirty="0" smtClean="0"/>
              <a:t> </a:t>
            </a:r>
            <a:endParaRPr lang="ar-EG" b="1" dirty="0"/>
          </a:p>
        </p:txBody>
      </p:sp>
    </p:spTree>
    <p:extLst>
      <p:ext uri="{BB962C8B-B14F-4D97-AF65-F5344CB8AC3E}">
        <p14:creationId xmlns:p14="http://schemas.microsoft.com/office/powerpoint/2010/main" val="2698077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Strategy</a:t>
            </a:r>
            <a:r>
              <a:rPr lang="fr-FR" sz="2400" b="1" dirty="0" smtClean="0"/>
              <a:t> </a:t>
            </a:r>
            <a:r>
              <a:rPr lang="fr-FR" sz="2400" b="1" dirty="0" err="1"/>
              <a:t>Analysis</a:t>
            </a:r>
            <a:r>
              <a:rPr lang="fr-FR" sz="2400" b="1" dirty="0"/>
              <a:t> &amp; </a:t>
            </a:r>
            <a:r>
              <a:rPr lang="fr-FR" sz="2400" b="1" dirty="0" err="1"/>
              <a:t>Choice</a:t>
            </a:r>
            <a:r>
              <a:rPr lang="fr-FR" sz="2400" b="1" dirty="0"/>
              <a:t> </a:t>
            </a:r>
            <a:r>
              <a:rPr lang="fr-FR" sz="2400" b="1" dirty="0" smtClean="0"/>
              <a:t> </a:t>
            </a:r>
            <a:endParaRPr lang="ar-EG" sz="24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800" y="914400"/>
            <a:ext cx="79626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53385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7024744" cy="1143000"/>
          </a:xfrm>
        </p:spPr>
        <p:txBody>
          <a:bodyPr>
            <a:noAutofit/>
          </a:bodyPr>
          <a:lstStyle/>
          <a:p>
            <a:r>
              <a:rPr lang="fr-FR" sz="2000" b="1" dirty="0" smtClean="0"/>
              <a:t/>
            </a:r>
            <a:br>
              <a:rPr lang="fr-FR" sz="2000" b="1" dirty="0" smtClean="0"/>
            </a:br>
            <a:r>
              <a:rPr lang="fr-FR" sz="2000" b="1" dirty="0" err="1" smtClean="0"/>
              <a:t>Comprehensive</a:t>
            </a:r>
            <a:r>
              <a:rPr lang="fr-FR" sz="2000" b="1" dirty="0" smtClean="0"/>
              <a:t> </a:t>
            </a:r>
            <a:r>
              <a:rPr lang="fr-FR" sz="2000" b="1" dirty="0" err="1"/>
              <a:t>Strategy</a:t>
            </a:r>
            <a:r>
              <a:rPr lang="fr-FR" sz="2000" b="1" dirty="0"/>
              <a:t>-Formulation Framework</a:t>
            </a:r>
            <a:endParaRPr lang="ar-EG" sz="2000" dirty="0"/>
          </a:p>
        </p:txBody>
      </p:sp>
      <p:sp>
        <p:nvSpPr>
          <p:cNvPr id="4" name="Content Placeholder 3"/>
          <p:cNvSpPr>
            <a:spLocks noGrp="1"/>
          </p:cNvSpPr>
          <p:nvPr>
            <p:ph idx="1"/>
          </p:nvPr>
        </p:nvSpPr>
        <p:spPr>
          <a:xfrm>
            <a:off x="609600" y="1219200"/>
            <a:ext cx="7211209" cy="4384829"/>
          </a:xfrm>
        </p:spPr>
        <p:txBody>
          <a:bodyPr>
            <a:normAutofit fontScale="85000" lnSpcReduction="10000"/>
          </a:bodyPr>
          <a:lstStyle/>
          <a:p>
            <a:pPr marL="68580" indent="0" algn="l" rtl="0">
              <a:buNone/>
            </a:pPr>
            <a:r>
              <a:rPr lang="fr-FR" b="1" dirty="0" smtClean="0">
                <a:solidFill>
                  <a:schemeClr val="tx1"/>
                </a:solidFill>
              </a:rPr>
              <a:t>Stage </a:t>
            </a:r>
            <a:r>
              <a:rPr lang="fr-FR" b="1" dirty="0">
                <a:solidFill>
                  <a:schemeClr val="tx1"/>
                </a:solidFill>
              </a:rPr>
              <a:t>1 </a:t>
            </a:r>
            <a:r>
              <a:rPr lang="fr-FR" b="1" dirty="0" smtClean="0">
                <a:solidFill>
                  <a:schemeClr val="tx1"/>
                </a:solidFill>
              </a:rPr>
              <a:t>–Input Stage</a:t>
            </a:r>
            <a:endParaRPr lang="fr-FR" b="1" dirty="0">
              <a:solidFill>
                <a:schemeClr val="tx1"/>
              </a:solidFill>
            </a:endParaRPr>
          </a:p>
          <a:p>
            <a:pPr algn="l" rtl="0"/>
            <a:r>
              <a:rPr lang="fr-FR" dirty="0" err="1" smtClean="0"/>
              <a:t>EFE</a:t>
            </a:r>
            <a:r>
              <a:rPr lang="fr-FR" dirty="0" smtClean="0"/>
              <a:t> </a:t>
            </a:r>
            <a:r>
              <a:rPr lang="fr-FR" dirty="0"/>
              <a:t>(</a:t>
            </a:r>
            <a:r>
              <a:rPr lang="fr-FR" dirty="0" err="1"/>
              <a:t>External</a:t>
            </a:r>
            <a:r>
              <a:rPr lang="fr-FR" dirty="0"/>
              <a:t> Factor </a:t>
            </a:r>
            <a:r>
              <a:rPr lang="fr-FR" dirty="0" err="1"/>
              <a:t>Evaluation</a:t>
            </a:r>
            <a:r>
              <a:rPr lang="fr-FR" dirty="0"/>
              <a:t>) Matrix</a:t>
            </a:r>
          </a:p>
          <a:p>
            <a:pPr algn="l" rtl="0"/>
            <a:r>
              <a:rPr lang="fr-FR" dirty="0" smtClean="0"/>
              <a:t>IFE </a:t>
            </a:r>
            <a:r>
              <a:rPr lang="fr-FR" dirty="0"/>
              <a:t>(</a:t>
            </a:r>
            <a:r>
              <a:rPr lang="fr-FR" dirty="0" err="1"/>
              <a:t>Internal</a:t>
            </a:r>
            <a:r>
              <a:rPr lang="fr-FR" dirty="0"/>
              <a:t> Factor </a:t>
            </a:r>
            <a:r>
              <a:rPr lang="fr-FR" dirty="0" err="1"/>
              <a:t>Evaluation</a:t>
            </a:r>
            <a:r>
              <a:rPr lang="fr-FR" dirty="0"/>
              <a:t>) Matrix</a:t>
            </a:r>
          </a:p>
          <a:p>
            <a:pPr algn="l" rtl="0"/>
            <a:endParaRPr lang="fr-FR" dirty="0"/>
          </a:p>
          <a:p>
            <a:pPr marL="68580" indent="0" algn="l" rtl="0">
              <a:buNone/>
            </a:pPr>
            <a:r>
              <a:rPr lang="fr-FR" b="1" dirty="0" smtClean="0">
                <a:solidFill>
                  <a:schemeClr val="tx1"/>
                </a:solidFill>
              </a:rPr>
              <a:t>Stage </a:t>
            </a:r>
            <a:r>
              <a:rPr lang="fr-FR" b="1" dirty="0">
                <a:solidFill>
                  <a:schemeClr val="tx1"/>
                </a:solidFill>
              </a:rPr>
              <a:t>2 </a:t>
            </a:r>
            <a:r>
              <a:rPr lang="fr-FR" b="1" dirty="0" smtClean="0">
                <a:solidFill>
                  <a:schemeClr val="tx1"/>
                </a:solidFill>
              </a:rPr>
              <a:t>–</a:t>
            </a:r>
            <a:r>
              <a:rPr lang="fr-FR" b="1" dirty="0" err="1" smtClean="0">
                <a:solidFill>
                  <a:schemeClr val="tx1"/>
                </a:solidFill>
              </a:rPr>
              <a:t>Matching</a:t>
            </a:r>
            <a:r>
              <a:rPr lang="fr-FR" b="1" dirty="0" smtClean="0">
                <a:solidFill>
                  <a:schemeClr val="tx1"/>
                </a:solidFill>
              </a:rPr>
              <a:t> Stage (</a:t>
            </a:r>
            <a:r>
              <a:rPr lang="fr-FR" b="1" dirty="0" err="1" smtClean="0">
                <a:solidFill>
                  <a:schemeClr val="tx1"/>
                </a:solidFill>
              </a:rPr>
              <a:t>ready</a:t>
            </a:r>
            <a:r>
              <a:rPr lang="fr-FR" b="1" dirty="0" smtClean="0">
                <a:solidFill>
                  <a:schemeClr val="tx1"/>
                </a:solidFill>
              </a:rPr>
              <a:t> to </a:t>
            </a:r>
            <a:r>
              <a:rPr lang="fr-FR" b="1" dirty="0" err="1" smtClean="0">
                <a:solidFill>
                  <a:schemeClr val="tx1"/>
                </a:solidFill>
              </a:rPr>
              <a:t>achieve</a:t>
            </a:r>
            <a:r>
              <a:rPr lang="fr-FR" b="1" dirty="0" smtClean="0">
                <a:solidFill>
                  <a:schemeClr val="tx1"/>
                </a:solidFill>
              </a:rPr>
              <a:t> the best fit)</a:t>
            </a:r>
            <a:endParaRPr lang="fr-FR" b="1" dirty="0">
              <a:solidFill>
                <a:schemeClr val="tx1"/>
              </a:solidFill>
            </a:endParaRPr>
          </a:p>
          <a:p>
            <a:pPr algn="l" rtl="0"/>
            <a:r>
              <a:rPr lang="fr-FR" dirty="0" smtClean="0"/>
              <a:t>IE Matrix</a:t>
            </a:r>
          </a:p>
          <a:p>
            <a:pPr algn="l" rtl="0"/>
            <a:r>
              <a:rPr lang="fr-FR" dirty="0" smtClean="0"/>
              <a:t>SWOT </a:t>
            </a:r>
            <a:r>
              <a:rPr lang="fr-FR" dirty="0"/>
              <a:t>(Strengths-</a:t>
            </a:r>
            <a:r>
              <a:rPr lang="fr-FR" dirty="0" err="1"/>
              <a:t>Weaknesses</a:t>
            </a:r>
            <a:r>
              <a:rPr lang="fr-FR" dirty="0"/>
              <a:t>-</a:t>
            </a:r>
            <a:r>
              <a:rPr lang="fr-FR" dirty="0" err="1"/>
              <a:t>Opportunities-Threats</a:t>
            </a:r>
            <a:r>
              <a:rPr lang="fr-FR" dirty="0"/>
              <a:t>)</a:t>
            </a:r>
          </a:p>
          <a:p>
            <a:pPr algn="l" rtl="0"/>
            <a:r>
              <a:rPr lang="fr-FR" dirty="0" err="1" smtClean="0"/>
              <a:t>SPACE</a:t>
            </a:r>
            <a:r>
              <a:rPr lang="fr-FR" dirty="0" smtClean="0"/>
              <a:t> </a:t>
            </a:r>
            <a:r>
              <a:rPr lang="fr-FR" dirty="0"/>
              <a:t>(Strategic Position &amp; </a:t>
            </a:r>
            <a:r>
              <a:rPr lang="fr-FR" dirty="0" smtClean="0"/>
              <a:t>Action </a:t>
            </a:r>
            <a:r>
              <a:rPr lang="fr-FR" dirty="0" err="1"/>
              <a:t>Evaluation</a:t>
            </a:r>
            <a:r>
              <a:rPr lang="fr-FR" dirty="0"/>
              <a:t>)Matrix</a:t>
            </a:r>
          </a:p>
          <a:p>
            <a:pPr algn="l" rtl="0"/>
            <a:r>
              <a:rPr lang="fr-FR" dirty="0" smtClean="0"/>
              <a:t>BCG </a:t>
            </a:r>
            <a:r>
              <a:rPr lang="fr-FR" dirty="0"/>
              <a:t>(Boston Consulting Group) Matrix</a:t>
            </a:r>
          </a:p>
          <a:p>
            <a:pPr marL="68580" indent="0" algn="l" rtl="0">
              <a:buNone/>
            </a:pPr>
            <a:r>
              <a:rPr lang="fr-FR" b="1" dirty="0" smtClean="0">
                <a:solidFill>
                  <a:schemeClr val="tx1"/>
                </a:solidFill>
              </a:rPr>
              <a:t>Stage </a:t>
            </a:r>
            <a:r>
              <a:rPr lang="fr-FR" b="1" dirty="0">
                <a:solidFill>
                  <a:schemeClr val="tx1"/>
                </a:solidFill>
              </a:rPr>
              <a:t>3 </a:t>
            </a:r>
            <a:r>
              <a:rPr lang="fr-FR" b="1" dirty="0" smtClean="0">
                <a:solidFill>
                  <a:schemeClr val="tx1"/>
                </a:solidFill>
              </a:rPr>
              <a:t>–</a:t>
            </a:r>
            <a:r>
              <a:rPr lang="fr-FR" b="1" dirty="0" err="1" smtClean="0">
                <a:solidFill>
                  <a:schemeClr val="tx1"/>
                </a:solidFill>
              </a:rPr>
              <a:t>Decision</a:t>
            </a:r>
            <a:r>
              <a:rPr lang="fr-FR" b="1" dirty="0" smtClean="0">
                <a:solidFill>
                  <a:schemeClr val="tx1"/>
                </a:solidFill>
              </a:rPr>
              <a:t> Stage</a:t>
            </a:r>
            <a:endParaRPr lang="fr-FR" b="1" dirty="0">
              <a:solidFill>
                <a:schemeClr val="tx1"/>
              </a:solidFill>
            </a:endParaRPr>
          </a:p>
          <a:p>
            <a:pPr algn="l" rtl="0"/>
            <a:r>
              <a:rPr lang="fr-FR" dirty="0"/>
              <a:t></a:t>
            </a:r>
            <a:r>
              <a:rPr lang="fr-FR" dirty="0" err="1"/>
              <a:t>QSPM</a:t>
            </a:r>
            <a:r>
              <a:rPr lang="fr-FR" dirty="0"/>
              <a:t> (Quantitative Strategic Planning Matrix)</a:t>
            </a:r>
            <a:endParaRPr lang="ar-EG" dirty="0"/>
          </a:p>
        </p:txBody>
      </p:sp>
    </p:spTree>
    <p:extLst>
      <p:ext uri="{BB962C8B-B14F-4D97-AF65-F5344CB8AC3E}">
        <p14:creationId xmlns:p14="http://schemas.microsoft.com/office/powerpoint/2010/main" val="41152404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1" y="762000"/>
            <a:ext cx="76962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01711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27664"/>
            <a:ext cx="7772400" cy="1143000"/>
          </a:xfrm>
        </p:spPr>
        <p:txBody>
          <a:bodyPr>
            <a:normAutofit fontScale="90000"/>
          </a:bodyPr>
          <a:lstStyle/>
          <a:p>
            <a:r>
              <a:rPr lang="fr-FR" b="1" dirty="0"/>
              <a:t>BCG Matrix</a:t>
            </a:r>
            <a:r>
              <a:rPr lang="fr-FR" dirty="0"/>
              <a:t/>
            </a:r>
            <a:br>
              <a:rPr lang="fr-FR" dirty="0"/>
            </a:br>
            <a:r>
              <a:rPr lang="fr-FR" b="1" dirty="0"/>
              <a:t>Boston Consulting Group Matrix</a:t>
            </a:r>
            <a:r>
              <a:rPr lang="fr-FR" dirty="0"/>
              <a:t/>
            </a:r>
            <a:br>
              <a:rPr lang="fr-FR" dirty="0"/>
            </a:br>
            <a:endParaRPr lang="ar-EG" dirty="0"/>
          </a:p>
        </p:txBody>
      </p:sp>
      <p:sp>
        <p:nvSpPr>
          <p:cNvPr id="3" name="Content Placeholder 2"/>
          <p:cNvSpPr>
            <a:spLocks noGrp="1"/>
          </p:cNvSpPr>
          <p:nvPr>
            <p:ph idx="1"/>
          </p:nvPr>
        </p:nvSpPr>
        <p:spPr>
          <a:xfrm>
            <a:off x="533400" y="1676400"/>
            <a:ext cx="7924800" cy="4156229"/>
          </a:xfrm>
        </p:spPr>
        <p:txBody>
          <a:bodyPr>
            <a:normAutofit fontScale="92500" lnSpcReduction="20000"/>
          </a:bodyPr>
          <a:lstStyle/>
          <a:p>
            <a:pPr marL="365760" lvl="1" indent="0" algn="just" rtl="0">
              <a:buNone/>
            </a:pPr>
            <a:r>
              <a:rPr lang="en-US" b="1" dirty="0" smtClean="0"/>
              <a:t>BCG is an ideal matching tool if the company is a multidivisional firm. </a:t>
            </a:r>
          </a:p>
          <a:p>
            <a:pPr marL="365760" lvl="1" indent="0" algn="just" rtl="0">
              <a:buNone/>
            </a:pPr>
            <a:r>
              <a:rPr lang="en-US" b="1" dirty="0" smtClean="0"/>
              <a:t>Multidivisional refers to more than one market or different product lines.</a:t>
            </a:r>
          </a:p>
          <a:p>
            <a:pPr algn="just" rtl="0"/>
            <a:endParaRPr lang="en-US" dirty="0" smtClean="0"/>
          </a:p>
          <a:p>
            <a:pPr algn="just" rtl="0"/>
            <a:r>
              <a:rPr lang="en-US" dirty="0"/>
              <a:t>In a multidivisional structure, there's one parent company that consists of a number of different divisions operating separate businesses. Legally, the parent company owns all of the divisions, but the parent company gives the divisions significant autonomy, which allows them to act independently</a:t>
            </a:r>
            <a:r>
              <a:rPr lang="en-US" dirty="0" smtClean="0"/>
              <a:t>.</a:t>
            </a:r>
          </a:p>
          <a:p>
            <a:pPr marL="68580" indent="0" algn="just" rtl="0">
              <a:buNone/>
            </a:pPr>
            <a:endParaRPr lang="en-US" dirty="0" smtClean="0"/>
          </a:p>
          <a:p>
            <a:pPr algn="just" rtl="0"/>
            <a:r>
              <a:rPr lang="en-US" dirty="0"/>
              <a:t>Examples of companies applying a divisional structure are McDonald’s Corporation and Disney. </a:t>
            </a:r>
            <a:endParaRPr lang="en-US" b="1" dirty="0"/>
          </a:p>
          <a:p>
            <a:pPr algn="just" rtl="0"/>
            <a:endParaRPr lang="ar-EG" dirty="0"/>
          </a:p>
        </p:txBody>
      </p:sp>
    </p:spTree>
    <p:extLst>
      <p:ext uri="{BB962C8B-B14F-4D97-AF65-F5344CB8AC3E}">
        <p14:creationId xmlns:p14="http://schemas.microsoft.com/office/powerpoint/2010/main" val="4475586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27664"/>
            <a:ext cx="7772400" cy="1143000"/>
          </a:xfrm>
        </p:spPr>
        <p:txBody>
          <a:bodyPr>
            <a:normAutofit fontScale="90000"/>
          </a:bodyPr>
          <a:lstStyle/>
          <a:p>
            <a:r>
              <a:rPr lang="fr-FR" b="1" dirty="0"/>
              <a:t>BCG Matrix</a:t>
            </a:r>
            <a:r>
              <a:rPr lang="fr-FR" dirty="0"/>
              <a:t/>
            </a:r>
            <a:br>
              <a:rPr lang="fr-FR" dirty="0"/>
            </a:br>
            <a:r>
              <a:rPr lang="fr-FR" b="1" dirty="0"/>
              <a:t>Boston Consulting Group Matrix</a:t>
            </a:r>
            <a:r>
              <a:rPr lang="fr-FR" dirty="0"/>
              <a:t/>
            </a:r>
            <a:br>
              <a:rPr lang="fr-FR" dirty="0"/>
            </a:br>
            <a:endParaRPr lang="ar-EG" dirty="0"/>
          </a:p>
        </p:txBody>
      </p:sp>
      <p:sp>
        <p:nvSpPr>
          <p:cNvPr id="3" name="Content Placeholder 2"/>
          <p:cNvSpPr>
            <a:spLocks noGrp="1"/>
          </p:cNvSpPr>
          <p:nvPr>
            <p:ph idx="1"/>
          </p:nvPr>
        </p:nvSpPr>
        <p:spPr>
          <a:xfrm>
            <a:off x="533400" y="1676400"/>
            <a:ext cx="7924800" cy="4800600"/>
          </a:xfrm>
        </p:spPr>
        <p:txBody>
          <a:bodyPr>
            <a:normAutofit/>
          </a:bodyPr>
          <a:lstStyle/>
          <a:p>
            <a:pPr algn="just" rtl="0"/>
            <a:r>
              <a:rPr lang="en-US" dirty="0" smtClean="0"/>
              <a:t>When </a:t>
            </a:r>
            <a:r>
              <a:rPr lang="en-US" dirty="0"/>
              <a:t>a firm’s divisions compete in different industries, a separate strategy often must be developed for each business.</a:t>
            </a:r>
          </a:p>
          <a:p>
            <a:pPr algn="just" rtl="0"/>
            <a:r>
              <a:rPr lang="en-US" dirty="0" smtClean="0"/>
              <a:t>The </a:t>
            </a:r>
            <a:r>
              <a:rPr lang="en-US" dirty="0"/>
              <a:t>BCG Matrix </a:t>
            </a:r>
            <a:r>
              <a:rPr lang="en-US" dirty="0" smtClean="0"/>
              <a:t>is designed </a:t>
            </a:r>
            <a:r>
              <a:rPr lang="en-US" dirty="0"/>
              <a:t>specifically to enhance a multidivisional firm’s efforts in formulating strategies. </a:t>
            </a:r>
            <a:endParaRPr lang="en-US" dirty="0" smtClean="0"/>
          </a:p>
          <a:p>
            <a:pPr algn="just" rtl="0"/>
            <a:endParaRPr lang="en-US" dirty="0" smtClean="0"/>
          </a:p>
          <a:p>
            <a:pPr algn="just" rtl="0"/>
            <a:r>
              <a:rPr lang="en-US" sz="2800" b="1" dirty="0" smtClean="0">
                <a:solidFill>
                  <a:schemeClr val="bg2">
                    <a:lumMod val="50000"/>
                  </a:schemeClr>
                </a:solidFill>
              </a:rPr>
              <a:t>It focuses only on </a:t>
            </a:r>
            <a:r>
              <a:rPr lang="en-US" sz="2800" b="1" dirty="0" smtClean="0">
                <a:solidFill>
                  <a:schemeClr val="bg2">
                    <a:lumMod val="50000"/>
                  </a:schemeClr>
                </a:solidFill>
                <a:effectLst>
                  <a:outerShdw blurRad="38100" dist="38100" dir="2700000" algn="tl">
                    <a:srgbClr val="000000">
                      <a:alpha val="43137"/>
                    </a:srgbClr>
                  </a:outerShdw>
                </a:effectLst>
              </a:rPr>
              <a:t>relative</a:t>
            </a:r>
            <a:r>
              <a:rPr lang="en-US" sz="2800" b="1" dirty="0" smtClean="0">
                <a:solidFill>
                  <a:schemeClr val="bg2">
                    <a:lumMod val="50000"/>
                  </a:schemeClr>
                </a:solidFill>
              </a:rPr>
              <a:t> market-share position as a single internal dimension and</a:t>
            </a:r>
          </a:p>
          <a:p>
            <a:pPr algn="just" rtl="0"/>
            <a:r>
              <a:rPr lang="en-US" b="1" dirty="0" smtClean="0"/>
              <a:t> </a:t>
            </a:r>
            <a:r>
              <a:rPr lang="en-US" sz="2800" b="1" dirty="0">
                <a:solidFill>
                  <a:schemeClr val="bg2">
                    <a:lumMod val="50000"/>
                  </a:schemeClr>
                </a:solidFill>
              </a:rPr>
              <a:t>the </a:t>
            </a:r>
            <a:r>
              <a:rPr lang="en-US" sz="2800" b="1" u="sng" dirty="0">
                <a:solidFill>
                  <a:schemeClr val="bg2">
                    <a:lumMod val="50000"/>
                  </a:schemeClr>
                </a:solidFill>
              </a:rPr>
              <a:t>industry growth rate </a:t>
            </a:r>
            <a:r>
              <a:rPr lang="en-US" sz="2800" b="1" dirty="0">
                <a:solidFill>
                  <a:schemeClr val="bg2">
                    <a:lumMod val="50000"/>
                  </a:schemeClr>
                </a:solidFill>
              </a:rPr>
              <a:t>as a single external dimension.</a:t>
            </a:r>
          </a:p>
          <a:p>
            <a:pPr algn="just" rtl="0"/>
            <a:endParaRPr lang="en-US" sz="2800" b="1" dirty="0">
              <a:solidFill>
                <a:schemeClr val="bg2">
                  <a:lumMod val="50000"/>
                </a:schemeClr>
              </a:solidFill>
            </a:endParaRPr>
          </a:p>
          <a:p>
            <a:pPr algn="just" rtl="0"/>
            <a:endParaRPr lang="ar-EG" sz="2800" b="1" dirty="0">
              <a:solidFill>
                <a:schemeClr val="bg2">
                  <a:lumMod val="50000"/>
                </a:schemeClr>
              </a:solidFill>
            </a:endParaRPr>
          </a:p>
        </p:txBody>
      </p:sp>
    </p:spTree>
    <p:extLst>
      <p:ext uri="{BB962C8B-B14F-4D97-AF65-F5344CB8AC3E}">
        <p14:creationId xmlns:p14="http://schemas.microsoft.com/office/powerpoint/2010/main" val="520422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fr-FR" b="1" dirty="0"/>
              <a:t>BCG Matrix</a:t>
            </a:r>
            <a:r>
              <a:rPr lang="fr-FR" dirty="0"/>
              <a:t/>
            </a:r>
            <a:br>
              <a:rPr lang="fr-FR" dirty="0"/>
            </a:br>
            <a:endParaRPr lang="ar-EG" dirty="0"/>
          </a:p>
        </p:txBody>
      </p:sp>
      <p:sp>
        <p:nvSpPr>
          <p:cNvPr id="3" name="Content Placeholder 2"/>
          <p:cNvSpPr>
            <a:spLocks noGrp="1"/>
          </p:cNvSpPr>
          <p:nvPr>
            <p:ph idx="1"/>
          </p:nvPr>
        </p:nvSpPr>
        <p:spPr>
          <a:xfrm>
            <a:off x="533400" y="1143000"/>
            <a:ext cx="8001000" cy="4156229"/>
          </a:xfrm>
        </p:spPr>
        <p:txBody>
          <a:bodyPr>
            <a:normAutofit/>
          </a:bodyPr>
          <a:lstStyle/>
          <a:p>
            <a:pPr algn="l" rtl="0"/>
            <a:r>
              <a:rPr lang="en-US" sz="2800" b="1" dirty="0"/>
              <a:t>What are the limitations of a BCG matrix?</a:t>
            </a:r>
          </a:p>
          <a:p>
            <a:pPr algn="just" rtl="0"/>
            <a:r>
              <a:rPr lang="en-US" sz="2800" dirty="0"/>
              <a:t>One limitation of using the BCG matrix is it doesn’t account for any factors beyond market share and growth. </a:t>
            </a:r>
            <a:endParaRPr lang="en-US" sz="2800" dirty="0" smtClean="0"/>
          </a:p>
          <a:p>
            <a:pPr algn="just" rtl="0"/>
            <a:endParaRPr lang="en-US" sz="2800" dirty="0"/>
          </a:p>
          <a:p>
            <a:pPr algn="just" rtl="0"/>
            <a:r>
              <a:rPr lang="en-US" sz="2800" dirty="0" smtClean="0"/>
              <a:t>This </a:t>
            </a:r>
            <a:r>
              <a:rPr lang="en-US" sz="2800" dirty="0"/>
              <a:t>means it won’t give you the complete picture as to why your products are succeeding or failing. </a:t>
            </a:r>
            <a:endParaRPr lang="en-US" sz="2800" dirty="0" smtClean="0"/>
          </a:p>
        </p:txBody>
      </p:sp>
    </p:spTree>
    <p:extLst>
      <p:ext uri="{BB962C8B-B14F-4D97-AF65-F5344CB8AC3E}">
        <p14:creationId xmlns:p14="http://schemas.microsoft.com/office/powerpoint/2010/main" val="6082505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fontScale="90000"/>
          </a:bodyPr>
          <a:lstStyle/>
          <a:p>
            <a:r>
              <a:rPr lang="fr-FR" b="1" dirty="0"/>
              <a:t>BCG Matrix</a:t>
            </a:r>
            <a:r>
              <a:rPr lang="fr-FR" dirty="0"/>
              <a:t/>
            </a:r>
            <a:br>
              <a:rPr lang="fr-FR" dirty="0"/>
            </a:br>
            <a:endParaRPr lang="ar-EG" dirty="0"/>
          </a:p>
        </p:txBody>
      </p:sp>
      <p:sp>
        <p:nvSpPr>
          <p:cNvPr id="3" name="Content Placeholder 2"/>
          <p:cNvSpPr>
            <a:spLocks noGrp="1"/>
          </p:cNvSpPr>
          <p:nvPr>
            <p:ph idx="1"/>
          </p:nvPr>
        </p:nvSpPr>
        <p:spPr>
          <a:xfrm>
            <a:off x="533400" y="1143000"/>
            <a:ext cx="8001000" cy="4156229"/>
          </a:xfrm>
        </p:spPr>
        <p:txBody>
          <a:bodyPr>
            <a:normAutofit fontScale="92500"/>
          </a:bodyPr>
          <a:lstStyle/>
          <a:p>
            <a:pPr algn="l" rtl="0"/>
            <a:r>
              <a:rPr lang="en-US" sz="2800" b="1" dirty="0" smtClean="0"/>
              <a:t>Two dimensions of BCG</a:t>
            </a:r>
          </a:p>
          <a:p>
            <a:pPr algn="l" rtl="0"/>
            <a:r>
              <a:rPr lang="en-US" sz="2800" b="1" dirty="0" smtClean="0">
                <a:solidFill>
                  <a:srgbClr val="0070C0"/>
                </a:solidFill>
              </a:rPr>
              <a:t>1- Internal Dimension:</a:t>
            </a:r>
          </a:p>
          <a:p>
            <a:pPr algn="just" rtl="0"/>
            <a:r>
              <a:rPr lang="en-US" sz="2800" b="1" u="sng" dirty="0" smtClean="0">
                <a:solidFill>
                  <a:schemeClr val="bg2">
                    <a:lumMod val="50000"/>
                  </a:schemeClr>
                </a:solidFill>
              </a:rPr>
              <a:t>Relative </a:t>
            </a:r>
            <a:r>
              <a:rPr lang="en-US" sz="2800" b="1" u="sng" dirty="0">
                <a:solidFill>
                  <a:schemeClr val="bg2">
                    <a:lumMod val="50000"/>
                  </a:schemeClr>
                </a:solidFill>
              </a:rPr>
              <a:t>market share</a:t>
            </a:r>
            <a:r>
              <a:rPr lang="en-US" sz="2800" b="1" dirty="0"/>
              <a:t> is the division’s market share as an index of its largest competitor. </a:t>
            </a:r>
            <a:endParaRPr lang="en-US" sz="2800" b="1" dirty="0" smtClean="0"/>
          </a:p>
          <a:p>
            <a:pPr algn="l" rtl="0"/>
            <a:r>
              <a:rPr lang="en-US" sz="2800" b="1" dirty="0">
                <a:solidFill>
                  <a:srgbClr val="0070C0"/>
                </a:solidFill>
              </a:rPr>
              <a:t>2- External Dimension</a:t>
            </a:r>
            <a:r>
              <a:rPr lang="en-US" sz="2800" b="1" dirty="0" smtClean="0">
                <a:solidFill>
                  <a:srgbClr val="0070C0"/>
                </a:solidFill>
              </a:rPr>
              <a:t>:</a:t>
            </a:r>
          </a:p>
          <a:p>
            <a:pPr algn="just" rtl="0"/>
            <a:r>
              <a:rPr lang="en-US" sz="2800" b="1" u="sng" dirty="0">
                <a:solidFill>
                  <a:schemeClr val="bg2">
                    <a:lumMod val="50000"/>
                  </a:schemeClr>
                </a:solidFill>
              </a:rPr>
              <a:t>Industry growth rate </a:t>
            </a:r>
            <a:r>
              <a:rPr lang="en-US" sz="2800" b="1" dirty="0"/>
              <a:t>is the annual increase in revenues for several leading firms in the industry would be a good estimate of the </a:t>
            </a:r>
            <a:r>
              <a:rPr lang="en-US" sz="2800" b="1" dirty="0" smtClean="0"/>
              <a:t>value.</a:t>
            </a:r>
            <a:endParaRPr lang="en-US" sz="2800" b="1" dirty="0"/>
          </a:p>
          <a:p>
            <a:pPr algn="l" rtl="0"/>
            <a:endParaRPr lang="en-US" sz="2800" dirty="0" smtClean="0"/>
          </a:p>
        </p:txBody>
      </p:sp>
    </p:spTree>
    <p:extLst>
      <p:ext uri="{BB962C8B-B14F-4D97-AF65-F5344CB8AC3E}">
        <p14:creationId xmlns:p14="http://schemas.microsoft.com/office/powerpoint/2010/main" val="18996122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1405652"/>
            <a:ext cx="8001000" cy="1143000"/>
          </a:xfrm>
        </p:spPr>
        <p:txBody>
          <a:bodyPr>
            <a:normAutofit fontScale="90000"/>
          </a:bodyPr>
          <a:lstStyle/>
          <a:p>
            <a:r>
              <a:rPr lang="ar-EG" b="1" dirty="0" smtClean="0"/>
              <a:t/>
            </a:r>
            <a:br>
              <a:rPr lang="ar-EG" b="1" dirty="0" smtClean="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fr-FR" b="1" dirty="0" smtClean="0"/>
              <a:t>BCG </a:t>
            </a:r>
            <a:r>
              <a:rPr lang="fr-FR" b="1" dirty="0"/>
              <a:t>Matrix</a:t>
            </a:r>
            <a:r>
              <a:rPr lang="fr-FR" dirty="0"/>
              <a:t/>
            </a:r>
            <a:br>
              <a:rPr lang="fr-FR" dirty="0"/>
            </a:br>
            <a:r>
              <a:rPr lang="fr-FR" b="1" dirty="0"/>
              <a:t>Boston Consulting Group Matrix</a:t>
            </a:r>
            <a:r>
              <a:rPr lang="fr-FR" dirty="0"/>
              <a:t/>
            </a:r>
            <a:br>
              <a:rPr lang="fr-FR" dirty="0"/>
            </a:br>
            <a:endParaRPr lang="ar-EG"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662940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1049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fontScale="90000"/>
          </a:bodyPr>
          <a:lstStyle/>
          <a:p>
            <a:r>
              <a:rPr lang="fr-FR" b="1" dirty="0"/>
              <a:t>BCG Matrix</a:t>
            </a:r>
            <a:r>
              <a:rPr lang="fr-FR" dirty="0"/>
              <a:t/>
            </a:r>
            <a:br>
              <a:rPr lang="fr-FR" dirty="0"/>
            </a:br>
            <a:endParaRPr lang="ar-EG" dirty="0"/>
          </a:p>
        </p:txBody>
      </p:sp>
      <p:sp>
        <p:nvSpPr>
          <p:cNvPr id="3" name="Content Placeholder 2"/>
          <p:cNvSpPr>
            <a:spLocks noGrp="1"/>
          </p:cNvSpPr>
          <p:nvPr>
            <p:ph idx="1"/>
          </p:nvPr>
        </p:nvSpPr>
        <p:spPr>
          <a:xfrm>
            <a:off x="457200" y="990600"/>
            <a:ext cx="8001000" cy="5410200"/>
          </a:xfrm>
        </p:spPr>
        <p:txBody>
          <a:bodyPr>
            <a:normAutofit fontScale="62500" lnSpcReduction="20000"/>
          </a:bodyPr>
          <a:lstStyle/>
          <a:p>
            <a:pPr algn="just" rtl="0"/>
            <a:endParaRPr lang="en-US" sz="3000" b="1" dirty="0"/>
          </a:p>
          <a:p>
            <a:pPr algn="just" rtl="0"/>
            <a:r>
              <a:rPr lang="en-US" sz="3400" b="1" u="sng" dirty="0">
                <a:solidFill>
                  <a:schemeClr val="bg2">
                    <a:lumMod val="50000"/>
                  </a:schemeClr>
                </a:solidFill>
              </a:rPr>
              <a:t>Relative market share</a:t>
            </a:r>
            <a:r>
              <a:rPr lang="en-US" sz="3400" b="1" dirty="0"/>
              <a:t> is the </a:t>
            </a:r>
            <a:r>
              <a:rPr lang="en-US" sz="3400" b="1" dirty="0" smtClean="0"/>
              <a:t>division’s market </a:t>
            </a:r>
            <a:r>
              <a:rPr lang="en-US" sz="3400" b="1" dirty="0"/>
              <a:t>share as an index of its largest competitor. </a:t>
            </a:r>
            <a:endParaRPr lang="en-US" sz="3400" b="1" dirty="0" smtClean="0"/>
          </a:p>
          <a:p>
            <a:pPr algn="just" rtl="0"/>
            <a:r>
              <a:rPr lang="en-US" sz="3400" b="1" dirty="0" smtClean="0"/>
              <a:t>In </a:t>
            </a:r>
            <a:r>
              <a:rPr lang="en-US" sz="3400" b="1" dirty="0"/>
              <a:t>this way, relative market share becomes a comparative measure of competitive strength. </a:t>
            </a:r>
          </a:p>
          <a:p>
            <a:pPr algn="l" rtl="0"/>
            <a:endParaRPr lang="en-US" sz="2800" b="1" dirty="0"/>
          </a:p>
          <a:p>
            <a:pPr marL="68580" indent="0" algn="l" rtl="0">
              <a:buNone/>
            </a:pPr>
            <a:r>
              <a:rPr lang="en-US" sz="3400" b="1" dirty="0" smtClean="0"/>
              <a:t>Relative </a:t>
            </a:r>
            <a:r>
              <a:rPr lang="en-US" sz="3400" b="1" dirty="0"/>
              <a:t>Market Share</a:t>
            </a:r>
            <a:r>
              <a:rPr lang="en-US" sz="3200" b="1" dirty="0"/>
              <a:t> = </a:t>
            </a:r>
            <a:endParaRPr lang="en-US" sz="3200" b="1" dirty="0" smtClean="0"/>
          </a:p>
          <a:p>
            <a:pPr algn="l" rtl="0"/>
            <a:r>
              <a:rPr lang="en-US" sz="3200" b="1" dirty="0" smtClean="0"/>
              <a:t>Division’s </a:t>
            </a:r>
            <a:r>
              <a:rPr lang="en-US" sz="3200" b="1" dirty="0"/>
              <a:t>Market Share/Largest Competitor’s Market </a:t>
            </a:r>
            <a:r>
              <a:rPr lang="en-US" sz="3200" b="1" dirty="0" smtClean="0"/>
              <a:t>Share</a:t>
            </a:r>
          </a:p>
          <a:p>
            <a:pPr algn="l" rtl="0"/>
            <a:endParaRPr lang="en-US" sz="3200" b="1" dirty="0"/>
          </a:p>
          <a:p>
            <a:pPr algn="l" rtl="0"/>
            <a:r>
              <a:rPr lang="en-US" sz="3200" b="1" dirty="0"/>
              <a:t>For example, if a firm has a market share of 20% and their largest competitor has a 40% market share, then the </a:t>
            </a:r>
            <a:r>
              <a:rPr lang="en-US" sz="3200" b="1" dirty="0" smtClean="0"/>
              <a:t>division ’s </a:t>
            </a:r>
            <a:r>
              <a:rPr lang="en-US" sz="3200" b="1" dirty="0"/>
              <a:t>relative market share would be 0.5 (that is, 20%/40%).</a:t>
            </a:r>
          </a:p>
          <a:p>
            <a:pPr algn="l" rtl="0"/>
            <a:r>
              <a:rPr lang="en-US" sz="3200" b="1" dirty="0"/>
              <a:t>As another example, if a </a:t>
            </a:r>
            <a:r>
              <a:rPr lang="en-US" sz="3200" b="1" dirty="0" smtClean="0"/>
              <a:t>division was </a:t>
            </a:r>
            <a:r>
              <a:rPr lang="en-US" sz="3200" b="1" dirty="0"/>
              <a:t>the market leader and had a market share of 30% and their largest competitor had a market share of 20%, then their relative market share would be 1.5 (30%/20</a:t>
            </a:r>
            <a:r>
              <a:rPr lang="en-US" sz="3200" b="1" dirty="0" smtClean="0"/>
              <a:t>%)</a:t>
            </a:r>
            <a:endParaRPr lang="en-US" sz="3200" dirty="0"/>
          </a:p>
        </p:txBody>
      </p:sp>
    </p:spTree>
    <p:extLst>
      <p:ext uri="{BB962C8B-B14F-4D97-AF65-F5344CB8AC3E}">
        <p14:creationId xmlns:p14="http://schemas.microsoft.com/office/powerpoint/2010/main" val="294817546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a:bodyPr>
          <a:lstStyle/>
          <a:p>
            <a:r>
              <a:rPr lang="fr-FR" b="1" dirty="0"/>
              <a:t>BCG Matrix</a:t>
            </a:r>
            <a:r>
              <a:rPr lang="fr-FR" dirty="0"/>
              <a:t/>
            </a:r>
            <a:br>
              <a:rPr lang="fr-FR" dirty="0"/>
            </a:br>
            <a:r>
              <a:rPr lang="en-US" sz="2400" b="1" u="sng" dirty="0" smtClean="0">
                <a:solidFill>
                  <a:schemeClr val="tx1"/>
                </a:solidFill>
                <a:effectLst>
                  <a:outerShdw blurRad="38100" dist="38100" dir="2700000" algn="tl">
                    <a:srgbClr val="000000">
                      <a:alpha val="43137"/>
                    </a:srgbClr>
                  </a:outerShdw>
                </a:effectLst>
              </a:rPr>
              <a:t>Relative</a:t>
            </a:r>
            <a:r>
              <a:rPr lang="en-US" sz="2400" b="1" dirty="0" smtClean="0">
                <a:solidFill>
                  <a:schemeClr val="tx1"/>
                </a:solidFill>
              </a:rPr>
              <a:t> </a:t>
            </a:r>
            <a:r>
              <a:rPr lang="en-US" sz="2400" b="1" dirty="0">
                <a:solidFill>
                  <a:schemeClr val="tx1"/>
                </a:solidFill>
              </a:rPr>
              <a:t>market-share position</a:t>
            </a:r>
            <a:endParaRPr lang="ar-EG" sz="2400" dirty="0">
              <a:solidFill>
                <a:schemeClr val="tx1"/>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812131739"/>
              </p:ext>
            </p:extLst>
          </p:nvPr>
        </p:nvGraphicFramePr>
        <p:xfrm>
          <a:off x="1295400" y="1676400"/>
          <a:ext cx="6705600" cy="2743201"/>
        </p:xfrm>
        <a:graphic>
          <a:graphicData uri="http://schemas.openxmlformats.org/drawingml/2006/table">
            <a:tbl>
              <a:tblPr/>
              <a:tblGrid>
                <a:gridCol w="1274498">
                  <a:extLst>
                    <a:ext uri="{9D8B030D-6E8A-4147-A177-3AD203B41FA5}">
                      <a16:colId xmlns:a16="http://schemas.microsoft.com/office/drawing/2014/main" val="20000"/>
                    </a:ext>
                  </a:extLst>
                </a:gridCol>
                <a:gridCol w="1506225">
                  <a:extLst>
                    <a:ext uri="{9D8B030D-6E8A-4147-A177-3AD203B41FA5}">
                      <a16:colId xmlns:a16="http://schemas.microsoft.com/office/drawing/2014/main" val="20001"/>
                    </a:ext>
                  </a:extLst>
                </a:gridCol>
                <a:gridCol w="2201407">
                  <a:extLst>
                    <a:ext uri="{9D8B030D-6E8A-4147-A177-3AD203B41FA5}">
                      <a16:colId xmlns:a16="http://schemas.microsoft.com/office/drawing/2014/main" val="20002"/>
                    </a:ext>
                  </a:extLst>
                </a:gridCol>
                <a:gridCol w="1723470">
                  <a:extLst>
                    <a:ext uri="{9D8B030D-6E8A-4147-A177-3AD203B41FA5}">
                      <a16:colId xmlns:a16="http://schemas.microsoft.com/office/drawing/2014/main" val="20003"/>
                    </a:ext>
                  </a:extLst>
                </a:gridCol>
              </a:tblGrid>
              <a:tr h="1246909">
                <a:tc>
                  <a:txBody>
                    <a:bodyPr/>
                    <a:lstStyle/>
                    <a:p>
                      <a:endParaRPr lang="en-US" dirty="0"/>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b="1" dirty="0">
                          <a:effectLst/>
                        </a:rPr>
                        <a:t>Own Market Share</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b="1" dirty="0">
                          <a:effectLst/>
                        </a:rPr>
                        <a:t>Largest Competitor Mkt Share</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b="1">
                          <a:effectLst/>
                        </a:rPr>
                        <a:t>Relative Market Share</a:t>
                      </a:r>
                      <a:endParaRPr lang="en-US">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498764">
                <a:tc>
                  <a:txBody>
                    <a:bodyPr/>
                    <a:lstStyle/>
                    <a:p>
                      <a:pPr algn="ctr"/>
                      <a:r>
                        <a:rPr lang="en-US" dirty="0" smtClean="0">
                          <a:effectLst/>
                        </a:rPr>
                        <a:t>Division A</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dirty="0">
                          <a:effectLst/>
                        </a:rPr>
                        <a:t>50%</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dirty="0">
                          <a:effectLst/>
                        </a:rPr>
                        <a:t>30%</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b="1" dirty="0">
                          <a:effectLst/>
                        </a:rPr>
                        <a:t>1.67</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498764">
                <a:tc>
                  <a:txBody>
                    <a:bodyPr/>
                    <a:lstStyle/>
                    <a:p>
                      <a:pPr algn="ctr"/>
                      <a:r>
                        <a:rPr lang="en-US" dirty="0" smtClean="0">
                          <a:effectLst/>
                        </a:rPr>
                        <a:t>Division  </a:t>
                      </a:r>
                      <a:r>
                        <a:rPr lang="en-US" dirty="0">
                          <a:effectLst/>
                        </a:rPr>
                        <a:t>B</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dirty="0" smtClean="0">
                          <a:effectLst/>
                        </a:rPr>
                        <a:t>60</a:t>
                      </a:r>
                      <a:r>
                        <a:rPr lang="en-US" dirty="0">
                          <a:effectLst/>
                        </a:rPr>
                        <a:t>%</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dirty="0">
                          <a:effectLst/>
                        </a:rPr>
                        <a:t>50%</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b="1" smtClean="0">
                          <a:effectLst/>
                        </a:rPr>
                        <a:t>1.20</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498764">
                <a:tc>
                  <a:txBody>
                    <a:bodyPr/>
                    <a:lstStyle/>
                    <a:p>
                      <a:pPr algn="ctr"/>
                      <a:r>
                        <a:rPr lang="en-US" dirty="0" smtClean="0">
                          <a:effectLst/>
                        </a:rPr>
                        <a:t>Division C</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a:effectLst/>
                        </a:rPr>
                        <a:t>20%</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dirty="0">
                          <a:effectLst/>
                        </a:rPr>
                        <a:t>50%</a:t>
                      </a: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b="1" dirty="0">
                          <a:effectLst/>
                        </a:rPr>
                        <a:t>0.40</a:t>
                      </a:r>
                      <a:endParaRPr lang="en-US" dirty="0">
                        <a:effectLst/>
                      </a:endParaRPr>
                    </a:p>
                  </a:txBody>
                  <a:tcPr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bl>
          </a:graphicData>
        </a:graphic>
      </p:graphicFrame>
      <p:sp>
        <p:nvSpPr>
          <p:cNvPr id="7" name="Rectangle 6"/>
          <p:cNvSpPr/>
          <p:nvPr/>
        </p:nvSpPr>
        <p:spPr>
          <a:xfrm>
            <a:off x="609600" y="4191000"/>
            <a:ext cx="7696200" cy="2031325"/>
          </a:xfrm>
          <a:prstGeom prst="rect">
            <a:avLst/>
          </a:prstGeom>
        </p:spPr>
        <p:txBody>
          <a:bodyPr wrap="square">
            <a:spAutoFit/>
          </a:bodyPr>
          <a:lstStyle/>
          <a:p>
            <a:endParaRPr lang="en-US" dirty="0" smtClean="0"/>
          </a:p>
          <a:p>
            <a:pPr algn="just"/>
            <a:r>
              <a:rPr lang="en-US" b="1" dirty="0" smtClean="0"/>
              <a:t>This </a:t>
            </a:r>
            <a:r>
              <a:rPr lang="en-US" b="1" dirty="0"/>
              <a:t>gives Division </a:t>
            </a:r>
            <a:r>
              <a:rPr lang="en-US" b="1" dirty="0" smtClean="0"/>
              <a:t>(A) a </a:t>
            </a:r>
            <a:r>
              <a:rPr lang="en-US" b="1" dirty="0"/>
              <a:t>relative market share of </a:t>
            </a:r>
            <a:r>
              <a:rPr lang="en-US" b="1" dirty="0" smtClean="0"/>
              <a:t>1.67 and Division (B) 1.5. i.e. they are the market leaders. However</a:t>
            </a:r>
            <a:r>
              <a:rPr lang="en-US" b="1" dirty="0"/>
              <a:t>, </a:t>
            </a:r>
            <a:r>
              <a:rPr lang="en-US" b="1" dirty="0" smtClean="0"/>
              <a:t>Division (C) is compared </a:t>
            </a:r>
            <a:r>
              <a:rPr lang="en-US" b="1" dirty="0"/>
              <a:t>to </a:t>
            </a:r>
            <a:r>
              <a:rPr lang="en-US" b="1" dirty="0" smtClean="0"/>
              <a:t>its largest competitor and its</a:t>
            </a:r>
            <a:r>
              <a:rPr lang="en-US" b="1" dirty="0"/>
              <a:t> relative market </a:t>
            </a:r>
            <a:r>
              <a:rPr lang="en-US" b="1" dirty="0" smtClean="0"/>
              <a:t>share is 0.40 . </a:t>
            </a:r>
            <a:r>
              <a:rPr lang="en-US" b="1" dirty="0"/>
              <a:t>In </a:t>
            </a:r>
            <a:r>
              <a:rPr lang="en-US" b="1" dirty="0" smtClean="0"/>
              <a:t>this case, </a:t>
            </a:r>
            <a:r>
              <a:rPr lang="en-US" b="1" dirty="0"/>
              <a:t>by definition, </a:t>
            </a:r>
            <a:r>
              <a:rPr lang="en-US" b="1" dirty="0" smtClean="0"/>
              <a:t>its relative </a:t>
            </a:r>
            <a:r>
              <a:rPr lang="en-US" b="1" dirty="0"/>
              <a:t>market share will be less than 1.0 because </a:t>
            </a:r>
            <a:r>
              <a:rPr lang="en-US" b="1" dirty="0" smtClean="0"/>
              <a:t>it is not </a:t>
            </a:r>
            <a:r>
              <a:rPr lang="en-US" b="1" dirty="0"/>
              <a:t>the market leader and </a:t>
            </a:r>
            <a:r>
              <a:rPr lang="en-US" b="1" dirty="0" smtClean="0"/>
              <a:t>doesn't have </a:t>
            </a:r>
            <a:r>
              <a:rPr lang="en-US" b="1" dirty="0"/>
              <a:t>the largest market </a:t>
            </a:r>
            <a:r>
              <a:rPr lang="en-US" b="1" dirty="0" smtClean="0"/>
              <a:t>share. </a:t>
            </a:r>
            <a:endParaRPr lang="en-US" b="1" dirty="0"/>
          </a:p>
        </p:txBody>
      </p:sp>
    </p:spTree>
    <p:extLst>
      <p:ext uri="{BB962C8B-B14F-4D97-AF65-F5344CB8AC3E}">
        <p14:creationId xmlns:p14="http://schemas.microsoft.com/office/powerpoint/2010/main" val="3384121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fontScale="90000"/>
          </a:bodyPr>
          <a:lstStyle/>
          <a:p>
            <a:r>
              <a:rPr lang="fr-FR" b="1" dirty="0"/>
              <a:t>BCG Matrix</a:t>
            </a:r>
            <a:r>
              <a:rPr lang="fr-FR" dirty="0"/>
              <a:t/>
            </a:r>
            <a:br>
              <a:rPr lang="fr-FR" dirty="0"/>
            </a:br>
            <a:endParaRPr lang="ar-EG" dirty="0"/>
          </a:p>
        </p:txBody>
      </p:sp>
      <p:sp>
        <p:nvSpPr>
          <p:cNvPr id="3" name="Content Placeholder 2"/>
          <p:cNvSpPr>
            <a:spLocks noGrp="1"/>
          </p:cNvSpPr>
          <p:nvPr>
            <p:ph idx="1"/>
          </p:nvPr>
        </p:nvSpPr>
        <p:spPr>
          <a:xfrm>
            <a:off x="457200" y="990600"/>
            <a:ext cx="8001000" cy="4156229"/>
          </a:xfrm>
        </p:spPr>
        <p:txBody>
          <a:bodyPr>
            <a:normAutofit fontScale="92500"/>
          </a:bodyPr>
          <a:lstStyle/>
          <a:p>
            <a:pPr algn="just" rtl="0"/>
            <a:endParaRPr lang="en-US" sz="3000" b="1" dirty="0"/>
          </a:p>
          <a:p>
            <a:pPr algn="just" rtl="0"/>
            <a:r>
              <a:rPr lang="en-US" sz="3200" b="1" dirty="0" smtClean="0"/>
              <a:t>When Relative </a:t>
            </a:r>
            <a:r>
              <a:rPr lang="en-US" sz="3200" b="1" dirty="0"/>
              <a:t>market share </a:t>
            </a:r>
            <a:r>
              <a:rPr lang="en-US" sz="3200" b="1" dirty="0" smtClean="0"/>
              <a:t>is equal to or greater than 0.5, (High) it is likely to be classified as stars </a:t>
            </a:r>
            <a:r>
              <a:rPr lang="en-US" sz="3200" b="1" dirty="0"/>
              <a:t>and cash </a:t>
            </a:r>
            <a:r>
              <a:rPr lang="en-US" sz="3200" b="1" dirty="0" smtClean="0"/>
              <a:t>cows.</a:t>
            </a:r>
          </a:p>
          <a:p>
            <a:pPr algn="just" rtl="0"/>
            <a:endParaRPr lang="en-US" sz="3200" b="1" dirty="0"/>
          </a:p>
          <a:p>
            <a:pPr algn="just" rtl="0"/>
            <a:r>
              <a:rPr lang="en-US" sz="3200" b="1" dirty="0"/>
              <a:t>When Relative market share is </a:t>
            </a:r>
            <a:r>
              <a:rPr lang="en-US" sz="3200" b="1" dirty="0" smtClean="0"/>
              <a:t>less than </a:t>
            </a:r>
            <a:r>
              <a:rPr lang="en-US" sz="3200" b="1" dirty="0"/>
              <a:t>0.5, </a:t>
            </a:r>
            <a:r>
              <a:rPr lang="en-US" sz="3200" b="1" dirty="0" smtClean="0"/>
              <a:t>(low) </a:t>
            </a:r>
            <a:r>
              <a:rPr lang="en-US" sz="3200" b="1" dirty="0"/>
              <a:t>it is likely to </a:t>
            </a:r>
            <a:r>
              <a:rPr lang="en-US" sz="3200" b="1" dirty="0" smtClean="0"/>
              <a:t>be </a:t>
            </a:r>
            <a:r>
              <a:rPr lang="en-US" sz="3200" b="1" dirty="0"/>
              <a:t>classified </a:t>
            </a:r>
            <a:r>
              <a:rPr lang="en-US" sz="3200" b="1" dirty="0" smtClean="0"/>
              <a:t> as question </a:t>
            </a:r>
            <a:r>
              <a:rPr lang="en-US" sz="3200" b="1" dirty="0"/>
              <a:t>marks and </a:t>
            </a:r>
            <a:r>
              <a:rPr lang="en-US" sz="3200" b="1" dirty="0" smtClean="0"/>
              <a:t>dogs.</a:t>
            </a:r>
            <a:endParaRPr lang="en-US" sz="3200" b="1" dirty="0"/>
          </a:p>
        </p:txBody>
      </p:sp>
    </p:spTree>
    <p:extLst>
      <p:ext uri="{BB962C8B-B14F-4D97-AF65-F5344CB8AC3E}">
        <p14:creationId xmlns:p14="http://schemas.microsoft.com/office/powerpoint/2010/main" val="5400423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fontScale="90000"/>
          </a:bodyPr>
          <a:lstStyle/>
          <a:p>
            <a:r>
              <a:rPr lang="fr-FR" b="1" dirty="0"/>
              <a:t>BCG Matrix</a:t>
            </a:r>
            <a:r>
              <a:rPr lang="fr-FR" dirty="0"/>
              <a:t/>
            </a:r>
            <a:br>
              <a:rPr lang="fr-FR" dirty="0"/>
            </a:br>
            <a:endParaRPr lang="ar-EG" dirty="0"/>
          </a:p>
        </p:txBody>
      </p:sp>
      <p:sp>
        <p:nvSpPr>
          <p:cNvPr id="3" name="Content Placeholder 2"/>
          <p:cNvSpPr>
            <a:spLocks noGrp="1"/>
          </p:cNvSpPr>
          <p:nvPr>
            <p:ph idx="1"/>
          </p:nvPr>
        </p:nvSpPr>
        <p:spPr>
          <a:xfrm>
            <a:off x="457200" y="990600"/>
            <a:ext cx="8001000" cy="4156229"/>
          </a:xfrm>
        </p:spPr>
        <p:txBody>
          <a:bodyPr>
            <a:normAutofit/>
          </a:bodyPr>
          <a:lstStyle/>
          <a:p>
            <a:pPr algn="just" rtl="0"/>
            <a:endParaRPr lang="en-US" sz="3000" b="1" dirty="0"/>
          </a:p>
          <a:p>
            <a:pPr algn="just" rtl="0"/>
            <a:r>
              <a:rPr lang="en-US" sz="3100" b="1" u="sng" dirty="0">
                <a:solidFill>
                  <a:schemeClr val="tx1"/>
                </a:solidFill>
              </a:rPr>
              <a:t>Industry growth rate</a:t>
            </a:r>
            <a:r>
              <a:rPr lang="en-US" sz="3100" b="1" dirty="0">
                <a:solidFill>
                  <a:schemeClr val="tx1"/>
                </a:solidFill>
              </a:rPr>
              <a:t> </a:t>
            </a:r>
            <a:r>
              <a:rPr lang="en-US" sz="3000" b="1" dirty="0" smtClean="0">
                <a:solidFill>
                  <a:srgbClr val="C00000"/>
                </a:solidFill>
              </a:rPr>
              <a:t>is the annual increase in revenues for several leading firms in the industry would be a good estimate of the value.</a:t>
            </a:r>
            <a:endParaRPr lang="ar-EG" sz="3000" b="1" dirty="0">
              <a:solidFill>
                <a:srgbClr val="C00000"/>
              </a:solidFill>
            </a:endParaRPr>
          </a:p>
        </p:txBody>
      </p:sp>
      <p:sp>
        <p:nvSpPr>
          <p:cNvPr id="4" name="Rectangle 3"/>
          <p:cNvSpPr/>
          <p:nvPr/>
        </p:nvSpPr>
        <p:spPr>
          <a:xfrm>
            <a:off x="533400" y="4114800"/>
            <a:ext cx="8077200" cy="1107996"/>
          </a:xfrm>
          <a:prstGeom prst="rect">
            <a:avLst/>
          </a:prstGeom>
        </p:spPr>
        <p:txBody>
          <a:bodyPr wrap="square">
            <a:spAutoFit/>
          </a:bodyPr>
          <a:lstStyle/>
          <a:p>
            <a:r>
              <a:rPr lang="en-US" sz="2200" b="1" dirty="0" smtClean="0">
                <a:solidFill>
                  <a:srgbClr val="0070C0"/>
                </a:solidFill>
              </a:rPr>
              <a:t>Industry Growth </a:t>
            </a:r>
            <a:r>
              <a:rPr lang="en-US" sz="2200" b="1" dirty="0">
                <a:solidFill>
                  <a:srgbClr val="0070C0"/>
                </a:solidFill>
              </a:rPr>
              <a:t>Rate % </a:t>
            </a:r>
            <a:r>
              <a:rPr lang="en-US" sz="2200" b="1" dirty="0" smtClean="0">
                <a:solidFill>
                  <a:srgbClr val="0070C0"/>
                </a:solidFill>
              </a:rPr>
              <a:t>=</a:t>
            </a:r>
          </a:p>
          <a:p>
            <a:r>
              <a:rPr lang="en-US" sz="2200" b="1" dirty="0" smtClean="0">
                <a:solidFill>
                  <a:srgbClr val="0070C0"/>
                </a:solidFill>
              </a:rPr>
              <a:t> </a:t>
            </a:r>
            <a:r>
              <a:rPr lang="en-US" sz="2200" b="1" u="sng" dirty="0">
                <a:solidFill>
                  <a:srgbClr val="0070C0"/>
                </a:solidFill>
              </a:rPr>
              <a:t>Total </a:t>
            </a:r>
            <a:r>
              <a:rPr lang="en-US" sz="2200" b="1" u="sng" dirty="0" smtClean="0">
                <a:solidFill>
                  <a:srgbClr val="0070C0"/>
                </a:solidFill>
              </a:rPr>
              <a:t>Sales of Current Year - </a:t>
            </a:r>
            <a:r>
              <a:rPr lang="en-US" sz="2200" b="1" u="sng" dirty="0">
                <a:solidFill>
                  <a:srgbClr val="0070C0"/>
                </a:solidFill>
              </a:rPr>
              <a:t>Total Sales </a:t>
            </a:r>
            <a:r>
              <a:rPr lang="en-US" sz="2200" b="1" u="sng" dirty="0" smtClean="0">
                <a:solidFill>
                  <a:srgbClr val="0070C0"/>
                </a:solidFill>
              </a:rPr>
              <a:t>of previous Year</a:t>
            </a:r>
            <a:r>
              <a:rPr lang="en-US" sz="2200" b="1" dirty="0" smtClean="0">
                <a:solidFill>
                  <a:srgbClr val="0070C0"/>
                </a:solidFill>
              </a:rPr>
              <a:t>           </a:t>
            </a:r>
          </a:p>
          <a:p>
            <a:pPr algn="ctr"/>
            <a:r>
              <a:rPr lang="en-US" sz="2200" b="1" dirty="0" smtClean="0">
                <a:solidFill>
                  <a:srgbClr val="0070C0"/>
                </a:solidFill>
              </a:rPr>
              <a:t>Total </a:t>
            </a:r>
            <a:r>
              <a:rPr lang="en-US" sz="2200" b="1" dirty="0">
                <a:solidFill>
                  <a:srgbClr val="0070C0"/>
                </a:solidFill>
              </a:rPr>
              <a:t>Sales </a:t>
            </a:r>
            <a:r>
              <a:rPr lang="en-US" sz="2200" b="1" dirty="0" smtClean="0">
                <a:solidFill>
                  <a:srgbClr val="0070C0"/>
                </a:solidFill>
              </a:rPr>
              <a:t>of Previous </a:t>
            </a:r>
            <a:r>
              <a:rPr lang="en-US" sz="2200" b="1" dirty="0">
                <a:solidFill>
                  <a:srgbClr val="0070C0"/>
                </a:solidFill>
              </a:rPr>
              <a:t>Year</a:t>
            </a:r>
          </a:p>
        </p:txBody>
      </p:sp>
    </p:spTree>
    <p:extLst>
      <p:ext uri="{BB962C8B-B14F-4D97-AF65-F5344CB8AC3E}">
        <p14:creationId xmlns:p14="http://schemas.microsoft.com/office/powerpoint/2010/main" val="32707086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rmAutofit/>
          </a:bodyPr>
          <a:lstStyle/>
          <a:p>
            <a:r>
              <a:rPr lang="fr-FR" b="1" dirty="0"/>
              <a:t>BCG Matrix</a:t>
            </a:r>
            <a:r>
              <a:rPr lang="fr-FR" dirty="0"/>
              <a:t/>
            </a:r>
            <a:br>
              <a:rPr lang="fr-FR" dirty="0"/>
            </a:br>
            <a:r>
              <a:rPr lang="en-US" sz="2400" b="1" u="sng" dirty="0">
                <a:solidFill>
                  <a:schemeClr val="tx1"/>
                </a:solidFill>
              </a:rPr>
              <a:t>Industry growth rate</a:t>
            </a:r>
            <a:endParaRPr lang="ar-EG"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57768527"/>
              </p:ext>
            </p:extLst>
          </p:nvPr>
        </p:nvGraphicFramePr>
        <p:xfrm>
          <a:off x="838199" y="1676401"/>
          <a:ext cx="7543800" cy="2438400"/>
        </p:xfrm>
        <a:graphic>
          <a:graphicData uri="http://schemas.openxmlformats.org/drawingml/2006/table">
            <a:tbl>
              <a:tblPr/>
              <a:tblGrid>
                <a:gridCol w="1761603">
                  <a:extLst>
                    <a:ext uri="{9D8B030D-6E8A-4147-A177-3AD203B41FA5}">
                      <a16:colId xmlns:a16="http://schemas.microsoft.com/office/drawing/2014/main" val="20000"/>
                    </a:ext>
                  </a:extLst>
                </a:gridCol>
                <a:gridCol w="1957337">
                  <a:extLst>
                    <a:ext uri="{9D8B030D-6E8A-4147-A177-3AD203B41FA5}">
                      <a16:colId xmlns:a16="http://schemas.microsoft.com/office/drawing/2014/main" val="20001"/>
                    </a:ext>
                  </a:extLst>
                </a:gridCol>
                <a:gridCol w="2071310">
                  <a:extLst>
                    <a:ext uri="{9D8B030D-6E8A-4147-A177-3AD203B41FA5}">
                      <a16:colId xmlns:a16="http://schemas.microsoft.com/office/drawing/2014/main" val="20002"/>
                    </a:ext>
                  </a:extLst>
                </a:gridCol>
                <a:gridCol w="1753550">
                  <a:extLst>
                    <a:ext uri="{9D8B030D-6E8A-4147-A177-3AD203B41FA5}">
                      <a16:colId xmlns:a16="http://schemas.microsoft.com/office/drawing/2014/main" val="20003"/>
                    </a:ext>
                  </a:extLst>
                </a:gridCol>
              </a:tblGrid>
              <a:tr h="628842">
                <a:tc>
                  <a:txBody>
                    <a:bodyPr/>
                    <a:lstStyle/>
                    <a:p>
                      <a:endParaRPr lang="en-US" dirty="0"/>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Last Year</a:t>
                      </a:r>
                      <a:endParaRPr lang="en-US" sz="1400"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smtClean="0">
                          <a:effectLst/>
                        </a:rPr>
                        <a:t>Current Year</a:t>
                      </a:r>
                      <a:endParaRPr lang="en-US" sz="1400"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Growth Rate</a:t>
                      </a:r>
                      <a:endParaRPr lang="en-US" sz="1400"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603186">
                <a:tc>
                  <a:txBody>
                    <a:bodyPr/>
                    <a:lstStyle/>
                    <a:p>
                      <a:pPr algn="ctr"/>
                      <a:r>
                        <a:rPr lang="en-US" sz="1400" b="1" dirty="0" smtClean="0">
                          <a:effectLst/>
                        </a:rPr>
                        <a:t>Division A</a:t>
                      </a:r>
                      <a:endParaRPr lang="en-US" sz="1400" b="1"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       10,000,000</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       </a:t>
                      </a:r>
                      <a:r>
                        <a:rPr lang="en-US" sz="1400" b="1" dirty="0" smtClean="0">
                          <a:effectLst/>
                        </a:rPr>
                        <a:t>12,000,000</a:t>
                      </a:r>
                      <a:endParaRPr lang="en-US" sz="1400" b="1"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smtClean="0">
                          <a:effectLst/>
                        </a:rPr>
                        <a:t>20.0</a:t>
                      </a:r>
                      <a:r>
                        <a:rPr lang="en-US" sz="1400" b="1" dirty="0">
                          <a:effectLst/>
                        </a:rPr>
                        <a:t>%</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603186">
                <a:tc>
                  <a:txBody>
                    <a:bodyPr/>
                    <a:lstStyle/>
                    <a:p>
                      <a:pPr algn="ctr"/>
                      <a:r>
                        <a:rPr lang="en-US" sz="1400" b="1" dirty="0" smtClean="0">
                          <a:effectLst/>
                        </a:rPr>
                        <a:t>Division  </a:t>
                      </a:r>
                      <a:r>
                        <a:rPr lang="en-US" sz="1400" b="1" dirty="0">
                          <a:effectLst/>
                        </a:rPr>
                        <a:t>B</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       10,000,000</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       </a:t>
                      </a:r>
                      <a:r>
                        <a:rPr lang="en-US" sz="1400" b="1" dirty="0" smtClean="0">
                          <a:effectLst/>
                        </a:rPr>
                        <a:t>10,500,000</a:t>
                      </a:r>
                      <a:endParaRPr lang="en-US" sz="1400" b="1"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smtClean="0">
                          <a:effectLst/>
                        </a:rPr>
                        <a:t>5.0</a:t>
                      </a:r>
                      <a:r>
                        <a:rPr lang="en-US" sz="1400" b="1" dirty="0">
                          <a:effectLst/>
                        </a:rPr>
                        <a:t>%</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603186">
                <a:tc>
                  <a:txBody>
                    <a:bodyPr/>
                    <a:lstStyle/>
                    <a:p>
                      <a:pPr algn="ctr"/>
                      <a:r>
                        <a:rPr lang="en-US" sz="1400" b="1" dirty="0" smtClean="0">
                          <a:effectLst/>
                        </a:rPr>
                        <a:t>Division C</a:t>
                      </a:r>
                      <a:endParaRPr lang="en-US" sz="1400" b="1" dirty="0">
                        <a:effectLst/>
                      </a:endParaRP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       10,000,000</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          8,000,000</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tc>
                  <a:txBody>
                    <a:bodyPr/>
                    <a:lstStyle/>
                    <a:p>
                      <a:pPr algn="ctr"/>
                      <a:r>
                        <a:rPr lang="en-US" sz="1400" b="1" dirty="0">
                          <a:effectLst/>
                        </a:rPr>
                        <a:t>-20.0%</a:t>
                      </a:r>
                    </a:p>
                  </a:txBody>
                  <a:tcPr marL="87709" marR="87709" marT="43855" marB="43855" anchor="ctr">
                    <a:lnL>
                      <a:noFill/>
                    </a:lnL>
                    <a:lnR>
                      <a:noFill/>
                    </a:lnR>
                    <a:lnT>
                      <a:noFill/>
                    </a:lnT>
                    <a:lnB>
                      <a:noFill/>
                    </a:lnB>
                    <a:gradFill>
                      <a:gsLst>
                        <a:gs pos="0">
                          <a:schemeClr val="tx1"/>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bl>
          </a:graphicData>
        </a:graphic>
      </p:graphicFrame>
      <p:sp>
        <p:nvSpPr>
          <p:cNvPr id="8" name="Rectangle 7"/>
          <p:cNvSpPr/>
          <p:nvPr/>
        </p:nvSpPr>
        <p:spPr>
          <a:xfrm>
            <a:off x="914400" y="3657600"/>
            <a:ext cx="7391400" cy="2862322"/>
          </a:xfrm>
          <a:prstGeom prst="rect">
            <a:avLst/>
          </a:prstGeom>
        </p:spPr>
        <p:txBody>
          <a:bodyPr wrap="square">
            <a:spAutoFit/>
          </a:bodyPr>
          <a:lstStyle/>
          <a:p>
            <a:endParaRPr lang="en-US" b="1" dirty="0" smtClean="0"/>
          </a:p>
          <a:p>
            <a:endParaRPr lang="en-US" b="1" dirty="0"/>
          </a:p>
          <a:p>
            <a:pPr marL="285750" indent="-285750" algn="just">
              <a:buFont typeface="Arial" panose="020B0604020202020204" pitchFamily="34" charset="0"/>
              <a:buChar char="•"/>
            </a:pPr>
            <a:r>
              <a:rPr lang="en-US" b="1" dirty="0" smtClean="0"/>
              <a:t>Market </a:t>
            </a:r>
            <a:r>
              <a:rPr lang="en-US" b="1" dirty="0"/>
              <a:t>growth rates in excess of </a:t>
            </a:r>
            <a:r>
              <a:rPr lang="en-US" b="1" dirty="0" smtClean="0"/>
              <a:t>20</a:t>
            </a:r>
            <a:r>
              <a:rPr lang="en-US" b="1" dirty="0"/>
              <a:t>% per year are reflective of the introduction and growth stage of the </a:t>
            </a:r>
            <a:r>
              <a:rPr lang="en-US" b="1" dirty="0">
                <a:hlinkClick r:id="rId2"/>
              </a:rPr>
              <a:t>product lifecycle</a:t>
            </a:r>
            <a:r>
              <a:rPr lang="en-US" b="1" dirty="0"/>
              <a:t> and </a:t>
            </a:r>
            <a:r>
              <a:rPr lang="en-US" b="1" dirty="0" smtClean="0"/>
              <a:t>would </a:t>
            </a:r>
            <a:r>
              <a:rPr lang="en-US" b="1" dirty="0"/>
              <a:t>be classified as either stars or question marks</a:t>
            </a:r>
            <a:r>
              <a:rPr lang="en-US" b="1" dirty="0" smtClean="0"/>
              <a:t>.</a:t>
            </a:r>
          </a:p>
          <a:p>
            <a:pPr algn="just"/>
            <a:endParaRPr lang="en-US" b="1" dirty="0"/>
          </a:p>
          <a:p>
            <a:pPr marL="285750" indent="-285750" algn="just">
              <a:buFont typeface="Arial" panose="020B0604020202020204" pitchFamily="34" charset="0"/>
              <a:buChar char="•"/>
            </a:pPr>
            <a:r>
              <a:rPr lang="en-US" b="1" dirty="0"/>
              <a:t>Whereas markets growing by less </a:t>
            </a:r>
            <a:r>
              <a:rPr lang="en-US" b="1"/>
              <a:t>than </a:t>
            </a:r>
            <a:r>
              <a:rPr lang="en-US" b="1" smtClean="0"/>
              <a:t>20</a:t>
            </a:r>
            <a:r>
              <a:rPr lang="en-US" b="1" dirty="0"/>
              <a:t>% a year (or perhaps even negative) would be in the maturity or decline stage of the product lifecycle and would include portfolios that would be classified as either cash cows or dogs.</a:t>
            </a:r>
          </a:p>
        </p:txBody>
      </p:sp>
    </p:spTree>
    <p:extLst>
      <p:ext uri="{BB962C8B-B14F-4D97-AF65-F5344CB8AC3E}">
        <p14:creationId xmlns:p14="http://schemas.microsoft.com/office/powerpoint/2010/main" val="20678028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024744" cy="1143000"/>
          </a:xfrm>
        </p:spPr>
        <p:txBody>
          <a:bodyPr>
            <a:normAutofit fontScale="90000"/>
          </a:bodyPr>
          <a:lstStyle/>
          <a:p>
            <a:r>
              <a:rPr lang="fr-FR" b="1" dirty="0"/>
              <a:t>BCG Matrix</a:t>
            </a:r>
            <a:r>
              <a:rPr lang="fr-FR" dirty="0"/>
              <a:t/>
            </a:r>
            <a:br>
              <a:rPr lang="fr-FR" dirty="0"/>
            </a:br>
            <a:endParaRPr lang="ar-EG"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9200"/>
            <a:ext cx="7848600"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90345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024744" cy="1143000"/>
          </a:xfrm>
        </p:spPr>
        <p:txBody>
          <a:bodyPr>
            <a:normAutofit fontScale="90000"/>
          </a:bodyPr>
          <a:lstStyle/>
          <a:p>
            <a:r>
              <a:rPr lang="fr-FR" b="1" dirty="0"/>
              <a:t>BCG Matrix</a:t>
            </a:r>
            <a:r>
              <a:rPr lang="fr-FR" dirty="0"/>
              <a:t/>
            </a:r>
            <a:br>
              <a:rPr lang="fr-FR" dirty="0"/>
            </a:br>
            <a:endParaRPr lang="ar-EG" dirty="0"/>
          </a:p>
        </p:txBody>
      </p:sp>
      <p:sp>
        <p:nvSpPr>
          <p:cNvPr id="3" name="Rectangle 2"/>
          <p:cNvSpPr/>
          <p:nvPr/>
        </p:nvSpPr>
        <p:spPr>
          <a:xfrm>
            <a:off x="533400" y="1524000"/>
            <a:ext cx="8001000" cy="4170372"/>
          </a:xfrm>
          <a:prstGeom prst="rect">
            <a:avLst/>
          </a:prstGeom>
        </p:spPr>
        <p:txBody>
          <a:bodyPr wrap="square">
            <a:spAutoFit/>
          </a:bodyPr>
          <a:lstStyle/>
          <a:p>
            <a:pPr algn="just"/>
            <a:r>
              <a:rPr lang="en-US" sz="2500" dirty="0"/>
              <a:t>Each of the four quadrants represents a specific combination of relative market share, and growth</a:t>
            </a:r>
            <a:r>
              <a:rPr lang="en-US" sz="2500" dirty="0" smtClean="0"/>
              <a:t>:</a:t>
            </a:r>
          </a:p>
          <a:p>
            <a:pPr algn="just"/>
            <a:r>
              <a:rPr lang="en-US" sz="2600" b="1" u="sng" dirty="0" smtClean="0">
                <a:solidFill>
                  <a:schemeClr val="bg2">
                    <a:lumMod val="50000"/>
                  </a:schemeClr>
                </a:solidFill>
              </a:rPr>
              <a:t>Cash cows</a:t>
            </a:r>
            <a:endParaRPr lang="en-US" sz="2600" b="1" u="sng" dirty="0">
              <a:solidFill>
                <a:schemeClr val="bg2">
                  <a:lumMod val="50000"/>
                </a:schemeClr>
              </a:solidFill>
            </a:endParaRPr>
          </a:p>
          <a:p>
            <a:pPr algn="just"/>
            <a:r>
              <a:rPr lang="en-US" sz="2500" b="1" dirty="0"/>
              <a:t>Low Growth, High Share.</a:t>
            </a:r>
            <a:r>
              <a:rPr lang="en-US" sz="2500" dirty="0"/>
              <a:t> Companies should milk these “cash cows” for cash to reinvest</a:t>
            </a:r>
            <a:r>
              <a:rPr lang="en-US" sz="2500" dirty="0" smtClean="0"/>
              <a:t>. </a:t>
            </a:r>
          </a:p>
          <a:p>
            <a:pPr algn="just"/>
            <a:r>
              <a:rPr lang="en-US" sz="2800" b="1" dirty="0" smtClean="0"/>
              <a:t>Out </a:t>
            </a:r>
            <a:r>
              <a:rPr lang="en-US" sz="2800" b="1" dirty="0"/>
              <a:t>of many products, a particular product becomes responsible for generating a huge chunk of profits for a company</a:t>
            </a:r>
            <a:r>
              <a:rPr lang="en-US" sz="2800" dirty="0"/>
              <a:t>. </a:t>
            </a:r>
            <a:endParaRPr lang="en-US" sz="2800" dirty="0" smtClean="0"/>
          </a:p>
          <a:p>
            <a:pPr algn="just"/>
            <a:r>
              <a:rPr lang="en-US" sz="2800" dirty="0" smtClean="0"/>
              <a:t>Such </a:t>
            </a:r>
            <a:r>
              <a:rPr lang="en-US" sz="2800" dirty="0"/>
              <a:t>products are called cash cows or moneymakers</a:t>
            </a:r>
            <a:r>
              <a:rPr lang="en-US" sz="2800" dirty="0" smtClean="0"/>
              <a:t>.</a:t>
            </a:r>
            <a:endParaRPr lang="en-US" sz="2500" dirty="0"/>
          </a:p>
        </p:txBody>
      </p:sp>
    </p:spTree>
    <p:extLst>
      <p:ext uri="{BB962C8B-B14F-4D97-AF65-F5344CB8AC3E}">
        <p14:creationId xmlns:p14="http://schemas.microsoft.com/office/powerpoint/2010/main" val="955798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024744" cy="1143000"/>
          </a:xfrm>
        </p:spPr>
        <p:txBody>
          <a:bodyPr>
            <a:normAutofit fontScale="90000"/>
          </a:bodyPr>
          <a:lstStyle/>
          <a:p>
            <a:r>
              <a:rPr lang="fr-FR" b="1" dirty="0"/>
              <a:t>BCG Matrix</a:t>
            </a:r>
            <a:r>
              <a:rPr lang="fr-FR" dirty="0"/>
              <a:t/>
            </a:r>
            <a:br>
              <a:rPr lang="fr-FR" dirty="0"/>
            </a:br>
            <a:endParaRPr lang="ar-EG" dirty="0"/>
          </a:p>
        </p:txBody>
      </p:sp>
      <p:sp>
        <p:nvSpPr>
          <p:cNvPr id="3" name="Rectangle 2"/>
          <p:cNvSpPr/>
          <p:nvPr/>
        </p:nvSpPr>
        <p:spPr>
          <a:xfrm>
            <a:off x="609600" y="1142999"/>
            <a:ext cx="8001000" cy="4262705"/>
          </a:xfrm>
          <a:prstGeom prst="rect">
            <a:avLst/>
          </a:prstGeom>
        </p:spPr>
        <p:txBody>
          <a:bodyPr wrap="square">
            <a:spAutoFit/>
          </a:bodyPr>
          <a:lstStyle/>
          <a:p>
            <a:pPr algn="just"/>
            <a:r>
              <a:rPr lang="en-US" sz="2800" b="1" u="sng" dirty="0" smtClean="0">
                <a:solidFill>
                  <a:schemeClr val="bg2">
                    <a:lumMod val="50000"/>
                  </a:schemeClr>
                </a:solidFill>
              </a:rPr>
              <a:t>Stars</a:t>
            </a:r>
          </a:p>
          <a:p>
            <a:pPr algn="just"/>
            <a:r>
              <a:rPr lang="en-US" sz="2500" b="1" dirty="0" smtClean="0"/>
              <a:t>High </a:t>
            </a:r>
            <a:r>
              <a:rPr lang="en-US" sz="2500" b="1" dirty="0"/>
              <a:t>Growth, High Share.</a:t>
            </a:r>
            <a:r>
              <a:rPr lang="en-US" sz="2500" dirty="0"/>
              <a:t> Companies should significantly invest in these “stars” as they have high future potential</a:t>
            </a:r>
            <a:r>
              <a:rPr lang="en-US" sz="2500" dirty="0" smtClean="0"/>
              <a:t>.</a:t>
            </a:r>
          </a:p>
          <a:p>
            <a:pPr algn="just"/>
            <a:r>
              <a:rPr lang="en-US" sz="2800" b="1" dirty="0"/>
              <a:t>The business units or products with the best market share and generating the most cash</a:t>
            </a:r>
            <a:r>
              <a:rPr lang="en-US" sz="2800" dirty="0"/>
              <a:t> </a:t>
            </a:r>
            <a:r>
              <a:rPr lang="en-US" sz="2800" b="1" dirty="0"/>
              <a:t>are considered Stars</a:t>
            </a:r>
            <a:r>
              <a:rPr lang="en-US" sz="2800" b="1" dirty="0" smtClean="0"/>
              <a:t>.</a:t>
            </a:r>
          </a:p>
          <a:p>
            <a:pPr algn="just"/>
            <a:endParaRPr lang="en-US" sz="2800" b="1" dirty="0"/>
          </a:p>
          <a:p>
            <a:pPr algn="just"/>
            <a:r>
              <a:rPr lang="en-US" sz="2800" b="1" dirty="0" smtClean="0"/>
              <a:t> </a:t>
            </a:r>
            <a:r>
              <a:rPr lang="en-US" sz="2800" b="1" dirty="0"/>
              <a:t>Monopolies and first-to-market products are frequently termed Stars too. </a:t>
            </a:r>
            <a:endParaRPr lang="en-US" sz="2500" b="1" dirty="0"/>
          </a:p>
        </p:txBody>
      </p:sp>
    </p:spTree>
    <p:extLst>
      <p:ext uri="{BB962C8B-B14F-4D97-AF65-F5344CB8AC3E}">
        <p14:creationId xmlns:p14="http://schemas.microsoft.com/office/powerpoint/2010/main" val="7055009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024744" cy="1143000"/>
          </a:xfrm>
        </p:spPr>
        <p:txBody>
          <a:bodyPr>
            <a:normAutofit/>
          </a:bodyPr>
          <a:lstStyle/>
          <a:p>
            <a:r>
              <a:rPr lang="fr-FR" b="1" dirty="0"/>
              <a:t>BCG Matrix</a:t>
            </a:r>
            <a:r>
              <a:rPr lang="fr-FR" dirty="0"/>
              <a:t/>
            </a:r>
            <a:br>
              <a:rPr lang="fr-FR" dirty="0"/>
            </a:br>
            <a:r>
              <a:rPr lang="en-US" sz="2800" b="1" u="sng" dirty="0">
                <a:solidFill>
                  <a:schemeClr val="bg2">
                    <a:lumMod val="50000"/>
                  </a:schemeClr>
                </a:solidFill>
                <a:latin typeface="+mn-lt"/>
                <a:ea typeface="+mn-ea"/>
                <a:cs typeface="+mn-cs"/>
              </a:rPr>
              <a:t>Question marks</a:t>
            </a:r>
            <a:endParaRPr lang="ar-EG" sz="2800" b="1" u="sng" dirty="0">
              <a:solidFill>
                <a:schemeClr val="bg2">
                  <a:lumMod val="50000"/>
                </a:schemeClr>
              </a:solidFill>
              <a:latin typeface="+mn-lt"/>
              <a:ea typeface="+mn-ea"/>
              <a:cs typeface="+mn-cs"/>
            </a:endParaRPr>
          </a:p>
        </p:txBody>
      </p:sp>
      <p:sp>
        <p:nvSpPr>
          <p:cNvPr id="3" name="Rectangle 2"/>
          <p:cNvSpPr/>
          <p:nvPr/>
        </p:nvSpPr>
        <p:spPr>
          <a:xfrm>
            <a:off x="533400" y="1524000"/>
            <a:ext cx="8001000" cy="4601260"/>
          </a:xfrm>
          <a:prstGeom prst="rect">
            <a:avLst/>
          </a:prstGeom>
        </p:spPr>
        <p:txBody>
          <a:bodyPr wrap="square">
            <a:spAutoFit/>
          </a:bodyPr>
          <a:lstStyle/>
          <a:p>
            <a:pPr algn="just"/>
            <a:r>
              <a:rPr lang="en-US" sz="2500" b="1" dirty="0"/>
              <a:t>High Growth, Low Share.</a:t>
            </a:r>
            <a:r>
              <a:rPr lang="en-US" sz="2500" dirty="0"/>
              <a:t> Companies should invest in or discard these “</a:t>
            </a:r>
            <a:r>
              <a:rPr lang="en-US" sz="2500" b="1" dirty="0"/>
              <a:t>question marks</a:t>
            </a:r>
            <a:r>
              <a:rPr lang="en-US" sz="2500" dirty="0"/>
              <a:t>,” depending on their chances of becoming stars</a:t>
            </a:r>
            <a:r>
              <a:rPr lang="en-US" sz="2500" dirty="0" smtClean="0"/>
              <a:t>.</a:t>
            </a:r>
          </a:p>
          <a:p>
            <a:pPr algn="just"/>
            <a:endParaRPr lang="en-US" sz="2500" dirty="0"/>
          </a:p>
          <a:p>
            <a:pPr algn="just"/>
            <a:r>
              <a:rPr lang="en-US" sz="2800" dirty="0"/>
              <a:t>Question marks are the most managerially intensive products and require extensive investment and resources to increase their market share. Investments in question marks are typically funded by cash flows from the cash cow quadrant.</a:t>
            </a:r>
            <a:endParaRPr lang="en-US" sz="2500" dirty="0"/>
          </a:p>
          <a:p>
            <a:pPr algn="just"/>
            <a:endParaRPr lang="en-US" sz="2500" dirty="0"/>
          </a:p>
        </p:txBody>
      </p:sp>
    </p:spTree>
    <p:extLst>
      <p:ext uri="{BB962C8B-B14F-4D97-AF65-F5344CB8AC3E}">
        <p14:creationId xmlns:p14="http://schemas.microsoft.com/office/powerpoint/2010/main" val="39974319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7024744" cy="762000"/>
          </a:xfrm>
        </p:spPr>
        <p:txBody>
          <a:bodyPr>
            <a:normAutofit fontScale="90000"/>
          </a:bodyPr>
          <a:lstStyle/>
          <a:p>
            <a:r>
              <a:rPr lang="fr-FR" b="1" dirty="0" smtClean="0"/>
              <a:t/>
            </a:r>
            <a:br>
              <a:rPr lang="fr-FR" b="1" dirty="0" smtClean="0"/>
            </a:br>
            <a:r>
              <a:rPr lang="fr-FR" b="1" dirty="0"/>
              <a:t/>
            </a:r>
            <a:br>
              <a:rPr lang="fr-FR" b="1" dirty="0"/>
            </a:br>
            <a:r>
              <a:rPr lang="fr-FR" b="1" dirty="0" smtClean="0"/>
              <a:t/>
            </a:r>
            <a:br>
              <a:rPr lang="fr-FR" b="1" dirty="0" smtClean="0"/>
            </a:br>
            <a:r>
              <a:rPr lang="fr-FR" b="1" dirty="0" smtClean="0"/>
              <a:t>BCG Matrix</a:t>
            </a:r>
            <a:r>
              <a:rPr lang="fr-FR" dirty="0" smtClean="0"/>
              <a:t/>
            </a:r>
            <a:br>
              <a:rPr lang="fr-FR" dirty="0" smtClean="0"/>
            </a:br>
            <a:r>
              <a:rPr lang="fr-FR" sz="3100" b="1" dirty="0" err="1" smtClean="0"/>
              <a:t>Dogs</a:t>
            </a:r>
            <a:endParaRPr lang="ar-EG" sz="3100" b="1" dirty="0"/>
          </a:p>
        </p:txBody>
      </p:sp>
      <p:sp>
        <p:nvSpPr>
          <p:cNvPr id="3" name="Rectangle 2"/>
          <p:cNvSpPr/>
          <p:nvPr/>
        </p:nvSpPr>
        <p:spPr>
          <a:xfrm>
            <a:off x="533400" y="1524000"/>
            <a:ext cx="8001000" cy="3831818"/>
          </a:xfrm>
          <a:prstGeom prst="rect">
            <a:avLst/>
          </a:prstGeom>
        </p:spPr>
        <p:txBody>
          <a:bodyPr wrap="square">
            <a:spAutoFit/>
          </a:bodyPr>
          <a:lstStyle/>
          <a:p>
            <a:pPr algn="just"/>
            <a:endParaRPr lang="en-US" sz="2500" b="1" dirty="0" smtClean="0"/>
          </a:p>
          <a:p>
            <a:pPr algn="just"/>
            <a:r>
              <a:rPr lang="en-US" sz="2500" b="1" dirty="0" smtClean="0"/>
              <a:t>Low </a:t>
            </a:r>
            <a:r>
              <a:rPr lang="en-US" sz="2500" b="1" dirty="0"/>
              <a:t>Share, Low Growth.</a:t>
            </a:r>
            <a:r>
              <a:rPr lang="en-US" sz="2500" dirty="0"/>
              <a:t> Companies should liquidate, divest, or reposition these “pets</a:t>
            </a:r>
            <a:r>
              <a:rPr lang="en-US" sz="2500" dirty="0" smtClean="0"/>
              <a:t>.”</a:t>
            </a:r>
          </a:p>
          <a:p>
            <a:pPr algn="just"/>
            <a:r>
              <a:rPr lang="en-US" sz="2800" dirty="0"/>
              <a:t>Products in the dogs quadrant are in a market that is growing slowly and where the product(s) have a low market share. </a:t>
            </a:r>
            <a:endParaRPr lang="en-US" sz="2800" dirty="0" smtClean="0"/>
          </a:p>
          <a:p>
            <a:pPr algn="just"/>
            <a:endParaRPr lang="en-US" sz="2800" dirty="0"/>
          </a:p>
          <a:p>
            <a:pPr algn="just"/>
            <a:r>
              <a:rPr lang="en-US" sz="2800" dirty="0" smtClean="0"/>
              <a:t>Firms </a:t>
            </a:r>
            <a:r>
              <a:rPr lang="en-US" sz="2800" dirty="0"/>
              <a:t>typically phase out products in the dogs </a:t>
            </a:r>
            <a:r>
              <a:rPr lang="en-US" sz="2800" dirty="0" smtClean="0"/>
              <a:t>quadrant.</a:t>
            </a:r>
            <a:endParaRPr lang="en-US" sz="2500" dirty="0"/>
          </a:p>
        </p:txBody>
      </p:sp>
    </p:spTree>
    <p:extLst>
      <p:ext uri="{BB962C8B-B14F-4D97-AF65-F5344CB8AC3E}">
        <p14:creationId xmlns:p14="http://schemas.microsoft.com/office/powerpoint/2010/main" val="7581655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024744" cy="1143000"/>
          </a:xfrm>
        </p:spPr>
        <p:txBody>
          <a:bodyPr>
            <a:normAutofit fontScale="90000"/>
          </a:bodyPr>
          <a:lstStyle/>
          <a:p>
            <a:r>
              <a:rPr lang="fr-FR" b="1" dirty="0"/>
              <a:t>BCG Matrix</a:t>
            </a:r>
            <a:r>
              <a:rPr lang="fr-FR" dirty="0"/>
              <a:t/>
            </a:r>
            <a:br>
              <a:rPr lang="fr-FR" dirty="0"/>
            </a:br>
            <a:endParaRPr lang="ar-EG" dirty="0"/>
          </a:p>
        </p:txBody>
      </p:sp>
      <p:pic>
        <p:nvPicPr>
          <p:cNvPr id="1024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990600"/>
            <a:ext cx="8001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514600" y="2362200"/>
            <a:ext cx="5867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981200" y="2667000"/>
            <a:ext cx="381000" cy="304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89944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1143000"/>
          </a:xfrm>
        </p:spPr>
        <p:txBody>
          <a:bodyPr/>
          <a:lstStyle/>
          <a:p>
            <a:r>
              <a:rPr lang="fr-FR" b="1" dirty="0"/>
              <a:t>BCG Matrix</a:t>
            </a:r>
            <a:endParaRPr lang="ar-EG" dirty="0"/>
          </a:p>
        </p:txBody>
      </p:sp>
      <p:sp>
        <p:nvSpPr>
          <p:cNvPr id="3" name="Content Placeholder 2"/>
          <p:cNvSpPr>
            <a:spLocks noGrp="1"/>
          </p:cNvSpPr>
          <p:nvPr>
            <p:ph idx="1"/>
          </p:nvPr>
        </p:nvSpPr>
        <p:spPr>
          <a:xfrm>
            <a:off x="533400" y="1600200"/>
            <a:ext cx="8077200" cy="4232429"/>
          </a:xfrm>
        </p:spPr>
        <p:txBody>
          <a:bodyPr>
            <a:normAutofit fontScale="92500" lnSpcReduction="10000"/>
          </a:bodyPr>
          <a:lstStyle/>
          <a:p>
            <a:pPr marL="68580" indent="0" algn="l" rtl="0">
              <a:buNone/>
            </a:pPr>
            <a:r>
              <a:rPr lang="en-US" sz="3000" b="1" u="sng" dirty="0" smtClean="0">
                <a:solidFill>
                  <a:schemeClr val="accent1">
                    <a:lumMod val="75000"/>
                  </a:schemeClr>
                </a:solidFill>
              </a:rPr>
              <a:t>Three important observations of figure </a:t>
            </a:r>
            <a:r>
              <a:rPr lang="en-US" sz="3000" b="1" u="sng" dirty="0">
                <a:solidFill>
                  <a:schemeClr val="accent1">
                    <a:lumMod val="75000"/>
                  </a:schemeClr>
                </a:solidFill>
              </a:rPr>
              <a:t>(6-6</a:t>
            </a:r>
            <a:r>
              <a:rPr lang="en-US" sz="3000" b="1" u="sng" dirty="0" smtClean="0">
                <a:solidFill>
                  <a:schemeClr val="accent1">
                    <a:lumMod val="75000"/>
                  </a:schemeClr>
                </a:solidFill>
              </a:rPr>
              <a:t>)</a:t>
            </a:r>
          </a:p>
          <a:p>
            <a:pPr algn="l" rtl="0"/>
            <a:r>
              <a:rPr lang="en-US" b="1" dirty="0" smtClean="0"/>
              <a:t>1- There are three circles only</a:t>
            </a:r>
          </a:p>
          <a:p>
            <a:pPr marL="68580" indent="0" algn="l" rtl="0">
              <a:buNone/>
            </a:pPr>
            <a:r>
              <a:rPr lang="en-US" dirty="0" smtClean="0"/>
              <a:t>This means that there are three divisions in this company (i.e. 3 product lines, 3 markets, 3 types of customers,….).</a:t>
            </a:r>
          </a:p>
          <a:p>
            <a:pPr algn="l" rtl="0"/>
            <a:r>
              <a:rPr lang="en-US" b="1" dirty="0" smtClean="0"/>
              <a:t>2- There are different sizes of circles</a:t>
            </a:r>
          </a:p>
          <a:p>
            <a:pPr marL="68580" indent="0" algn="l" rtl="0">
              <a:buNone/>
            </a:pPr>
            <a:r>
              <a:rPr lang="en-US" dirty="0" smtClean="0"/>
              <a:t>This means that the size of the circle represents the revenues generated by a specific division, (e.g. </a:t>
            </a:r>
            <a:r>
              <a:rPr lang="en-US" i="1" dirty="0" smtClean="0"/>
              <a:t>the highest revenue is generated from the division located </a:t>
            </a:r>
            <a:r>
              <a:rPr lang="en-US" i="1" smtClean="0"/>
              <a:t>at stars </a:t>
            </a:r>
            <a:r>
              <a:rPr lang="en-US" i="1" dirty="0" smtClean="0"/>
              <a:t>quadrant). </a:t>
            </a:r>
          </a:p>
          <a:p>
            <a:pPr algn="l" rtl="0"/>
            <a:r>
              <a:rPr lang="en-US" b="1" dirty="0" smtClean="0"/>
              <a:t>3- Each circle has two slices</a:t>
            </a:r>
          </a:p>
          <a:p>
            <a:pPr marL="68580" indent="0" algn="l" rtl="0">
              <a:buNone/>
            </a:pPr>
            <a:r>
              <a:rPr lang="en-US" dirty="0" smtClean="0"/>
              <a:t>The shaded one represents the profits generated by the division. </a:t>
            </a:r>
          </a:p>
          <a:p>
            <a:pPr marL="68580" indent="0" algn="l" rtl="0">
              <a:buNone/>
            </a:pPr>
            <a:endParaRPr lang="en-US" b="1" dirty="0" smtClean="0"/>
          </a:p>
          <a:p>
            <a:pPr algn="l" rtl="0"/>
            <a:endParaRPr lang="ar-EG" dirty="0"/>
          </a:p>
        </p:txBody>
      </p:sp>
    </p:spTree>
    <p:extLst>
      <p:ext uri="{BB962C8B-B14F-4D97-AF65-F5344CB8AC3E}">
        <p14:creationId xmlns:p14="http://schemas.microsoft.com/office/powerpoint/2010/main" val="32545843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1143000"/>
          </a:xfrm>
        </p:spPr>
        <p:txBody>
          <a:bodyPr/>
          <a:lstStyle/>
          <a:p>
            <a:r>
              <a:rPr lang="fr-FR" b="1" dirty="0"/>
              <a:t>BCG Matrix</a:t>
            </a:r>
            <a:endParaRPr lang="ar-EG" dirty="0"/>
          </a:p>
        </p:txBody>
      </p:sp>
      <p:graphicFrame>
        <p:nvGraphicFramePr>
          <p:cNvPr id="4" name="Table 3"/>
          <p:cNvGraphicFramePr>
            <a:graphicFrameLocks noGrp="1"/>
          </p:cNvGraphicFramePr>
          <p:nvPr>
            <p:extLst>
              <p:ext uri="{D42A27DB-BD31-4B8C-83A1-F6EECF244321}">
                <p14:modId xmlns:p14="http://schemas.microsoft.com/office/powerpoint/2010/main" val="190473458"/>
              </p:ext>
            </p:extLst>
          </p:nvPr>
        </p:nvGraphicFramePr>
        <p:xfrm>
          <a:off x="762000" y="2133600"/>
          <a:ext cx="6829424" cy="2408699"/>
        </p:xfrm>
        <a:graphic>
          <a:graphicData uri="http://schemas.openxmlformats.org/drawingml/2006/table">
            <a:tbl>
              <a:tblPr rtl="1" firstRow="1" firstCol="1" bandRow="1">
                <a:tableStyleId>{5C22544A-7EE6-4342-B048-85BDC9FD1C3A}</a:tableStyleId>
              </a:tblPr>
              <a:tblGrid>
                <a:gridCol w="838943">
                  <a:extLst>
                    <a:ext uri="{9D8B030D-6E8A-4147-A177-3AD203B41FA5}">
                      <a16:colId xmlns:a16="http://schemas.microsoft.com/office/drawing/2014/main" val="20000"/>
                    </a:ext>
                  </a:extLst>
                </a:gridCol>
                <a:gridCol w="885081">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857250">
                  <a:extLst>
                    <a:ext uri="{9D8B030D-6E8A-4147-A177-3AD203B41FA5}">
                      <a16:colId xmlns:a16="http://schemas.microsoft.com/office/drawing/2014/main" val="20005"/>
                    </a:ext>
                  </a:extLst>
                </a:gridCol>
                <a:gridCol w="987739">
                  <a:extLst>
                    <a:ext uri="{9D8B030D-6E8A-4147-A177-3AD203B41FA5}">
                      <a16:colId xmlns:a16="http://schemas.microsoft.com/office/drawing/2014/main" val="20006"/>
                    </a:ext>
                  </a:extLst>
                </a:gridCol>
                <a:gridCol w="917261">
                  <a:extLst>
                    <a:ext uri="{9D8B030D-6E8A-4147-A177-3AD203B41FA5}">
                      <a16:colId xmlns:a16="http://schemas.microsoft.com/office/drawing/2014/main" val="20007"/>
                    </a:ext>
                  </a:extLst>
                </a:gridCol>
              </a:tblGrid>
              <a:tr h="483271">
                <a:tc>
                  <a:txBody>
                    <a:bodyPr/>
                    <a:lstStyle/>
                    <a:p>
                      <a:pPr marL="0" marR="0" algn="ctr" rtl="0">
                        <a:lnSpc>
                          <a:spcPct val="115000"/>
                        </a:lnSpc>
                        <a:spcBef>
                          <a:spcPts val="0"/>
                        </a:spcBef>
                        <a:spcAft>
                          <a:spcPts val="0"/>
                        </a:spcAft>
                      </a:pPr>
                      <a:r>
                        <a:rPr lang="en-US" sz="1000" dirty="0" smtClean="0">
                          <a:effectLst/>
                          <a:latin typeface="Arial Black" panose="020B0A04020102020204" pitchFamily="34" charset="0"/>
                          <a:cs typeface="+mn-cs"/>
                        </a:rPr>
                        <a:t>%Growth </a:t>
                      </a:r>
                      <a:r>
                        <a:rPr lang="en-US" sz="1000" dirty="0">
                          <a:effectLst/>
                          <a:latin typeface="Arial Black" panose="020B0A04020102020204" pitchFamily="34" charset="0"/>
                          <a:cs typeface="+mn-cs"/>
                        </a:rPr>
                        <a:t>rate</a:t>
                      </a:r>
                      <a:endParaRPr lang="en-US" sz="1000" dirty="0">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dirty="0">
                          <a:effectLst/>
                          <a:latin typeface="Arial Black" panose="020B0A04020102020204" pitchFamily="34" charset="0"/>
                          <a:cs typeface="+mn-cs"/>
                        </a:rPr>
                        <a:t>% Market share</a:t>
                      </a:r>
                      <a:endParaRPr lang="en-US" sz="1000" dirty="0">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dirty="0">
                          <a:effectLst/>
                          <a:latin typeface="Arial Black" panose="020B0A04020102020204" pitchFamily="34" charset="0"/>
                          <a:cs typeface="+mn-cs"/>
                        </a:rPr>
                        <a:t>% Profits</a:t>
                      </a:r>
                      <a:endParaRPr lang="en-US" sz="1000" dirty="0">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dirty="0">
                          <a:effectLst/>
                          <a:latin typeface="Arial Black" panose="020B0A04020102020204" pitchFamily="34" charset="0"/>
                          <a:cs typeface="+mn-cs"/>
                        </a:rPr>
                        <a:t>Profits</a:t>
                      </a:r>
                      <a:endParaRPr lang="en-US" sz="1000" dirty="0">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dirty="0" smtClean="0">
                          <a:effectLst/>
                          <a:latin typeface="Arial Black" panose="020B0A04020102020204" pitchFamily="34" charset="0"/>
                          <a:ea typeface="Calibri"/>
                          <a:cs typeface="+mn-cs"/>
                        </a:rPr>
                        <a:t>Expenses </a:t>
                      </a:r>
                      <a:endParaRPr lang="en-US" sz="1000" dirty="0">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b="1" dirty="0">
                          <a:effectLst>
                            <a:outerShdw blurRad="38100" dist="38100" dir="2700000" algn="tl">
                              <a:srgbClr val="000000">
                                <a:alpha val="43137"/>
                              </a:srgbClr>
                            </a:outerShdw>
                          </a:effectLst>
                          <a:latin typeface="Arial Black" panose="020B0A04020102020204" pitchFamily="34" charset="0"/>
                          <a:cs typeface="+mn-cs"/>
                        </a:rPr>
                        <a:t>% Revenues</a:t>
                      </a:r>
                      <a:endParaRPr lang="en-US" sz="1000" b="1" dirty="0">
                        <a:effectLst>
                          <a:outerShdw blurRad="38100" dist="38100" dir="2700000" algn="tl">
                            <a:srgbClr val="000000">
                              <a:alpha val="43137"/>
                            </a:srgbClr>
                          </a:outerShdw>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dirty="0">
                          <a:effectLst/>
                          <a:latin typeface="Arial Black" panose="020B0A04020102020204" pitchFamily="34" charset="0"/>
                          <a:cs typeface="+mn-cs"/>
                        </a:rPr>
                        <a:t>Revenues</a:t>
                      </a:r>
                      <a:endParaRPr lang="en-US" sz="1000" dirty="0">
                        <a:effectLst/>
                        <a:latin typeface="Arial Black" panose="020B0A04020102020204" pitchFamily="34" charset="0"/>
                        <a:ea typeface="Calibri"/>
                        <a:cs typeface="+mn-cs"/>
                      </a:endParaRPr>
                    </a:p>
                  </a:txBody>
                  <a:tcPr marL="68580" marR="68580" marT="0" marB="0"/>
                </a:tc>
                <a:tc>
                  <a:txBody>
                    <a:bodyPr/>
                    <a:lstStyle/>
                    <a:p>
                      <a:pPr marL="0" marR="0" algn="ctr" rtl="0">
                        <a:lnSpc>
                          <a:spcPct val="115000"/>
                        </a:lnSpc>
                        <a:spcBef>
                          <a:spcPts val="0"/>
                        </a:spcBef>
                        <a:spcAft>
                          <a:spcPts val="0"/>
                        </a:spcAft>
                      </a:pPr>
                      <a:r>
                        <a:rPr lang="en-US" sz="1000" b="1" dirty="0">
                          <a:effectLst/>
                          <a:latin typeface="Arial Black" panose="020B0A04020102020204" pitchFamily="34" charset="0"/>
                          <a:cs typeface="+mn-cs"/>
                        </a:rPr>
                        <a:t>Divisions</a:t>
                      </a:r>
                      <a:endParaRPr lang="en-US" sz="1000" b="1" dirty="0">
                        <a:effectLst/>
                        <a:latin typeface="Arial Black" panose="020B0A04020102020204" pitchFamily="34" charset="0"/>
                        <a:ea typeface="Calibri"/>
                        <a:cs typeface="+mn-cs"/>
                      </a:endParaRPr>
                    </a:p>
                  </a:txBody>
                  <a:tcPr marL="68580" marR="68580" marT="0" marB="0"/>
                </a:tc>
                <a:extLst>
                  <a:ext uri="{0D108BD9-81ED-4DB2-BD59-A6C34878D82A}">
                    <a16:rowId xmlns:a16="http://schemas.microsoft.com/office/drawing/2014/main" val="10000"/>
                  </a:ext>
                </a:extLst>
              </a:tr>
              <a:tr h="506284">
                <a:tc>
                  <a:txBody>
                    <a:bodyPr/>
                    <a:lstStyle/>
                    <a:p>
                      <a:pPr algn="ctr"/>
                      <a:r>
                        <a:rPr lang="en-US" sz="1100" b="1" dirty="0" smtClean="0">
                          <a:solidFill>
                            <a:schemeClr val="tx1"/>
                          </a:solidFill>
                          <a:effectLst/>
                          <a:latin typeface="Arial Black" panose="020B0A04020102020204" pitchFamily="34" charset="0"/>
                        </a:rPr>
                        <a:t>20.0</a:t>
                      </a:r>
                      <a:r>
                        <a:rPr lang="en-US" sz="1100" b="1" kern="1200" dirty="0" smtClean="0">
                          <a:solidFill>
                            <a:schemeClr val="tx1"/>
                          </a:solidFill>
                          <a:effectLst/>
                          <a:latin typeface="Arial Black" panose="020B0A04020102020204" pitchFamily="34" charset="0"/>
                          <a:ea typeface="+mn-ea"/>
                          <a:cs typeface="+mn-cs"/>
                        </a:rPr>
                        <a:t>%</a:t>
                      </a:r>
                      <a:endParaRPr lang="en-US" sz="1100" b="1" dirty="0">
                        <a:solidFill>
                          <a:schemeClr val="tx1"/>
                        </a:solidFill>
                        <a:effectLst/>
                        <a:latin typeface="Arial Black" panose="020B0A04020102020204" pitchFamily="34" charset="0"/>
                      </a:endParaRPr>
                    </a:p>
                  </a:txBody>
                  <a:tcPr marL="87709" marR="87709" marT="43855" marB="43855" anchor="ctr">
                    <a:solidFill>
                      <a:schemeClr val="tx2">
                        <a:lumMod val="20000"/>
                        <a:lumOff val="80000"/>
                      </a:schemeClr>
                    </a:solidFill>
                  </a:tcPr>
                </a:tc>
                <a:tc>
                  <a:txBody>
                    <a:bodyPr/>
                    <a:lstStyle/>
                    <a:p>
                      <a:pPr algn="ctr"/>
                      <a:r>
                        <a:rPr lang="en-US" sz="1100" b="1" dirty="0" smtClean="0">
                          <a:solidFill>
                            <a:schemeClr val="tx1"/>
                          </a:solidFill>
                          <a:effectLst/>
                          <a:latin typeface="Arial Black" panose="020B0A04020102020204" pitchFamily="34" charset="0"/>
                        </a:rPr>
                        <a:t>1.67</a:t>
                      </a:r>
                      <a:endParaRPr lang="en-US" sz="1100" b="1" dirty="0">
                        <a:solidFill>
                          <a:schemeClr val="tx1"/>
                        </a:solidFill>
                        <a:effectLst/>
                        <a:latin typeface="Arial Black" panose="020B0A04020102020204" pitchFamily="34" charset="0"/>
                      </a:endParaRPr>
                    </a:p>
                  </a:txBody>
                  <a:tcPr anchor="ctr">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100" b="1" dirty="0" smtClean="0">
                          <a:solidFill>
                            <a:schemeClr val="tx1"/>
                          </a:solidFill>
                          <a:effectLst/>
                          <a:latin typeface="Arial Black" panose="020B0A04020102020204" pitchFamily="34" charset="0"/>
                          <a:cs typeface="+mn-cs"/>
                        </a:rPr>
                        <a:t>50</a:t>
                      </a:r>
                      <a:r>
                        <a:rPr lang="ar-EG" sz="1100" b="1" dirty="0" smtClean="0">
                          <a:solidFill>
                            <a:schemeClr val="tx1"/>
                          </a:solidFill>
                          <a:effectLst/>
                          <a:latin typeface="Arial Black" panose="020B0A04020102020204" pitchFamily="34" charset="0"/>
                          <a:cs typeface="+mn-cs"/>
                        </a:rPr>
                        <a:t>%</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ar-EG" sz="1100" b="1" dirty="0" smtClean="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$30000</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a:t>
                      </a:r>
                      <a:r>
                        <a:rPr lang="en-US" sz="1100" b="1" dirty="0" smtClean="0">
                          <a:solidFill>
                            <a:schemeClr val="tx1"/>
                          </a:solidFill>
                          <a:effectLst/>
                          <a:latin typeface="Arial Black" panose="020B0A04020102020204" pitchFamily="34" charset="0"/>
                          <a:ea typeface="Calibri"/>
                          <a:cs typeface="+mn-cs"/>
                        </a:rPr>
                        <a:t>40000)</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58</a:t>
                      </a:r>
                      <a:r>
                        <a:rPr lang="ar-EG" sz="1100" b="1" kern="1200" dirty="0" smtClean="0">
                          <a:solidFill>
                            <a:schemeClr val="tx1"/>
                          </a:solidFill>
                          <a:effectLst/>
                          <a:latin typeface="Arial Black" panose="020B0A04020102020204" pitchFamily="34" charset="0"/>
                          <a:ea typeface="+mn-ea"/>
                          <a:cs typeface="+mn-cs"/>
                        </a:rPr>
                        <a:t>%</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$70000</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ea typeface="+mn-ea"/>
                          <a:cs typeface="+mn-cs"/>
                        </a:rPr>
                        <a:t>Division A</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extLst>
                  <a:ext uri="{0D108BD9-81ED-4DB2-BD59-A6C34878D82A}">
                    <a16:rowId xmlns:a16="http://schemas.microsoft.com/office/drawing/2014/main" val="10001"/>
                  </a:ext>
                </a:extLst>
              </a:tr>
              <a:tr h="506284">
                <a:tc>
                  <a:txBody>
                    <a:bodyPr/>
                    <a:lstStyle/>
                    <a:p>
                      <a:pPr algn="ctr"/>
                      <a:r>
                        <a:rPr lang="en-US" sz="1100" b="1" dirty="0" smtClean="0">
                          <a:solidFill>
                            <a:schemeClr val="tx1"/>
                          </a:solidFill>
                          <a:effectLst/>
                          <a:latin typeface="Arial Black" panose="020B0A04020102020204" pitchFamily="34" charset="0"/>
                        </a:rPr>
                        <a:t>5.0</a:t>
                      </a:r>
                      <a:r>
                        <a:rPr lang="en-US" sz="1100" b="1" dirty="0">
                          <a:solidFill>
                            <a:schemeClr val="tx1"/>
                          </a:solidFill>
                          <a:effectLst/>
                          <a:latin typeface="Arial Black" panose="020B0A04020102020204" pitchFamily="34" charset="0"/>
                        </a:rPr>
                        <a:t>%</a:t>
                      </a:r>
                    </a:p>
                  </a:txBody>
                  <a:tcPr marL="87709" marR="87709" marT="43855" marB="43855" anchor="ctr">
                    <a:solidFill>
                      <a:schemeClr val="tx2">
                        <a:lumMod val="20000"/>
                        <a:lumOff val="80000"/>
                      </a:schemeClr>
                    </a:solidFill>
                  </a:tcPr>
                </a:tc>
                <a:tc>
                  <a:txBody>
                    <a:bodyPr/>
                    <a:lstStyle/>
                    <a:p>
                      <a:pPr algn="ctr"/>
                      <a:r>
                        <a:rPr lang="en-US" sz="1100" b="1" dirty="0" smtClean="0">
                          <a:solidFill>
                            <a:schemeClr val="tx1"/>
                          </a:solidFill>
                          <a:effectLst/>
                          <a:latin typeface="Arial Black" panose="020B0A04020102020204" pitchFamily="34" charset="0"/>
                        </a:rPr>
                        <a:t>1.50</a:t>
                      </a:r>
                      <a:endParaRPr lang="en-US" sz="1100" b="1" dirty="0">
                        <a:solidFill>
                          <a:schemeClr val="tx1"/>
                        </a:solidFill>
                        <a:effectLst/>
                        <a:latin typeface="Arial Black" panose="020B0A04020102020204" pitchFamily="34" charset="0"/>
                      </a:endParaRPr>
                    </a:p>
                  </a:txBody>
                  <a:tcPr anchor="ctr">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100" b="1" dirty="0" smtClean="0">
                          <a:solidFill>
                            <a:schemeClr val="tx1"/>
                          </a:solidFill>
                          <a:effectLst/>
                          <a:latin typeface="Arial Black" panose="020B0A04020102020204" pitchFamily="34" charset="0"/>
                          <a:cs typeface="+mn-cs"/>
                        </a:rPr>
                        <a:t>33%</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ar-EG" sz="1100" b="1" dirty="0">
                          <a:solidFill>
                            <a:schemeClr val="tx1"/>
                          </a:solidFill>
                          <a:effectLst/>
                          <a:latin typeface="Arial Black" panose="020B0A04020102020204" pitchFamily="34" charset="0"/>
                          <a:cs typeface="+mn-cs"/>
                        </a:rPr>
                        <a:t> </a:t>
                      </a:r>
                      <a:r>
                        <a:rPr lang="ar-EG" sz="1100" b="1" dirty="0" smtClean="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$20000</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a:t>
                      </a:r>
                      <a:r>
                        <a:rPr lang="en-US" sz="1100" b="1" dirty="0" smtClean="0">
                          <a:solidFill>
                            <a:schemeClr val="tx1"/>
                          </a:solidFill>
                          <a:effectLst/>
                          <a:latin typeface="Arial Black" panose="020B0A04020102020204" pitchFamily="34" charset="0"/>
                          <a:ea typeface="Calibri"/>
                          <a:cs typeface="+mn-cs"/>
                        </a:rPr>
                        <a:t>10000)</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25</a:t>
                      </a:r>
                      <a:r>
                        <a:rPr lang="ar-EG" sz="1100" b="1" kern="1200" dirty="0" smtClean="0">
                          <a:solidFill>
                            <a:schemeClr val="tx1"/>
                          </a:solidFill>
                          <a:effectLst/>
                          <a:latin typeface="Arial Black" panose="020B0A04020102020204" pitchFamily="34" charset="0"/>
                          <a:ea typeface="+mn-ea"/>
                          <a:cs typeface="+mn-cs"/>
                        </a:rPr>
                        <a:t>%</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$30000</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ea typeface="+mn-ea"/>
                          <a:cs typeface="+mn-cs"/>
                        </a:rPr>
                        <a:t>Division B</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extLst>
                  <a:ext uri="{0D108BD9-81ED-4DB2-BD59-A6C34878D82A}">
                    <a16:rowId xmlns:a16="http://schemas.microsoft.com/office/drawing/2014/main" val="10002"/>
                  </a:ext>
                </a:extLst>
              </a:tr>
              <a:tr h="398019">
                <a:tc>
                  <a:txBody>
                    <a:bodyPr/>
                    <a:lstStyle/>
                    <a:p>
                      <a:pPr algn="ctr"/>
                      <a:r>
                        <a:rPr lang="en-US" sz="1100" b="1" dirty="0">
                          <a:solidFill>
                            <a:schemeClr val="tx1"/>
                          </a:solidFill>
                          <a:effectLst/>
                          <a:latin typeface="Arial Black" panose="020B0A04020102020204" pitchFamily="34" charset="0"/>
                        </a:rPr>
                        <a:t>-20.0%</a:t>
                      </a:r>
                    </a:p>
                  </a:txBody>
                  <a:tcPr marL="87709" marR="87709" marT="43855" marB="43855" anchor="ctr">
                    <a:solidFill>
                      <a:schemeClr val="tx2">
                        <a:lumMod val="20000"/>
                        <a:lumOff val="80000"/>
                      </a:schemeClr>
                    </a:solidFill>
                  </a:tcPr>
                </a:tc>
                <a:tc>
                  <a:txBody>
                    <a:bodyPr/>
                    <a:lstStyle/>
                    <a:p>
                      <a:pPr algn="ctr"/>
                      <a:r>
                        <a:rPr lang="en-US" sz="1100" b="1" dirty="0">
                          <a:solidFill>
                            <a:schemeClr val="tx1"/>
                          </a:solidFill>
                          <a:effectLst/>
                          <a:latin typeface="Arial Black" panose="020B0A04020102020204" pitchFamily="34" charset="0"/>
                        </a:rPr>
                        <a:t>0.40</a:t>
                      </a:r>
                    </a:p>
                  </a:txBody>
                  <a:tcPr anchor="ctr">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17</a:t>
                      </a:r>
                      <a:r>
                        <a:rPr lang="ar-EG" sz="1100" b="1" dirty="0" smtClean="0">
                          <a:solidFill>
                            <a:schemeClr val="tx1"/>
                          </a:solidFill>
                          <a:effectLst/>
                          <a:latin typeface="Arial Black" panose="020B0A04020102020204" pitchFamily="34" charset="0"/>
                          <a:cs typeface="+mn-cs"/>
                        </a:rPr>
                        <a:t>%</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ar-EG" sz="1100" b="1" dirty="0" smtClean="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$10000</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a:t>
                      </a:r>
                      <a:r>
                        <a:rPr lang="en-US" sz="1100" b="1" dirty="0" smtClean="0">
                          <a:solidFill>
                            <a:schemeClr val="tx1"/>
                          </a:solidFill>
                          <a:effectLst/>
                          <a:latin typeface="Arial Black" panose="020B0A04020102020204" pitchFamily="34" charset="0"/>
                          <a:ea typeface="Calibri"/>
                          <a:cs typeface="+mn-cs"/>
                        </a:rPr>
                        <a:t>10000)</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17</a:t>
                      </a:r>
                      <a:r>
                        <a:rPr lang="ar-EG" sz="1100" b="1" kern="1200" dirty="0" smtClean="0">
                          <a:solidFill>
                            <a:schemeClr val="tx1"/>
                          </a:solidFill>
                          <a:effectLst/>
                          <a:latin typeface="Arial Black" panose="020B0A04020102020204" pitchFamily="34" charset="0"/>
                          <a:ea typeface="+mn-ea"/>
                          <a:cs typeface="+mn-cs"/>
                        </a:rPr>
                        <a:t>%</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ar-EG" sz="1100" b="1" dirty="0" smtClean="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$20000</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ea typeface="+mn-ea"/>
                          <a:cs typeface="+mn-cs"/>
                        </a:rPr>
                        <a:t>Division C</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extLst>
                  <a:ext uri="{0D108BD9-81ED-4DB2-BD59-A6C34878D82A}">
                    <a16:rowId xmlns:a16="http://schemas.microsoft.com/office/drawing/2014/main" val="10003"/>
                  </a:ext>
                </a:extLst>
              </a:tr>
              <a:tr h="514841">
                <a:tc>
                  <a:txBody>
                    <a:bodyPr/>
                    <a:lstStyle/>
                    <a:p>
                      <a:pPr marL="0" marR="0" algn="ctr" defTabSz="914400" rtl="0" eaLnBrk="1" latinLnBrk="0" hangingPunct="1">
                        <a:lnSpc>
                          <a:spcPct val="115000"/>
                        </a:lnSpc>
                        <a:spcBef>
                          <a:spcPts val="0"/>
                        </a:spcBef>
                        <a:spcAft>
                          <a:spcPts val="0"/>
                        </a:spcAft>
                      </a:pPr>
                      <a:endParaRPr lang="en-US" sz="1100" b="1" kern="1200" dirty="0">
                        <a:solidFill>
                          <a:schemeClr val="tx1"/>
                        </a:solidFill>
                        <a:effectLst/>
                        <a:latin typeface="Arial Black" panose="020B0A04020102020204" pitchFamily="34" charset="0"/>
                        <a:ea typeface="+mn-ea"/>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100</a:t>
                      </a:r>
                      <a:r>
                        <a:rPr lang="ar-EG" sz="1100" b="1" dirty="0" smtClean="0">
                          <a:solidFill>
                            <a:schemeClr val="tx1"/>
                          </a:solidFill>
                          <a:effectLst/>
                          <a:latin typeface="Arial Black" panose="020B0A04020102020204" pitchFamily="34" charset="0"/>
                          <a:cs typeface="+mn-cs"/>
                        </a:rPr>
                        <a:t>%</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ar-EG" sz="1100" b="1" dirty="0">
                          <a:solidFill>
                            <a:schemeClr val="tx1"/>
                          </a:solidFill>
                          <a:effectLst/>
                          <a:latin typeface="Arial Black" panose="020B0A04020102020204" pitchFamily="34" charset="0"/>
                          <a:cs typeface="+mn-cs"/>
                        </a:rPr>
                        <a:t> </a:t>
                      </a:r>
                      <a:r>
                        <a:rPr lang="ar-EG" sz="1100" b="1" dirty="0" smtClean="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$60000</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100" b="1" dirty="0" smtClean="0">
                          <a:solidFill>
                            <a:schemeClr val="tx1"/>
                          </a:solidFill>
                          <a:effectLst/>
                          <a:latin typeface="Arial Black" panose="020B0A04020102020204" pitchFamily="34" charset="0"/>
                          <a:cs typeface="+mn-cs"/>
                        </a:rPr>
                        <a:t>($</a:t>
                      </a:r>
                      <a:r>
                        <a:rPr lang="en-US" sz="1100" b="1" dirty="0" smtClean="0">
                          <a:solidFill>
                            <a:schemeClr val="tx1"/>
                          </a:solidFill>
                          <a:effectLst/>
                          <a:latin typeface="Arial Black" panose="020B0A04020102020204" pitchFamily="34" charset="0"/>
                          <a:ea typeface="Calibri"/>
                          <a:cs typeface="+mn-cs"/>
                        </a:rPr>
                        <a:t>60000)</a:t>
                      </a:r>
                    </a:p>
                    <a:p>
                      <a:pPr marL="0" marR="0" algn="ctr" rtl="0">
                        <a:lnSpc>
                          <a:spcPct val="115000"/>
                        </a:lnSpc>
                        <a:spcBef>
                          <a:spcPts val="0"/>
                        </a:spcBef>
                        <a:spcAft>
                          <a:spcPts val="0"/>
                        </a:spcAft>
                      </a:pP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ar-EG" sz="1100" b="1" dirty="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100</a:t>
                      </a:r>
                      <a:r>
                        <a:rPr lang="ar-EG" sz="1100" b="1" kern="1200" dirty="0" smtClean="0">
                          <a:solidFill>
                            <a:schemeClr val="tx1"/>
                          </a:solidFill>
                          <a:effectLst/>
                          <a:latin typeface="Arial Black" panose="020B0A04020102020204" pitchFamily="34" charset="0"/>
                          <a:ea typeface="+mn-ea"/>
                          <a:cs typeface="+mn-cs"/>
                        </a:rPr>
                        <a:t>%</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ar-EG" sz="1100" b="1" dirty="0">
                          <a:solidFill>
                            <a:schemeClr val="tx1"/>
                          </a:solidFill>
                          <a:effectLst/>
                          <a:latin typeface="Arial Black" panose="020B0A04020102020204" pitchFamily="34" charset="0"/>
                          <a:cs typeface="+mn-cs"/>
                        </a:rPr>
                        <a:t> </a:t>
                      </a:r>
                      <a:r>
                        <a:rPr lang="ar-EG" sz="1100" b="1" dirty="0" smtClean="0">
                          <a:solidFill>
                            <a:schemeClr val="tx1"/>
                          </a:solidFill>
                          <a:effectLst/>
                          <a:latin typeface="Arial Black" panose="020B0A04020102020204" pitchFamily="34" charset="0"/>
                          <a:cs typeface="+mn-cs"/>
                        </a:rPr>
                        <a:t> </a:t>
                      </a:r>
                      <a:r>
                        <a:rPr lang="en-US" sz="1100" b="1" dirty="0" smtClean="0">
                          <a:solidFill>
                            <a:schemeClr val="tx1"/>
                          </a:solidFill>
                          <a:effectLst/>
                          <a:latin typeface="Arial Black" panose="020B0A04020102020204" pitchFamily="34" charset="0"/>
                          <a:cs typeface="+mn-cs"/>
                        </a:rPr>
                        <a:t>$120000</a:t>
                      </a:r>
                      <a:endParaRPr lang="en-US" sz="1100" b="1" dirty="0" smtClean="0">
                        <a:solidFill>
                          <a:schemeClr val="tx1"/>
                        </a:solidFill>
                        <a:effectLst/>
                        <a:latin typeface="Arial Black" panose="020B0A04020102020204" pitchFamily="34" charset="0"/>
                        <a:ea typeface="Calibri"/>
                        <a:cs typeface="+mn-cs"/>
                      </a:endParaRPr>
                    </a:p>
                    <a:p>
                      <a:pPr marL="0" marR="0" algn="ctr" rtl="0">
                        <a:lnSpc>
                          <a:spcPct val="115000"/>
                        </a:lnSpc>
                        <a:spcBef>
                          <a:spcPts val="0"/>
                        </a:spcBef>
                        <a:spcAft>
                          <a:spcPts val="0"/>
                        </a:spcAft>
                      </a:pP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tc>
                  <a:txBody>
                    <a:bodyPr/>
                    <a:lstStyle/>
                    <a:p>
                      <a:pPr marL="0" marR="0" algn="ctr" rtl="0">
                        <a:lnSpc>
                          <a:spcPct val="115000"/>
                        </a:lnSpc>
                        <a:spcBef>
                          <a:spcPts val="0"/>
                        </a:spcBef>
                        <a:spcAft>
                          <a:spcPts val="0"/>
                        </a:spcAft>
                      </a:pPr>
                      <a:r>
                        <a:rPr lang="en-US" sz="1100" b="1" dirty="0" smtClean="0">
                          <a:solidFill>
                            <a:schemeClr val="tx1"/>
                          </a:solidFill>
                          <a:effectLst/>
                          <a:latin typeface="Arial Black" panose="020B0A04020102020204" pitchFamily="34" charset="0"/>
                          <a:cs typeface="+mn-cs"/>
                        </a:rPr>
                        <a:t>Total</a:t>
                      </a:r>
                      <a:r>
                        <a:rPr lang="en-US" sz="1100" b="1" baseline="0" dirty="0" smtClean="0">
                          <a:solidFill>
                            <a:schemeClr val="tx1"/>
                          </a:solidFill>
                          <a:effectLst/>
                          <a:latin typeface="Arial Black" panose="020B0A04020102020204" pitchFamily="34" charset="0"/>
                          <a:cs typeface="+mn-cs"/>
                        </a:rPr>
                        <a:t> </a:t>
                      </a:r>
                      <a:r>
                        <a:rPr lang="ar-EG" sz="1100" b="1" dirty="0">
                          <a:solidFill>
                            <a:schemeClr val="tx1"/>
                          </a:solidFill>
                          <a:effectLst/>
                          <a:latin typeface="Arial Black" panose="020B0A04020102020204" pitchFamily="34" charset="0"/>
                          <a:cs typeface="+mn-cs"/>
                        </a:rPr>
                        <a:t> </a:t>
                      </a:r>
                      <a:endParaRPr lang="en-US" sz="1100" b="1" dirty="0">
                        <a:solidFill>
                          <a:schemeClr val="tx1"/>
                        </a:solidFill>
                        <a:effectLst/>
                        <a:latin typeface="Arial Black" panose="020B0A04020102020204" pitchFamily="34" charset="0"/>
                        <a:ea typeface="Calibri"/>
                        <a:cs typeface="+mn-cs"/>
                      </a:endParaRPr>
                    </a:p>
                  </a:txBody>
                  <a:tcPr marL="68580" marR="68580" marT="0" marB="0">
                    <a:solidFill>
                      <a:schemeClr val="tx2">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488923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7024744" cy="1143000"/>
          </a:xfrm>
        </p:spPr>
        <p:txBody>
          <a:bodyPr/>
          <a:lstStyle/>
          <a:p>
            <a:r>
              <a:rPr lang="fr-FR" b="1" dirty="0"/>
              <a:t>BCG Matrix</a:t>
            </a:r>
            <a:endParaRPr lang="ar-EG" dirty="0"/>
          </a:p>
        </p:txBody>
      </p:sp>
      <p:sp>
        <p:nvSpPr>
          <p:cNvPr id="3" name="Content Placeholder 2"/>
          <p:cNvSpPr>
            <a:spLocks noGrp="1"/>
          </p:cNvSpPr>
          <p:nvPr>
            <p:ph idx="1"/>
          </p:nvPr>
        </p:nvSpPr>
        <p:spPr>
          <a:xfrm>
            <a:off x="533400" y="1600200"/>
            <a:ext cx="8229600" cy="4232429"/>
          </a:xfrm>
        </p:spPr>
        <p:txBody>
          <a:bodyPr>
            <a:normAutofit/>
          </a:bodyPr>
          <a:lstStyle/>
          <a:p>
            <a:pPr marL="68580" indent="0" algn="l" rtl="0">
              <a:buNone/>
            </a:pPr>
            <a:r>
              <a:rPr lang="en-US" b="1" dirty="0" smtClean="0"/>
              <a:t>Notes</a:t>
            </a:r>
          </a:p>
          <a:p>
            <a:pPr marL="68580" indent="0" algn="l" rtl="0">
              <a:buNone/>
            </a:pPr>
            <a:r>
              <a:rPr lang="en-US" b="1" dirty="0" smtClean="0"/>
              <a:t>1- How many circles that we have?</a:t>
            </a:r>
          </a:p>
          <a:p>
            <a:pPr marL="68580" indent="0" algn="l" rtl="0">
              <a:buNone/>
            </a:pPr>
            <a:r>
              <a:rPr lang="en-US" b="1" u="sng" dirty="0" smtClean="0"/>
              <a:t>3 circles as we have 3 divisions</a:t>
            </a:r>
          </a:p>
          <a:p>
            <a:pPr marL="68580" indent="0" algn="l" rtl="0">
              <a:buNone/>
            </a:pPr>
            <a:r>
              <a:rPr lang="en-US" b="1" dirty="0" smtClean="0"/>
              <a:t>2- Where can we locate them?</a:t>
            </a:r>
          </a:p>
          <a:p>
            <a:pPr marL="68580" indent="0" algn="l" rtl="0">
              <a:buNone/>
            </a:pPr>
            <a:r>
              <a:rPr lang="en-US" b="1" dirty="0" smtClean="0"/>
              <a:t>Division A: Stars</a:t>
            </a:r>
          </a:p>
          <a:p>
            <a:pPr marL="68580" indent="0" algn="l" rtl="0">
              <a:buNone/>
            </a:pPr>
            <a:r>
              <a:rPr lang="en-US" b="1" dirty="0"/>
              <a:t>Division B</a:t>
            </a:r>
            <a:r>
              <a:rPr lang="en-US" b="1" dirty="0" smtClean="0"/>
              <a:t>: Cash cows</a:t>
            </a:r>
          </a:p>
          <a:p>
            <a:pPr marL="68580" indent="0" algn="l" rtl="0">
              <a:buNone/>
            </a:pPr>
            <a:r>
              <a:rPr lang="en-US" b="1" dirty="0"/>
              <a:t>Division C</a:t>
            </a:r>
            <a:r>
              <a:rPr lang="en-US" b="1" dirty="0" smtClean="0"/>
              <a:t>: Dogs</a:t>
            </a:r>
            <a:endParaRPr lang="en-US" b="1" dirty="0"/>
          </a:p>
          <a:p>
            <a:pPr marL="68580" indent="0" algn="l" rtl="0">
              <a:buNone/>
            </a:pPr>
            <a:endParaRPr lang="en-US" b="1" dirty="0"/>
          </a:p>
          <a:p>
            <a:pPr marL="68580" indent="0" algn="l" rtl="0">
              <a:buNone/>
            </a:pPr>
            <a:endParaRPr lang="en-US" b="1" dirty="0" smtClean="0"/>
          </a:p>
        </p:txBody>
      </p:sp>
    </p:spTree>
    <p:extLst>
      <p:ext uri="{BB962C8B-B14F-4D97-AF65-F5344CB8AC3E}">
        <p14:creationId xmlns:p14="http://schemas.microsoft.com/office/powerpoint/2010/main" val="833229232"/>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Override1.xml><?xml version="1.0" encoding="utf-8"?>
<a:themeOverride xmlns:a="http://schemas.openxmlformats.org/drawingml/2006/main">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themeOverride>
</file>

<file path=docProps/app.xml><?xml version="1.0" encoding="utf-8"?>
<Properties xmlns="http://schemas.openxmlformats.org/officeDocument/2006/extended-properties" xmlns:vt="http://schemas.openxmlformats.org/officeDocument/2006/docPropsVTypes">
  <TotalTime>15510</TotalTime>
  <Words>1207</Words>
  <Application>Microsoft Office PowerPoint</Application>
  <PresentationFormat>On-screen Show (4:3)</PresentationFormat>
  <Paragraphs>188</Paragraphs>
  <Slides>23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Arial Black</vt:lpstr>
      <vt:lpstr>Calibri</vt:lpstr>
      <vt:lpstr>Century Gothic</vt:lpstr>
      <vt:lpstr>Tahoma</vt:lpstr>
      <vt:lpstr>Wingdings 2</vt:lpstr>
      <vt:lpstr>Office Theme</vt:lpstr>
      <vt:lpstr>Austin</vt:lpstr>
      <vt:lpstr>Strategic Management</vt:lpstr>
      <vt:lpstr> Strategy Analysis &amp; Choice  </vt:lpstr>
      <vt:lpstr> Comprehensive Strategy-Formulation Framework</vt:lpstr>
      <vt:lpstr>PowerPoint Presentation</vt:lpstr>
      <vt:lpstr>BCG Matrix Boston Consulting Group Matrix </vt:lpstr>
      <vt:lpstr>BCG Matrix Boston Consulting Group Matrix </vt:lpstr>
      <vt:lpstr>BCG Matrix </vt:lpstr>
      <vt:lpstr>BCG Matrix </vt:lpstr>
      <vt:lpstr>      BCG Matrix Boston Consulting Group Matrix </vt:lpstr>
      <vt:lpstr>BCG Matrix </vt:lpstr>
      <vt:lpstr>BCG Matrix Relative market-share position</vt:lpstr>
      <vt:lpstr>BCG Matrix </vt:lpstr>
      <vt:lpstr>BCG Matrix </vt:lpstr>
      <vt:lpstr>BCG Matrix Industry growth rate</vt:lpstr>
      <vt:lpstr>BCG Matrix </vt:lpstr>
      <vt:lpstr>BCG Matrix </vt:lpstr>
      <vt:lpstr>BCG Matrix </vt:lpstr>
      <vt:lpstr>BCG Matrix Question marks</vt:lpstr>
      <vt:lpstr>   BCG Matrix Dogs</vt:lpstr>
      <vt:lpstr>BCG Matrix </vt:lpstr>
      <vt:lpstr>BCG Matrix</vt:lpstr>
      <vt:lpstr>BCG Matrix</vt:lpstr>
      <vt:lpstr>BCG Matrix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dc:title>
  <dc:creator>Dr.Tarek</dc:creator>
  <cp:lastModifiedBy>Dr. Marwa</cp:lastModifiedBy>
  <cp:revision>118</cp:revision>
  <dcterms:created xsi:type="dcterms:W3CDTF">2006-08-16T00:00:00Z</dcterms:created>
  <dcterms:modified xsi:type="dcterms:W3CDTF">2026-05-23T17:14:33Z</dcterms:modified>
</cp:coreProperties>
</file>