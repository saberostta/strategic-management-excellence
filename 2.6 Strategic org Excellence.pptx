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handoutMasterIdLst>
    <p:handoutMasterId r:id="rId37"/>
  </p:handoutMasterIdLst>
  <p:sldIdLst>
    <p:sldId id="276" r:id="rId3"/>
    <p:sldId id="256" r:id="rId4"/>
    <p:sldId id="261" r:id="rId5"/>
    <p:sldId id="277" r:id="rId6"/>
    <p:sldId id="260" r:id="rId7"/>
    <p:sldId id="263" r:id="rId8"/>
    <p:sldId id="310" r:id="rId9"/>
    <p:sldId id="311" r:id="rId10"/>
    <p:sldId id="312" r:id="rId11"/>
    <p:sldId id="313" r:id="rId12"/>
    <p:sldId id="314" r:id="rId13"/>
    <p:sldId id="315" r:id="rId14"/>
    <p:sldId id="281" r:id="rId15"/>
    <p:sldId id="265" r:id="rId16"/>
    <p:sldId id="292" r:id="rId17"/>
    <p:sldId id="293" r:id="rId18"/>
    <p:sldId id="294" r:id="rId19"/>
    <p:sldId id="280" r:id="rId20"/>
    <p:sldId id="308" r:id="rId21"/>
    <p:sldId id="296" r:id="rId22"/>
    <p:sldId id="297" r:id="rId23"/>
    <p:sldId id="309" r:id="rId24"/>
    <p:sldId id="295" r:id="rId25"/>
    <p:sldId id="266" r:id="rId26"/>
    <p:sldId id="267" r:id="rId27"/>
    <p:sldId id="268" r:id="rId28"/>
    <p:sldId id="269" r:id="rId29"/>
    <p:sldId id="270" r:id="rId30"/>
    <p:sldId id="271" r:id="rId31"/>
    <p:sldId id="278" r:id="rId32"/>
    <p:sldId id="272" r:id="rId33"/>
    <p:sldId id="273" r:id="rId34"/>
    <p:sldId id="27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09" autoAdjust="0"/>
    <p:restoredTop sz="94662" autoAdjust="0"/>
  </p:normalViewPr>
  <p:slideViewPr>
    <p:cSldViewPr>
      <p:cViewPr varScale="1">
        <p:scale>
          <a:sx n="70" d="100"/>
          <a:sy n="70" d="100"/>
        </p:scale>
        <p:origin x="1236" y="60"/>
      </p:cViewPr>
      <p:guideLst>
        <p:guide orient="horz" pos="2160"/>
        <p:guide pos="2880"/>
      </p:guideLst>
    </p:cSldViewPr>
  </p:slideViewPr>
  <p:outlineViewPr>
    <p:cViewPr>
      <p:scale>
        <a:sx n="33" d="100"/>
        <a:sy n="33" d="100"/>
      </p:scale>
      <p:origin x="0" y="1171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sz="quarter" idx="1"/>
          </p:nvPr>
        </p:nvSpPr>
        <p:spPr>
          <a:xfrm>
            <a:off x="1588" y="0"/>
            <a:ext cx="2971800" cy="457200"/>
          </a:xfrm>
          <a:prstGeom prst="rect">
            <a:avLst/>
          </a:prstGeom>
        </p:spPr>
        <p:txBody>
          <a:bodyPr vert="horz" lIns="91440" tIns="45720" rIns="91440" bIns="45720" rtlCol="1"/>
          <a:lstStyle>
            <a:lvl1pPr algn="l">
              <a:defRPr sz="1200"/>
            </a:lvl1pPr>
          </a:lstStyle>
          <a:p>
            <a:fld id="{DB68EC7D-1A4F-462E-AEBE-BFE708139957}" type="datetimeFigureOut">
              <a:rPr lang="ar-EG" smtClean="0"/>
              <a:t>03/12/1447</a:t>
            </a:fld>
            <a:endParaRPr lang="ar-EG"/>
          </a:p>
        </p:txBody>
      </p:sp>
      <p:sp>
        <p:nvSpPr>
          <p:cNvPr id="4" name="Footer Placeholder 3"/>
          <p:cNvSpPr>
            <a:spLocks noGrp="1"/>
          </p:cNvSpPr>
          <p:nvPr>
            <p:ph type="ftr" sz="quarter" idx="2"/>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5" name="Slide Number Placeholder 4"/>
          <p:cNvSpPr>
            <a:spLocks noGrp="1"/>
          </p:cNvSpPr>
          <p:nvPr>
            <p:ph type="sldNum" sz="quarter" idx="3"/>
          </p:nvPr>
        </p:nvSpPr>
        <p:spPr>
          <a:xfrm>
            <a:off x="1588" y="8685213"/>
            <a:ext cx="2971800" cy="457200"/>
          </a:xfrm>
          <a:prstGeom prst="rect">
            <a:avLst/>
          </a:prstGeom>
        </p:spPr>
        <p:txBody>
          <a:bodyPr vert="horz" lIns="91440" tIns="45720" rIns="91440" bIns="45720" rtlCol="1" anchor="b"/>
          <a:lstStyle>
            <a:lvl1pPr algn="l">
              <a:defRPr sz="1200"/>
            </a:lvl1pPr>
          </a:lstStyle>
          <a:p>
            <a:fld id="{EA15FBBC-6A65-4CCA-98DD-8F7D6A68333E}" type="slidenum">
              <a:rPr lang="ar-EG" smtClean="0"/>
              <a:t>‹#›</a:t>
            </a:fld>
            <a:endParaRPr lang="ar-EG"/>
          </a:p>
        </p:txBody>
      </p:sp>
    </p:spTree>
    <p:extLst>
      <p:ext uri="{BB962C8B-B14F-4D97-AF65-F5344CB8AC3E}">
        <p14:creationId xmlns:p14="http://schemas.microsoft.com/office/powerpoint/2010/main" val="22665405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8435DA4A-A4E6-4603-A0D6-117881651F26}" type="datetimeFigureOut">
              <a:rPr lang="ar-EG" smtClean="0"/>
              <a:t>03/12/1447</a:t>
            </a:fld>
            <a:endParaRPr lang="ar-E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EBCAFECB-47F5-4F29-B1B3-771ED3CE8510}" type="slidenum">
              <a:rPr lang="ar-EG" smtClean="0"/>
              <a:t>‹#›</a:t>
            </a:fld>
            <a:endParaRPr lang="ar-EG"/>
          </a:p>
        </p:txBody>
      </p:sp>
    </p:spTree>
    <p:extLst>
      <p:ext uri="{BB962C8B-B14F-4D97-AF65-F5344CB8AC3E}">
        <p14:creationId xmlns:p14="http://schemas.microsoft.com/office/powerpoint/2010/main" val="197208812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5/19/2026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solidFill>
                  <a:srgbClr val="94C600"/>
                </a:solidFill>
              </a:rPr>
              <a:pPr/>
              <a:t>‹#›</a:t>
            </a:fld>
            <a:endParaRPr lang="en-US">
              <a:solidFill>
                <a:srgbClr val="94C600"/>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582662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74278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57510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7709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solidFill>
                <a:srgbClr val="94C60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14351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solidFill>
                <a:srgbClr val="94C60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4354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solidFill>
                <a:srgbClr val="94C6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28115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757820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55366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22762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86694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692265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4400" y="2286000"/>
            <a:ext cx="3313355" cy="1702160"/>
          </a:xfrm>
        </p:spPr>
        <p:txBody>
          <a:bodyPr>
            <a:normAutofit/>
          </a:bodyPr>
          <a:lstStyle/>
          <a:p>
            <a:pPr algn="ctr"/>
            <a:r>
              <a:rPr lang="en-US" b="1" dirty="0" smtClean="0"/>
              <a:t>Strategic Management</a:t>
            </a:r>
            <a:endParaRPr lang="ar-EG" b="1" dirty="0"/>
          </a:p>
        </p:txBody>
      </p:sp>
      <p:sp>
        <p:nvSpPr>
          <p:cNvPr id="3" name="Subtitle 2"/>
          <p:cNvSpPr>
            <a:spLocks noGrp="1"/>
          </p:cNvSpPr>
          <p:nvPr>
            <p:ph type="subTitle" idx="1"/>
          </p:nvPr>
        </p:nvSpPr>
        <p:spPr>
          <a:xfrm>
            <a:off x="4800600" y="4191000"/>
            <a:ext cx="3309803" cy="1600200"/>
          </a:xfrm>
        </p:spPr>
        <p:txBody>
          <a:bodyPr>
            <a:normAutofit fontScale="92500" lnSpcReduction="20000"/>
          </a:bodyPr>
          <a:lstStyle/>
          <a:p>
            <a:r>
              <a:rPr lang="en-US" b="1" dirty="0" smtClean="0"/>
              <a:t>Dr. </a:t>
            </a:r>
            <a:r>
              <a:rPr lang="en-US" b="1" dirty="0" err="1" smtClean="0"/>
              <a:t>Marwa</a:t>
            </a:r>
            <a:r>
              <a:rPr lang="en-US" b="1" dirty="0" smtClean="0"/>
              <a:t> Tarek</a:t>
            </a:r>
          </a:p>
          <a:p>
            <a:r>
              <a:rPr lang="en-US" b="1" dirty="0" smtClean="0"/>
              <a:t>6</a:t>
            </a:r>
            <a:r>
              <a:rPr lang="en-US" b="1" baseline="30000" dirty="0" smtClean="0"/>
              <a:t>th</a:t>
            </a:r>
            <a:r>
              <a:rPr lang="en-US" b="1" dirty="0" smtClean="0"/>
              <a:t>  class </a:t>
            </a:r>
          </a:p>
          <a:p>
            <a:r>
              <a:rPr lang="ar-EG" dirty="0"/>
              <a:t/>
            </a:r>
            <a:br>
              <a:rPr lang="ar-EG" dirty="0"/>
            </a:br>
            <a:endParaRPr lang="ar-EG" dirty="0"/>
          </a:p>
          <a:p>
            <a:endParaRPr lang="ar-EG" dirty="0"/>
          </a:p>
          <a:p>
            <a:pPr algn="ctr"/>
            <a:r>
              <a:rPr lang="fr-FR" b="1" dirty="0"/>
              <a:t> </a:t>
            </a:r>
            <a:r>
              <a:rPr lang="en-US" b="1" dirty="0" smtClean="0"/>
              <a:t>Generating strategies </a:t>
            </a:r>
            <a:r>
              <a:rPr lang="fr-FR" b="1" dirty="0" smtClean="0"/>
              <a:t> </a:t>
            </a:r>
            <a:endParaRPr lang="ar-EG" b="1" dirty="0"/>
          </a:p>
        </p:txBody>
      </p:sp>
    </p:spTree>
    <p:extLst>
      <p:ext uri="{BB962C8B-B14F-4D97-AF65-F5344CB8AC3E}">
        <p14:creationId xmlns:p14="http://schemas.microsoft.com/office/powerpoint/2010/main" val="3854971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Strategy</a:t>
            </a:r>
            <a:r>
              <a:rPr lang="fr-FR" sz="2400" b="1" dirty="0" smtClean="0"/>
              <a:t> </a:t>
            </a:r>
            <a:r>
              <a:rPr lang="fr-FR" sz="2400" b="1" dirty="0" err="1"/>
              <a:t>Analysis</a:t>
            </a:r>
            <a:r>
              <a:rPr lang="fr-FR" sz="2400" b="1" dirty="0"/>
              <a:t> &amp; </a:t>
            </a:r>
            <a:r>
              <a:rPr lang="fr-FR" sz="2400" b="1" dirty="0" err="1"/>
              <a:t>Choice</a:t>
            </a:r>
            <a:r>
              <a:rPr lang="fr-FR" sz="2400" b="1" dirty="0"/>
              <a:t> </a:t>
            </a:r>
            <a:r>
              <a:rPr lang="fr-FR" sz="2400" b="1" dirty="0" smtClean="0"/>
              <a:t> </a:t>
            </a:r>
            <a:endParaRPr lang="ar-EG" sz="24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800" y="914400"/>
            <a:ext cx="79626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8127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609600" y="1066800"/>
            <a:ext cx="8077200" cy="4537229"/>
          </a:xfrm>
        </p:spPr>
        <p:txBody>
          <a:bodyPr>
            <a:normAutofit lnSpcReduction="10000"/>
          </a:bodyPr>
          <a:lstStyle/>
          <a:p>
            <a:pPr marL="68580" indent="0" algn="just" rtl="0">
              <a:buNone/>
            </a:pPr>
            <a:r>
              <a:rPr lang="fr-FR" sz="2600" b="1" dirty="0" smtClean="0">
                <a:solidFill>
                  <a:schemeClr val="accent3">
                    <a:lumMod val="75000"/>
                  </a:schemeClr>
                </a:solidFill>
              </a:rPr>
              <a:t>Stage </a:t>
            </a:r>
            <a:r>
              <a:rPr lang="fr-FR" sz="2600" b="1" dirty="0">
                <a:solidFill>
                  <a:schemeClr val="accent3">
                    <a:lumMod val="75000"/>
                  </a:schemeClr>
                </a:solidFill>
              </a:rPr>
              <a:t>1</a:t>
            </a:r>
            <a:r>
              <a:rPr lang="fr-FR" sz="2600" b="1" dirty="0" smtClean="0">
                <a:solidFill>
                  <a:schemeClr val="accent3">
                    <a:lumMod val="75000"/>
                  </a:schemeClr>
                </a:solidFill>
              </a:rPr>
              <a:t>: The </a:t>
            </a:r>
            <a:r>
              <a:rPr lang="fr-FR" sz="2600" b="1" dirty="0">
                <a:solidFill>
                  <a:schemeClr val="accent3">
                    <a:lumMod val="75000"/>
                  </a:schemeClr>
                </a:solidFill>
              </a:rPr>
              <a:t>Input Stage </a:t>
            </a:r>
            <a:r>
              <a:rPr lang="en-US" sz="2600" dirty="0" smtClean="0"/>
              <a:t>Summarizes </a:t>
            </a:r>
            <a:r>
              <a:rPr lang="en-US" sz="2600" dirty="0"/>
              <a:t>the basic input information needed to formulate </a:t>
            </a:r>
            <a:r>
              <a:rPr lang="en-US" sz="2600" dirty="0" smtClean="0"/>
              <a:t>strategies. </a:t>
            </a:r>
          </a:p>
          <a:p>
            <a:pPr marL="68580" indent="0" algn="just" rtl="0">
              <a:buNone/>
            </a:pPr>
            <a:r>
              <a:rPr lang="en-US" sz="2600" b="1" dirty="0">
                <a:solidFill>
                  <a:schemeClr val="accent3">
                    <a:lumMod val="75000"/>
                  </a:schemeClr>
                </a:solidFill>
              </a:rPr>
              <a:t>Stage 2: The Matching </a:t>
            </a:r>
            <a:r>
              <a:rPr lang="en-US" sz="2600" b="1" dirty="0" smtClean="0">
                <a:solidFill>
                  <a:schemeClr val="accent3">
                    <a:lumMod val="75000"/>
                  </a:schemeClr>
                </a:solidFill>
              </a:rPr>
              <a:t>Stage </a:t>
            </a:r>
            <a:r>
              <a:rPr lang="en-US" sz="2600" dirty="0" smtClean="0"/>
              <a:t>Focuses </a:t>
            </a:r>
            <a:r>
              <a:rPr lang="en-US" sz="2600" dirty="0"/>
              <a:t>on generating feasible alternative strategies by aligning key external and internal </a:t>
            </a:r>
            <a:r>
              <a:rPr lang="en-US" sz="2600" dirty="0" smtClean="0"/>
              <a:t>factors to have the best match </a:t>
            </a:r>
            <a:r>
              <a:rPr lang="en-US" sz="2600" dirty="0"/>
              <a:t>between organization’s internal resources &amp; </a:t>
            </a:r>
            <a:r>
              <a:rPr lang="en-US" sz="2600" dirty="0" smtClean="0"/>
              <a:t>skills and </a:t>
            </a:r>
            <a:r>
              <a:rPr lang="en-US" sz="2600" dirty="0"/>
              <a:t>the opportunities &amp; risks created by its external </a:t>
            </a:r>
            <a:r>
              <a:rPr lang="en-US" sz="2600" dirty="0" smtClean="0"/>
              <a:t>factors. </a:t>
            </a:r>
            <a:endParaRPr lang="en-US" sz="2600" dirty="0"/>
          </a:p>
          <a:p>
            <a:pPr marL="68580" indent="0" algn="l" rtl="0">
              <a:buNone/>
            </a:pPr>
            <a:r>
              <a:rPr lang="fr-FR" sz="2600" b="1" dirty="0">
                <a:solidFill>
                  <a:schemeClr val="accent3">
                    <a:lumMod val="75000"/>
                  </a:schemeClr>
                </a:solidFill>
              </a:rPr>
              <a:t>Stage </a:t>
            </a:r>
            <a:r>
              <a:rPr lang="fr-FR" sz="2600" b="1" dirty="0" smtClean="0">
                <a:solidFill>
                  <a:schemeClr val="accent3">
                    <a:lumMod val="75000"/>
                  </a:schemeClr>
                </a:solidFill>
              </a:rPr>
              <a:t>3: </a:t>
            </a:r>
            <a:r>
              <a:rPr lang="fr-FR" sz="2600" b="1" dirty="0" err="1" smtClean="0">
                <a:solidFill>
                  <a:schemeClr val="accent3">
                    <a:lumMod val="75000"/>
                  </a:schemeClr>
                </a:solidFill>
              </a:rPr>
              <a:t>Decision</a:t>
            </a:r>
            <a:r>
              <a:rPr lang="fr-FR" sz="2600" b="1" dirty="0" smtClean="0">
                <a:solidFill>
                  <a:schemeClr val="accent3">
                    <a:lumMod val="75000"/>
                  </a:schemeClr>
                </a:solidFill>
              </a:rPr>
              <a:t> Stage </a:t>
            </a:r>
            <a:r>
              <a:rPr lang="fr-FR" sz="2600" dirty="0" smtClean="0"/>
              <a:t>Is </a:t>
            </a:r>
            <a:r>
              <a:rPr lang="fr-FR" sz="2600" dirty="0"/>
              <a:t>the final stage in </a:t>
            </a:r>
            <a:r>
              <a:rPr lang="fr-FR" sz="2600" dirty="0" err="1"/>
              <a:t>strategy</a:t>
            </a:r>
            <a:r>
              <a:rPr lang="fr-FR" sz="2600" dirty="0"/>
              <a:t> formulation phase.</a:t>
            </a:r>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30090026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609600" y="1066800"/>
            <a:ext cx="8077200" cy="4537229"/>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r>
              <a:rPr lang="en-US" sz="2200" b="1" dirty="0" smtClean="0"/>
              <a:t>Focuses </a:t>
            </a:r>
            <a:r>
              <a:rPr lang="en-US" sz="2200" b="1" dirty="0"/>
              <a:t>on generating feasible alternative strategies by aligning key external and internal </a:t>
            </a:r>
            <a:r>
              <a:rPr lang="en-US" sz="2200" b="1" dirty="0" smtClean="0"/>
              <a:t>factors to have the best match </a:t>
            </a:r>
            <a:r>
              <a:rPr lang="en-US" sz="2200" b="1" dirty="0"/>
              <a:t>between organization’s internal resources &amp; </a:t>
            </a:r>
            <a:r>
              <a:rPr lang="en-US" sz="2200" b="1" dirty="0" smtClean="0"/>
              <a:t>skills and </a:t>
            </a:r>
            <a:r>
              <a:rPr lang="en-US" sz="2200" b="1" dirty="0"/>
              <a:t>the opportunities &amp; risks created by its external </a:t>
            </a:r>
            <a:r>
              <a:rPr lang="en-US" sz="2200" b="1" dirty="0" smtClean="0"/>
              <a:t>factors. </a:t>
            </a:r>
            <a:endParaRPr lang="en-US" sz="2200"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3009900"/>
            <a:ext cx="7848600" cy="3352800"/>
          </a:xfrm>
          <a:prstGeom prst="rect">
            <a:avLst/>
          </a:prstGeom>
        </p:spPr>
      </p:pic>
    </p:spTree>
    <p:extLst>
      <p:ext uri="{BB962C8B-B14F-4D97-AF65-F5344CB8AC3E}">
        <p14:creationId xmlns:p14="http://schemas.microsoft.com/office/powerpoint/2010/main" val="2554783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609600" y="1219200"/>
            <a:ext cx="7211209" cy="4384829"/>
          </a:xfrm>
        </p:spPr>
        <p:txBody>
          <a:bodyPr>
            <a:normAutofit fontScale="85000" lnSpcReduction="20000"/>
          </a:bodyPr>
          <a:lstStyle/>
          <a:p>
            <a:pPr marL="68580" indent="0" algn="l" rtl="0">
              <a:buNone/>
            </a:pPr>
            <a:r>
              <a:rPr lang="fr-FR" b="1" dirty="0" smtClean="0">
                <a:solidFill>
                  <a:schemeClr val="tx1"/>
                </a:solidFill>
              </a:rPr>
              <a:t>Stage </a:t>
            </a:r>
            <a:r>
              <a:rPr lang="fr-FR" b="1" dirty="0">
                <a:solidFill>
                  <a:schemeClr val="tx1"/>
                </a:solidFill>
              </a:rPr>
              <a:t>1 </a:t>
            </a:r>
            <a:r>
              <a:rPr lang="fr-FR" b="1" dirty="0" smtClean="0">
                <a:solidFill>
                  <a:schemeClr val="tx1"/>
                </a:solidFill>
              </a:rPr>
              <a:t>–Input Stage</a:t>
            </a:r>
            <a:endParaRPr lang="fr-FR" b="1" dirty="0">
              <a:solidFill>
                <a:schemeClr val="tx1"/>
              </a:solidFill>
            </a:endParaRPr>
          </a:p>
          <a:p>
            <a:pPr algn="l" rtl="0"/>
            <a:r>
              <a:rPr lang="fr-FR" dirty="0" err="1" smtClean="0"/>
              <a:t>EFE</a:t>
            </a:r>
            <a:r>
              <a:rPr lang="fr-FR" dirty="0" smtClean="0"/>
              <a:t> </a:t>
            </a:r>
            <a:r>
              <a:rPr lang="fr-FR" dirty="0"/>
              <a:t>(</a:t>
            </a:r>
            <a:r>
              <a:rPr lang="fr-FR" dirty="0" err="1"/>
              <a:t>External</a:t>
            </a:r>
            <a:r>
              <a:rPr lang="fr-FR" dirty="0"/>
              <a:t> Factor </a:t>
            </a:r>
            <a:r>
              <a:rPr lang="fr-FR" dirty="0" err="1"/>
              <a:t>Evaluation</a:t>
            </a:r>
            <a:r>
              <a:rPr lang="fr-FR" dirty="0"/>
              <a:t>) Matrix</a:t>
            </a:r>
          </a:p>
          <a:p>
            <a:pPr algn="l" rtl="0"/>
            <a:r>
              <a:rPr lang="fr-FR" dirty="0" smtClean="0"/>
              <a:t>IFE </a:t>
            </a:r>
            <a:r>
              <a:rPr lang="fr-FR" dirty="0"/>
              <a:t>(</a:t>
            </a:r>
            <a:r>
              <a:rPr lang="fr-FR" dirty="0" err="1"/>
              <a:t>Internal</a:t>
            </a:r>
            <a:r>
              <a:rPr lang="fr-FR" dirty="0"/>
              <a:t> Factor </a:t>
            </a:r>
            <a:r>
              <a:rPr lang="fr-FR" dirty="0" err="1"/>
              <a:t>Evaluation</a:t>
            </a:r>
            <a:r>
              <a:rPr lang="fr-FR" dirty="0"/>
              <a:t>) Matrix</a:t>
            </a:r>
          </a:p>
          <a:p>
            <a:pPr marL="68580" indent="0" algn="l" rtl="0">
              <a:buNone/>
            </a:pPr>
            <a:r>
              <a:rPr lang="fr-FR" b="1" dirty="0" smtClean="0">
                <a:solidFill>
                  <a:schemeClr val="tx1"/>
                </a:solidFill>
              </a:rPr>
              <a:t>Stage </a:t>
            </a:r>
            <a:r>
              <a:rPr lang="fr-FR" b="1" dirty="0">
                <a:solidFill>
                  <a:schemeClr val="tx1"/>
                </a:solidFill>
              </a:rPr>
              <a:t>2 </a:t>
            </a:r>
            <a:r>
              <a:rPr lang="fr-FR" b="1" dirty="0" smtClean="0">
                <a:solidFill>
                  <a:schemeClr val="tx1"/>
                </a:solidFill>
              </a:rPr>
              <a:t>–</a:t>
            </a:r>
            <a:r>
              <a:rPr lang="fr-FR" b="1" dirty="0" err="1" smtClean="0">
                <a:solidFill>
                  <a:schemeClr val="tx1"/>
                </a:solidFill>
              </a:rPr>
              <a:t>Matching</a:t>
            </a:r>
            <a:r>
              <a:rPr lang="fr-FR" b="1" dirty="0" smtClean="0">
                <a:solidFill>
                  <a:schemeClr val="tx1"/>
                </a:solidFill>
              </a:rPr>
              <a:t> Stage (</a:t>
            </a:r>
            <a:r>
              <a:rPr lang="fr-FR" b="1" dirty="0" err="1" smtClean="0">
                <a:solidFill>
                  <a:schemeClr val="tx1"/>
                </a:solidFill>
              </a:rPr>
              <a:t>ready</a:t>
            </a:r>
            <a:r>
              <a:rPr lang="fr-FR" b="1" dirty="0" smtClean="0">
                <a:solidFill>
                  <a:schemeClr val="tx1"/>
                </a:solidFill>
              </a:rPr>
              <a:t> to </a:t>
            </a:r>
            <a:r>
              <a:rPr lang="fr-FR" b="1" dirty="0" err="1" smtClean="0">
                <a:solidFill>
                  <a:schemeClr val="tx1"/>
                </a:solidFill>
              </a:rPr>
              <a:t>achieve</a:t>
            </a:r>
            <a:r>
              <a:rPr lang="fr-FR" b="1" dirty="0" smtClean="0">
                <a:solidFill>
                  <a:schemeClr val="tx1"/>
                </a:solidFill>
              </a:rPr>
              <a:t> the best fit)</a:t>
            </a:r>
            <a:endParaRPr lang="fr-FR" b="1" dirty="0">
              <a:solidFill>
                <a:schemeClr val="tx1"/>
              </a:solidFill>
            </a:endParaRPr>
          </a:p>
          <a:p>
            <a:pPr algn="l" rtl="0"/>
            <a:r>
              <a:rPr lang="fr-FR" b="1" u="sng" dirty="0" smtClean="0">
                <a:solidFill>
                  <a:srgbClr val="00B0F0"/>
                </a:solidFill>
              </a:rPr>
              <a:t>Qualitative </a:t>
            </a:r>
            <a:r>
              <a:rPr lang="fr-FR" b="1" u="sng" dirty="0" err="1" smtClean="0">
                <a:solidFill>
                  <a:srgbClr val="00B0F0"/>
                </a:solidFill>
              </a:rPr>
              <a:t>tool</a:t>
            </a:r>
            <a:r>
              <a:rPr lang="fr-FR" b="1" u="sng" dirty="0" smtClean="0">
                <a:solidFill>
                  <a:srgbClr val="00B0F0"/>
                </a:solidFill>
              </a:rPr>
              <a:t>: </a:t>
            </a:r>
          </a:p>
          <a:p>
            <a:pPr algn="l" rtl="0"/>
            <a:r>
              <a:rPr lang="fr-FR" b="1" dirty="0" smtClean="0">
                <a:solidFill>
                  <a:schemeClr val="tx1"/>
                </a:solidFill>
              </a:rPr>
              <a:t>TOWS</a:t>
            </a:r>
          </a:p>
          <a:p>
            <a:pPr algn="l" rtl="0"/>
            <a:r>
              <a:rPr lang="fr-FR" b="1" u="sng" dirty="0" smtClean="0">
                <a:solidFill>
                  <a:srgbClr val="00B0F0"/>
                </a:solidFill>
              </a:rPr>
              <a:t>Quantitative </a:t>
            </a:r>
            <a:r>
              <a:rPr lang="fr-FR" b="1" u="sng" dirty="0" err="1" smtClean="0">
                <a:solidFill>
                  <a:srgbClr val="00B0F0"/>
                </a:solidFill>
              </a:rPr>
              <a:t>tools</a:t>
            </a:r>
            <a:r>
              <a:rPr lang="fr-FR" b="1" u="sng" dirty="0" smtClean="0">
                <a:solidFill>
                  <a:srgbClr val="00B0F0"/>
                </a:solidFill>
              </a:rPr>
              <a:t>:</a:t>
            </a:r>
          </a:p>
          <a:p>
            <a:pPr algn="l" rtl="0"/>
            <a:r>
              <a:rPr lang="fr-FR" b="1" dirty="0">
                <a:solidFill>
                  <a:schemeClr val="tx1"/>
                </a:solidFill>
              </a:rPr>
              <a:t>IE (</a:t>
            </a:r>
            <a:r>
              <a:rPr lang="fr-FR" b="1" dirty="0" err="1">
                <a:solidFill>
                  <a:schemeClr val="tx1"/>
                </a:solidFill>
              </a:rPr>
              <a:t>Internal-External</a:t>
            </a:r>
            <a:r>
              <a:rPr lang="fr-FR" b="1" dirty="0">
                <a:solidFill>
                  <a:schemeClr val="tx1"/>
                </a:solidFill>
              </a:rPr>
              <a:t>) </a:t>
            </a:r>
            <a:r>
              <a:rPr lang="fr-FR" b="1" dirty="0" smtClean="0">
                <a:solidFill>
                  <a:schemeClr val="tx1"/>
                </a:solidFill>
              </a:rPr>
              <a:t>Matrix</a:t>
            </a:r>
          </a:p>
          <a:p>
            <a:pPr algn="l" rtl="0"/>
            <a:r>
              <a:rPr lang="fr-FR" b="1" dirty="0">
                <a:solidFill>
                  <a:schemeClr val="tx1"/>
                </a:solidFill>
              </a:rPr>
              <a:t>BCG (Boston Consulting Group) </a:t>
            </a:r>
            <a:r>
              <a:rPr lang="fr-FR" b="1" dirty="0" smtClean="0">
                <a:solidFill>
                  <a:schemeClr val="tx1"/>
                </a:solidFill>
              </a:rPr>
              <a:t>Matrix</a:t>
            </a:r>
            <a:endParaRPr lang="fr-FR" b="1" dirty="0">
              <a:solidFill>
                <a:schemeClr val="tx1"/>
              </a:solidFill>
            </a:endParaRPr>
          </a:p>
          <a:p>
            <a:pPr algn="l" rtl="0"/>
            <a:r>
              <a:rPr lang="fr-FR" b="1" i="1" dirty="0" err="1" smtClean="0">
                <a:solidFill>
                  <a:schemeClr val="tx1"/>
                </a:solidFill>
              </a:rPr>
              <a:t>SPACE</a:t>
            </a:r>
            <a:r>
              <a:rPr lang="fr-FR" b="1" i="1" dirty="0" smtClean="0">
                <a:solidFill>
                  <a:schemeClr val="tx1"/>
                </a:solidFill>
              </a:rPr>
              <a:t> </a:t>
            </a:r>
            <a:r>
              <a:rPr lang="fr-FR" b="1" i="1" dirty="0">
                <a:solidFill>
                  <a:schemeClr val="tx1"/>
                </a:solidFill>
              </a:rPr>
              <a:t>(Strategic Position &amp; </a:t>
            </a:r>
            <a:r>
              <a:rPr lang="fr-FR" b="1" i="1" dirty="0" smtClean="0">
                <a:solidFill>
                  <a:schemeClr val="tx1"/>
                </a:solidFill>
              </a:rPr>
              <a:t>Action </a:t>
            </a:r>
            <a:r>
              <a:rPr lang="fr-FR" b="1" i="1" dirty="0" err="1">
                <a:solidFill>
                  <a:schemeClr val="tx1"/>
                </a:solidFill>
              </a:rPr>
              <a:t>Evaluation</a:t>
            </a:r>
            <a:r>
              <a:rPr lang="fr-FR" b="1" i="1" dirty="0">
                <a:solidFill>
                  <a:schemeClr val="tx1"/>
                </a:solidFill>
              </a:rPr>
              <a:t>)Matrix</a:t>
            </a:r>
          </a:p>
          <a:p>
            <a:pPr marL="68580" indent="0" algn="l" rtl="0">
              <a:buNone/>
            </a:pPr>
            <a:endParaRPr lang="fr-FR" b="1" dirty="0" smtClean="0">
              <a:solidFill>
                <a:schemeClr val="tx1"/>
              </a:solidFill>
            </a:endParaRPr>
          </a:p>
          <a:p>
            <a:pPr marL="68580" indent="0" algn="l" rtl="0">
              <a:buNone/>
            </a:pPr>
            <a:r>
              <a:rPr lang="fr-FR" b="1" dirty="0" smtClean="0">
                <a:solidFill>
                  <a:schemeClr val="tx1"/>
                </a:solidFill>
              </a:rPr>
              <a:t>Stage </a:t>
            </a:r>
            <a:r>
              <a:rPr lang="fr-FR" b="1" dirty="0">
                <a:solidFill>
                  <a:schemeClr val="tx1"/>
                </a:solidFill>
              </a:rPr>
              <a:t>3 </a:t>
            </a:r>
            <a:r>
              <a:rPr lang="fr-FR" b="1" dirty="0" smtClean="0">
                <a:solidFill>
                  <a:schemeClr val="tx1"/>
                </a:solidFill>
              </a:rPr>
              <a:t>–</a:t>
            </a:r>
            <a:r>
              <a:rPr lang="fr-FR" b="1" dirty="0" err="1" smtClean="0">
                <a:solidFill>
                  <a:schemeClr val="tx1"/>
                </a:solidFill>
              </a:rPr>
              <a:t>Decision</a:t>
            </a:r>
            <a:r>
              <a:rPr lang="fr-FR" b="1" dirty="0" smtClean="0">
                <a:solidFill>
                  <a:schemeClr val="tx1"/>
                </a:solidFill>
              </a:rPr>
              <a:t> Stage</a:t>
            </a:r>
            <a:endParaRPr lang="fr-FR" b="1" dirty="0">
              <a:solidFill>
                <a:schemeClr val="tx1"/>
              </a:solidFill>
            </a:endParaRPr>
          </a:p>
          <a:p>
            <a:pPr algn="l" rtl="0"/>
            <a:r>
              <a:rPr lang="fr-FR" dirty="0"/>
              <a:t></a:t>
            </a:r>
            <a:r>
              <a:rPr lang="fr-FR" dirty="0" err="1"/>
              <a:t>QSPM</a:t>
            </a:r>
            <a:r>
              <a:rPr lang="fr-FR" dirty="0"/>
              <a:t> (Quantitative Strategic Planning Matrix)</a:t>
            </a:r>
            <a:endParaRPr lang="ar-EG" dirty="0"/>
          </a:p>
        </p:txBody>
      </p:sp>
    </p:spTree>
    <p:extLst>
      <p:ext uri="{BB962C8B-B14F-4D97-AF65-F5344CB8AC3E}">
        <p14:creationId xmlns:p14="http://schemas.microsoft.com/office/powerpoint/2010/main" val="1139459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rmAutofit lnSpcReduction="10000"/>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smtClean="0"/>
              <a:t>TOWS (Strengths-</a:t>
            </a:r>
            <a:r>
              <a:rPr lang="fr-FR" b="1" dirty="0" err="1" smtClean="0"/>
              <a:t>Weaknesses</a:t>
            </a:r>
            <a:r>
              <a:rPr lang="fr-FR" b="1" dirty="0" smtClean="0"/>
              <a:t>-</a:t>
            </a:r>
            <a:r>
              <a:rPr lang="fr-FR" b="1" dirty="0" err="1" smtClean="0"/>
              <a:t>Opportunities-Threats</a:t>
            </a:r>
            <a:r>
              <a:rPr lang="fr-FR" b="1" dirty="0" smtClean="0"/>
              <a:t>)</a:t>
            </a:r>
          </a:p>
          <a:p>
            <a:endParaRPr lang="ar-EG" dirty="0"/>
          </a:p>
          <a:p>
            <a:pPr algn="just" rtl="0"/>
            <a:r>
              <a:rPr lang="en-US" b="1" dirty="0"/>
              <a:t>S</a:t>
            </a:r>
            <a:r>
              <a:rPr lang="en-US" dirty="0"/>
              <a:t>trengths: factors that give an edge for the company over its competitors.</a:t>
            </a:r>
          </a:p>
          <a:p>
            <a:pPr algn="just" rtl="0"/>
            <a:r>
              <a:rPr lang="en-US" b="1" dirty="0" smtClean="0"/>
              <a:t>W</a:t>
            </a:r>
            <a:r>
              <a:rPr lang="en-US" dirty="0" smtClean="0"/>
              <a:t>eaknesses</a:t>
            </a:r>
            <a:r>
              <a:rPr lang="en-US" dirty="0"/>
              <a:t>: factors that can be harmful if used against the firm by its competitors.</a:t>
            </a:r>
          </a:p>
          <a:p>
            <a:pPr algn="just" rtl="0"/>
            <a:r>
              <a:rPr lang="en-US" b="1" dirty="0" smtClean="0"/>
              <a:t>O</a:t>
            </a:r>
            <a:r>
              <a:rPr lang="en-US" dirty="0" smtClean="0"/>
              <a:t>pportunities</a:t>
            </a:r>
            <a:r>
              <a:rPr lang="en-US" dirty="0"/>
              <a:t>: </a:t>
            </a:r>
            <a:r>
              <a:rPr lang="en-US" dirty="0" smtClean="0"/>
              <a:t>favorable situations </a:t>
            </a:r>
            <a:r>
              <a:rPr lang="en-US" dirty="0"/>
              <a:t>which can bring a competitive advantage.</a:t>
            </a:r>
          </a:p>
          <a:p>
            <a:pPr algn="just" rtl="0"/>
            <a:r>
              <a:rPr lang="en-US" b="1" dirty="0" smtClean="0"/>
              <a:t>T</a:t>
            </a:r>
            <a:r>
              <a:rPr lang="en-US" dirty="0" smtClean="0"/>
              <a:t>hreats</a:t>
            </a:r>
            <a:r>
              <a:rPr lang="en-US" b="1" dirty="0" smtClean="0"/>
              <a:t>: </a:t>
            </a:r>
            <a:r>
              <a:rPr lang="en-US" dirty="0" smtClean="0"/>
              <a:t>unfavorable situations </a:t>
            </a:r>
            <a:r>
              <a:rPr lang="en-US" dirty="0"/>
              <a:t>which can negatively affect the business.</a:t>
            </a:r>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24994177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Autofit/>
          </a:bodyPr>
          <a:lstStyle/>
          <a:p>
            <a:pPr marL="68580" indent="0" algn="just" rtl="0">
              <a:buNone/>
            </a:pPr>
            <a:r>
              <a:rPr lang="en-US" sz="1200" b="1" dirty="0" smtClean="0">
                <a:solidFill>
                  <a:schemeClr val="accent3">
                    <a:lumMod val="75000"/>
                  </a:schemeClr>
                </a:solidFill>
              </a:rPr>
              <a:t>Stage </a:t>
            </a:r>
            <a:r>
              <a:rPr lang="en-US" sz="1200" b="1" dirty="0">
                <a:solidFill>
                  <a:schemeClr val="accent3">
                    <a:lumMod val="75000"/>
                  </a:schemeClr>
                </a:solidFill>
              </a:rPr>
              <a:t>2: The Matching </a:t>
            </a:r>
            <a:r>
              <a:rPr lang="en-US" sz="1200" b="1" dirty="0" smtClean="0">
                <a:solidFill>
                  <a:schemeClr val="accent3">
                    <a:lumMod val="75000"/>
                  </a:schemeClr>
                </a:solidFill>
              </a:rPr>
              <a:t>Stage </a:t>
            </a:r>
            <a:endParaRPr lang="en-US" sz="1200" dirty="0" smtClean="0"/>
          </a:p>
          <a:p>
            <a:pPr algn="just" rtl="0"/>
            <a:r>
              <a:rPr lang="en-US" sz="1200" b="1" dirty="0"/>
              <a:t>Understanding the Difference Between Qualitative vs. Quantitative Strategy Tools</a:t>
            </a:r>
          </a:p>
          <a:p>
            <a:pPr algn="just" rtl="0"/>
            <a:r>
              <a:rPr lang="en-US" sz="1200" b="1" dirty="0"/>
              <a:t>You are differentiating between:</a:t>
            </a:r>
          </a:p>
          <a:p>
            <a:pPr algn="just" rtl="0"/>
            <a:r>
              <a:rPr lang="en-US" sz="1200" b="1" dirty="0"/>
              <a:t>1) Qualitative tool → TOWS Matrix</a:t>
            </a:r>
          </a:p>
          <a:p>
            <a:pPr algn="just" rtl="0"/>
            <a:r>
              <a:rPr lang="en-US" sz="1200" b="1" dirty="0"/>
              <a:t>2) Quantitative tools → IE Matrix, SPACE Matrix, BCG Matrix</a:t>
            </a:r>
          </a:p>
          <a:p>
            <a:pPr algn="just" rtl="0"/>
            <a:endParaRPr lang="en-US" sz="1200" b="1" dirty="0" smtClean="0"/>
          </a:p>
          <a:p>
            <a:pPr marL="68580" indent="0" algn="just" rtl="0">
              <a:buNone/>
            </a:pPr>
            <a:r>
              <a:rPr lang="en-US" sz="1200" b="1" dirty="0" smtClean="0"/>
              <a:t>1</a:t>
            </a:r>
            <a:r>
              <a:rPr lang="en-US" sz="1200" b="1" dirty="0"/>
              <a:t>) QUALITATIVE Tool — TOWS Matrix</a:t>
            </a:r>
          </a:p>
          <a:p>
            <a:pPr marL="68580" indent="0" algn="just" rtl="0">
              <a:buNone/>
            </a:pPr>
            <a:r>
              <a:rPr lang="en-US" sz="1200" b="1" dirty="0"/>
              <a:t>TOWS is qualitative, meaning it depends on thinking, judgment, and combining internal and external factors.</a:t>
            </a:r>
          </a:p>
          <a:p>
            <a:pPr algn="just" rtl="0"/>
            <a:r>
              <a:rPr lang="en-US" sz="1200" b="1" dirty="0"/>
              <a:t>🔹 TOWS generates 4 types of strategies:</a:t>
            </a:r>
          </a:p>
          <a:p>
            <a:pPr algn="just" rtl="0"/>
            <a:r>
              <a:rPr lang="en-US" sz="1200" b="1" dirty="0"/>
              <a:t>1.	Corporate / Growth strategies</a:t>
            </a:r>
          </a:p>
          <a:p>
            <a:pPr algn="just" rtl="0"/>
            <a:r>
              <a:rPr lang="en-US" sz="1200" b="1" dirty="0"/>
              <a:t>2.	Integration strategies</a:t>
            </a:r>
          </a:p>
          <a:p>
            <a:pPr algn="just" rtl="0"/>
            <a:r>
              <a:rPr lang="en-US" sz="1200" b="1" dirty="0"/>
              <a:t>3.	Defensive strategies</a:t>
            </a:r>
          </a:p>
          <a:p>
            <a:pPr algn="just" rtl="0"/>
            <a:r>
              <a:rPr lang="en-US" sz="1200" b="1" dirty="0"/>
              <a:t>4.	Business-level (generic) strategies: cost leadership, differentiation, focus</a:t>
            </a:r>
          </a:p>
          <a:p>
            <a:pPr algn="just" rtl="0"/>
            <a:r>
              <a:rPr lang="en-US" sz="1200" b="1" dirty="0" smtClean="0"/>
              <a:t> </a:t>
            </a:r>
            <a:r>
              <a:rPr lang="en-US" sz="1200" b="1" dirty="0"/>
              <a:t>This is because TOWS allows any strategic alternative that matches S, W, O, T.</a:t>
            </a:r>
          </a:p>
          <a:p>
            <a:pPr algn="just" rtl="0"/>
            <a:r>
              <a:rPr lang="en-US" sz="1200" b="1" dirty="0"/>
              <a:t>It is flexible and can produce all strategy types depending on how you combine factors</a:t>
            </a:r>
            <a:r>
              <a:rPr lang="en-US" sz="1200" b="1" dirty="0" smtClean="0"/>
              <a:t>.</a:t>
            </a:r>
            <a:endParaRPr lang="en-US" sz="12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39956661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Autofit/>
          </a:bodyPr>
          <a:lstStyle/>
          <a:p>
            <a:pPr marL="68580" indent="0" algn="just" rtl="0">
              <a:buNone/>
            </a:pPr>
            <a:r>
              <a:rPr lang="en-US" sz="1200" b="1" dirty="0" smtClean="0">
                <a:solidFill>
                  <a:schemeClr val="accent3">
                    <a:lumMod val="75000"/>
                  </a:schemeClr>
                </a:solidFill>
              </a:rPr>
              <a:t>Stage </a:t>
            </a:r>
            <a:r>
              <a:rPr lang="en-US" sz="1200" b="1" dirty="0">
                <a:solidFill>
                  <a:schemeClr val="accent3">
                    <a:lumMod val="75000"/>
                  </a:schemeClr>
                </a:solidFill>
              </a:rPr>
              <a:t>2: The Matching </a:t>
            </a:r>
            <a:r>
              <a:rPr lang="en-US" sz="1200" b="1" dirty="0" smtClean="0">
                <a:solidFill>
                  <a:schemeClr val="accent3">
                    <a:lumMod val="75000"/>
                  </a:schemeClr>
                </a:solidFill>
              </a:rPr>
              <a:t>Stage </a:t>
            </a:r>
            <a:endParaRPr lang="en-US" sz="1200" dirty="0" smtClean="0"/>
          </a:p>
          <a:p>
            <a:pPr algn="just" rtl="0"/>
            <a:r>
              <a:rPr lang="en-US" sz="1200" b="1" dirty="0"/>
              <a:t>⭐ 2) QUANTITATIVE Tools — IE, SPACE, BCG</a:t>
            </a:r>
          </a:p>
          <a:p>
            <a:pPr algn="just" rtl="0"/>
            <a:r>
              <a:rPr lang="en-US" sz="1200" b="1" dirty="0"/>
              <a:t>🔹 These tools use numbers, weights, scores, and matrices.</a:t>
            </a:r>
          </a:p>
          <a:p>
            <a:pPr algn="just" rtl="0"/>
            <a:r>
              <a:rPr lang="en-US" sz="1200" b="1" dirty="0"/>
              <a:t>They focus on the overall strategic position of the company.</a:t>
            </a:r>
          </a:p>
          <a:p>
            <a:pPr algn="just" rtl="0"/>
            <a:r>
              <a:rPr lang="en-US" sz="1200" b="1" dirty="0"/>
              <a:t>They typically produce only 3 categories:</a:t>
            </a:r>
          </a:p>
          <a:p>
            <a:pPr algn="just" rtl="0"/>
            <a:r>
              <a:rPr lang="en-US" sz="1200" b="1" dirty="0"/>
              <a:t>1.	Corporate strategies (growth / expansion)</a:t>
            </a:r>
          </a:p>
          <a:p>
            <a:pPr algn="just" rtl="0"/>
            <a:r>
              <a:rPr lang="en-US" sz="1200" b="1" dirty="0"/>
              <a:t>2.	Integration strategies</a:t>
            </a:r>
          </a:p>
          <a:p>
            <a:pPr algn="just" rtl="0"/>
            <a:r>
              <a:rPr lang="en-US" sz="1200" b="1" dirty="0"/>
              <a:t>3.	Defensive strategies</a:t>
            </a:r>
          </a:p>
          <a:p>
            <a:pPr algn="just" rtl="0"/>
            <a:r>
              <a:rPr lang="en-US" sz="1200" b="1" dirty="0"/>
              <a:t>❗ They do NOT produce:</a:t>
            </a:r>
          </a:p>
          <a:p>
            <a:pPr algn="just" rtl="0"/>
            <a:r>
              <a:rPr lang="en-US" sz="1200" b="1" dirty="0"/>
              <a:t>Business-level (generic) strategies,</a:t>
            </a:r>
          </a:p>
          <a:p>
            <a:pPr algn="just" rtl="0"/>
            <a:r>
              <a:rPr lang="en-US" sz="1200" b="1" dirty="0"/>
              <a:t>because these matrices work at the corporate level, not at the business-unit level.</a:t>
            </a:r>
          </a:p>
          <a:p>
            <a:pPr algn="just" rtl="0"/>
            <a:r>
              <a:rPr lang="en-US" sz="1200" b="1" dirty="0" smtClean="0"/>
              <a:t>⭐ </a:t>
            </a:r>
            <a:r>
              <a:rPr lang="en-US" sz="1200" b="1" dirty="0"/>
              <a:t>Why Quantitative Tools Do NOT Generate Business Strategies</a:t>
            </a:r>
          </a:p>
          <a:p>
            <a:pPr algn="just" rtl="0"/>
            <a:r>
              <a:rPr lang="en-US" sz="1200" b="1" dirty="0"/>
              <a:t>Because:</a:t>
            </a:r>
          </a:p>
          <a:p>
            <a:pPr algn="just" rtl="0"/>
            <a:r>
              <a:rPr lang="en-US" sz="1200" b="1" dirty="0"/>
              <a:t>•	IE Matrix, SPACE Matrix, and BCG Matrix evaluate the organization at the macro/corporate level</a:t>
            </a:r>
          </a:p>
          <a:p>
            <a:pPr algn="just" rtl="0"/>
            <a:r>
              <a:rPr lang="en-US" sz="1200" b="1" dirty="0"/>
              <a:t>•	Their output is a direction, not a competitive method</a:t>
            </a:r>
          </a:p>
          <a:p>
            <a:pPr algn="just" rtl="0"/>
            <a:r>
              <a:rPr lang="en-US" sz="1200" b="1" dirty="0"/>
              <a:t>(e.g., Grow, Hold, Harvest, Divest – not Cost Leadership or Differentiation)</a:t>
            </a:r>
          </a:p>
          <a:p>
            <a:pPr algn="just" rtl="0"/>
            <a:r>
              <a:rPr lang="en-US" sz="1200" b="1" dirty="0"/>
              <a:t>Generic strategies (Porter) are competitive strategies within a single business unit, not corporate strategy directions.</a:t>
            </a:r>
          </a:p>
          <a:p>
            <a:pPr algn="just" rtl="0"/>
            <a:endParaRPr lang="en-US" sz="12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12401204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Autofit/>
          </a:bodyPr>
          <a:lstStyle/>
          <a:p>
            <a:pPr marL="68580" indent="0" algn="just" rtl="0">
              <a:buNone/>
            </a:pPr>
            <a:r>
              <a:rPr lang="en-US" sz="1200" b="1" dirty="0" smtClean="0">
                <a:solidFill>
                  <a:schemeClr val="accent3">
                    <a:lumMod val="75000"/>
                  </a:schemeClr>
                </a:solidFill>
              </a:rPr>
              <a:t>Stage </a:t>
            </a:r>
            <a:r>
              <a:rPr lang="en-US" sz="1200" b="1" dirty="0">
                <a:solidFill>
                  <a:schemeClr val="accent3">
                    <a:lumMod val="75000"/>
                  </a:schemeClr>
                </a:solidFill>
              </a:rPr>
              <a:t>2: The Matching </a:t>
            </a:r>
            <a:r>
              <a:rPr lang="en-US" sz="1200" b="1" dirty="0" smtClean="0">
                <a:solidFill>
                  <a:schemeClr val="accent3">
                    <a:lumMod val="75000"/>
                  </a:schemeClr>
                </a:solidFill>
              </a:rPr>
              <a:t>Stage </a:t>
            </a:r>
            <a:endParaRPr lang="en-US" sz="1200" dirty="0" smtClean="0"/>
          </a:p>
          <a:p>
            <a:pPr algn="just" rtl="0"/>
            <a:r>
              <a:rPr lang="en-US" sz="1200" b="1" dirty="0"/>
              <a:t>⭐ 3) WHY do we use Quantitative Tools?</a:t>
            </a:r>
          </a:p>
          <a:p>
            <a:pPr algn="just" rtl="0"/>
            <a:r>
              <a:rPr lang="en-US" sz="1200" b="1" dirty="0"/>
              <a:t>Here is the deep meaning:</a:t>
            </a:r>
          </a:p>
          <a:p>
            <a:pPr algn="just" rtl="0"/>
            <a:r>
              <a:rPr lang="en-US" sz="1200" b="1" dirty="0"/>
              <a:t>✔ 1. To validate the qualitative results of TOWS</a:t>
            </a:r>
          </a:p>
          <a:p>
            <a:pPr algn="just" rtl="0"/>
            <a:r>
              <a:rPr lang="en-US" sz="1200" b="1" dirty="0"/>
              <a:t>TOWS is subjective → depends on managerial interpretation.</a:t>
            </a:r>
          </a:p>
          <a:p>
            <a:pPr algn="just" rtl="0"/>
            <a:r>
              <a:rPr lang="en-US" sz="1200" b="1" dirty="0"/>
              <a:t>Quantitative tools test whether the numbers point in the same direction.</a:t>
            </a:r>
          </a:p>
          <a:p>
            <a:pPr algn="just" rtl="0"/>
            <a:r>
              <a:rPr lang="en-US" sz="1200" b="1" dirty="0"/>
              <a:t>________________________________________</a:t>
            </a:r>
          </a:p>
          <a:p>
            <a:pPr algn="just" rtl="0"/>
            <a:r>
              <a:rPr lang="en-US" sz="1200" b="1" dirty="0"/>
              <a:t>✔ 2. To check consistency and accuracy</a:t>
            </a:r>
          </a:p>
          <a:p>
            <a:pPr algn="just" rtl="0"/>
            <a:r>
              <a:rPr lang="en-US" sz="1200" b="1" dirty="0"/>
              <a:t>If TOWS suggests growth, quantitative matrices should also place the company in:</a:t>
            </a:r>
          </a:p>
          <a:p>
            <a:pPr algn="just" rtl="0"/>
            <a:r>
              <a:rPr lang="en-US" sz="1200" b="1" dirty="0"/>
              <a:t>•	Grow and build</a:t>
            </a:r>
          </a:p>
          <a:p>
            <a:pPr algn="just" rtl="0"/>
            <a:r>
              <a:rPr lang="en-US" sz="1200" b="1" dirty="0"/>
              <a:t>•	Aggressive</a:t>
            </a:r>
          </a:p>
          <a:p>
            <a:pPr algn="just" rtl="0"/>
            <a:r>
              <a:rPr lang="en-US" sz="1200" b="1" dirty="0"/>
              <a:t>•	Stars / Question Marks</a:t>
            </a:r>
          </a:p>
          <a:p>
            <a:pPr algn="just" rtl="0"/>
            <a:r>
              <a:rPr lang="en-US" sz="1200" b="1" dirty="0"/>
              <a:t>If both results match → the strategy is solid.</a:t>
            </a:r>
          </a:p>
          <a:p>
            <a:pPr algn="just" rtl="0"/>
            <a:r>
              <a:rPr lang="en-US" sz="1200" b="1" dirty="0"/>
              <a:t>If not → there is a mismatch that must be investigated.</a:t>
            </a:r>
          </a:p>
          <a:p>
            <a:pPr algn="just" rtl="0"/>
            <a:r>
              <a:rPr lang="en-US" sz="1200" b="1" dirty="0"/>
              <a:t>________________________________________</a:t>
            </a:r>
          </a:p>
          <a:p>
            <a:pPr algn="just" rtl="0"/>
            <a:r>
              <a:rPr lang="en-US" sz="1200" b="1" dirty="0"/>
              <a:t>✔ 3. To reduce bias and manager preference</a:t>
            </a:r>
          </a:p>
          <a:p>
            <a:pPr algn="just" rtl="0"/>
            <a:r>
              <a:rPr lang="en-US" sz="1200" b="1" dirty="0"/>
              <a:t>Humans may want a certain strategy emotionally.</a:t>
            </a:r>
          </a:p>
          <a:p>
            <a:pPr algn="just" rtl="0"/>
            <a:r>
              <a:rPr lang="en-US" sz="1200" b="1" dirty="0"/>
              <a:t>Quantitative tools force the decision to be based on data.</a:t>
            </a:r>
          </a:p>
          <a:p>
            <a:pPr algn="just" rtl="0"/>
            <a:r>
              <a:rPr lang="en-US" sz="1200" b="1" dirty="0"/>
              <a:t>________________________________________</a:t>
            </a:r>
          </a:p>
          <a:p>
            <a:pPr algn="just" rtl="0"/>
            <a:r>
              <a:rPr lang="en-US" sz="1200" b="1" dirty="0"/>
              <a:t>✔ 4. To make strategy selection evidence-based</a:t>
            </a:r>
          </a:p>
          <a:p>
            <a:pPr algn="just" rtl="0"/>
            <a:r>
              <a:rPr lang="en-US" sz="1200" b="1" dirty="0"/>
              <a:t>Boards and CEOs prefer numbers, not opinions.</a:t>
            </a:r>
          </a:p>
          <a:p>
            <a:pPr algn="just" rtl="0"/>
            <a:r>
              <a:rPr lang="en-US" sz="1200" b="1" dirty="0"/>
              <a:t>Quantitative tools provide numerical justification.</a:t>
            </a:r>
          </a:p>
          <a:p>
            <a:pPr algn="just" rtl="0"/>
            <a:r>
              <a:rPr lang="en-US" sz="1200" b="1" dirty="0"/>
              <a:t>________________________________________</a:t>
            </a:r>
          </a:p>
          <a:p>
            <a:pPr algn="just" rtl="0"/>
            <a:endParaRPr lang="fr-FR" sz="1200" b="1" dirty="0"/>
          </a:p>
          <a:p>
            <a:pPr algn="just" rtl="0"/>
            <a:endParaRPr lang="ar-EG" sz="1200" dirty="0"/>
          </a:p>
          <a:p>
            <a:pPr algn="just" rtl="0"/>
            <a:endParaRPr lang="en-US" sz="12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8212513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Autofit/>
          </a:bodyPr>
          <a:lstStyle/>
          <a:p>
            <a:pPr marL="68580" indent="0" algn="just" rtl="0">
              <a:buNone/>
            </a:pPr>
            <a:r>
              <a:rPr lang="en-US" sz="1200" b="1" dirty="0" smtClean="0">
                <a:solidFill>
                  <a:schemeClr val="accent3">
                    <a:lumMod val="75000"/>
                  </a:schemeClr>
                </a:solidFill>
              </a:rPr>
              <a:t>Stage </a:t>
            </a:r>
            <a:r>
              <a:rPr lang="en-US" sz="1200" b="1" dirty="0">
                <a:solidFill>
                  <a:schemeClr val="accent3">
                    <a:lumMod val="75000"/>
                  </a:schemeClr>
                </a:solidFill>
              </a:rPr>
              <a:t>2: The Matching </a:t>
            </a:r>
            <a:r>
              <a:rPr lang="en-US" sz="1200" b="1" dirty="0" smtClean="0">
                <a:solidFill>
                  <a:schemeClr val="accent3">
                    <a:lumMod val="75000"/>
                  </a:schemeClr>
                </a:solidFill>
              </a:rPr>
              <a:t>Stage </a:t>
            </a:r>
            <a:endParaRPr lang="en-US" sz="1200" dirty="0" smtClean="0"/>
          </a:p>
          <a:p>
            <a:pPr algn="just" rtl="0"/>
            <a:r>
              <a:rPr lang="en-US" sz="1200" b="1" dirty="0"/>
              <a:t>✔ 5. To narrow down the strategic direction</a:t>
            </a:r>
          </a:p>
          <a:p>
            <a:pPr algn="just" rtl="0"/>
            <a:r>
              <a:rPr lang="en-US" sz="1200" b="1" dirty="0"/>
              <a:t>TOWS gives many alternatives.</a:t>
            </a:r>
          </a:p>
          <a:p>
            <a:pPr algn="just" rtl="0"/>
            <a:r>
              <a:rPr lang="en-US" sz="1200" b="1" dirty="0"/>
              <a:t>Quantitative tools select the most realistic and suitable one.</a:t>
            </a:r>
          </a:p>
          <a:p>
            <a:pPr algn="just" rtl="0"/>
            <a:r>
              <a:rPr lang="en-US" sz="1200" b="1" dirty="0"/>
              <a:t>________________________________________</a:t>
            </a:r>
          </a:p>
          <a:p>
            <a:pPr algn="just" rtl="0"/>
            <a:r>
              <a:rPr lang="en-US" sz="1200" b="1" dirty="0"/>
              <a:t>⭐ Perfect Final Explanation (Use This in Exams or Lectures)</a:t>
            </a:r>
          </a:p>
          <a:p>
            <a:pPr algn="just" rtl="0"/>
            <a:r>
              <a:rPr lang="en-US" sz="1200" b="1" dirty="0"/>
              <a:t>TOWS is a qualitative tool that generates four types of strategies, including business-level strategies, because it relies on logical combinations of internal and external factors. Quantitative tools such as the IE Matrix, SPACE Matrix, and BCG Matrix generate only three types—corporate, integration, and defensive strategies—because they operate at the corporate level and provide strategic direction rather than competitive (generic) strategies. We use the quantitative tools to validate and confirm the results of TOWS, reduce subjectivity, and ensure that both qualitative judgment and numerical analysis lead to the same strategic choice.</a:t>
            </a:r>
          </a:p>
          <a:p>
            <a:pPr algn="just" rtl="0"/>
            <a:r>
              <a:rPr lang="en-US" sz="1200" b="1" dirty="0"/>
              <a:t>________________________________________</a:t>
            </a:r>
          </a:p>
          <a:p>
            <a:pPr algn="just" rtl="0"/>
            <a:r>
              <a:rPr lang="en-US" sz="1200" b="1" dirty="0" smtClean="0"/>
              <a:t>⭐ </a:t>
            </a:r>
            <a:r>
              <a:rPr lang="en-US" sz="1200" b="1" dirty="0"/>
              <a:t>Why BCG Cannot Assign Business Strategies (Porter’s Generic Strategies)</a:t>
            </a:r>
          </a:p>
          <a:p>
            <a:pPr algn="just" rtl="0"/>
            <a:r>
              <a:rPr lang="en-US" sz="1200" b="1" dirty="0"/>
              <a:t>Even though BCG is used for different products or business units, it still cannot generate business-level (generic) strategies like:</a:t>
            </a:r>
          </a:p>
          <a:p>
            <a:pPr algn="just" rtl="0"/>
            <a:r>
              <a:rPr lang="en-US" sz="1200" b="1" dirty="0"/>
              <a:t>•	Cost Leadership</a:t>
            </a:r>
          </a:p>
          <a:p>
            <a:pPr algn="just" rtl="0"/>
            <a:r>
              <a:rPr lang="en-US" sz="1200" b="1" dirty="0"/>
              <a:t>•	Differentiation</a:t>
            </a:r>
          </a:p>
          <a:p>
            <a:pPr algn="just" rtl="0"/>
            <a:r>
              <a:rPr lang="en-US" sz="1200" b="1" dirty="0"/>
              <a:t>•	Focus</a:t>
            </a:r>
          </a:p>
          <a:p>
            <a:pPr algn="just" rtl="0"/>
            <a:endParaRPr lang="fr-FR" sz="1200" b="1" dirty="0"/>
          </a:p>
          <a:p>
            <a:pPr algn="just" rtl="0"/>
            <a:endParaRPr lang="ar-EG" sz="1200" dirty="0"/>
          </a:p>
          <a:p>
            <a:pPr algn="just" rtl="0"/>
            <a:endParaRPr lang="en-US" sz="12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36436210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Autofit/>
          </a:bodyPr>
          <a:lstStyle/>
          <a:p>
            <a:pPr marL="68580" indent="0" algn="just" rtl="0">
              <a:buNone/>
            </a:pPr>
            <a:r>
              <a:rPr lang="en-US" sz="1200" b="1" dirty="0" smtClean="0">
                <a:solidFill>
                  <a:schemeClr val="accent3">
                    <a:lumMod val="75000"/>
                  </a:schemeClr>
                </a:solidFill>
              </a:rPr>
              <a:t>Stage </a:t>
            </a:r>
            <a:r>
              <a:rPr lang="en-US" sz="1200" b="1" dirty="0">
                <a:solidFill>
                  <a:schemeClr val="accent3">
                    <a:lumMod val="75000"/>
                  </a:schemeClr>
                </a:solidFill>
              </a:rPr>
              <a:t>2: The Matching </a:t>
            </a:r>
            <a:r>
              <a:rPr lang="en-US" sz="1200" b="1" dirty="0" smtClean="0">
                <a:solidFill>
                  <a:schemeClr val="accent3">
                    <a:lumMod val="75000"/>
                  </a:schemeClr>
                </a:solidFill>
              </a:rPr>
              <a:t>Stage </a:t>
            </a:r>
            <a:endParaRPr lang="en-US" sz="1200" dirty="0" smtClean="0"/>
          </a:p>
          <a:p>
            <a:pPr algn="just" rtl="0"/>
            <a:r>
              <a:rPr lang="en-US" sz="1200" b="1" dirty="0"/>
              <a:t>Why?</a:t>
            </a:r>
          </a:p>
          <a:p>
            <a:pPr algn="just" rtl="0"/>
            <a:r>
              <a:rPr lang="en-US" sz="1200" b="1" dirty="0"/>
              <a:t>Because BCG is NOT designed to tell you how to compete.</a:t>
            </a:r>
          </a:p>
          <a:p>
            <a:pPr algn="just" rtl="0"/>
            <a:r>
              <a:rPr lang="en-US" sz="1200" b="1" dirty="0"/>
              <a:t>It is only designed to tell you what to do with each business unit or product.</a:t>
            </a:r>
          </a:p>
          <a:p>
            <a:pPr algn="just" rtl="0"/>
            <a:r>
              <a:rPr lang="en-US" sz="1200" b="1" dirty="0"/>
              <a:t>________________________________________</a:t>
            </a:r>
          </a:p>
          <a:p>
            <a:pPr algn="just" rtl="0"/>
            <a:r>
              <a:rPr lang="en-US" sz="1200" b="1" dirty="0"/>
              <a:t>⭐ 1️⃣ BCG Tells You “Strategic Direction” (Corporate Decisions)</a:t>
            </a:r>
          </a:p>
          <a:p>
            <a:pPr algn="just" rtl="0"/>
            <a:r>
              <a:rPr lang="en-US" sz="1200" b="1" dirty="0"/>
              <a:t>BCG places each product/business unit into one of four categories:</a:t>
            </a:r>
          </a:p>
          <a:p>
            <a:pPr algn="just" rtl="0"/>
            <a:r>
              <a:rPr lang="en-US" sz="1200" b="1" dirty="0"/>
              <a:t>•	Stars → Invest / Grow</a:t>
            </a:r>
          </a:p>
          <a:p>
            <a:pPr algn="just" rtl="0"/>
            <a:r>
              <a:rPr lang="en-US" sz="1200" b="1" dirty="0"/>
              <a:t>•	Cash Cows → Hold / Maintain</a:t>
            </a:r>
          </a:p>
          <a:p>
            <a:pPr algn="just" rtl="0"/>
            <a:r>
              <a:rPr lang="en-US" sz="1200" b="1" dirty="0"/>
              <a:t>•	Question Marks → Invest selectively / grow or divest</a:t>
            </a:r>
          </a:p>
          <a:p>
            <a:pPr algn="just" rtl="0"/>
            <a:r>
              <a:rPr lang="en-US" sz="1200" b="1" dirty="0"/>
              <a:t>•	Dogs → Harvest / Divest</a:t>
            </a:r>
          </a:p>
          <a:p>
            <a:pPr algn="just" rtl="0"/>
            <a:r>
              <a:rPr lang="en-US" sz="1200" b="1" dirty="0"/>
              <a:t>👉 These are corporate-level decisions, not competitive strategies.</a:t>
            </a:r>
          </a:p>
          <a:p>
            <a:pPr algn="just" rtl="0"/>
            <a:r>
              <a:rPr lang="en-US" sz="1200" b="1" dirty="0"/>
              <a:t>BCG answers:</a:t>
            </a:r>
          </a:p>
          <a:p>
            <a:pPr algn="just" rtl="0"/>
            <a:r>
              <a:rPr lang="en-US" sz="1200" b="1" dirty="0"/>
              <a:t>✔ Which products should we grow?</a:t>
            </a:r>
          </a:p>
          <a:p>
            <a:pPr algn="just" rtl="0"/>
            <a:r>
              <a:rPr lang="en-US" sz="1200" b="1" dirty="0"/>
              <a:t>✔ Which should we support with investments?</a:t>
            </a:r>
          </a:p>
          <a:p>
            <a:pPr algn="just" rtl="0"/>
            <a:r>
              <a:rPr lang="en-US" sz="1200" b="1" dirty="0"/>
              <a:t>✔ Which ones do we harvest or divest?</a:t>
            </a:r>
          </a:p>
          <a:p>
            <a:pPr algn="just" rtl="0"/>
            <a:r>
              <a:rPr lang="en-US" sz="1200" b="1" dirty="0"/>
              <a:t>BCG does NOT answer:</a:t>
            </a:r>
          </a:p>
          <a:p>
            <a:pPr algn="just" rtl="0"/>
            <a:r>
              <a:rPr lang="en-US" sz="1200" b="1" dirty="0"/>
              <a:t>✘ Should we use cost leadership?</a:t>
            </a:r>
          </a:p>
          <a:p>
            <a:pPr algn="just" rtl="0"/>
            <a:r>
              <a:rPr lang="en-US" sz="1200" b="1" dirty="0"/>
              <a:t>✘ Should we differentiate?</a:t>
            </a:r>
          </a:p>
          <a:p>
            <a:pPr algn="just" rtl="0"/>
            <a:r>
              <a:rPr lang="en-US" sz="1200" b="1" dirty="0"/>
              <a:t>✘ Should we use focus strategy?</a:t>
            </a:r>
          </a:p>
          <a:p>
            <a:pPr algn="just" rtl="0"/>
            <a:r>
              <a:rPr lang="en-US" sz="1200" b="1" dirty="0"/>
              <a:t>________________________________________</a:t>
            </a:r>
          </a:p>
          <a:p>
            <a:pPr algn="just" rtl="0"/>
            <a:endParaRPr lang="fr-FR" sz="1200" b="1" dirty="0"/>
          </a:p>
          <a:p>
            <a:pPr algn="just" rtl="0"/>
            <a:endParaRPr lang="ar-EG" sz="1200" dirty="0"/>
          </a:p>
          <a:p>
            <a:pPr algn="just" rtl="0"/>
            <a:endParaRPr lang="en-US" sz="12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16812210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Autofit/>
          </a:bodyPr>
          <a:lstStyle/>
          <a:p>
            <a:pPr marL="68580" indent="0" algn="just" rtl="0">
              <a:buNone/>
            </a:pPr>
            <a:r>
              <a:rPr lang="en-US" sz="1200" b="1" dirty="0" smtClean="0">
                <a:solidFill>
                  <a:schemeClr val="accent3">
                    <a:lumMod val="75000"/>
                  </a:schemeClr>
                </a:solidFill>
              </a:rPr>
              <a:t>Stage </a:t>
            </a:r>
            <a:r>
              <a:rPr lang="en-US" sz="1200" b="1" dirty="0">
                <a:solidFill>
                  <a:schemeClr val="accent3">
                    <a:lumMod val="75000"/>
                  </a:schemeClr>
                </a:solidFill>
              </a:rPr>
              <a:t>2: The Matching </a:t>
            </a:r>
            <a:r>
              <a:rPr lang="en-US" sz="1200" b="1" dirty="0" smtClean="0">
                <a:solidFill>
                  <a:schemeClr val="accent3">
                    <a:lumMod val="75000"/>
                  </a:schemeClr>
                </a:solidFill>
              </a:rPr>
              <a:t>Stage </a:t>
            </a:r>
            <a:endParaRPr lang="en-US" sz="1200" dirty="0" smtClean="0"/>
          </a:p>
          <a:p>
            <a:pPr algn="just" rtl="0"/>
            <a:r>
              <a:rPr lang="en-US" sz="1200" b="1" dirty="0"/>
              <a:t>⭐ 2️⃣ BCG Looks at “Portfolio Positioning,” Not Competition Method</a:t>
            </a:r>
          </a:p>
          <a:p>
            <a:pPr algn="just" rtl="0"/>
            <a:r>
              <a:rPr lang="en-US" sz="1200" b="1" dirty="0"/>
              <a:t>BCG uses two metrics:</a:t>
            </a:r>
          </a:p>
          <a:p>
            <a:pPr algn="just" rtl="0"/>
            <a:r>
              <a:rPr lang="en-US" sz="1200" b="1" dirty="0"/>
              <a:t>1.	Relative market share</a:t>
            </a:r>
          </a:p>
          <a:p>
            <a:pPr algn="just" rtl="0"/>
            <a:r>
              <a:rPr lang="en-US" sz="1200" b="1" dirty="0"/>
              <a:t>2.	Market growth rate</a:t>
            </a:r>
          </a:p>
          <a:p>
            <a:pPr algn="just" rtl="0"/>
            <a:r>
              <a:rPr lang="en-US" sz="1200" b="1" dirty="0"/>
              <a:t>These two numbers cannot tell you:</a:t>
            </a:r>
          </a:p>
          <a:p>
            <a:pPr algn="just" rtl="0"/>
            <a:r>
              <a:rPr lang="en-US" sz="1200" b="1" dirty="0"/>
              <a:t>•	if the product should be differentiated</a:t>
            </a:r>
          </a:p>
          <a:p>
            <a:pPr algn="just" rtl="0"/>
            <a:r>
              <a:rPr lang="en-US" sz="1200" b="1" dirty="0"/>
              <a:t>•	if the company should reduce cost</a:t>
            </a:r>
          </a:p>
          <a:p>
            <a:pPr algn="just" rtl="0"/>
            <a:r>
              <a:rPr lang="en-US" sz="1200" b="1" dirty="0"/>
              <a:t>•	if the product should focus on a niche</a:t>
            </a:r>
          </a:p>
          <a:p>
            <a:pPr algn="just" rtl="0"/>
            <a:r>
              <a:rPr lang="en-US" sz="1200" b="1" dirty="0"/>
              <a:t>Because competitive strategy depends on:</a:t>
            </a:r>
          </a:p>
          <a:p>
            <a:pPr algn="just" rtl="0"/>
            <a:r>
              <a:rPr lang="en-US" sz="1200" b="1" dirty="0"/>
              <a:t>•	Cost structure</a:t>
            </a:r>
          </a:p>
          <a:p>
            <a:pPr algn="just" rtl="0"/>
            <a:r>
              <a:rPr lang="en-US" sz="1200" b="1" dirty="0"/>
              <a:t>•	Product uniqueness</a:t>
            </a:r>
          </a:p>
          <a:p>
            <a:pPr algn="just" rtl="0"/>
            <a:r>
              <a:rPr lang="en-US" sz="1200" b="1" dirty="0"/>
              <a:t>•	Capabilities</a:t>
            </a:r>
          </a:p>
          <a:p>
            <a:pPr algn="just" rtl="0"/>
            <a:r>
              <a:rPr lang="en-US" sz="1200" b="1" dirty="0"/>
              <a:t>•	Customer segments</a:t>
            </a:r>
          </a:p>
          <a:p>
            <a:pPr algn="just" rtl="0"/>
            <a:r>
              <a:rPr lang="en-US" sz="1200" b="1" dirty="0"/>
              <a:t>•	Value proposition</a:t>
            </a:r>
          </a:p>
          <a:p>
            <a:pPr algn="just" rtl="0"/>
            <a:r>
              <a:rPr lang="en-US" sz="1200" b="1" dirty="0"/>
              <a:t>These factors are NOT included in the BCG model.</a:t>
            </a:r>
          </a:p>
          <a:p>
            <a:pPr algn="just" rtl="0"/>
            <a:r>
              <a:rPr lang="en-US" sz="1200" b="1" dirty="0"/>
              <a:t>________________________________________</a:t>
            </a:r>
          </a:p>
          <a:p>
            <a:pPr algn="just" rtl="0"/>
            <a:r>
              <a:rPr lang="en-US" sz="1200" b="1" dirty="0"/>
              <a:t>⭐ 3️⃣ Business (Generic) Strategies Come From Porter — Not BCG</a:t>
            </a:r>
          </a:p>
          <a:p>
            <a:pPr algn="just" rtl="0"/>
            <a:r>
              <a:rPr lang="en-US" sz="1200" b="1" dirty="0"/>
              <a:t>Porter’s Generic Strategies model is based on competitive advantage, while:</a:t>
            </a:r>
          </a:p>
          <a:p>
            <a:pPr algn="just" rtl="0"/>
            <a:r>
              <a:rPr lang="en-US" sz="1200" b="1" dirty="0"/>
              <a:t>•	BCG is based on market position &amp; growth</a:t>
            </a:r>
          </a:p>
          <a:p>
            <a:pPr algn="just" rtl="0"/>
            <a:r>
              <a:rPr lang="en-US" sz="1200" b="1" dirty="0"/>
              <a:t>•	IE Matrix is based on IFE &amp; EFE scores</a:t>
            </a:r>
          </a:p>
          <a:p>
            <a:pPr algn="just" rtl="0"/>
            <a:r>
              <a:rPr lang="en-US" sz="1200" b="1" dirty="0"/>
              <a:t>•	SPACE Matrix is based on 4 strategic dimensions</a:t>
            </a:r>
          </a:p>
          <a:p>
            <a:pPr algn="just" rtl="0"/>
            <a:r>
              <a:rPr lang="en-US" sz="1200" b="1" dirty="0"/>
              <a:t>These tools operate at the corporate level to guide allocation of resources, not competition methods.</a:t>
            </a:r>
          </a:p>
          <a:p>
            <a:pPr algn="just" rtl="0"/>
            <a:r>
              <a:rPr lang="en-US" sz="1200" b="1" dirty="0"/>
              <a:t>________________________________________</a:t>
            </a:r>
          </a:p>
          <a:p>
            <a:pPr algn="just" rtl="0"/>
            <a:r>
              <a:rPr lang="en-US" sz="1200" b="1" dirty="0"/>
              <a:t>⭐ 4️⃣ BCG Gives Direction; Generic Strategies Give Competitive Method</a:t>
            </a:r>
          </a:p>
          <a:p>
            <a:pPr algn="just" rtl="0"/>
            <a:r>
              <a:rPr lang="en-US" sz="1200" b="1" dirty="0"/>
              <a:t>Think of it this way:</a:t>
            </a:r>
          </a:p>
          <a:p>
            <a:pPr algn="just" rtl="0"/>
            <a:r>
              <a:rPr lang="en-US" sz="1200" b="1" dirty="0"/>
              <a:t>🔹 BCG (Corporate Strategy):</a:t>
            </a:r>
          </a:p>
          <a:p>
            <a:pPr algn="just" rtl="0"/>
            <a:r>
              <a:rPr lang="en-US" sz="1200" b="1" dirty="0"/>
              <a:t>•	Should we grow this product?</a:t>
            </a:r>
          </a:p>
          <a:p>
            <a:pPr algn="just" rtl="0"/>
            <a:r>
              <a:rPr lang="en-US" sz="1200" b="1" dirty="0"/>
              <a:t>•	Should we invest heavily?</a:t>
            </a:r>
          </a:p>
          <a:p>
            <a:pPr algn="just" rtl="0"/>
            <a:r>
              <a:rPr lang="en-US" sz="1200" b="1" dirty="0"/>
              <a:t>•	Should we harvest it?</a:t>
            </a:r>
          </a:p>
          <a:p>
            <a:pPr algn="just" rtl="0"/>
            <a:r>
              <a:rPr lang="en-US" sz="1200" b="1" dirty="0"/>
              <a:t>•	Should we divest it?</a:t>
            </a:r>
          </a:p>
          <a:p>
            <a:pPr algn="just" rtl="0"/>
            <a:r>
              <a:rPr lang="en-US" sz="1200" b="1" dirty="0"/>
              <a:t>🔹 Generic Strategies (Business Strategy):</a:t>
            </a:r>
          </a:p>
          <a:p>
            <a:pPr algn="just" rtl="0"/>
            <a:r>
              <a:rPr lang="en-US" sz="1200" b="1" dirty="0"/>
              <a:t>•	Will we grow through cost leadership?</a:t>
            </a:r>
          </a:p>
          <a:p>
            <a:pPr algn="just" rtl="0"/>
            <a:r>
              <a:rPr lang="en-US" sz="1200" b="1" dirty="0"/>
              <a:t>•	Or grow through differentiation?</a:t>
            </a:r>
          </a:p>
          <a:p>
            <a:pPr algn="just" rtl="0"/>
            <a:r>
              <a:rPr lang="en-US" sz="1200" b="1" dirty="0"/>
              <a:t>•	Or grow through focus?</a:t>
            </a:r>
          </a:p>
          <a:p>
            <a:pPr algn="just" rtl="0"/>
            <a:r>
              <a:rPr lang="en-US" sz="1200" b="1" dirty="0"/>
              <a:t>BCG tells you what to do.</a:t>
            </a:r>
          </a:p>
          <a:p>
            <a:pPr algn="just" rtl="0"/>
            <a:r>
              <a:rPr lang="en-US" sz="1200" b="1" dirty="0"/>
              <a:t>Generic strategies tell you how to do it.</a:t>
            </a:r>
          </a:p>
          <a:p>
            <a:pPr algn="just" rtl="0"/>
            <a:r>
              <a:rPr lang="en-US" sz="1200" b="1" dirty="0"/>
              <a:t>________________________________________</a:t>
            </a:r>
          </a:p>
          <a:p>
            <a:pPr algn="just" rtl="0"/>
            <a:r>
              <a:rPr lang="en-US" sz="1200" b="1" dirty="0"/>
              <a:t>⭐ 5️⃣ Even if BCG shows a product is a Star → it still doesn’t tell you the competitive method</a:t>
            </a:r>
          </a:p>
          <a:p>
            <a:pPr algn="just" rtl="0"/>
            <a:r>
              <a:rPr lang="en-US" sz="1200" b="1" dirty="0"/>
              <a:t>Example:</a:t>
            </a:r>
          </a:p>
          <a:p>
            <a:pPr algn="just" rtl="0"/>
            <a:r>
              <a:rPr lang="en-US" sz="1200" b="1" dirty="0"/>
              <a:t>A product is in the Star quadrant.</a:t>
            </a:r>
          </a:p>
          <a:p>
            <a:pPr algn="just" rtl="0"/>
            <a:r>
              <a:rPr lang="en-US" sz="1200" b="1" dirty="0"/>
              <a:t>BCG tells you:</a:t>
            </a:r>
          </a:p>
          <a:p>
            <a:pPr algn="just" rtl="0"/>
            <a:r>
              <a:rPr lang="en-US" sz="1200" b="1" dirty="0"/>
              <a:t>•	High growth market</a:t>
            </a:r>
          </a:p>
          <a:p>
            <a:pPr algn="just" rtl="0"/>
            <a:r>
              <a:rPr lang="en-US" sz="1200" b="1" dirty="0"/>
              <a:t>•	Strong market share</a:t>
            </a:r>
          </a:p>
          <a:p>
            <a:pPr algn="just" rtl="0"/>
            <a:r>
              <a:rPr lang="en-US" sz="1200" b="1" dirty="0"/>
              <a:t>👉 Invest and grow</a:t>
            </a:r>
          </a:p>
          <a:p>
            <a:pPr algn="just" rtl="0"/>
            <a:r>
              <a:rPr lang="en-US" sz="1200" b="1" dirty="0"/>
              <a:t>But to grow, you must choose:</a:t>
            </a:r>
          </a:p>
          <a:p>
            <a:pPr algn="just" rtl="0"/>
            <a:r>
              <a:rPr lang="en-US" sz="1200" b="1" dirty="0"/>
              <a:t>•	Cost leadership?</a:t>
            </a:r>
          </a:p>
          <a:p>
            <a:pPr algn="just" rtl="0"/>
            <a:r>
              <a:rPr lang="en-US" sz="1200" b="1" dirty="0"/>
              <a:t>•	Differentiation?</a:t>
            </a:r>
          </a:p>
          <a:p>
            <a:pPr algn="just" rtl="0"/>
            <a:r>
              <a:rPr lang="en-US" sz="1200" b="1" dirty="0"/>
              <a:t>•	Focus?</a:t>
            </a:r>
          </a:p>
          <a:p>
            <a:pPr algn="just" rtl="0"/>
            <a:r>
              <a:rPr lang="en-US" sz="1200" b="1" dirty="0"/>
              <a:t>BCG cannot answer that because it lacks competitive variables.</a:t>
            </a:r>
          </a:p>
          <a:p>
            <a:pPr algn="just" rtl="0"/>
            <a:r>
              <a:rPr lang="en-US" sz="1200" b="1" dirty="0"/>
              <a:t>________________________________________</a:t>
            </a:r>
          </a:p>
          <a:p>
            <a:pPr algn="just" rtl="0"/>
            <a:r>
              <a:rPr lang="en-US" sz="1200" b="1" dirty="0"/>
              <a:t>⭐ THE FINAL EXAM-READY ANSWER</a:t>
            </a:r>
          </a:p>
          <a:p>
            <a:pPr algn="just" rtl="0"/>
            <a:r>
              <a:rPr lang="en-US" sz="1200" b="1" dirty="0"/>
              <a:t>Although the BCG Matrix is used to analyze different products or business units, it cannot assign business-level (generic) strategies because it only provides corporate-level portfolio decisions based on market growth and relative market share. BCG answers “what to do” with each unit (grow, hold, harvest, divest), but it does not analyze competitive advantage, value proposition, cost structure, or differentiation factors that are essential for choosing generic strategies. Therefore, BCG cannot generate business strategies such as cost leadership or differentiation.</a:t>
            </a:r>
          </a:p>
          <a:p>
            <a:pPr algn="just" rtl="0"/>
            <a:endParaRPr lang="fr-FR" sz="1200" b="1" dirty="0"/>
          </a:p>
          <a:p>
            <a:pPr algn="just" rtl="0"/>
            <a:endParaRPr lang="ar-EG" sz="1200" dirty="0"/>
          </a:p>
          <a:p>
            <a:pPr algn="just" rtl="0"/>
            <a:endParaRPr lang="en-US" sz="12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6093027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rmAutofit lnSpcReduction="10000"/>
          </a:bodyPr>
          <a:lstStyle/>
          <a:p>
            <a:pPr algn="just" rtl="0"/>
            <a:r>
              <a:rPr lang="fr-FR" sz="2000" b="1" dirty="0" smtClean="0"/>
              <a:t>(</a:t>
            </a:r>
            <a:r>
              <a:rPr lang="fr-FR" sz="2000" b="1" dirty="0" err="1" smtClean="0"/>
              <a:t>Strategy</a:t>
            </a:r>
            <a:r>
              <a:rPr lang="fr-FR" sz="2000" b="1" dirty="0" smtClean="0"/>
              <a:t> formulation) not </a:t>
            </a:r>
            <a:r>
              <a:rPr lang="fr-FR" sz="2000" b="1" dirty="0" err="1" smtClean="0"/>
              <a:t>selection</a:t>
            </a:r>
            <a:endParaRPr lang="fr-FR" sz="2000" b="1" dirty="0" smtClean="0"/>
          </a:p>
          <a:p>
            <a:pPr algn="just" rtl="0"/>
            <a:r>
              <a:rPr lang="fr-FR" sz="2000" b="1" dirty="0" err="1" smtClean="0"/>
              <a:t>Before</a:t>
            </a:r>
            <a:r>
              <a:rPr lang="fr-FR" sz="2000" b="1" dirty="0" smtClean="0"/>
              <a:t> the formulation </a:t>
            </a:r>
            <a:r>
              <a:rPr lang="fr-FR" sz="2000" b="1" dirty="0" err="1" smtClean="0"/>
              <a:t>we</a:t>
            </a:r>
            <a:r>
              <a:rPr lang="fr-FR" sz="2000" b="1" dirty="0" smtClean="0"/>
              <a:t> have to </a:t>
            </a:r>
            <a:r>
              <a:rPr lang="fr-FR" sz="2000" b="1" dirty="0" err="1" smtClean="0"/>
              <a:t>determine</a:t>
            </a:r>
            <a:r>
              <a:rPr lang="fr-FR" sz="2000" b="1" dirty="0" smtClean="0"/>
              <a:t> the Types of </a:t>
            </a:r>
            <a:r>
              <a:rPr lang="fr-FR" sz="2000" b="1" dirty="0" err="1" smtClean="0"/>
              <a:t>strategies</a:t>
            </a:r>
            <a:r>
              <a:rPr lang="fr-FR" sz="2000" b="1" dirty="0" smtClean="0"/>
              <a:t>:</a:t>
            </a:r>
          </a:p>
          <a:p>
            <a:pPr marL="525780" indent="-457200" algn="just" rtl="0">
              <a:buFont typeface="+mj-lt"/>
              <a:buAutoNum type="arabicPeriod"/>
            </a:pPr>
            <a:r>
              <a:rPr lang="fr-FR" sz="2000" b="1" dirty="0" err="1" smtClean="0">
                <a:solidFill>
                  <a:srgbClr val="00B050"/>
                </a:solidFill>
              </a:rPr>
              <a:t>Corporate</a:t>
            </a:r>
            <a:r>
              <a:rPr lang="fr-FR" sz="2000" b="1" dirty="0" smtClean="0">
                <a:solidFill>
                  <a:srgbClr val="00B050"/>
                </a:solidFill>
              </a:rPr>
              <a:t> </a:t>
            </a:r>
            <a:r>
              <a:rPr lang="fr-FR" sz="2000" b="1" dirty="0" err="1" smtClean="0">
                <a:solidFill>
                  <a:srgbClr val="00B050"/>
                </a:solidFill>
              </a:rPr>
              <a:t>strategies</a:t>
            </a:r>
            <a:r>
              <a:rPr lang="fr-FR" sz="2000" b="1" dirty="0" smtClean="0">
                <a:solidFill>
                  <a:srgbClr val="00B050"/>
                </a:solidFill>
              </a:rPr>
              <a:t> (</a:t>
            </a:r>
            <a:r>
              <a:rPr lang="fr-FR" sz="2000" b="1" dirty="0" err="1" smtClean="0">
                <a:solidFill>
                  <a:srgbClr val="00B050"/>
                </a:solidFill>
              </a:rPr>
              <a:t>growth</a:t>
            </a:r>
            <a:r>
              <a:rPr lang="fr-FR" sz="2000" b="1" dirty="0" smtClean="0">
                <a:solidFill>
                  <a:srgbClr val="00B050"/>
                </a:solidFill>
              </a:rPr>
              <a:t> </a:t>
            </a:r>
            <a:r>
              <a:rPr lang="fr-FR" sz="2000" b="1" dirty="0" err="1" smtClean="0">
                <a:solidFill>
                  <a:srgbClr val="00B050"/>
                </a:solidFill>
              </a:rPr>
              <a:t>strategies</a:t>
            </a:r>
            <a:r>
              <a:rPr lang="fr-FR" sz="2000" b="1" dirty="0" smtClean="0">
                <a:solidFill>
                  <a:srgbClr val="00B050"/>
                </a:solidFill>
              </a:rPr>
              <a:t>)</a:t>
            </a:r>
          </a:p>
          <a:p>
            <a:pPr marL="525780" indent="-457200" algn="just" rtl="0">
              <a:buFont typeface="+mj-lt"/>
              <a:buAutoNum type="arabicPeriod"/>
            </a:pPr>
            <a:r>
              <a:rPr lang="fr-FR" sz="2000" b="1" dirty="0" err="1" smtClean="0">
                <a:solidFill>
                  <a:srgbClr val="00B050"/>
                </a:solidFill>
              </a:rPr>
              <a:t>Integration</a:t>
            </a:r>
            <a:r>
              <a:rPr lang="fr-FR" sz="2000" b="1" dirty="0" smtClean="0">
                <a:solidFill>
                  <a:srgbClr val="00B050"/>
                </a:solidFill>
              </a:rPr>
              <a:t> </a:t>
            </a:r>
            <a:r>
              <a:rPr lang="fr-FR" sz="2000" b="1" dirty="0" err="1" smtClean="0">
                <a:solidFill>
                  <a:srgbClr val="00B050"/>
                </a:solidFill>
              </a:rPr>
              <a:t>strategies</a:t>
            </a:r>
            <a:endParaRPr lang="fr-FR" sz="2000" b="1" dirty="0" smtClean="0">
              <a:solidFill>
                <a:srgbClr val="00B050"/>
              </a:solidFill>
            </a:endParaRPr>
          </a:p>
          <a:p>
            <a:pPr marL="525780" indent="-457200" algn="just" rtl="0">
              <a:buFont typeface="+mj-lt"/>
              <a:buAutoNum type="arabicPeriod"/>
            </a:pPr>
            <a:r>
              <a:rPr lang="fr-FR" sz="2000" b="1" dirty="0" err="1" smtClean="0">
                <a:solidFill>
                  <a:srgbClr val="00B050"/>
                </a:solidFill>
              </a:rPr>
              <a:t>Defensive</a:t>
            </a:r>
            <a:r>
              <a:rPr lang="fr-FR" sz="2000" b="1" dirty="0" smtClean="0">
                <a:solidFill>
                  <a:srgbClr val="00B050"/>
                </a:solidFill>
              </a:rPr>
              <a:t> </a:t>
            </a:r>
            <a:r>
              <a:rPr lang="fr-FR" sz="2000" b="1" dirty="0" err="1" smtClean="0">
                <a:solidFill>
                  <a:srgbClr val="00B050"/>
                </a:solidFill>
              </a:rPr>
              <a:t>strategies</a:t>
            </a:r>
            <a:endParaRPr lang="fr-FR" sz="2000" b="1" dirty="0" smtClean="0">
              <a:solidFill>
                <a:srgbClr val="00B050"/>
              </a:solidFill>
            </a:endParaRPr>
          </a:p>
          <a:p>
            <a:pPr marL="525780" indent="-457200" algn="just" rtl="0">
              <a:buFont typeface="+mj-lt"/>
              <a:buAutoNum type="arabicPeriod"/>
            </a:pPr>
            <a:r>
              <a:rPr lang="fr-FR" sz="2000" b="1" u="sng" dirty="0" smtClean="0">
                <a:solidFill>
                  <a:schemeClr val="tx1"/>
                </a:solidFill>
              </a:rPr>
              <a:t>Business </a:t>
            </a:r>
            <a:r>
              <a:rPr lang="fr-FR" sz="2000" b="1" u="sng" dirty="0" err="1" smtClean="0">
                <a:solidFill>
                  <a:schemeClr val="tx1"/>
                </a:solidFill>
              </a:rPr>
              <a:t>strategies</a:t>
            </a:r>
            <a:r>
              <a:rPr lang="fr-FR" sz="2000" b="1" u="sng" dirty="0" smtClean="0">
                <a:solidFill>
                  <a:schemeClr val="tx1"/>
                </a:solidFill>
              </a:rPr>
              <a:t> (</a:t>
            </a:r>
            <a:r>
              <a:rPr lang="fr-FR" sz="2000" b="1" u="sng" dirty="0" err="1" smtClean="0">
                <a:solidFill>
                  <a:schemeClr val="tx1"/>
                </a:solidFill>
              </a:rPr>
              <a:t>generic</a:t>
            </a:r>
            <a:r>
              <a:rPr lang="fr-FR" sz="2000" b="1" u="sng" dirty="0" smtClean="0">
                <a:solidFill>
                  <a:schemeClr val="tx1"/>
                </a:solidFill>
              </a:rPr>
              <a:t> </a:t>
            </a:r>
            <a:r>
              <a:rPr lang="fr-FR" sz="2000" b="1" u="sng" dirty="0" err="1" smtClean="0">
                <a:solidFill>
                  <a:schemeClr val="tx1"/>
                </a:solidFill>
              </a:rPr>
              <a:t>strategies</a:t>
            </a:r>
            <a:r>
              <a:rPr lang="fr-FR" sz="2000" b="1" u="sng" dirty="0" smtClean="0">
                <a:solidFill>
                  <a:schemeClr val="tx1"/>
                </a:solidFill>
              </a:rPr>
              <a:t>)</a:t>
            </a:r>
          </a:p>
          <a:p>
            <a:pPr marL="525780" indent="-457200" algn="just" rtl="0">
              <a:buFont typeface="+mj-lt"/>
              <a:buAutoNum type="arabicPeriod"/>
            </a:pPr>
            <a:r>
              <a:rPr lang="fr-FR" sz="2000" b="1" u="sng" dirty="0" err="1" smtClean="0">
                <a:solidFill>
                  <a:srgbClr val="0070C0"/>
                </a:solidFill>
              </a:rPr>
              <a:t>Matching</a:t>
            </a:r>
            <a:r>
              <a:rPr lang="fr-FR" sz="2000" b="1" u="sng" dirty="0" smtClean="0">
                <a:solidFill>
                  <a:srgbClr val="0070C0"/>
                </a:solidFill>
              </a:rPr>
              <a:t> </a:t>
            </a:r>
            <a:r>
              <a:rPr lang="fr-FR" sz="2000" b="1" u="sng" dirty="0" err="1" smtClean="0">
                <a:solidFill>
                  <a:srgbClr val="0070C0"/>
                </a:solidFill>
              </a:rPr>
              <a:t>tools</a:t>
            </a:r>
            <a:endParaRPr lang="fr-FR" sz="2000" b="1" u="sng" dirty="0" smtClean="0">
              <a:solidFill>
                <a:srgbClr val="0070C0"/>
              </a:solidFill>
            </a:endParaRPr>
          </a:p>
          <a:p>
            <a:pPr algn="just" rtl="0"/>
            <a:r>
              <a:rPr lang="fr-FR" sz="2000" b="1" dirty="0" smtClean="0"/>
              <a:t>1- Qualitative </a:t>
            </a:r>
            <a:r>
              <a:rPr lang="fr-FR" sz="2000" b="1" dirty="0" err="1" smtClean="0"/>
              <a:t>tool</a:t>
            </a:r>
            <a:r>
              <a:rPr lang="fr-FR" sz="2000" b="1" dirty="0" smtClean="0"/>
              <a:t> &gt;&gt;&gt; TOWS&gt;&gt;&gt; </a:t>
            </a:r>
            <a:r>
              <a:rPr lang="fr-FR" sz="2000" b="1" dirty="0" err="1" smtClean="0"/>
              <a:t>generate</a:t>
            </a:r>
            <a:r>
              <a:rPr lang="fr-FR" sz="2000" b="1" dirty="0" smtClean="0"/>
              <a:t> (1-2-3-4)</a:t>
            </a:r>
          </a:p>
          <a:p>
            <a:pPr algn="l" rtl="0"/>
            <a:r>
              <a:rPr lang="fr-FR" sz="2000" b="1" dirty="0" smtClean="0"/>
              <a:t>2- Quantitative </a:t>
            </a:r>
            <a:r>
              <a:rPr lang="fr-FR" sz="2000" b="1" dirty="0" err="1" smtClean="0"/>
              <a:t>tool</a:t>
            </a:r>
            <a:r>
              <a:rPr lang="fr-FR" sz="2000" b="1" dirty="0" smtClean="0"/>
              <a:t> &gt;&gt;&gt;</a:t>
            </a:r>
            <a:r>
              <a:rPr lang="fr-FR" sz="2000" b="1" u="sng" dirty="0" smtClean="0"/>
              <a:t>IE Matrix- </a:t>
            </a:r>
            <a:r>
              <a:rPr lang="fr-FR" sz="2000" b="1" u="sng" dirty="0" err="1" smtClean="0"/>
              <a:t>Space</a:t>
            </a:r>
            <a:r>
              <a:rPr lang="fr-FR" sz="2000" b="1" u="sng" dirty="0" smtClean="0"/>
              <a:t>- (BCG</a:t>
            </a:r>
            <a:r>
              <a:rPr lang="fr-FR" sz="2000" b="1" dirty="0" smtClean="0"/>
              <a:t>)&gt;&gt;</a:t>
            </a:r>
            <a:r>
              <a:rPr lang="fr-FR" sz="2000" b="1" dirty="0" err="1" smtClean="0"/>
              <a:t>generate</a:t>
            </a:r>
            <a:r>
              <a:rPr lang="fr-FR" sz="2000" b="1" dirty="0" smtClean="0"/>
              <a:t> (1-2-3) </a:t>
            </a:r>
            <a:r>
              <a:rPr lang="fr-FR" sz="2000" b="1" dirty="0" err="1" smtClean="0"/>
              <a:t>only</a:t>
            </a:r>
            <a:r>
              <a:rPr lang="fr-FR" sz="2000" b="1" dirty="0" smtClean="0"/>
              <a:t>.</a:t>
            </a:r>
          </a:p>
          <a:p>
            <a:pPr algn="l" rtl="0"/>
            <a:r>
              <a:rPr lang="fr-FR" sz="2000" b="1" dirty="0" err="1" smtClean="0"/>
              <a:t>Why</a:t>
            </a:r>
            <a:r>
              <a:rPr lang="fr-FR" sz="2000" b="1" dirty="0" smtClean="0"/>
              <a:t> </a:t>
            </a:r>
            <a:r>
              <a:rPr lang="fr-FR" sz="2000" b="1" dirty="0" err="1" smtClean="0"/>
              <a:t>we</a:t>
            </a:r>
            <a:r>
              <a:rPr lang="fr-FR" sz="2000" b="1" dirty="0" smtClean="0"/>
              <a:t> are </a:t>
            </a:r>
            <a:r>
              <a:rPr lang="fr-FR" sz="2000" b="1" dirty="0" err="1" smtClean="0"/>
              <a:t>using</a:t>
            </a:r>
            <a:r>
              <a:rPr lang="fr-FR" sz="2000" b="1" dirty="0" smtClean="0"/>
              <a:t> quantitative??? to </a:t>
            </a:r>
            <a:r>
              <a:rPr lang="fr-FR" sz="2000" b="1" dirty="0" err="1" smtClean="0"/>
              <a:t>validate</a:t>
            </a:r>
            <a:r>
              <a:rPr lang="fr-FR" sz="2000" b="1" dirty="0" smtClean="0"/>
              <a:t> the </a:t>
            </a:r>
            <a:r>
              <a:rPr lang="fr-FR" sz="2000" b="1" dirty="0" err="1" smtClean="0"/>
              <a:t>results</a:t>
            </a:r>
            <a:r>
              <a:rPr lang="fr-FR" sz="2000" b="1" dirty="0" smtClean="0"/>
              <a:t> of TOWS and to </a:t>
            </a:r>
            <a:r>
              <a:rPr lang="fr-FR" sz="2000" b="1" dirty="0" err="1" smtClean="0"/>
              <a:t>ensure</a:t>
            </a:r>
            <a:r>
              <a:rPr lang="fr-FR" sz="2000" b="1" dirty="0" smtClean="0"/>
              <a:t> </a:t>
            </a:r>
            <a:r>
              <a:rPr lang="fr-FR" sz="2000" b="1" dirty="0" err="1" smtClean="0"/>
              <a:t>that</a:t>
            </a:r>
            <a:r>
              <a:rPr lang="fr-FR" sz="2000" b="1" dirty="0" smtClean="0"/>
              <a:t> the </a:t>
            </a:r>
            <a:r>
              <a:rPr lang="fr-FR" sz="2000" b="1" dirty="0" err="1" smtClean="0"/>
              <a:t>results</a:t>
            </a:r>
            <a:r>
              <a:rPr lang="fr-FR" sz="2000" b="1" dirty="0" smtClean="0"/>
              <a:t> are the </a:t>
            </a:r>
            <a:r>
              <a:rPr lang="fr-FR" sz="2000" b="1" dirty="0" err="1" smtClean="0"/>
              <a:t>same</a:t>
            </a:r>
            <a:r>
              <a:rPr lang="fr-FR" sz="2000" b="1" dirty="0"/>
              <a:t>.</a:t>
            </a:r>
            <a:endParaRPr lang="fr-FR" sz="2000" b="1" dirty="0" smtClean="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5010514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537229"/>
          </a:xfrm>
        </p:spPr>
        <p:txBody>
          <a:bodyPr>
            <a:normAutofit fontScale="92500" lnSpcReduction="20000"/>
          </a:bodyPr>
          <a:lstStyle/>
          <a:p>
            <a:pPr marL="68580" indent="0" algn="just" rtl="0">
              <a:buNone/>
            </a:pPr>
            <a:r>
              <a:rPr lang="en-US" sz="2600" b="1" dirty="0" smtClean="0">
                <a:solidFill>
                  <a:schemeClr val="accent3">
                    <a:lumMod val="75000"/>
                  </a:schemeClr>
                </a:solidFill>
              </a:rPr>
              <a:t>1 Quantitative Matrix</a:t>
            </a:r>
          </a:p>
          <a:p>
            <a:pPr marL="68580" indent="0" algn="just" rtl="0">
              <a:buNone/>
            </a:pPr>
            <a:r>
              <a:rPr lang="en-US" sz="2600" b="1" dirty="0" smtClean="0">
                <a:solidFill>
                  <a:schemeClr val="accent3">
                    <a:lumMod val="75000"/>
                  </a:schemeClr>
                </a:solidFill>
              </a:rPr>
              <a:t>1-IE Matrix:</a:t>
            </a:r>
          </a:p>
          <a:p>
            <a:pPr algn="l" rtl="0"/>
            <a:r>
              <a:rPr lang="en-US" sz="2800" b="1" dirty="0"/>
              <a:t>What is the IE Matrix?</a:t>
            </a:r>
          </a:p>
          <a:p>
            <a:pPr algn="l" rtl="0"/>
            <a:r>
              <a:rPr lang="en-US" sz="2800" dirty="0"/>
              <a:t>The </a:t>
            </a:r>
            <a:r>
              <a:rPr lang="en-US" sz="2800" b="1" dirty="0"/>
              <a:t>Internal–External (IE) Matrix</a:t>
            </a:r>
            <a:r>
              <a:rPr lang="en-US" sz="2800" dirty="0"/>
              <a:t> is a strategic management tool used </a:t>
            </a:r>
            <a:r>
              <a:rPr lang="en-US" sz="2800" dirty="0" smtClean="0"/>
              <a:t>to </a:t>
            </a:r>
            <a:r>
              <a:rPr lang="en-US" sz="2800" b="1" dirty="0"/>
              <a:t>Identify which </a:t>
            </a:r>
            <a:r>
              <a:rPr lang="en-US" sz="2800" b="1" dirty="0" smtClean="0"/>
              <a:t>strategy </a:t>
            </a:r>
            <a:r>
              <a:rPr lang="en-US" sz="2800" b="1" dirty="0"/>
              <a:t>is most </a:t>
            </a:r>
            <a:r>
              <a:rPr lang="en-US" sz="2800" b="1" dirty="0" smtClean="0"/>
              <a:t>appropriate.</a:t>
            </a:r>
            <a:endParaRPr lang="en-US" sz="2800" b="1" dirty="0"/>
          </a:p>
          <a:p>
            <a:pPr algn="l" rtl="0"/>
            <a:endParaRPr lang="en-US" sz="2800" dirty="0"/>
          </a:p>
          <a:p>
            <a:pPr algn="l" rtl="0"/>
            <a:r>
              <a:rPr lang="en-US" sz="2800" b="1" dirty="0" smtClean="0"/>
              <a:t>It combines </a:t>
            </a:r>
            <a:r>
              <a:rPr lang="en-US" sz="2800" b="1" dirty="0"/>
              <a:t>internal performance (strengths/weaknesses) and external environment (opportunities/threats)</a:t>
            </a:r>
          </a:p>
          <a:p>
            <a:pPr algn="l" rtl="0"/>
            <a:r>
              <a:rPr lang="en-US" sz="2800" b="1" dirty="0"/>
              <a:t>✔ </a:t>
            </a:r>
            <a:r>
              <a:rPr lang="en-US" sz="2800" dirty="0" smtClean="0"/>
              <a:t>It </a:t>
            </a:r>
            <a:r>
              <a:rPr lang="en-US" sz="2800" dirty="0"/>
              <a:t>is </a:t>
            </a:r>
            <a:r>
              <a:rPr lang="en-US" sz="2800" b="1" dirty="0"/>
              <a:t>quantitative</a:t>
            </a:r>
            <a:r>
              <a:rPr lang="en-US" sz="2800" dirty="0"/>
              <a:t> because it uses </a:t>
            </a:r>
            <a:r>
              <a:rPr lang="en-US" sz="2800" b="1" dirty="0"/>
              <a:t>numerical scores</a:t>
            </a:r>
            <a:r>
              <a:rPr lang="en-US" sz="2800" dirty="0"/>
              <a:t> derived from </a:t>
            </a:r>
            <a:r>
              <a:rPr lang="en-US" sz="2800" b="1" dirty="0" smtClean="0"/>
              <a:t>IFE</a:t>
            </a:r>
            <a:r>
              <a:rPr lang="en-US" sz="2800" dirty="0" smtClean="0"/>
              <a:t> </a:t>
            </a:r>
            <a:r>
              <a:rPr lang="en-US" sz="2800" dirty="0"/>
              <a:t>and </a:t>
            </a:r>
            <a:r>
              <a:rPr lang="en-US" sz="2800" b="1" dirty="0" smtClean="0"/>
              <a:t>EFE</a:t>
            </a:r>
            <a:r>
              <a:rPr lang="en-US" sz="2800" dirty="0" smtClean="0"/>
              <a:t>.</a:t>
            </a:r>
            <a:endParaRPr lang="en-US" sz="2800" dirty="0"/>
          </a:p>
          <a:p>
            <a:pPr marL="68580" indent="0" algn="just" rtl="0">
              <a:buNone/>
            </a:pPr>
            <a:endParaRPr lang="en-US" sz="2600" b="1" dirty="0" smtClean="0">
              <a:solidFill>
                <a:schemeClr val="accent3">
                  <a:lumMod val="75000"/>
                </a:schemeClr>
              </a:solidFill>
            </a:endParaRPr>
          </a:p>
          <a:p>
            <a:pPr marL="68580" indent="0" algn="just" rtl="0">
              <a:buNone/>
            </a:pPr>
            <a:endParaRPr lang="fr-FR" b="1" dirty="0" smtClean="0"/>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
        <p:nvSpPr>
          <p:cNvPr id="3" name="AutoShape 2" descr="The Internal-External (IE) Matrix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735645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1063625" y="4868863"/>
            <a:ext cx="8229600" cy="4537229"/>
          </a:xfrm>
        </p:spPr>
        <p:txBody>
          <a:bodyPr>
            <a:normAutofit/>
          </a:bodyPr>
          <a:lstStyle/>
          <a:p>
            <a:pPr marL="68580" indent="0" algn="just" rtl="0">
              <a:buNone/>
            </a:pPr>
            <a:r>
              <a:rPr lang="en-US" sz="2600" b="1" dirty="0" smtClean="0">
                <a:solidFill>
                  <a:schemeClr val="accent3">
                    <a:lumMod val="75000"/>
                  </a:schemeClr>
                </a:solidFill>
              </a:rPr>
              <a:t>1 Quantitative Matrix</a:t>
            </a:r>
          </a:p>
          <a:p>
            <a:pPr marL="68580" indent="0" algn="just" rtl="0">
              <a:buNone/>
            </a:pPr>
            <a:r>
              <a:rPr lang="en-US" sz="2600" b="1" dirty="0" smtClean="0">
                <a:solidFill>
                  <a:schemeClr val="accent3">
                    <a:lumMod val="75000"/>
                  </a:schemeClr>
                </a:solidFill>
              </a:rPr>
              <a:t>IE Matrix</a:t>
            </a:r>
          </a:p>
          <a:p>
            <a:pPr marL="68580" indent="0" algn="just" rtl="0">
              <a:buNone/>
            </a:pPr>
            <a:endParaRPr lang="en-US" sz="2600" b="1" dirty="0" smtClean="0">
              <a:solidFill>
                <a:schemeClr val="accent3">
                  <a:lumMod val="75000"/>
                </a:schemeClr>
              </a:solidFill>
            </a:endParaRPr>
          </a:p>
          <a:p>
            <a:pPr marL="68580" indent="0" algn="just" rtl="0">
              <a:buNone/>
            </a:pPr>
            <a:endParaRPr lang="fr-FR" b="1" dirty="0" smtClean="0"/>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
        <p:nvSpPr>
          <p:cNvPr id="3" name="AutoShape 2" descr="The Internal-External (IE) Matrix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The Internal-External (IE) Matrix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066800"/>
            <a:ext cx="792480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3434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307975" y="4267200"/>
            <a:ext cx="8229600" cy="4537229"/>
          </a:xfrm>
        </p:spPr>
        <p:txBody>
          <a:bodyPr>
            <a:normAutofit/>
          </a:bodyPr>
          <a:lstStyle/>
          <a:p>
            <a:pPr marL="68580" indent="0" algn="just" rtl="0">
              <a:buNone/>
            </a:pPr>
            <a:r>
              <a:rPr lang="en-US" sz="2000" b="1" dirty="0" smtClean="0">
                <a:solidFill>
                  <a:schemeClr val="accent3">
                    <a:lumMod val="75000"/>
                  </a:schemeClr>
                </a:solidFill>
              </a:rPr>
              <a:t>IFE =3.5 and EFE=2.5</a:t>
            </a:r>
          </a:p>
          <a:p>
            <a:pPr marL="68580" indent="0" algn="just" rtl="0">
              <a:buNone/>
            </a:pPr>
            <a:r>
              <a:rPr lang="en-US" sz="2000" b="1" dirty="0" smtClean="0">
                <a:solidFill>
                  <a:schemeClr val="accent3">
                    <a:lumMod val="75000"/>
                  </a:schemeClr>
                </a:solidFill>
              </a:rPr>
              <a:t>Intersection Point will lead to standardized strategies that you have to stick to, to select one of these proposed strategies later.</a:t>
            </a:r>
          </a:p>
          <a:p>
            <a:pPr marL="68580" indent="0" algn="just" rtl="0">
              <a:buNone/>
            </a:pPr>
            <a:r>
              <a:rPr lang="en-US" sz="2000" b="1" dirty="0" smtClean="0">
                <a:solidFill>
                  <a:schemeClr val="accent3">
                    <a:lumMod val="75000"/>
                  </a:schemeClr>
                </a:solidFill>
              </a:rPr>
              <a:t>1- Harvest or divest (</a:t>
            </a:r>
            <a:r>
              <a:rPr lang="en-US" sz="2000" b="1" dirty="0"/>
              <a:t>Reduce exposure or exit the </a:t>
            </a:r>
            <a:r>
              <a:rPr lang="en-US" sz="2000" b="1" dirty="0" smtClean="0"/>
              <a:t>business</a:t>
            </a:r>
            <a:r>
              <a:rPr lang="en-US" sz="2000" dirty="0" smtClean="0"/>
              <a:t>).</a:t>
            </a:r>
          </a:p>
          <a:p>
            <a:pPr marL="68580" indent="0" algn="just" rtl="0">
              <a:buNone/>
            </a:pPr>
            <a:r>
              <a:rPr lang="en-US" sz="2000" b="1" dirty="0" smtClean="0">
                <a:solidFill>
                  <a:schemeClr val="accent3">
                    <a:lumMod val="75000"/>
                  </a:schemeClr>
                </a:solidFill>
              </a:rPr>
              <a:t>2-Hold and maintain (</a:t>
            </a:r>
            <a:r>
              <a:rPr lang="en-US" sz="2000" b="1" dirty="0" smtClean="0"/>
              <a:t>Maintain </a:t>
            </a:r>
            <a:r>
              <a:rPr lang="en-US" sz="2000" b="1" dirty="0"/>
              <a:t>stability and improve </a:t>
            </a:r>
            <a:r>
              <a:rPr lang="en-US" sz="2000" b="1" dirty="0" smtClean="0"/>
              <a:t>efficiency)</a:t>
            </a:r>
            <a:r>
              <a:rPr lang="en-US" sz="2000" dirty="0" smtClean="0"/>
              <a:t>.</a:t>
            </a:r>
          </a:p>
          <a:p>
            <a:pPr marL="68580" indent="0" algn="just" rtl="0">
              <a:buNone/>
            </a:pPr>
            <a:r>
              <a:rPr lang="en-US" sz="2000" b="1" dirty="0" smtClean="0">
                <a:solidFill>
                  <a:schemeClr val="accent3">
                    <a:lumMod val="75000"/>
                  </a:schemeClr>
                </a:solidFill>
              </a:rPr>
              <a:t>3- Grow and build (</a:t>
            </a:r>
            <a:r>
              <a:rPr lang="en-US" sz="2000" b="1" dirty="0"/>
              <a:t>Aggressive growth is </a:t>
            </a:r>
            <a:r>
              <a:rPr lang="en-US" sz="2000" b="1" dirty="0" smtClean="0"/>
              <a:t>appropriate</a:t>
            </a:r>
            <a:r>
              <a:rPr lang="en-US" sz="2000" dirty="0" smtClean="0"/>
              <a:t>)</a:t>
            </a:r>
            <a:endParaRPr lang="en-US" sz="2000" b="1" dirty="0" smtClean="0">
              <a:solidFill>
                <a:schemeClr val="accent3">
                  <a:lumMod val="75000"/>
                </a:schemeClr>
              </a:solidFill>
            </a:endParaRPr>
          </a:p>
          <a:p>
            <a:pPr marL="68580" indent="0" algn="just" rtl="0">
              <a:buNone/>
            </a:pPr>
            <a:endParaRPr lang="en-US" sz="2000" b="1" dirty="0">
              <a:solidFill>
                <a:schemeClr val="accent3">
                  <a:lumMod val="75000"/>
                </a:schemeClr>
              </a:solidFill>
            </a:endParaRPr>
          </a:p>
          <a:p>
            <a:pPr marL="68580" indent="0" algn="just" rtl="0">
              <a:buNone/>
            </a:pPr>
            <a:endParaRPr lang="en-US" sz="2000" b="1" dirty="0" smtClean="0">
              <a:solidFill>
                <a:schemeClr val="accent3">
                  <a:lumMod val="75000"/>
                </a:schemeClr>
              </a:solidFill>
            </a:endParaRPr>
          </a:p>
          <a:p>
            <a:pPr marL="68580" indent="0" algn="just" rtl="0">
              <a:buNone/>
            </a:pPr>
            <a:endParaRPr lang="en-US" sz="2000" b="1" dirty="0" smtClean="0">
              <a:solidFill>
                <a:schemeClr val="accent3">
                  <a:lumMod val="75000"/>
                </a:schemeClr>
              </a:solidFill>
            </a:endParaRPr>
          </a:p>
          <a:p>
            <a:pPr marL="68580" indent="0" algn="just" rtl="0">
              <a:buNone/>
            </a:pPr>
            <a:endParaRPr lang="en-US" sz="2600" b="1" dirty="0" smtClean="0">
              <a:solidFill>
                <a:schemeClr val="accent3">
                  <a:lumMod val="75000"/>
                </a:schemeClr>
              </a:solidFill>
            </a:endParaRPr>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
        <p:nvSpPr>
          <p:cNvPr id="3" name="AutoShape 2" descr="The Internal-External (IE) Matrix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The Internal-External (IE) Matrix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792480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0246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5105400"/>
          </a:xfrm>
        </p:spPr>
        <p:txBody>
          <a:bodyPr>
            <a:normAutofit fontScale="92500" lnSpcReduction="20000"/>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smtClean="0"/>
              <a:t>SWOT Matrix (TWOS </a:t>
            </a:r>
            <a:r>
              <a:rPr lang="fr-FR" b="1" dirty="0" err="1" smtClean="0"/>
              <a:t>Analysis</a:t>
            </a:r>
            <a:r>
              <a:rPr lang="fr-FR" b="1" dirty="0" smtClean="0"/>
              <a:t>) 	</a:t>
            </a:r>
          </a:p>
          <a:p>
            <a:pPr marL="68580" indent="0" algn="just" rtl="0">
              <a:buNone/>
            </a:pPr>
            <a:r>
              <a:rPr lang="fr-FR" b="1" u="sng" dirty="0" smtClean="0">
                <a:solidFill>
                  <a:schemeClr val="accent6">
                    <a:lumMod val="50000"/>
                  </a:schemeClr>
                </a:solidFill>
              </a:rPr>
              <a:t>Qualitative </a:t>
            </a:r>
            <a:r>
              <a:rPr lang="fr-FR" b="1" u="sng" dirty="0" err="1" smtClean="0">
                <a:solidFill>
                  <a:schemeClr val="accent6">
                    <a:lumMod val="50000"/>
                  </a:schemeClr>
                </a:solidFill>
              </a:rPr>
              <a:t>tool</a:t>
            </a:r>
            <a:endParaRPr lang="fr-FR" b="1" u="sng" dirty="0" smtClean="0">
              <a:solidFill>
                <a:schemeClr val="accent6">
                  <a:lumMod val="50000"/>
                </a:schemeClr>
              </a:solidFill>
            </a:endParaRPr>
          </a:p>
          <a:p>
            <a:pPr marL="68580" indent="0" algn="just" rtl="0">
              <a:buNone/>
            </a:pPr>
            <a:r>
              <a:rPr lang="fr-FR" b="1" dirty="0" smtClean="0"/>
              <a:t>It </a:t>
            </a:r>
            <a:r>
              <a:rPr lang="fr-FR" b="1" dirty="0" err="1" smtClean="0"/>
              <a:t>is</a:t>
            </a:r>
            <a:r>
              <a:rPr lang="fr-FR" b="1" dirty="0" smtClean="0"/>
              <a:t> </a:t>
            </a:r>
            <a:r>
              <a:rPr lang="fr-FR" b="1" dirty="0" err="1" smtClean="0"/>
              <a:t>very</a:t>
            </a:r>
            <a:r>
              <a:rPr lang="fr-FR" b="1" dirty="0" smtClean="0"/>
              <a:t> important</a:t>
            </a:r>
          </a:p>
          <a:p>
            <a:pPr marL="68580" indent="0" algn="just" rtl="0">
              <a:buNone/>
            </a:pPr>
            <a:endParaRPr lang="fr-FR" b="1" dirty="0"/>
          </a:p>
          <a:p>
            <a:pPr marL="68580" indent="0" algn="just" rtl="0">
              <a:buNone/>
            </a:pPr>
            <a:r>
              <a:rPr lang="fr-FR" b="1" u="sng" dirty="0" smtClean="0">
                <a:solidFill>
                  <a:schemeClr val="accent6">
                    <a:lumMod val="50000"/>
                  </a:schemeClr>
                </a:solidFill>
              </a:rPr>
              <a:t>Four types of </a:t>
            </a:r>
            <a:r>
              <a:rPr lang="fr-FR" b="1" u="sng" dirty="0" err="1" smtClean="0">
                <a:solidFill>
                  <a:schemeClr val="accent6">
                    <a:lumMod val="50000"/>
                  </a:schemeClr>
                </a:solidFill>
              </a:rPr>
              <a:t>strategies</a:t>
            </a:r>
            <a:endParaRPr lang="fr-FR" b="1" u="sng" dirty="0" smtClean="0">
              <a:solidFill>
                <a:schemeClr val="accent6">
                  <a:lumMod val="50000"/>
                </a:schemeClr>
              </a:solidFill>
            </a:endParaRPr>
          </a:p>
          <a:p>
            <a:endParaRPr lang="ar-EG" dirty="0"/>
          </a:p>
          <a:p>
            <a:pPr algn="l" rtl="0"/>
            <a:r>
              <a:rPr lang="fr-FR" sz="2000" b="1" dirty="0"/>
              <a:t>Strengths-</a:t>
            </a:r>
            <a:r>
              <a:rPr lang="fr-FR" sz="2000" b="1" dirty="0" err="1"/>
              <a:t>Opportunities</a:t>
            </a:r>
            <a:r>
              <a:rPr lang="fr-FR" sz="2000" b="1" dirty="0"/>
              <a:t> (</a:t>
            </a:r>
            <a:r>
              <a:rPr lang="fr-FR" sz="2000" b="1" dirty="0" smtClean="0"/>
              <a:t>SO)</a:t>
            </a:r>
          </a:p>
          <a:p>
            <a:pPr marL="68580" indent="0" algn="l" rtl="0">
              <a:buNone/>
            </a:pPr>
            <a:r>
              <a:rPr lang="fr-FR" sz="2000" b="1" dirty="0" smtClean="0"/>
              <a:t>Maxi-Maxi. (max strengths to max opportunités)</a:t>
            </a:r>
            <a:endParaRPr lang="fr-FR" sz="2000" b="1" dirty="0"/>
          </a:p>
          <a:p>
            <a:pPr algn="l" rtl="0"/>
            <a:r>
              <a:rPr lang="fr-FR" sz="2000" b="1" dirty="0" err="1" smtClean="0">
                <a:solidFill>
                  <a:srgbClr val="00B050"/>
                </a:solidFill>
              </a:rPr>
              <a:t>Weaknesses-Opportunities</a:t>
            </a:r>
            <a:r>
              <a:rPr lang="fr-FR" sz="2000" b="1" dirty="0" smtClean="0">
                <a:solidFill>
                  <a:srgbClr val="00B050"/>
                </a:solidFill>
              </a:rPr>
              <a:t> </a:t>
            </a:r>
            <a:r>
              <a:rPr lang="fr-FR" sz="2000" b="1" dirty="0">
                <a:solidFill>
                  <a:srgbClr val="00B050"/>
                </a:solidFill>
              </a:rPr>
              <a:t>(WO</a:t>
            </a:r>
            <a:r>
              <a:rPr lang="fr-FR" sz="2000" b="1" dirty="0" smtClean="0">
                <a:solidFill>
                  <a:srgbClr val="00B050"/>
                </a:solidFill>
              </a:rPr>
              <a:t>) </a:t>
            </a:r>
          </a:p>
          <a:p>
            <a:pPr marL="68580" indent="0" algn="l" rtl="0">
              <a:buNone/>
            </a:pPr>
            <a:r>
              <a:rPr lang="fr-FR" sz="2000" b="1" dirty="0" smtClean="0">
                <a:solidFill>
                  <a:srgbClr val="00B050"/>
                </a:solidFill>
              </a:rPr>
              <a:t>Mini-Maxi. (min. </a:t>
            </a:r>
            <a:r>
              <a:rPr lang="fr-FR" sz="2000" b="1" dirty="0" err="1" smtClean="0">
                <a:solidFill>
                  <a:srgbClr val="00B050"/>
                </a:solidFill>
              </a:rPr>
              <a:t>weaknesses</a:t>
            </a:r>
            <a:r>
              <a:rPr lang="fr-FR" sz="2000" b="1" dirty="0" smtClean="0">
                <a:solidFill>
                  <a:srgbClr val="00B050"/>
                </a:solidFill>
              </a:rPr>
              <a:t> to max </a:t>
            </a:r>
            <a:r>
              <a:rPr lang="fr-FR" sz="2000" b="1" dirty="0">
                <a:solidFill>
                  <a:srgbClr val="00B050"/>
                </a:solidFill>
              </a:rPr>
              <a:t>opportunités)</a:t>
            </a:r>
          </a:p>
          <a:p>
            <a:pPr algn="l" rtl="0"/>
            <a:r>
              <a:rPr lang="fr-FR" sz="2000" b="1" dirty="0" smtClean="0"/>
              <a:t>Strengths-</a:t>
            </a:r>
            <a:r>
              <a:rPr lang="fr-FR" sz="2000" b="1" dirty="0" err="1" smtClean="0"/>
              <a:t>Threats</a:t>
            </a:r>
            <a:r>
              <a:rPr lang="fr-FR" sz="2000" b="1" dirty="0" smtClean="0"/>
              <a:t> </a:t>
            </a:r>
            <a:r>
              <a:rPr lang="fr-FR" sz="2000" b="1" dirty="0"/>
              <a:t>(ST</a:t>
            </a:r>
            <a:r>
              <a:rPr lang="fr-FR" sz="2000" b="1" dirty="0" smtClean="0"/>
              <a:t>) </a:t>
            </a:r>
          </a:p>
          <a:p>
            <a:pPr marL="68580" indent="0" algn="l" rtl="0">
              <a:buNone/>
            </a:pPr>
            <a:r>
              <a:rPr lang="fr-FR" sz="2000" b="1" dirty="0" smtClean="0"/>
              <a:t>Maxi-Mini. (</a:t>
            </a:r>
            <a:r>
              <a:rPr lang="fr-FR" sz="2000" b="1" dirty="0"/>
              <a:t>max strengths to </a:t>
            </a:r>
            <a:r>
              <a:rPr lang="fr-FR" sz="2000" b="1" dirty="0" smtClean="0"/>
              <a:t>min. </a:t>
            </a:r>
            <a:r>
              <a:rPr lang="fr-FR" sz="2000" b="1" dirty="0" err="1" smtClean="0"/>
              <a:t>threats</a:t>
            </a:r>
            <a:r>
              <a:rPr lang="fr-FR" sz="2000" b="1" dirty="0" smtClean="0"/>
              <a:t>)</a:t>
            </a:r>
            <a:endParaRPr lang="fr-FR" sz="2000" b="1" dirty="0"/>
          </a:p>
          <a:p>
            <a:pPr algn="l" rtl="0"/>
            <a:r>
              <a:rPr lang="fr-FR" sz="2000" b="1" dirty="0" err="1" smtClean="0">
                <a:solidFill>
                  <a:srgbClr val="00B050"/>
                </a:solidFill>
              </a:rPr>
              <a:t>Weaknesses-Threats</a:t>
            </a:r>
            <a:r>
              <a:rPr lang="fr-FR" sz="2000" b="1" dirty="0" smtClean="0">
                <a:solidFill>
                  <a:srgbClr val="00B050"/>
                </a:solidFill>
              </a:rPr>
              <a:t> </a:t>
            </a:r>
            <a:r>
              <a:rPr lang="fr-FR" sz="2000" b="1" dirty="0">
                <a:solidFill>
                  <a:srgbClr val="00B050"/>
                </a:solidFill>
              </a:rPr>
              <a:t>(WT</a:t>
            </a:r>
            <a:r>
              <a:rPr lang="fr-FR" sz="2000" b="1" dirty="0" smtClean="0">
                <a:solidFill>
                  <a:srgbClr val="00B050"/>
                </a:solidFill>
              </a:rPr>
              <a:t>)</a:t>
            </a:r>
          </a:p>
          <a:p>
            <a:pPr marL="68580" indent="0" algn="l" rtl="0">
              <a:buNone/>
            </a:pPr>
            <a:r>
              <a:rPr lang="fr-FR" sz="2000" b="1" dirty="0" smtClean="0">
                <a:solidFill>
                  <a:srgbClr val="00B050"/>
                </a:solidFill>
              </a:rPr>
              <a:t> Mini-Mini.(min </a:t>
            </a:r>
            <a:r>
              <a:rPr lang="fr-FR" sz="2000" b="1" dirty="0" err="1" smtClean="0">
                <a:solidFill>
                  <a:srgbClr val="00B050"/>
                </a:solidFill>
              </a:rPr>
              <a:t>weaknesses</a:t>
            </a:r>
            <a:r>
              <a:rPr lang="fr-FR" sz="2000" b="1" dirty="0" smtClean="0">
                <a:solidFill>
                  <a:srgbClr val="00B050"/>
                </a:solidFill>
              </a:rPr>
              <a:t> </a:t>
            </a:r>
            <a:r>
              <a:rPr lang="fr-FR" sz="2000" b="1" dirty="0">
                <a:solidFill>
                  <a:srgbClr val="00B050"/>
                </a:solidFill>
              </a:rPr>
              <a:t>to min. </a:t>
            </a:r>
            <a:r>
              <a:rPr lang="fr-FR" sz="2000" b="1" dirty="0" err="1">
                <a:solidFill>
                  <a:srgbClr val="00B050"/>
                </a:solidFill>
              </a:rPr>
              <a:t>threats</a:t>
            </a:r>
            <a:r>
              <a:rPr lang="fr-FR" sz="2000" b="1" dirty="0">
                <a:solidFill>
                  <a:srgbClr val="00B050"/>
                </a:solidFill>
              </a:rPr>
              <a:t>)</a:t>
            </a:r>
          </a:p>
          <a:p>
            <a:pPr algn="l" rtl="0"/>
            <a:endParaRPr lang="fr-FR" dirty="0"/>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987059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533400" y="990600"/>
            <a:ext cx="8229600" cy="4537229"/>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sz="2000" b="1" dirty="0" smtClean="0"/>
              <a:t>SWOT Matrix (TWOS </a:t>
            </a:r>
            <a:r>
              <a:rPr lang="fr-FR" sz="2000" b="1" dirty="0" err="1" smtClean="0"/>
              <a:t>Analysis</a:t>
            </a:r>
            <a:r>
              <a:rPr lang="fr-FR" sz="2000" b="1" dirty="0" smtClean="0"/>
              <a:t>) </a:t>
            </a:r>
            <a:r>
              <a:rPr lang="fr-FR" sz="2000" b="1" dirty="0" err="1" smtClean="0"/>
              <a:t>Matching</a:t>
            </a:r>
            <a:r>
              <a:rPr lang="fr-FR" sz="2000" b="1" dirty="0" smtClean="0"/>
              <a:t> </a:t>
            </a:r>
            <a:r>
              <a:rPr lang="fr-FR" sz="2000" b="1" dirty="0" err="1" smtClean="0"/>
              <a:t>tool</a:t>
            </a:r>
            <a:r>
              <a:rPr lang="fr-FR" sz="2000" b="1" dirty="0" smtClean="0"/>
              <a:t>	- Qualitative </a:t>
            </a:r>
            <a:r>
              <a:rPr lang="fr-FR" sz="2000" b="1" dirty="0" err="1" smtClean="0"/>
              <a:t>tool</a:t>
            </a:r>
            <a:endParaRPr lang="fr-FR" sz="2000" b="1" dirty="0" smtClean="0"/>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3074" name="Picture 2" descr="TOWS Analysis Template MS-Word Gre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33600"/>
            <a:ext cx="8077200" cy="4343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58225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685800" y="4121624"/>
            <a:ext cx="8229600" cy="4537229"/>
          </a:xfrm>
        </p:spPr>
        <p:txBody>
          <a:bodyPr>
            <a:normAutofit/>
          </a:bodyPr>
          <a:lstStyle/>
          <a:p>
            <a:pPr lvl="8" algn="l"/>
            <a:r>
              <a:rPr lang="en-US" sz="1800" b="1" u="sng" dirty="0">
                <a:solidFill>
                  <a:srgbClr val="00B050"/>
                </a:solidFill>
              </a:rPr>
              <a:t>SO Example from TOWS:</a:t>
            </a:r>
            <a:endParaRPr lang="en-US" sz="800" b="1" u="sng" dirty="0">
              <a:solidFill>
                <a:srgbClr val="00B050"/>
              </a:solidFill>
            </a:endParaRPr>
          </a:p>
          <a:p>
            <a:pPr algn="l" rtl="0"/>
            <a:r>
              <a:rPr lang="en-US" sz="1800" b="1" dirty="0">
                <a:solidFill>
                  <a:schemeClr val="tx1"/>
                </a:solidFill>
              </a:rPr>
              <a:t>“Use our strong brand </a:t>
            </a:r>
            <a:r>
              <a:rPr lang="en-US" sz="1800" b="1" dirty="0" smtClean="0">
                <a:solidFill>
                  <a:schemeClr val="tx1"/>
                </a:solidFill>
              </a:rPr>
              <a:t>reputation (S) </a:t>
            </a:r>
            <a:r>
              <a:rPr lang="en-US" sz="1800" b="1" dirty="0">
                <a:solidFill>
                  <a:schemeClr val="tx1"/>
                </a:solidFill>
              </a:rPr>
              <a:t>to enter Gulf markets where demand is </a:t>
            </a:r>
            <a:r>
              <a:rPr lang="en-US" sz="1800" b="1" dirty="0" smtClean="0">
                <a:solidFill>
                  <a:schemeClr val="tx1"/>
                </a:solidFill>
              </a:rPr>
              <a:t>rising (O).”</a:t>
            </a:r>
            <a:endParaRPr lang="en-US" sz="1800" b="1" dirty="0">
              <a:solidFill>
                <a:schemeClr val="tx1"/>
              </a:solidFill>
            </a:endParaRPr>
          </a:p>
          <a:p>
            <a:pPr algn="l" rtl="0"/>
            <a:r>
              <a:rPr lang="en-US" sz="1800" b="1" dirty="0">
                <a:solidFill>
                  <a:schemeClr val="tx1"/>
                </a:solidFill>
              </a:rPr>
              <a:t>This is an action-oriented statement.</a:t>
            </a:r>
          </a:p>
          <a:p>
            <a:pPr algn="l" rtl="0"/>
            <a:r>
              <a:rPr lang="en-US" sz="1800" b="1" dirty="0">
                <a:solidFill>
                  <a:schemeClr val="tx1"/>
                </a:solidFill>
              </a:rPr>
              <a:t>But what category does it belong to?</a:t>
            </a:r>
            <a:br>
              <a:rPr lang="en-US" sz="1800" b="1" dirty="0">
                <a:solidFill>
                  <a:schemeClr val="tx1"/>
                </a:solidFill>
              </a:rPr>
            </a:br>
            <a:r>
              <a:rPr lang="en-US" sz="1800" b="1" dirty="0">
                <a:solidFill>
                  <a:schemeClr val="tx1"/>
                </a:solidFill>
              </a:rPr>
              <a:t>→ </a:t>
            </a:r>
            <a:r>
              <a:rPr lang="en-US" sz="1800" b="1" dirty="0" smtClean="0">
                <a:solidFill>
                  <a:schemeClr val="tx1"/>
                </a:solidFill>
              </a:rPr>
              <a:t>Market </a:t>
            </a:r>
            <a:r>
              <a:rPr lang="en-US" sz="1800" b="1" dirty="0">
                <a:solidFill>
                  <a:schemeClr val="tx1"/>
                </a:solidFill>
              </a:rPr>
              <a:t>Development Strategy</a:t>
            </a:r>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
        <p:nvSpPr>
          <p:cNvPr id="3" name="Rectangle 2"/>
          <p:cNvSpPr/>
          <p:nvPr/>
        </p:nvSpPr>
        <p:spPr>
          <a:xfrm>
            <a:off x="533400" y="1113979"/>
            <a:ext cx="7315200" cy="3000821"/>
          </a:xfrm>
          <a:prstGeom prst="rect">
            <a:avLst/>
          </a:prstGeom>
        </p:spPr>
        <p:txBody>
          <a:bodyPr wrap="square">
            <a:spAutoFit/>
          </a:bodyPr>
          <a:lstStyle/>
          <a:p>
            <a:pPr marL="285750" indent="-285750">
              <a:lnSpc>
                <a:spcPct val="150000"/>
              </a:lnSpc>
              <a:buFont typeface="Arial" panose="020B0604020202020204" pitchFamily="34" charset="0"/>
              <a:buChar char="•"/>
            </a:pPr>
            <a:r>
              <a:rPr lang="en-US" b="1" dirty="0" smtClean="0"/>
              <a:t>“TOWS does not give you the name of the strategy.</a:t>
            </a:r>
          </a:p>
          <a:p>
            <a:pPr marL="285750" indent="-285750">
              <a:lnSpc>
                <a:spcPct val="150000"/>
              </a:lnSpc>
              <a:buFont typeface="Arial" panose="020B0604020202020204" pitchFamily="34" charset="0"/>
              <a:buChar char="•"/>
            </a:pPr>
            <a:r>
              <a:rPr lang="en-US" b="1" dirty="0" smtClean="0"/>
              <a:t>It gives you the logic and the actions that lead you to choose the right strategy.</a:t>
            </a:r>
          </a:p>
          <a:p>
            <a:pPr marL="285750" indent="-285750">
              <a:lnSpc>
                <a:spcPct val="150000"/>
              </a:lnSpc>
              <a:buFont typeface="Arial" panose="020B0604020202020204" pitchFamily="34" charset="0"/>
              <a:buChar char="•"/>
            </a:pPr>
            <a:r>
              <a:rPr lang="en-US" b="1" dirty="0" smtClean="0"/>
              <a:t>The matrix is action-driven.</a:t>
            </a:r>
          </a:p>
          <a:p>
            <a:pPr marL="285750" indent="-285750">
              <a:lnSpc>
                <a:spcPct val="150000"/>
              </a:lnSpc>
              <a:buFont typeface="Arial" panose="020B0604020202020204" pitchFamily="34" charset="0"/>
              <a:buChar char="•"/>
            </a:pPr>
            <a:r>
              <a:rPr lang="en-US" b="1" dirty="0" smtClean="0"/>
              <a:t>The strategy categories we studied are decision-driven.</a:t>
            </a:r>
          </a:p>
          <a:p>
            <a:pPr marL="285750" indent="-285750">
              <a:lnSpc>
                <a:spcPct val="150000"/>
              </a:lnSpc>
              <a:buFont typeface="Arial" panose="020B0604020202020204" pitchFamily="34" charset="0"/>
              <a:buChar char="•"/>
            </a:pPr>
            <a:r>
              <a:rPr lang="en-US" b="1" dirty="0" smtClean="0"/>
              <a:t>You first generate actions through TOWS, then translate them into the formal strategies you learned in class.”</a:t>
            </a:r>
            <a:endParaRPr lang="en-US" b="1" dirty="0"/>
          </a:p>
        </p:txBody>
      </p:sp>
    </p:spTree>
    <p:extLst>
      <p:ext uri="{BB962C8B-B14F-4D97-AF65-F5344CB8AC3E}">
        <p14:creationId xmlns:p14="http://schemas.microsoft.com/office/powerpoint/2010/main" val="42276383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5523"/>
            <a:ext cx="7024744" cy="470277"/>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529988" y="701040"/>
            <a:ext cx="8229600" cy="2971800"/>
          </a:xfrm>
        </p:spPr>
        <p:txBody>
          <a:bodyPr>
            <a:normAutofit/>
          </a:bodyPr>
          <a:lstStyle/>
          <a:p>
            <a:pPr marL="68580" indent="0" algn="just" rtl="0">
              <a:buNone/>
            </a:pPr>
            <a:r>
              <a:rPr lang="en-US" sz="1800" b="1" dirty="0" smtClean="0">
                <a:solidFill>
                  <a:schemeClr val="accent3">
                    <a:lumMod val="75000"/>
                  </a:schemeClr>
                </a:solidFill>
              </a:rPr>
              <a:t>Stage </a:t>
            </a:r>
            <a:r>
              <a:rPr lang="en-US" sz="1800" b="1" dirty="0">
                <a:solidFill>
                  <a:schemeClr val="accent3">
                    <a:lumMod val="75000"/>
                  </a:schemeClr>
                </a:solidFill>
              </a:rPr>
              <a:t>2: The Matching </a:t>
            </a:r>
            <a:r>
              <a:rPr lang="en-US" sz="1800" b="1" dirty="0" smtClean="0">
                <a:solidFill>
                  <a:schemeClr val="accent3">
                    <a:lumMod val="75000"/>
                  </a:schemeClr>
                </a:solidFill>
              </a:rPr>
              <a:t>Stage </a:t>
            </a:r>
            <a:endParaRPr lang="en-US" sz="1800" dirty="0" smtClean="0"/>
          </a:p>
          <a:p>
            <a:pPr marL="68580" indent="0" algn="just" rtl="0">
              <a:buNone/>
            </a:pPr>
            <a:r>
              <a:rPr lang="fr-FR" sz="1800" b="1" dirty="0" smtClean="0"/>
              <a:t>SWOT Matrix (TWOS </a:t>
            </a:r>
            <a:r>
              <a:rPr lang="fr-FR" sz="1800" b="1" dirty="0" err="1" smtClean="0"/>
              <a:t>Analysis</a:t>
            </a:r>
            <a:r>
              <a:rPr lang="fr-FR" sz="1800" b="1" dirty="0" smtClean="0"/>
              <a:t>) </a:t>
            </a:r>
            <a:r>
              <a:rPr lang="fr-FR" sz="1800" b="1" dirty="0" err="1" smtClean="0"/>
              <a:t>Matching</a:t>
            </a:r>
            <a:r>
              <a:rPr lang="fr-FR" sz="1800" b="1" dirty="0" smtClean="0"/>
              <a:t> techniques- Qualitative </a:t>
            </a:r>
            <a:r>
              <a:rPr lang="fr-FR" sz="1800" b="1" dirty="0" err="1" smtClean="0"/>
              <a:t>tool</a:t>
            </a:r>
            <a:endParaRPr lang="fr-FR" sz="1800" b="1" dirty="0" smtClean="0"/>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732121001"/>
              </p:ext>
            </p:extLst>
          </p:nvPr>
        </p:nvGraphicFramePr>
        <p:xfrm>
          <a:off x="529988" y="1447800"/>
          <a:ext cx="8229600" cy="5486400"/>
        </p:xfrm>
        <a:graphic>
          <a:graphicData uri="http://schemas.openxmlformats.org/drawingml/2006/table">
            <a:tbl>
              <a:tblPr firstRow="1" bandRow="1">
                <a:tableStyleId>{5C22544A-7EE6-4342-B048-85BDC9FD1C3A}</a:tableStyleId>
              </a:tblPr>
              <a:tblGrid>
                <a:gridCol w="2832334">
                  <a:extLst>
                    <a:ext uri="{9D8B030D-6E8A-4147-A177-3AD203B41FA5}">
                      <a16:colId xmlns:a16="http://schemas.microsoft.com/office/drawing/2014/main" val="3355672644"/>
                    </a:ext>
                  </a:extLst>
                </a:gridCol>
                <a:gridCol w="3536019">
                  <a:extLst>
                    <a:ext uri="{9D8B030D-6E8A-4147-A177-3AD203B41FA5}">
                      <a16:colId xmlns:a16="http://schemas.microsoft.com/office/drawing/2014/main" val="2980758262"/>
                    </a:ext>
                  </a:extLst>
                </a:gridCol>
                <a:gridCol w="1861247">
                  <a:extLst>
                    <a:ext uri="{9D8B030D-6E8A-4147-A177-3AD203B41FA5}">
                      <a16:colId xmlns:a16="http://schemas.microsoft.com/office/drawing/2014/main" val="2891949939"/>
                    </a:ext>
                  </a:extLst>
                </a:gridCol>
              </a:tblGrid>
              <a:tr h="203686">
                <a:tc>
                  <a:txBody>
                    <a:bodyPr/>
                    <a:lstStyle/>
                    <a:p>
                      <a:pPr algn="l"/>
                      <a:r>
                        <a:rPr lang="en-US" dirty="0" smtClean="0">
                          <a:solidFill>
                            <a:srgbClr val="7030A0"/>
                          </a:solidFill>
                        </a:rPr>
                        <a:t>TOWS</a:t>
                      </a:r>
                      <a:endParaRPr lang="en-US" dirty="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just" rtl="0">
                        <a:spcBef>
                          <a:spcPts val="0"/>
                        </a:spcBef>
                      </a:pPr>
                      <a:r>
                        <a:rPr lang="en-US" sz="1200" b="1" u="sng" dirty="0" smtClean="0">
                          <a:solidFill>
                            <a:srgbClr val="7030A0"/>
                          </a:solidFill>
                        </a:rPr>
                        <a:t>External Opportunities</a:t>
                      </a:r>
                    </a:p>
                    <a:p>
                      <a:pPr marL="68580" indent="0" algn="just" rtl="0">
                        <a:spcBef>
                          <a:spcPts val="0"/>
                        </a:spcBef>
                        <a:buNone/>
                      </a:pPr>
                      <a:r>
                        <a:rPr lang="en-US" sz="1200" b="0" dirty="0" smtClean="0">
                          <a:solidFill>
                            <a:srgbClr val="7030A0"/>
                          </a:solidFill>
                        </a:rPr>
                        <a:t>1- Limited competition</a:t>
                      </a:r>
                    </a:p>
                    <a:p>
                      <a:pPr marL="68580" indent="0" algn="just" rtl="0">
                        <a:spcBef>
                          <a:spcPts val="0"/>
                        </a:spcBef>
                        <a:buNone/>
                      </a:pPr>
                      <a:r>
                        <a:rPr lang="en-US" sz="1200" b="0" dirty="0" smtClean="0">
                          <a:solidFill>
                            <a:srgbClr val="7030A0"/>
                          </a:solidFill>
                        </a:rPr>
                        <a:t>2-Increase consumer spending</a:t>
                      </a:r>
                    </a:p>
                    <a:p>
                      <a:pPr marL="68580" indent="0" algn="just" rtl="0">
                        <a:spcBef>
                          <a:spcPts val="0"/>
                        </a:spcBef>
                        <a:buNone/>
                      </a:pPr>
                      <a:r>
                        <a:rPr lang="en-US" sz="1200" b="0" dirty="0" smtClean="0">
                          <a:solidFill>
                            <a:srgbClr val="7030A0"/>
                          </a:solidFill>
                        </a:rPr>
                        <a:t>3- High penetration rate of internet</a:t>
                      </a:r>
                    </a:p>
                    <a:p>
                      <a:pPr marL="68580" indent="0" algn="just" rtl="0">
                        <a:spcBef>
                          <a:spcPts val="0"/>
                        </a:spcBef>
                        <a:buNone/>
                      </a:pPr>
                      <a:r>
                        <a:rPr lang="en-US" sz="1200" b="0" dirty="0" smtClean="0">
                          <a:solidFill>
                            <a:srgbClr val="7030A0"/>
                          </a:solidFill>
                        </a:rPr>
                        <a:t>4- Market growth 20%</a:t>
                      </a:r>
                    </a:p>
                    <a:p>
                      <a:pPr marL="68580" indent="0" algn="just" rtl="0">
                        <a:spcBef>
                          <a:spcPts val="0"/>
                        </a:spcBef>
                        <a:buNone/>
                      </a:pPr>
                      <a:r>
                        <a:rPr lang="en-US" sz="1200" b="0" dirty="0" smtClean="0">
                          <a:solidFill>
                            <a:srgbClr val="7030A0"/>
                          </a:solidFill>
                        </a:rPr>
                        <a:t>5- Government support</a:t>
                      </a:r>
                    </a:p>
                    <a:p>
                      <a:pPr marL="68580" indent="0" algn="just" rtl="0">
                        <a:spcBef>
                          <a:spcPts val="0"/>
                        </a:spcBef>
                        <a:buNone/>
                      </a:pPr>
                      <a:r>
                        <a:rPr lang="en-US" sz="1200" b="0" dirty="0" smtClean="0">
                          <a:solidFill>
                            <a:srgbClr val="7030A0"/>
                          </a:solidFill>
                        </a:rPr>
                        <a:t>6- Market gap ((Upper Egypt)</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dirty="0" smtClean="0">
                          <a:solidFill>
                            <a:srgbClr val="7030A0"/>
                          </a:solidFill>
                        </a:rPr>
                        <a:t>External threats</a:t>
                      </a:r>
                      <a:endParaRPr lang="en-US" sz="1200" dirty="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018757746"/>
                  </a:ext>
                </a:extLst>
              </a:tr>
              <a:tr h="1706880">
                <a:tc>
                  <a:txBody>
                    <a:bodyPr/>
                    <a:lstStyle/>
                    <a:p>
                      <a:pPr algn="l"/>
                      <a:r>
                        <a:rPr lang="en-US" sz="1200" b="1" u="sng" dirty="0" smtClean="0"/>
                        <a:t>Internal</a:t>
                      </a:r>
                      <a:r>
                        <a:rPr lang="en-US" sz="1200" b="1" u="sng" baseline="0" dirty="0" smtClean="0"/>
                        <a:t> strengths</a:t>
                      </a:r>
                    </a:p>
                    <a:p>
                      <a:pPr marL="573088" indent="-504825" algn="l" rtl="0">
                        <a:buFont typeface="+mj-lt"/>
                        <a:buAutoNum type="arabicPeriod"/>
                      </a:pPr>
                      <a:r>
                        <a:rPr lang="en-US" sz="1200" b="1" dirty="0" smtClean="0">
                          <a:solidFill>
                            <a:schemeClr val="accent3">
                              <a:lumMod val="75000"/>
                            </a:schemeClr>
                          </a:solidFill>
                        </a:rPr>
                        <a:t>After sale service</a:t>
                      </a:r>
                    </a:p>
                    <a:p>
                      <a:pPr marL="573088" indent="-504825" algn="l" rtl="0">
                        <a:buFont typeface="+mj-lt"/>
                        <a:buAutoNum type="arabicPeriod"/>
                      </a:pPr>
                      <a:r>
                        <a:rPr lang="en-US" sz="1200" b="1" dirty="0" smtClean="0">
                          <a:solidFill>
                            <a:schemeClr val="accent3">
                              <a:lumMod val="75000"/>
                            </a:schemeClr>
                          </a:solidFill>
                        </a:rPr>
                        <a:t>10 M. EGP marketing budget</a:t>
                      </a:r>
                    </a:p>
                    <a:p>
                      <a:pPr marL="573088" indent="-504825" algn="l" rtl="0">
                        <a:buFont typeface="+mj-lt"/>
                        <a:buAutoNum type="arabicPeriod"/>
                      </a:pPr>
                      <a:r>
                        <a:rPr lang="en-US" sz="1200" b="1" dirty="0" smtClean="0">
                          <a:solidFill>
                            <a:schemeClr val="accent3">
                              <a:lumMod val="75000"/>
                            </a:schemeClr>
                          </a:solidFill>
                        </a:rPr>
                        <a:t>Good distribution channels</a:t>
                      </a:r>
                    </a:p>
                    <a:p>
                      <a:pPr marL="573088" indent="-504825" algn="l" rtl="0">
                        <a:buFont typeface="+mj-lt"/>
                        <a:buAutoNum type="arabicPeriod"/>
                      </a:pPr>
                      <a:r>
                        <a:rPr lang="en-US" sz="1200" b="1" dirty="0" smtClean="0">
                          <a:solidFill>
                            <a:schemeClr val="accent3">
                              <a:lumMod val="75000"/>
                            </a:schemeClr>
                          </a:solidFill>
                        </a:rPr>
                        <a:t>Trained team</a:t>
                      </a:r>
                    </a:p>
                    <a:p>
                      <a:pPr marL="573088" indent="-504825" algn="l" rtl="0">
                        <a:buFont typeface="+mj-lt"/>
                        <a:buAutoNum type="arabicPeriod"/>
                      </a:pPr>
                      <a:r>
                        <a:rPr lang="en-US" sz="1200" b="1" dirty="0" smtClean="0">
                          <a:solidFill>
                            <a:schemeClr val="accent3">
                              <a:lumMod val="75000"/>
                            </a:schemeClr>
                          </a:solidFill>
                        </a:rPr>
                        <a:t>Market leader 30%</a:t>
                      </a:r>
                    </a:p>
                    <a:p>
                      <a:pPr marL="573088" indent="-504825" algn="l" rtl="0">
                        <a:buFont typeface="+mj-lt"/>
                        <a:buAutoNum type="arabicPeriod"/>
                      </a:pPr>
                      <a:r>
                        <a:rPr lang="en-US" sz="1200" b="1" dirty="0" smtClean="0">
                          <a:solidFill>
                            <a:schemeClr val="accent3">
                              <a:lumMod val="75000"/>
                            </a:schemeClr>
                          </a:solidFill>
                        </a:rPr>
                        <a:t>CRM</a:t>
                      </a:r>
                    </a:p>
                    <a:p>
                      <a:pPr marL="573088" indent="-504825" algn="l" rtl="0">
                        <a:buFont typeface="+mj-lt"/>
                        <a:buAutoNum type="arabicPeriod"/>
                      </a:pPr>
                      <a:r>
                        <a:rPr lang="en-US" sz="1200" b="1" dirty="0" smtClean="0">
                          <a:solidFill>
                            <a:schemeClr val="accent3">
                              <a:lumMod val="75000"/>
                            </a:schemeClr>
                          </a:solidFill>
                        </a:rPr>
                        <a:t>Quality</a:t>
                      </a:r>
                    </a:p>
                    <a:p>
                      <a:pPr marL="573088" indent="-504825" algn="l" rtl="0">
                        <a:buFont typeface="+mj-lt"/>
                        <a:buAutoNum type="arabicPeriod"/>
                      </a:pPr>
                      <a:r>
                        <a:rPr lang="en-US" sz="1200" b="1" dirty="0" smtClean="0">
                          <a:solidFill>
                            <a:schemeClr val="accent3">
                              <a:lumMod val="75000"/>
                            </a:schemeClr>
                          </a:solidFill>
                        </a:rPr>
                        <a:t>Brand name</a:t>
                      </a:r>
                      <a:endParaRPr lang="ar-EG" sz="1200" b="1" dirty="0" smtClean="0">
                        <a:solidFill>
                          <a:schemeClr val="accent3">
                            <a:lumMod val="75000"/>
                          </a:schemeClr>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b="1" dirty="0" smtClean="0"/>
                        <a:t>SO</a:t>
                      </a:r>
                      <a:r>
                        <a:rPr lang="en-US" sz="1200" b="1" baseline="0" dirty="0" smtClean="0"/>
                        <a:t> Strategies</a:t>
                      </a:r>
                    </a:p>
                    <a:p>
                      <a:pPr algn="l" rtl="0"/>
                      <a:r>
                        <a:rPr lang="en-US" sz="1200" b="1" dirty="0" smtClean="0">
                          <a:solidFill>
                            <a:srgbClr val="7030A0"/>
                          </a:solidFill>
                        </a:rPr>
                        <a:t>S1,S2,S3,S7,S8,O1 </a:t>
                      </a:r>
                    </a:p>
                    <a:p>
                      <a:pPr algn="l" rtl="0"/>
                      <a:r>
                        <a:rPr lang="en-US" sz="1200" b="1" dirty="0" smtClean="0">
                          <a:solidFill>
                            <a:srgbClr val="00B0F0"/>
                          </a:solidFill>
                        </a:rPr>
                        <a:t>1- (you have to write Statement,….. increasing market share)</a:t>
                      </a:r>
                    </a:p>
                    <a:p>
                      <a:pPr algn="l" rtl="0"/>
                      <a:r>
                        <a:rPr lang="en-US" sz="1200" b="1" u="sng" dirty="0" smtClean="0">
                          <a:solidFill>
                            <a:srgbClr val="00B0F0"/>
                          </a:solidFill>
                        </a:rPr>
                        <a:t>2-Growth strategies Conditions</a:t>
                      </a:r>
                    </a:p>
                    <a:p>
                      <a:pPr algn="l" rtl="0"/>
                      <a:r>
                        <a:rPr lang="en-US" sz="1200" b="1" dirty="0" smtClean="0">
                          <a:solidFill>
                            <a:srgbClr val="00B050"/>
                          </a:solidFill>
                        </a:rPr>
                        <a:t>1</a:t>
                      </a:r>
                      <a:r>
                        <a:rPr lang="en-US" sz="1200" b="1" baseline="30000" dirty="0" smtClean="0">
                          <a:solidFill>
                            <a:srgbClr val="00B050"/>
                          </a:solidFill>
                        </a:rPr>
                        <a:t>st</a:t>
                      </a:r>
                      <a:r>
                        <a:rPr lang="en-US" sz="1200" b="1" dirty="0" smtClean="0">
                          <a:solidFill>
                            <a:srgbClr val="00B050"/>
                          </a:solidFill>
                        </a:rPr>
                        <a:t> condition: </a:t>
                      </a:r>
                      <a:r>
                        <a:rPr lang="en-US" sz="1200" b="1" dirty="0" smtClean="0">
                          <a:solidFill>
                            <a:srgbClr val="7030A0"/>
                          </a:solidFill>
                        </a:rPr>
                        <a:t>Start with the product (existing) so market penetration or market development </a:t>
                      </a:r>
                    </a:p>
                    <a:p>
                      <a:pPr algn="l" rtl="0"/>
                      <a:r>
                        <a:rPr lang="en-US" sz="1200" b="1" dirty="0" smtClean="0">
                          <a:solidFill>
                            <a:srgbClr val="00B050"/>
                          </a:solidFill>
                        </a:rPr>
                        <a:t>2</a:t>
                      </a:r>
                      <a:r>
                        <a:rPr lang="en-US" sz="1200" b="1" baseline="30000" dirty="0" smtClean="0">
                          <a:solidFill>
                            <a:srgbClr val="00B050"/>
                          </a:solidFill>
                        </a:rPr>
                        <a:t>nd</a:t>
                      </a:r>
                      <a:r>
                        <a:rPr lang="en-US" sz="1200" b="1" dirty="0" smtClean="0">
                          <a:solidFill>
                            <a:srgbClr val="00B050"/>
                          </a:solidFill>
                        </a:rPr>
                        <a:t> condition: </a:t>
                      </a:r>
                      <a:r>
                        <a:rPr lang="en-US" sz="1200" b="1" dirty="0" smtClean="0">
                          <a:solidFill>
                            <a:srgbClr val="7030A0"/>
                          </a:solidFill>
                        </a:rPr>
                        <a:t>Start with the new market (3 conditions)</a:t>
                      </a:r>
                    </a:p>
                    <a:p>
                      <a:pPr algn="l" rtl="0"/>
                      <a:r>
                        <a:rPr lang="en-US" sz="1200" b="1" dirty="0" smtClean="0">
                          <a:solidFill>
                            <a:srgbClr val="7030A0"/>
                          </a:solidFill>
                        </a:rPr>
                        <a:t>Is it new segment? No</a:t>
                      </a:r>
                    </a:p>
                    <a:p>
                      <a:pPr algn="l" rtl="0"/>
                      <a:r>
                        <a:rPr lang="en-US" sz="1200" b="1" dirty="0" smtClean="0">
                          <a:solidFill>
                            <a:srgbClr val="7030A0"/>
                          </a:solidFill>
                        </a:rPr>
                        <a:t>New place online or offline? No</a:t>
                      </a:r>
                    </a:p>
                    <a:p>
                      <a:pPr algn="l" rtl="0"/>
                      <a:r>
                        <a:rPr lang="en-US" sz="1200" b="1" dirty="0" smtClean="0">
                          <a:solidFill>
                            <a:srgbClr val="7030A0"/>
                          </a:solidFill>
                        </a:rPr>
                        <a:t>New Business No</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7030A0"/>
                          </a:solidFill>
                        </a:rPr>
                        <a:t>So you are in </a:t>
                      </a:r>
                      <a:r>
                        <a:rPr lang="en-US" sz="1200" b="1" dirty="0" smtClean="0">
                          <a:solidFill>
                            <a:srgbClr val="00B050"/>
                          </a:solidFill>
                        </a:rPr>
                        <a:t>market penetration </a:t>
                      </a:r>
                      <a:r>
                        <a:rPr lang="en-US" sz="1200" b="1" dirty="0" smtClean="0">
                          <a:solidFill>
                            <a:srgbClr val="7030A0"/>
                          </a:solidFill>
                        </a:rPr>
                        <a:t>through </a:t>
                      </a:r>
                      <a:r>
                        <a:rPr lang="en-US" sz="1200" b="1" u="sng" dirty="0" smtClean="0">
                          <a:solidFill>
                            <a:srgbClr val="00B0F0"/>
                          </a:solidFill>
                        </a:rPr>
                        <a:t>Generic strategies Conditions </a:t>
                      </a:r>
                      <a:r>
                        <a:rPr lang="en-US" sz="1200" b="1" dirty="0" smtClean="0">
                          <a:solidFill>
                            <a:srgbClr val="7030A0"/>
                          </a:solidFill>
                        </a:rPr>
                        <a:t>…. (how to compete) </a:t>
                      </a:r>
                      <a:endParaRPr lang="en-US" sz="1200" b="1" u="sng" dirty="0" smtClean="0">
                        <a:solidFill>
                          <a:srgbClr val="00B0F0"/>
                        </a:solidFill>
                      </a:endParaRPr>
                    </a:p>
                    <a:p>
                      <a:pPr algn="l" rtl="0"/>
                      <a:r>
                        <a:rPr lang="en-US" sz="1200" b="1" u="none" dirty="0" smtClean="0">
                          <a:solidFill>
                            <a:srgbClr val="7030A0"/>
                          </a:solidFill>
                        </a:rPr>
                        <a:t>Differentiation (5 items) product diff. (quality)</a:t>
                      </a:r>
                    </a:p>
                    <a:p>
                      <a:pPr algn="l" rtl="0"/>
                      <a:r>
                        <a:rPr lang="en-US" sz="1200" b="1" u="none" dirty="0" smtClean="0">
                          <a:solidFill>
                            <a:srgbClr val="7030A0"/>
                          </a:solidFill>
                        </a:rPr>
                        <a:t>Brand name-distribution – (promotion )10 m. marketing budget</a:t>
                      </a:r>
                      <a:endParaRPr lang="ar-EG" sz="1200" b="1" u="none" dirty="0" smtClean="0">
                        <a:solidFill>
                          <a:srgbClr val="7030A0"/>
                        </a:solidFill>
                      </a:endParaRPr>
                    </a:p>
                    <a:p>
                      <a:pPr algn="l"/>
                      <a:endParaRPr lang="en-US" sz="1200" b="1"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b="1" kern="1200" baseline="0" dirty="0" smtClean="0">
                          <a:solidFill>
                            <a:schemeClr val="dk1"/>
                          </a:solidFill>
                          <a:latin typeface="+mn-lt"/>
                          <a:ea typeface="+mn-ea"/>
                          <a:cs typeface="+mn-cs"/>
                        </a:rPr>
                        <a:t>ST Strategies</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126765338"/>
                  </a:ext>
                </a:extLst>
              </a:tr>
              <a:tr h="0">
                <a:tc>
                  <a:txBody>
                    <a:bodyPr/>
                    <a:lstStyle/>
                    <a:p>
                      <a:endParaRPr lang="en-US"/>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endParaRPr lang="en-US"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endParaRPr lang="en-US"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398019875"/>
                  </a:ext>
                </a:extLst>
              </a:tr>
            </a:tbl>
          </a:graphicData>
        </a:graphic>
      </p:graphicFrame>
    </p:spTree>
    <p:extLst>
      <p:ext uri="{BB962C8B-B14F-4D97-AF65-F5344CB8AC3E}">
        <p14:creationId xmlns:p14="http://schemas.microsoft.com/office/powerpoint/2010/main" val="26229178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5523"/>
            <a:ext cx="7024744" cy="470277"/>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529988" y="701040"/>
            <a:ext cx="8229600" cy="2971800"/>
          </a:xfrm>
        </p:spPr>
        <p:txBody>
          <a:bodyPr>
            <a:normAutofit/>
          </a:bodyPr>
          <a:lstStyle/>
          <a:p>
            <a:pPr marL="68580" indent="0" algn="just" rtl="0">
              <a:buNone/>
            </a:pPr>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871095083"/>
              </p:ext>
            </p:extLst>
          </p:nvPr>
        </p:nvGraphicFramePr>
        <p:xfrm>
          <a:off x="529988" y="701040"/>
          <a:ext cx="8229600" cy="6097820"/>
        </p:xfrm>
        <a:graphic>
          <a:graphicData uri="http://schemas.openxmlformats.org/drawingml/2006/table">
            <a:tbl>
              <a:tblPr firstRow="1" bandRow="1">
                <a:tableStyleId>{5C22544A-7EE6-4342-B048-85BDC9FD1C3A}</a:tableStyleId>
              </a:tblPr>
              <a:tblGrid>
                <a:gridCol w="3432412">
                  <a:extLst>
                    <a:ext uri="{9D8B030D-6E8A-4147-A177-3AD203B41FA5}">
                      <a16:colId xmlns:a16="http://schemas.microsoft.com/office/drawing/2014/main" val="3355672644"/>
                    </a:ext>
                  </a:extLst>
                </a:gridCol>
                <a:gridCol w="3276600">
                  <a:extLst>
                    <a:ext uri="{9D8B030D-6E8A-4147-A177-3AD203B41FA5}">
                      <a16:colId xmlns:a16="http://schemas.microsoft.com/office/drawing/2014/main" val="2980758262"/>
                    </a:ext>
                  </a:extLst>
                </a:gridCol>
                <a:gridCol w="1520588">
                  <a:extLst>
                    <a:ext uri="{9D8B030D-6E8A-4147-A177-3AD203B41FA5}">
                      <a16:colId xmlns:a16="http://schemas.microsoft.com/office/drawing/2014/main" val="2891949939"/>
                    </a:ext>
                  </a:extLst>
                </a:gridCol>
              </a:tblGrid>
              <a:tr h="1310185">
                <a:tc>
                  <a:txBody>
                    <a:bodyPr/>
                    <a:lstStyle/>
                    <a:p>
                      <a:pPr algn="l"/>
                      <a:r>
                        <a:rPr lang="en-US" dirty="0" smtClean="0">
                          <a:solidFill>
                            <a:srgbClr val="7030A0"/>
                          </a:solidFill>
                        </a:rPr>
                        <a:t>TOWS</a:t>
                      </a:r>
                      <a:endParaRPr lang="en-US" dirty="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just" rtl="0">
                        <a:spcBef>
                          <a:spcPts val="0"/>
                        </a:spcBef>
                      </a:pPr>
                      <a:r>
                        <a:rPr lang="en-US" sz="1200" b="1" u="sng" dirty="0" smtClean="0">
                          <a:solidFill>
                            <a:srgbClr val="7030A0"/>
                          </a:solidFill>
                        </a:rPr>
                        <a:t>External Opportunities</a:t>
                      </a:r>
                    </a:p>
                    <a:p>
                      <a:pPr marL="68580" indent="0" algn="just" rtl="0">
                        <a:spcBef>
                          <a:spcPts val="0"/>
                        </a:spcBef>
                        <a:buNone/>
                      </a:pPr>
                      <a:r>
                        <a:rPr lang="en-US" sz="1200" b="0" dirty="0" smtClean="0">
                          <a:solidFill>
                            <a:srgbClr val="7030A0"/>
                          </a:solidFill>
                        </a:rPr>
                        <a:t>1- Limited competition</a:t>
                      </a:r>
                    </a:p>
                    <a:p>
                      <a:pPr marL="68580" indent="0" algn="just" rtl="0">
                        <a:spcBef>
                          <a:spcPts val="0"/>
                        </a:spcBef>
                        <a:buNone/>
                      </a:pPr>
                      <a:r>
                        <a:rPr lang="en-US" sz="1200" b="0" dirty="0" smtClean="0">
                          <a:solidFill>
                            <a:srgbClr val="7030A0"/>
                          </a:solidFill>
                        </a:rPr>
                        <a:t>2-Increase consumer spending</a:t>
                      </a:r>
                    </a:p>
                    <a:p>
                      <a:pPr marL="68580" indent="0" algn="just" rtl="0">
                        <a:spcBef>
                          <a:spcPts val="0"/>
                        </a:spcBef>
                        <a:buNone/>
                      </a:pPr>
                      <a:r>
                        <a:rPr lang="en-US" sz="1200" b="0" dirty="0" smtClean="0">
                          <a:solidFill>
                            <a:srgbClr val="7030A0"/>
                          </a:solidFill>
                        </a:rPr>
                        <a:t>3- High penetration rate of internet</a:t>
                      </a:r>
                    </a:p>
                    <a:p>
                      <a:pPr marL="68580" indent="0" algn="just" rtl="0">
                        <a:spcBef>
                          <a:spcPts val="0"/>
                        </a:spcBef>
                        <a:buNone/>
                      </a:pPr>
                      <a:r>
                        <a:rPr lang="en-US" sz="1200" b="0" dirty="0" smtClean="0">
                          <a:solidFill>
                            <a:srgbClr val="7030A0"/>
                          </a:solidFill>
                        </a:rPr>
                        <a:t>4- Market growth 20%</a:t>
                      </a:r>
                    </a:p>
                    <a:p>
                      <a:pPr marL="68580" indent="0" algn="just" rtl="0">
                        <a:spcBef>
                          <a:spcPts val="0"/>
                        </a:spcBef>
                        <a:buNone/>
                      </a:pPr>
                      <a:r>
                        <a:rPr lang="en-US" sz="1200" b="0" dirty="0" smtClean="0">
                          <a:solidFill>
                            <a:srgbClr val="7030A0"/>
                          </a:solidFill>
                        </a:rPr>
                        <a:t>5- Government support</a:t>
                      </a:r>
                    </a:p>
                    <a:p>
                      <a:pPr marL="68580" indent="0" algn="just" rtl="0">
                        <a:spcBef>
                          <a:spcPts val="0"/>
                        </a:spcBef>
                        <a:buNone/>
                      </a:pPr>
                      <a:r>
                        <a:rPr lang="en-US" sz="1200" b="0" dirty="0" smtClean="0">
                          <a:solidFill>
                            <a:srgbClr val="7030A0"/>
                          </a:solidFill>
                        </a:rPr>
                        <a:t>6- Market gap ((Upper Egypt)</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dirty="0" smtClean="0">
                          <a:solidFill>
                            <a:srgbClr val="7030A0"/>
                          </a:solidFill>
                        </a:rPr>
                        <a:t>External threats</a:t>
                      </a:r>
                      <a:endParaRPr lang="en-US" sz="1200" dirty="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018757746"/>
                  </a:ext>
                </a:extLst>
              </a:tr>
              <a:tr h="3930555">
                <a:tc>
                  <a:txBody>
                    <a:bodyPr/>
                    <a:lstStyle/>
                    <a:p>
                      <a:pPr algn="l"/>
                      <a:r>
                        <a:rPr lang="en-US" sz="1200" b="1" u="sng" dirty="0" smtClean="0"/>
                        <a:t>Internal</a:t>
                      </a:r>
                      <a:r>
                        <a:rPr lang="en-US" sz="1200" b="1" u="sng" baseline="0" dirty="0" smtClean="0"/>
                        <a:t> strengths</a:t>
                      </a:r>
                    </a:p>
                    <a:p>
                      <a:pPr marL="573088" indent="-504825" algn="l" rtl="0">
                        <a:buFont typeface="+mj-lt"/>
                        <a:buAutoNum type="arabicPeriod"/>
                      </a:pPr>
                      <a:r>
                        <a:rPr lang="en-US" sz="1200" b="1" dirty="0" smtClean="0">
                          <a:solidFill>
                            <a:schemeClr val="accent3">
                              <a:lumMod val="75000"/>
                            </a:schemeClr>
                          </a:solidFill>
                        </a:rPr>
                        <a:t>After sale service</a:t>
                      </a:r>
                    </a:p>
                    <a:p>
                      <a:pPr marL="573088" indent="-504825" algn="l" rtl="0">
                        <a:buFont typeface="+mj-lt"/>
                        <a:buAutoNum type="arabicPeriod"/>
                      </a:pPr>
                      <a:r>
                        <a:rPr lang="en-US" sz="1200" b="1" dirty="0" smtClean="0">
                          <a:solidFill>
                            <a:schemeClr val="accent3">
                              <a:lumMod val="75000"/>
                            </a:schemeClr>
                          </a:solidFill>
                        </a:rPr>
                        <a:t>10 M. EGP marketing budget</a:t>
                      </a:r>
                    </a:p>
                    <a:p>
                      <a:pPr marL="573088" indent="-504825" algn="l" rtl="0">
                        <a:buFont typeface="+mj-lt"/>
                        <a:buAutoNum type="arabicPeriod"/>
                      </a:pPr>
                      <a:r>
                        <a:rPr lang="en-US" sz="1200" b="1" dirty="0" smtClean="0">
                          <a:solidFill>
                            <a:schemeClr val="accent3">
                              <a:lumMod val="75000"/>
                            </a:schemeClr>
                          </a:solidFill>
                        </a:rPr>
                        <a:t>Good distribution channels</a:t>
                      </a:r>
                    </a:p>
                    <a:p>
                      <a:pPr marL="573088" indent="-504825" algn="l" rtl="0">
                        <a:buFont typeface="+mj-lt"/>
                        <a:buAutoNum type="arabicPeriod"/>
                      </a:pPr>
                      <a:r>
                        <a:rPr lang="en-US" sz="1200" b="1" dirty="0" smtClean="0">
                          <a:solidFill>
                            <a:schemeClr val="accent3">
                              <a:lumMod val="75000"/>
                            </a:schemeClr>
                          </a:solidFill>
                        </a:rPr>
                        <a:t>Trained team</a:t>
                      </a:r>
                    </a:p>
                    <a:p>
                      <a:pPr marL="573088" indent="-504825" algn="l" rtl="0">
                        <a:buFont typeface="+mj-lt"/>
                        <a:buAutoNum type="arabicPeriod"/>
                      </a:pPr>
                      <a:r>
                        <a:rPr lang="en-US" sz="1200" b="1" dirty="0" smtClean="0">
                          <a:solidFill>
                            <a:schemeClr val="accent3">
                              <a:lumMod val="75000"/>
                            </a:schemeClr>
                          </a:solidFill>
                        </a:rPr>
                        <a:t>Market leader 30%</a:t>
                      </a:r>
                    </a:p>
                    <a:p>
                      <a:pPr marL="573088" indent="-504825" algn="l" rtl="0">
                        <a:buFont typeface="+mj-lt"/>
                        <a:buAutoNum type="arabicPeriod"/>
                      </a:pPr>
                      <a:r>
                        <a:rPr lang="en-US" sz="1200" b="1" dirty="0" smtClean="0">
                          <a:solidFill>
                            <a:schemeClr val="accent3">
                              <a:lumMod val="75000"/>
                            </a:schemeClr>
                          </a:solidFill>
                        </a:rPr>
                        <a:t>CRM</a:t>
                      </a:r>
                    </a:p>
                    <a:p>
                      <a:pPr marL="573088" indent="-504825" algn="l" rtl="0">
                        <a:buFont typeface="+mj-lt"/>
                        <a:buAutoNum type="arabicPeriod"/>
                      </a:pPr>
                      <a:r>
                        <a:rPr lang="en-US" sz="1200" b="1" dirty="0" smtClean="0">
                          <a:solidFill>
                            <a:schemeClr val="accent3">
                              <a:lumMod val="75000"/>
                            </a:schemeClr>
                          </a:solidFill>
                        </a:rPr>
                        <a:t>Quality</a:t>
                      </a:r>
                    </a:p>
                    <a:p>
                      <a:pPr marL="573088" indent="-504825" algn="l" rtl="0">
                        <a:buFont typeface="+mj-lt"/>
                        <a:buAutoNum type="arabicPeriod"/>
                      </a:pPr>
                      <a:r>
                        <a:rPr lang="en-US" sz="1200" b="1" dirty="0" smtClean="0">
                          <a:solidFill>
                            <a:schemeClr val="accent3">
                              <a:lumMod val="75000"/>
                            </a:schemeClr>
                          </a:solidFill>
                        </a:rPr>
                        <a:t>Brand name</a:t>
                      </a:r>
                      <a:endParaRPr lang="ar-EG" sz="1200" b="1" dirty="0" smtClean="0">
                        <a:solidFill>
                          <a:schemeClr val="accent3">
                            <a:lumMod val="75000"/>
                          </a:schemeClr>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b="1" dirty="0" smtClean="0"/>
                        <a:t>SO</a:t>
                      </a:r>
                      <a:r>
                        <a:rPr lang="en-US" sz="1200" b="1" baseline="0" dirty="0" smtClean="0"/>
                        <a:t> Strategies</a:t>
                      </a:r>
                    </a:p>
                    <a:p>
                      <a:pPr algn="l" rtl="0"/>
                      <a:r>
                        <a:rPr lang="en-US" sz="1200" b="1" dirty="0" smtClean="0">
                          <a:solidFill>
                            <a:srgbClr val="7030A0"/>
                          </a:solidFill>
                        </a:rPr>
                        <a:t>S6,S2,S4,O3</a:t>
                      </a:r>
                    </a:p>
                    <a:p>
                      <a:pPr algn="l" rtl="0"/>
                      <a:r>
                        <a:rPr lang="en-US" sz="1200" b="1" u="sng" dirty="0" smtClean="0">
                          <a:solidFill>
                            <a:srgbClr val="7030A0"/>
                          </a:solidFill>
                        </a:rPr>
                        <a:t>Growth strategies</a:t>
                      </a:r>
                    </a:p>
                    <a:p>
                      <a:pPr algn="l" rtl="0"/>
                      <a:r>
                        <a:rPr lang="en-US" sz="1200" b="1" dirty="0" smtClean="0">
                          <a:solidFill>
                            <a:srgbClr val="7030A0"/>
                          </a:solidFill>
                        </a:rPr>
                        <a:t>Existing product-New</a:t>
                      </a:r>
                      <a:r>
                        <a:rPr lang="en-US" sz="1200" b="1" baseline="0" dirty="0" smtClean="0">
                          <a:solidFill>
                            <a:srgbClr val="7030A0"/>
                          </a:solidFill>
                        </a:rPr>
                        <a:t> market (market development) Through …….</a:t>
                      </a:r>
                      <a:r>
                        <a:rPr lang="en-US" sz="1200" b="1" baseline="0" dirty="0" smtClean="0">
                          <a:solidFill>
                            <a:srgbClr val="FF0000"/>
                          </a:solidFill>
                        </a:rPr>
                        <a:t>Generic </a:t>
                      </a:r>
                      <a:r>
                        <a:rPr lang="en-US" sz="1200" b="1" baseline="0" dirty="0" err="1" smtClean="0">
                          <a:solidFill>
                            <a:srgbClr val="FF0000"/>
                          </a:solidFill>
                        </a:rPr>
                        <a:t>st.</a:t>
                      </a:r>
                      <a:endParaRPr lang="en-US" sz="1200" b="1" baseline="0" dirty="0" smtClean="0">
                        <a:solidFill>
                          <a:srgbClr val="FF0000"/>
                        </a:solidFill>
                      </a:endParaRPr>
                    </a:p>
                    <a:p>
                      <a:pPr algn="l" rtl="0"/>
                      <a:r>
                        <a:rPr lang="en-US" sz="1200" b="1" baseline="0" dirty="0" smtClean="0">
                          <a:solidFill>
                            <a:srgbClr val="7030A0"/>
                          </a:solidFill>
                        </a:rPr>
                        <a:t>Product uniqueness</a:t>
                      </a:r>
                    </a:p>
                    <a:p>
                      <a:pPr algn="l" rtl="0"/>
                      <a:r>
                        <a:rPr lang="en-US" sz="1200" b="1" baseline="0" dirty="0" smtClean="0">
                          <a:solidFill>
                            <a:srgbClr val="7030A0"/>
                          </a:solidFill>
                        </a:rPr>
                        <a:t>Product differentiation</a:t>
                      </a:r>
                      <a:endParaRPr lang="en-US" sz="1200" b="1" dirty="0" smtClean="0">
                        <a:solidFill>
                          <a:srgbClr val="7030A0"/>
                        </a:solidFill>
                      </a:endParaRPr>
                    </a:p>
                    <a:p>
                      <a:pPr algn="l"/>
                      <a:endParaRPr lang="en-US" sz="1200" b="1" dirty="0" smtClean="0"/>
                    </a:p>
                    <a:p>
                      <a:pPr algn="l"/>
                      <a:r>
                        <a:rPr lang="en-US" sz="1200" b="1" dirty="0" smtClean="0"/>
                        <a:t>S2,S5,S3,S5,S8, O2 (Statement…)</a:t>
                      </a:r>
                    </a:p>
                    <a:p>
                      <a:pPr algn="l" rtl="0"/>
                      <a:r>
                        <a:rPr lang="en-US" sz="1200" b="1" u="sng" dirty="0" smtClean="0">
                          <a:solidFill>
                            <a:srgbClr val="7030A0"/>
                          </a:solidFill>
                        </a:rPr>
                        <a:t>Growth strategies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7030A0"/>
                          </a:solidFill>
                        </a:rPr>
                        <a:t>Existing product-Existing</a:t>
                      </a:r>
                      <a:r>
                        <a:rPr lang="en-US" sz="1200" b="1" baseline="0" dirty="0" smtClean="0">
                          <a:solidFill>
                            <a:srgbClr val="7030A0"/>
                          </a:solidFill>
                        </a:rPr>
                        <a:t> market (market penetration) Through …….</a:t>
                      </a:r>
                      <a:r>
                        <a:rPr lang="en-US" sz="1200" b="1" baseline="0" dirty="0" smtClean="0">
                          <a:solidFill>
                            <a:srgbClr val="FF0000"/>
                          </a:solidFill>
                        </a:rPr>
                        <a:t>Generic </a:t>
                      </a:r>
                      <a:r>
                        <a:rPr lang="en-US" sz="1200" b="1" baseline="0" dirty="0" err="1" smtClean="0">
                          <a:solidFill>
                            <a:srgbClr val="FF0000"/>
                          </a:solidFill>
                        </a:rPr>
                        <a:t>st.</a:t>
                      </a:r>
                      <a:endParaRPr lang="en-US" sz="1200" b="1" baseline="0" dirty="0" smtClean="0">
                        <a:solidFill>
                          <a:srgbClr val="7030A0"/>
                        </a:solidFill>
                      </a:endParaRPr>
                    </a:p>
                    <a:p>
                      <a:pPr algn="l" rtl="0"/>
                      <a:r>
                        <a:rPr lang="en-US" sz="1200" b="1" baseline="0" dirty="0" smtClean="0">
                          <a:solidFill>
                            <a:srgbClr val="7030A0"/>
                          </a:solidFill>
                        </a:rPr>
                        <a:t>Generic strategies</a:t>
                      </a:r>
                    </a:p>
                    <a:p>
                      <a:pPr algn="l" rtl="0"/>
                      <a:r>
                        <a:rPr lang="en-US" sz="1200" b="1" baseline="0" dirty="0" smtClean="0">
                          <a:solidFill>
                            <a:srgbClr val="7030A0"/>
                          </a:solidFill>
                        </a:rPr>
                        <a:t>Product uniqueness</a:t>
                      </a:r>
                    </a:p>
                    <a:p>
                      <a:pPr algn="l" rtl="0"/>
                      <a:r>
                        <a:rPr lang="en-US" sz="1200" b="1" baseline="0" dirty="0" smtClean="0">
                          <a:solidFill>
                            <a:srgbClr val="7030A0"/>
                          </a:solidFill>
                        </a:rPr>
                        <a:t>Product differentiation</a:t>
                      </a:r>
                    </a:p>
                    <a:p>
                      <a:pPr algn="l" rtl="0"/>
                      <a:endParaRPr lang="en-US" sz="1200" b="1" baseline="0" dirty="0" smtClean="0">
                        <a:solidFill>
                          <a:schemeClr val="tx2"/>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baseline="0" dirty="0" smtClean="0">
                          <a:solidFill>
                            <a:schemeClr val="tx2"/>
                          </a:solidFill>
                        </a:rPr>
                        <a:t>S2,S8, S5, O4 </a:t>
                      </a:r>
                      <a:r>
                        <a:rPr lang="en-US" sz="1200" b="1" dirty="0" smtClean="0"/>
                        <a:t>(Statement…)</a:t>
                      </a:r>
                      <a:endParaRPr lang="en-US" sz="1200" b="1" baseline="0" dirty="0" smtClean="0">
                        <a:solidFill>
                          <a:schemeClr val="tx2"/>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7030A0"/>
                          </a:solidFill>
                        </a:rPr>
                        <a:t>Existing product-Existing</a:t>
                      </a:r>
                      <a:r>
                        <a:rPr lang="en-US" sz="1200" b="1" baseline="0" dirty="0" smtClean="0">
                          <a:solidFill>
                            <a:srgbClr val="7030A0"/>
                          </a:solidFill>
                        </a:rPr>
                        <a:t> market (market penetration) through …….</a:t>
                      </a:r>
                      <a:r>
                        <a:rPr lang="en-US" sz="1200" b="1" baseline="0" dirty="0" smtClean="0">
                          <a:solidFill>
                            <a:srgbClr val="FF0000"/>
                          </a:solidFill>
                        </a:rPr>
                        <a:t>Generic </a:t>
                      </a:r>
                      <a:r>
                        <a:rPr lang="en-US" sz="1200" b="1" baseline="0" dirty="0" err="1" smtClean="0">
                          <a:solidFill>
                            <a:srgbClr val="FF0000"/>
                          </a:solidFill>
                        </a:rPr>
                        <a:t>st.</a:t>
                      </a:r>
                      <a:endParaRPr lang="en-US" sz="1200" b="1" baseline="0" dirty="0" smtClean="0">
                        <a:solidFill>
                          <a:srgbClr val="7030A0"/>
                        </a:solidFill>
                      </a:endParaRPr>
                    </a:p>
                    <a:p>
                      <a:pPr algn="l" rtl="0"/>
                      <a:r>
                        <a:rPr lang="en-US" sz="1200" b="1" baseline="0" dirty="0" smtClean="0">
                          <a:solidFill>
                            <a:srgbClr val="7030A0"/>
                          </a:solidFill>
                        </a:rPr>
                        <a:t>Generic strategies</a:t>
                      </a:r>
                    </a:p>
                    <a:p>
                      <a:pPr algn="l" rtl="0"/>
                      <a:r>
                        <a:rPr lang="en-US" sz="1200" b="1" baseline="0" dirty="0" smtClean="0">
                          <a:solidFill>
                            <a:srgbClr val="7030A0"/>
                          </a:solidFill>
                        </a:rPr>
                        <a:t>Product uniqueness</a:t>
                      </a:r>
                    </a:p>
                    <a:p>
                      <a:pPr algn="l" rtl="0"/>
                      <a:r>
                        <a:rPr lang="en-US" sz="1200" b="1" baseline="0" dirty="0" smtClean="0">
                          <a:solidFill>
                            <a:srgbClr val="7030A0"/>
                          </a:solidFill>
                        </a:rPr>
                        <a:t>Product differentiation</a:t>
                      </a:r>
                      <a:endParaRPr lang="en-US" sz="1200" b="1" dirty="0" smtClean="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b="1" kern="1200" baseline="0" dirty="0" smtClean="0">
                          <a:solidFill>
                            <a:schemeClr val="dk1"/>
                          </a:solidFill>
                          <a:latin typeface="+mn-lt"/>
                          <a:ea typeface="+mn-ea"/>
                          <a:cs typeface="+mn-cs"/>
                        </a:rPr>
                        <a:t>ST Strategies</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126765338"/>
                  </a:ext>
                </a:extLst>
              </a:tr>
              <a:tr h="611420">
                <a:tc gridSpan="3">
                  <a:txBody>
                    <a:bodyPr/>
                    <a:lstStyle/>
                    <a:p>
                      <a:pPr marL="0" marR="0" indent="0" algn="l" defTabSz="914400" rtl="1" eaLnBrk="1" fontAlgn="auto" latinLnBrk="0" hangingPunct="1">
                        <a:lnSpc>
                          <a:spcPct val="100000"/>
                        </a:lnSpc>
                        <a:spcBef>
                          <a:spcPts val="0"/>
                        </a:spcBef>
                        <a:spcAft>
                          <a:spcPts val="0"/>
                        </a:spcAft>
                        <a:buClrTx/>
                        <a:buSzTx/>
                        <a:buFontTx/>
                        <a:buNone/>
                        <a:tabLst/>
                        <a:defRPr/>
                      </a:pPr>
                      <a:r>
                        <a:rPr lang="en-US" sz="1800" b="1" dirty="0" smtClean="0">
                          <a:solidFill>
                            <a:srgbClr val="00B050"/>
                          </a:solidFill>
                        </a:rPr>
                        <a:t>In real life you have to benefit from all opportunities.</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hMerge="1">
                  <a:txBody>
                    <a:bodyPr/>
                    <a:lstStyle/>
                    <a:p>
                      <a:pPr algn="l"/>
                      <a:endParaRPr lang="en-US"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hMerge="1">
                  <a:txBody>
                    <a:bodyPr/>
                    <a:lstStyle/>
                    <a:p>
                      <a:endParaRPr lang="en-US"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398019875"/>
                  </a:ext>
                </a:extLst>
              </a:tr>
            </a:tbl>
          </a:graphicData>
        </a:graphic>
      </p:graphicFrame>
    </p:spTree>
    <p:extLst>
      <p:ext uri="{BB962C8B-B14F-4D97-AF65-F5344CB8AC3E}">
        <p14:creationId xmlns:p14="http://schemas.microsoft.com/office/powerpoint/2010/main" val="730057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5523"/>
            <a:ext cx="7024744" cy="470277"/>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529988" y="701040"/>
            <a:ext cx="8229600" cy="2971800"/>
          </a:xfrm>
        </p:spPr>
        <p:txBody>
          <a:bodyPr>
            <a:normAutofit/>
          </a:bodyPr>
          <a:lstStyle/>
          <a:p>
            <a:pPr marL="68580" indent="0" algn="just" rtl="0">
              <a:buNone/>
            </a:pPr>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467743267"/>
              </p:ext>
            </p:extLst>
          </p:nvPr>
        </p:nvGraphicFramePr>
        <p:xfrm>
          <a:off x="529988" y="701040"/>
          <a:ext cx="8229600" cy="5913575"/>
        </p:xfrm>
        <a:graphic>
          <a:graphicData uri="http://schemas.openxmlformats.org/drawingml/2006/table">
            <a:tbl>
              <a:tblPr firstRow="1" bandRow="1">
                <a:tableStyleId>{5C22544A-7EE6-4342-B048-85BDC9FD1C3A}</a:tableStyleId>
              </a:tblPr>
              <a:tblGrid>
                <a:gridCol w="3432412">
                  <a:extLst>
                    <a:ext uri="{9D8B030D-6E8A-4147-A177-3AD203B41FA5}">
                      <a16:colId xmlns:a16="http://schemas.microsoft.com/office/drawing/2014/main" val="3355672644"/>
                    </a:ext>
                  </a:extLst>
                </a:gridCol>
                <a:gridCol w="3429000">
                  <a:extLst>
                    <a:ext uri="{9D8B030D-6E8A-4147-A177-3AD203B41FA5}">
                      <a16:colId xmlns:a16="http://schemas.microsoft.com/office/drawing/2014/main" val="2980758262"/>
                    </a:ext>
                  </a:extLst>
                </a:gridCol>
                <a:gridCol w="1368188">
                  <a:extLst>
                    <a:ext uri="{9D8B030D-6E8A-4147-A177-3AD203B41FA5}">
                      <a16:colId xmlns:a16="http://schemas.microsoft.com/office/drawing/2014/main" val="2891949939"/>
                    </a:ext>
                  </a:extLst>
                </a:gridCol>
              </a:tblGrid>
              <a:tr h="1310185">
                <a:tc>
                  <a:txBody>
                    <a:bodyPr/>
                    <a:lstStyle/>
                    <a:p>
                      <a:pPr algn="l"/>
                      <a:r>
                        <a:rPr lang="en-US" dirty="0" smtClean="0">
                          <a:solidFill>
                            <a:srgbClr val="7030A0"/>
                          </a:solidFill>
                        </a:rPr>
                        <a:t>TOWS</a:t>
                      </a:r>
                      <a:endParaRPr lang="en-US" dirty="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just" rtl="0">
                        <a:spcBef>
                          <a:spcPts val="0"/>
                        </a:spcBef>
                      </a:pPr>
                      <a:r>
                        <a:rPr lang="en-US" sz="1200" b="1" u="sng" dirty="0" smtClean="0">
                          <a:solidFill>
                            <a:srgbClr val="7030A0"/>
                          </a:solidFill>
                        </a:rPr>
                        <a:t>External Opportunities</a:t>
                      </a:r>
                    </a:p>
                    <a:p>
                      <a:pPr marL="68580" indent="0" algn="just" rtl="0">
                        <a:spcBef>
                          <a:spcPts val="0"/>
                        </a:spcBef>
                        <a:buNone/>
                      </a:pPr>
                      <a:r>
                        <a:rPr lang="en-US" sz="1200" b="0" dirty="0" smtClean="0">
                          <a:solidFill>
                            <a:srgbClr val="7030A0"/>
                          </a:solidFill>
                        </a:rPr>
                        <a:t>1- Limited competition</a:t>
                      </a:r>
                    </a:p>
                    <a:p>
                      <a:pPr marL="68580" indent="0" algn="just" rtl="0">
                        <a:spcBef>
                          <a:spcPts val="0"/>
                        </a:spcBef>
                        <a:buNone/>
                      </a:pPr>
                      <a:r>
                        <a:rPr lang="en-US" sz="1200" b="0" dirty="0" smtClean="0">
                          <a:solidFill>
                            <a:srgbClr val="7030A0"/>
                          </a:solidFill>
                        </a:rPr>
                        <a:t>2-Increase consumer spending</a:t>
                      </a:r>
                    </a:p>
                    <a:p>
                      <a:pPr marL="68580" indent="0" algn="just" rtl="0">
                        <a:spcBef>
                          <a:spcPts val="0"/>
                        </a:spcBef>
                        <a:buNone/>
                      </a:pPr>
                      <a:r>
                        <a:rPr lang="en-US" sz="1200" b="0" dirty="0" smtClean="0">
                          <a:solidFill>
                            <a:srgbClr val="7030A0"/>
                          </a:solidFill>
                        </a:rPr>
                        <a:t>3- High penetration rate of internet</a:t>
                      </a:r>
                    </a:p>
                    <a:p>
                      <a:pPr marL="68580" indent="0" algn="just" rtl="0">
                        <a:spcBef>
                          <a:spcPts val="0"/>
                        </a:spcBef>
                        <a:buNone/>
                      </a:pPr>
                      <a:r>
                        <a:rPr lang="en-US" sz="1200" b="0" dirty="0" smtClean="0">
                          <a:solidFill>
                            <a:srgbClr val="7030A0"/>
                          </a:solidFill>
                        </a:rPr>
                        <a:t>4- Market growth 20%</a:t>
                      </a:r>
                    </a:p>
                    <a:p>
                      <a:pPr marL="68580" indent="0" algn="just" rtl="0">
                        <a:spcBef>
                          <a:spcPts val="0"/>
                        </a:spcBef>
                        <a:buNone/>
                      </a:pPr>
                      <a:r>
                        <a:rPr lang="en-US" sz="1200" b="0" dirty="0" smtClean="0">
                          <a:solidFill>
                            <a:srgbClr val="7030A0"/>
                          </a:solidFill>
                        </a:rPr>
                        <a:t>5- Government support</a:t>
                      </a:r>
                    </a:p>
                    <a:p>
                      <a:pPr marL="68580" indent="0" algn="just" rtl="0">
                        <a:spcBef>
                          <a:spcPts val="0"/>
                        </a:spcBef>
                        <a:buNone/>
                      </a:pPr>
                      <a:r>
                        <a:rPr lang="en-US" sz="1200" b="0" dirty="0" smtClean="0">
                          <a:solidFill>
                            <a:srgbClr val="7030A0"/>
                          </a:solidFill>
                        </a:rPr>
                        <a:t>6- Market gap ((Upper Egypt)</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dirty="0" smtClean="0">
                          <a:solidFill>
                            <a:srgbClr val="7030A0"/>
                          </a:solidFill>
                        </a:rPr>
                        <a:t>External threats</a:t>
                      </a:r>
                      <a:endParaRPr lang="en-US" sz="1200" dirty="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018757746"/>
                  </a:ext>
                </a:extLst>
              </a:tr>
              <a:tr h="3930555">
                <a:tc>
                  <a:txBody>
                    <a:bodyPr/>
                    <a:lstStyle/>
                    <a:p>
                      <a:pPr algn="l"/>
                      <a:r>
                        <a:rPr lang="en-US" sz="1200" b="1" u="sng" dirty="0" smtClean="0"/>
                        <a:t>Internal</a:t>
                      </a:r>
                      <a:r>
                        <a:rPr lang="en-US" sz="1200" b="1" u="sng" baseline="0" dirty="0" smtClean="0"/>
                        <a:t> weaknesses</a:t>
                      </a:r>
                    </a:p>
                    <a:p>
                      <a:pPr marL="573088" indent="-504825" algn="l" rtl="0">
                        <a:buFont typeface="+mj-lt"/>
                        <a:buAutoNum type="arabicPeriod"/>
                      </a:pPr>
                      <a:r>
                        <a:rPr lang="en-US" sz="1200" b="1" dirty="0" smtClean="0">
                          <a:solidFill>
                            <a:schemeClr val="accent3">
                              <a:lumMod val="75000"/>
                            </a:schemeClr>
                          </a:solidFill>
                        </a:rPr>
                        <a:t>No</a:t>
                      </a:r>
                      <a:r>
                        <a:rPr lang="en-US" sz="1200" b="1" baseline="0" dirty="0" smtClean="0">
                          <a:solidFill>
                            <a:schemeClr val="accent3">
                              <a:lumMod val="75000"/>
                            </a:schemeClr>
                          </a:solidFill>
                        </a:rPr>
                        <a:t> digital team</a:t>
                      </a:r>
                      <a:endParaRPr lang="ar-EG" sz="1200" b="1" dirty="0" smtClean="0">
                        <a:solidFill>
                          <a:schemeClr val="accent3">
                            <a:lumMod val="75000"/>
                          </a:schemeClr>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rtl="0"/>
                      <a:r>
                        <a:rPr lang="en-US" sz="1200" b="1" dirty="0" smtClean="0"/>
                        <a:t>WO</a:t>
                      </a:r>
                      <a:r>
                        <a:rPr lang="en-US" sz="1200" b="1" baseline="0" dirty="0" smtClean="0"/>
                        <a:t> Strategies (Growth strategies only) as we cannot compete with my weaknesses, So </a:t>
                      </a:r>
                      <a:r>
                        <a:rPr lang="en-US" sz="1200" b="1" baseline="0" dirty="0" smtClean="0">
                          <a:solidFill>
                            <a:srgbClr val="7030A0"/>
                          </a:solidFill>
                        </a:rPr>
                        <a:t>no Generic strategies are recommended (business strategies) as a </a:t>
                      </a:r>
                      <a:r>
                        <a:rPr lang="en-US" sz="1200" b="1" baseline="0" dirty="0" smtClean="0"/>
                        <a:t>competition comes from my strengths not weaknesses.</a:t>
                      </a:r>
                    </a:p>
                    <a:p>
                      <a:pPr algn="l" rtl="0"/>
                      <a:r>
                        <a:rPr lang="en-US" sz="1200" b="1" dirty="0" smtClean="0">
                          <a:solidFill>
                            <a:srgbClr val="FF0000"/>
                          </a:solidFill>
                        </a:rPr>
                        <a:t>W1,O3, O4</a:t>
                      </a:r>
                    </a:p>
                    <a:p>
                      <a:pPr algn="l" rtl="0"/>
                      <a:r>
                        <a:rPr lang="en-US" sz="1200" b="1" dirty="0" smtClean="0">
                          <a:solidFill>
                            <a:srgbClr val="7030A0"/>
                          </a:solidFill>
                        </a:rPr>
                        <a:t>In</a:t>
                      </a:r>
                      <a:r>
                        <a:rPr lang="en-US" sz="1200" b="1" baseline="0" dirty="0" smtClean="0">
                          <a:solidFill>
                            <a:srgbClr val="7030A0"/>
                          </a:solidFill>
                        </a:rPr>
                        <a:t> WO, </a:t>
                      </a:r>
                      <a:r>
                        <a:rPr lang="en-US" sz="1200" b="1" u="sng" baseline="0" dirty="0" smtClean="0">
                          <a:solidFill>
                            <a:schemeClr val="tx2">
                              <a:lumMod val="75000"/>
                            </a:schemeClr>
                          </a:solidFill>
                        </a:rPr>
                        <a:t>You have to propose an action</a:t>
                      </a:r>
                    </a:p>
                    <a:p>
                      <a:pPr algn="l" rtl="0"/>
                      <a:r>
                        <a:rPr lang="en-US" sz="1200" b="1" u="sng" baseline="0" dirty="0" smtClean="0">
                          <a:solidFill>
                            <a:schemeClr val="tx2">
                              <a:lumMod val="75000"/>
                            </a:schemeClr>
                          </a:solidFill>
                        </a:rPr>
                        <a:t>In your statement to be implemented</a:t>
                      </a:r>
                    </a:p>
                    <a:p>
                      <a:pPr algn="l" rtl="0"/>
                      <a:r>
                        <a:rPr lang="en-US" sz="1200" b="1" u="sng" baseline="0" dirty="0" smtClean="0">
                          <a:solidFill>
                            <a:schemeClr val="tx2">
                              <a:lumMod val="75000"/>
                            </a:schemeClr>
                          </a:solidFill>
                        </a:rPr>
                        <a:t>To get mandatory tactics</a:t>
                      </a:r>
                      <a:endParaRPr lang="en-US" sz="1200" b="1" u="sng" dirty="0" smtClean="0">
                        <a:solidFill>
                          <a:schemeClr val="tx2">
                            <a:lumMod val="75000"/>
                          </a:schemeClr>
                        </a:solidFill>
                      </a:endParaRPr>
                    </a:p>
                    <a:p>
                      <a:pPr algn="l" rtl="0"/>
                      <a:r>
                        <a:rPr lang="en-US" sz="1200" b="1" u="sng" dirty="0" smtClean="0">
                          <a:solidFill>
                            <a:srgbClr val="7030A0"/>
                          </a:solidFill>
                        </a:rPr>
                        <a:t>Growth strategies</a:t>
                      </a:r>
                    </a:p>
                    <a:p>
                      <a:pPr algn="l" rtl="0"/>
                      <a:r>
                        <a:rPr lang="en-US" sz="1200" b="1" dirty="0" smtClean="0">
                          <a:solidFill>
                            <a:srgbClr val="7030A0"/>
                          </a:solidFill>
                        </a:rPr>
                        <a:t>Existing product-New</a:t>
                      </a:r>
                      <a:r>
                        <a:rPr lang="en-US" sz="1200" b="1" baseline="0" dirty="0" smtClean="0">
                          <a:solidFill>
                            <a:srgbClr val="7030A0"/>
                          </a:solidFill>
                        </a:rPr>
                        <a:t> market (market development) as we cannot compete here with our weaknesses.</a:t>
                      </a:r>
                      <a:endParaRPr lang="en-US" sz="1200" b="1" dirty="0" smtClean="0">
                        <a:solidFill>
                          <a:srgbClr val="7030A0"/>
                        </a:solidFill>
                      </a:endParaRP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l"/>
                      <a:r>
                        <a:rPr lang="en-US" sz="1200" b="1" kern="1200" baseline="0" dirty="0" smtClean="0">
                          <a:solidFill>
                            <a:schemeClr val="dk1"/>
                          </a:solidFill>
                          <a:latin typeface="+mn-lt"/>
                          <a:ea typeface="+mn-ea"/>
                          <a:cs typeface="+mn-cs"/>
                        </a:rPr>
                        <a:t>ST Strategies</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126765338"/>
                  </a:ext>
                </a:extLst>
              </a:tr>
              <a:tr h="611420">
                <a:tc gridSpan="3">
                  <a:txBody>
                    <a:bodyPr/>
                    <a:lstStyle/>
                    <a:p>
                      <a:pPr marL="0" marR="0" indent="0" algn="l" defTabSz="914400" rtl="1" eaLnBrk="1" fontAlgn="auto" latinLnBrk="0" hangingPunct="1">
                        <a:lnSpc>
                          <a:spcPct val="100000"/>
                        </a:lnSpc>
                        <a:spcBef>
                          <a:spcPts val="0"/>
                        </a:spcBef>
                        <a:spcAft>
                          <a:spcPts val="0"/>
                        </a:spcAft>
                        <a:buClrTx/>
                        <a:buSzTx/>
                        <a:buFontTx/>
                        <a:buNone/>
                        <a:tabLst/>
                        <a:defRPr/>
                      </a:pPr>
                      <a:r>
                        <a:rPr lang="en-US" sz="1800" b="1" dirty="0" smtClean="0">
                          <a:solidFill>
                            <a:srgbClr val="00B050"/>
                          </a:solidFill>
                        </a:rPr>
                        <a:t>In real life you have to benefit from all opportunities.</a:t>
                      </a:r>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hMerge="1">
                  <a:txBody>
                    <a:bodyPr/>
                    <a:lstStyle/>
                    <a:p>
                      <a:pPr algn="l"/>
                      <a:endParaRPr lang="en-US"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hMerge="1">
                  <a:txBody>
                    <a:bodyPr/>
                    <a:lstStyle/>
                    <a:p>
                      <a:endParaRPr lang="en-US" dirty="0"/>
                    </a:p>
                  </a:txBody>
                  <a:tc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398019875"/>
                  </a:ext>
                </a:extLst>
              </a:tr>
            </a:tbl>
          </a:graphicData>
        </a:graphic>
      </p:graphicFrame>
    </p:spTree>
    <p:extLst>
      <p:ext uri="{BB962C8B-B14F-4D97-AF65-F5344CB8AC3E}">
        <p14:creationId xmlns:p14="http://schemas.microsoft.com/office/powerpoint/2010/main" val="40217955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533400" y="990600"/>
            <a:ext cx="8229600" cy="5423023"/>
          </a:xfrm>
        </p:spPr>
        <p:txBody>
          <a:bodyPr>
            <a:sp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smtClean="0"/>
              <a:t>SWOT Matrix (TWOS </a:t>
            </a:r>
            <a:r>
              <a:rPr lang="fr-FR" b="1" dirty="0" err="1" smtClean="0"/>
              <a:t>Analysis</a:t>
            </a:r>
            <a:r>
              <a:rPr lang="fr-FR" b="1" dirty="0" smtClean="0"/>
              <a:t>) 	- Qualitative </a:t>
            </a:r>
            <a:r>
              <a:rPr lang="fr-FR" b="1" dirty="0" err="1" smtClean="0"/>
              <a:t>tool</a:t>
            </a:r>
            <a:endParaRPr lang="fr-FR" b="1" dirty="0" smtClean="0"/>
          </a:p>
          <a:p>
            <a:pPr marL="68580" indent="0" algn="just" rtl="0">
              <a:buNone/>
            </a:pPr>
            <a:r>
              <a:rPr lang="fr-FR" b="1" dirty="0" err="1" smtClean="0"/>
              <a:t>After</a:t>
            </a:r>
            <a:r>
              <a:rPr lang="fr-FR" b="1" dirty="0" smtClean="0"/>
              <a:t> TOWS </a:t>
            </a:r>
            <a:r>
              <a:rPr lang="fr-FR" b="1" dirty="0" err="1" smtClean="0"/>
              <a:t>we</a:t>
            </a:r>
            <a:r>
              <a:rPr lang="fr-FR" b="1" dirty="0" smtClean="0"/>
              <a:t> have a lot of </a:t>
            </a:r>
            <a:r>
              <a:rPr lang="fr-FR" b="1" dirty="0" err="1" smtClean="0"/>
              <a:t>strategies</a:t>
            </a:r>
            <a:endParaRPr lang="fr-FR" b="1" dirty="0" smtClean="0"/>
          </a:p>
          <a:p>
            <a:pPr marL="68580" indent="0" algn="just" rtl="0">
              <a:buNone/>
            </a:pPr>
            <a:r>
              <a:rPr lang="fr-FR" b="1" dirty="0" smtClean="0"/>
              <a:t>At the end, </a:t>
            </a:r>
            <a:r>
              <a:rPr lang="fr-FR" b="1" dirty="0" err="1" smtClean="0"/>
              <a:t>you</a:t>
            </a:r>
            <a:r>
              <a:rPr lang="fr-FR" b="1" dirty="0" smtClean="0"/>
              <a:t> have to </a:t>
            </a:r>
            <a:r>
              <a:rPr lang="fr-FR" b="1" dirty="0" err="1" smtClean="0"/>
              <a:t>write</a:t>
            </a:r>
            <a:r>
              <a:rPr lang="fr-FR" b="1" dirty="0" smtClean="0"/>
              <a:t> the </a:t>
            </a:r>
            <a:r>
              <a:rPr lang="fr-FR" b="1" dirty="0" err="1" smtClean="0"/>
              <a:t>recommended</a:t>
            </a:r>
            <a:r>
              <a:rPr lang="fr-FR" b="1" dirty="0" smtClean="0"/>
              <a:t> </a:t>
            </a:r>
            <a:r>
              <a:rPr lang="fr-FR" b="1" dirty="0" err="1" smtClean="0"/>
              <a:t>strategies</a:t>
            </a:r>
            <a:endParaRPr lang="fr-FR" b="1" dirty="0" smtClean="0"/>
          </a:p>
          <a:p>
            <a:pPr marL="68580" indent="0" algn="just" rtl="0">
              <a:buNone/>
            </a:pPr>
            <a:r>
              <a:rPr lang="fr-FR" b="1" dirty="0" err="1" smtClean="0">
                <a:solidFill>
                  <a:schemeClr val="bg2">
                    <a:lumMod val="50000"/>
                  </a:schemeClr>
                </a:solidFill>
              </a:rPr>
              <a:t>Growth</a:t>
            </a:r>
            <a:r>
              <a:rPr lang="fr-FR" b="1" dirty="0" smtClean="0">
                <a:solidFill>
                  <a:schemeClr val="bg2">
                    <a:lumMod val="50000"/>
                  </a:schemeClr>
                </a:solidFill>
              </a:rPr>
              <a:t> stratégies</a:t>
            </a:r>
          </a:p>
          <a:p>
            <a:pPr marL="68580" indent="0" algn="just" rtl="0">
              <a:buNone/>
            </a:pPr>
            <a:r>
              <a:rPr lang="fr-FR" b="1" dirty="0" err="1">
                <a:solidFill>
                  <a:srgbClr val="FF0000"/>
                </a:solidFill>
              </a:rPr>
              <a:t>Market</a:t>
            </a:r>
            <a:r>
              <a:rPr lang="fr-FR" b="1" dirty="0">
                <a:solidFill>
                  <a:srgbClr val="FF0000"/>
                </a:solidFill>
              </a:rPr>
              <a:t> pénétration – </a:t>
            </a:r>
            <a:r>
              <a:rPr lang="fr-FR" b="1" dirty="0" err="1">
                <a:solidFill>
                  <a:srgbClr val="FF0000"/>
                </a:solidFill>
              </a:rPr>
              <a:t>Market</a:t>
            </a:r>
            <a:r>
              <a:rPr lang="fr-FR" b="1" dirty="0">
                <a:solidFill>
                  <a:srgbClr val="FF0000"/>
                </a:solidFill>
              </a:rPr>
              <a:t> développement</a:t>
            </a:r>
          </a:p>
          <a:p>
            <a:pPr marL="68580" indent="0" algn="just" rtl="0">
              <a:buNone/>
            </a:pPr>
            <a:r>
              <a:rPr lang="fr-FR" b="1" dirty="0">
                <a:solidFill>
                  <a:schemeClr val="accent1">
                    <a:lumMod val="50000"/>
                  </a:schemeClr>
                </a:solidFill>
              </a:rPr>
              <a:t>Business stratégies</a:t>
            </a:r>
          </a:p>
          <a:p>
            <a:pPr marL="68580" indent="0" algn="just" rtl="0">
              <a:buNone/>
            </a:pPr>
            <a:r>
              <a:rPr lang="fr-FR" b="1" dirty="0" smtClean="0">
                <a:solidFill>
                  <a:srgbClr val="FF0000"/>
                </a:solidFill>
              </a:rPr>
              <a:t>Différentiation</a:t>
            </a:r>
          </a:p>
          <a:p>
            <a:pPr marL="68580" indent="0" algn="just" rtl="0">
              <a:buNone/>
            </a:pPr>
            <a:r>
              <a:rPr lang="fr-FR" b="1" dirty="0" smtClean="0"/>
              <a:t>All quantitative </a:t>
            </a:r>
            <a:r>
              <a:rPr lang="fr-FR" b="1" dirty="0" err="1" smtClean="0"/>
              <a:t>tools</a:t>
            </a:r>
            <a:r>
              <a:rPr lang="fr-FR" b="1" dirty="0" smtClean="0"/>
              <a:t> are not </a:t>
            </a:r>
            <a:r>
              <a:rPr lang="fr-FR" b="1" dirty="0" err="1" smtClean="0"/>
              <a:t>generating</a:t>
            </a:r>
            <a:r>
              <a:rPr lang="fr-FR" b="1" dirty="0" smtClean="0"/>
              <a:t> business stratégies, TWOS </a:t>
            </a:r>
            <a:r>
              <a:rPr lang="fr-FR" b="1" dirty="0" err="1" smtClean="0"/>
              <a:t>only</a:t>
            </a:r>
            <a:r>
              <a:rPr lang="fr-FR" b="1" dirty="0" smtClean="0"/>
              <a:t> </a:t>
            </a:r>
            <a:r>
              <a:rPr lang="fr-FR" b="1" dirty="0" err="1" smtClean="0"/>
              <a:t>is</a:t>
            </a:r>
            <a:r>
              <a:rPr lang="fr-FR" b="1" dirty="0" smtClean="0"/>
              <a:t> the qualitative </a:t>
            </a:r>
            <a:r>
              <a:rPr lang="fr-FR" b="1" dirty="0" err="1" smtClean="0"/>
              <a:t>matching</a:t>
            </a:r>
            <a:r>
              <a:rPr lang="fr-FR" b="1" dirty="0" smtClean="0"/>
              <a:t> </a:t>
            </a:r>
            <a:r>
              <a:rPr lang="fr-FR" b="1" dirty="0" err="1" smtClean="0"/>
              <a:t>tool</a:t>
            </a:r>
            <a:r>
              <a:rPr lang="fr-FR" b="1" dirty="0" smtClean="0"/>
              <a:t> </a:t>
            </a:r>
            <a:r>
              <a:rPr lang="fr-FR" b="1" dirty="0" err="1" smtClean="0"/>
              <a:t>that</a:t>
            </a:r>
            <a:r>
              <a:rPr lang="fr-FR" b="1" dirty="0" smtClean="0"/>
              <a:t> propose business </a:t>
            </a:r>
            <a:r>
              <a:rPr lang="fr-FR" b="1" dirty="0" err="1" smtClean="0"/>
              <a:t>strategies</a:t>
            </a:r>
            <a:endParaRPr lang="fr-FR" b="1" dirty="0" smtClean="0"/>
          </a:p>
          <a:p>
            <a:pPr marL="525780" indent="-457200" algn="just" rtl="0">
              <a:spcBef>
                <a:spcPts val="0"/>
              </a:spcBef>
              <a:buFont typeface="+mj-lt"/>
              <a:buAutoNum type="arabicPeriod"/>
            </a:pPr>
            <a:endParaRPr lang="en-US" sz="1800"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7886853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4800600"/>
          </a:xfrm>
        </p:spPr>
        <p:txBody>
          <a:bodyPr>
            <a:normAutofit fontScale="92500" lnSpcReduction="20000"/>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SWOT</a:t>
            </a:r>
            <a:r>
              <a:rPr lang="fr-FR" b="1" dirty="0" smtClean="0"/>
              <a:t> Matrix</a:t>
            </a:r>
          </a:p>
          <a:p>
            <a:pPr marL="68580" indent="0">
              <a:buNone/>
            </a:pPr>
            <a:endParaRPr lang="ar-EG" dirty="0"/>
          </a:p>
          <a:p>
            <a:pPr algn="l" rtl="0">
              <a:spcBef>
                <a:spcPts val="1800"/>
              </a:spcBef>
            </a:pPr>
            <a:r>
              <a:rPr lang="en-US" sz="2600" b="1" dirty="0"/>
              <a:t>SO </a:t>
            </a:r>
            <a:r>
              <a:rPr lang="en-US" sz="2600" dirty="0"/>
              <a:t>strategies use a firm’s internal strengths to take advantage of external </a:t>
            </a:r>
            <a:r>
              <a:rPr lang="en-US" sz="2600" dirty="0" smtClean="0"/>
              <a:t>opportunities.</a:t>
            </a:r>
            <a:endParaRPr lang="en-US" sz="2600" dirty="0"/>
          </a:p>
          <a:p>
            <a:pPr algn="l" rtl="0">
              <a:spcBef>
                <a:spcPts val="1800"/>
              </a:spcBef>
            </a:pPr>
            <a:r>
              <a:rPr lang="en-US" sz="2600" b="1" dirty="0" smtClean="0"/>
              <a:t>WO </a:t>
            </a:r>
            <a:r>
              <a:rPr lang="en-US" sz="2600" dirty="0" smtClean="0"/>
              <a:t>strategies </a:t>
            </a:r>
            <a:r>
              <a:rPr lang="en-US" sz="2600" dirty="0"/>
              <a:t>improve internal weaknesses by taking advantage of external </a:t>
            </a:r>
            <a:r>
              <a:rPr lang="en-US" sz="2600" dirty="0" smtClean="0"/>
              <a:t>opportunities.</a:t>
            </a:r>
            <a:endParaRPr lang="en-US" sz="2600" dirty="0"/>
          </a:p>
          <a:p>
            <a:pPr algn="l" rtl="0">
              <a:spcBef>
                <a:spcPts val="1800"/>
              </a:spcBef>
            </a:pPr>
            <a:r>
              <a:rPr lang="en-US" sz="2600" b="1" dirty="0" smtClean="0"/>
              <a:t>ST </a:t>
            </a:r>
            <a:r>
              <a:rPr lang="en-US" sz="2600" dirty="0" smtClean="0"/>
              <a:t>strategies </a:t>
            </a:r>
            <a:r>
              <a:rPr lang="en-US" sz="2600" dirty="0"/>
              <a:t>use a firm’s strengths to avoid or reduce the impact of external </a:t>
            </a:r>
            <a:r>
              <a:rPr lang="en-US" sz="2600" dirty="0" smtClean="0"/>
              <a:t>threats.</a:t>
            </a:r>
            <a:endParaRPr lang="en-US" sz="2600" dirty="0"/>
          </a:p>
          <a:p>
            <a:pPr algn="l" rtl="0">
              <a:spcBef>
                <a:spcPts val="1800"/>
              </a:spcBef>
            </a:pPr>
            <a:r>
              <a:rPr lang="en-US" sz="2600" b="1" dirty="0" smtClean="0"/>
              <a:t>WT </a:t>
            </a:r>
            <a:r>
              <a:rPr lang="en-US" sz="2600" dirty="0" smtClean="0"/>
              <a:t>strategies </a:t>
            </a:r>
            <a:r>
              <a:rPr lang="en-US" sz="2600" dirty="0"/>
              <a:t>defensive tactics aimed at reducing internal weakness and avoiding external </a:t>
            </a:r>
            <a:r>
              <a:rPr lang="en-US" sz="2600" dirty="0" smtClean="0"/>
              <a:t>threats to defend its survival. </a:t>
            </a:r>
            <a:endParaRPr lang="en-US" sz="2600" dirty="0"/>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31895602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5181600"/>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SWOT</a:t>
            </a:r>
            <a:r>
              <a:rPr lang="fr-FR" b="1" dirty="0" smtClean="0"/>
              <a:t> Matrix</a:t>
            </a:r>
            <a:endParaRPr lang="ar-EG" sz="2800" dirty="0"/>
          </a:p>
          <a:p>
            <a:pPr algn="l" rtl="0"/>
            <a:r>
              <a:rPr lang="en-US" sz="2800" dirty="0" smtClean="0"/>
              <a:t>1. List </a:t>
            </a:r>
            <a:r>
              <a:rPr lang="en-US" sz="2800" dirty="0"/>
              <a:t>the firm’s key external opportunities</a:t>
            </a:r>
          </a:p>
          <a:p>
            <a:pPr algn="l" rtl="0"/>
            <a:r>
              <a:rPr lang="en-US" sz="2800" dirty="0"/>
              <a:t>2</a:t>
            </a:r>
            <a:r>
              <a:rPr lang="en-US" sz="2800" dirty="0" smtClean="0"/>
              <a:t>. List </a:t>
            </a:r>
            <a:r>
              <a:rPr lang="en-US" sz="2800" dirty="0"/>
              <a:t>the firm’s key external threats</a:t>
            </a:r>
          </a:p>
          <a:p>
            <a:pPr algn="l" rtl="0"/>
            <a:r>
              <a:rPr lang="en-US" sz="2800" dirty="0"/>
              <a:t>3</a:t>
            </a:r>
            <a:r>
              <a:rPr lang="en-US" sz="2800" dirty="0" smtClean="0"/>
              <a:t>. List </a:t>
            </a:r>
            <a:r>
              <a:rPr lang="en-US" sz="2800" dirty="0"/>
              <a:t>the firm’s key internal strengths</a:t>
            </a:r>
          </a:p>
          <a:p>
            <a:pPr algn="l" rtl="0"/>
            <a:r>
              <a:rPr lang="en-US" sz="2800" dirty="0"/>
              <a:t>4</a:t>
            </a:r>
            <a:r>
              <a:rPr lang="en-US" sz="2800" dirty="0" smtClean="0"/>
              <a:t>. List </a:t>
            </a:r>
            <a:r>
              <a:rPr lang="en-US" sz="2800" dirty="0"/>
              <a:t>the firm’s key internal weaknesses</a:t>
            </a:r>
          </a:p>
          <a:p>
            <a:pPr algn="l" rtl="0"/>
            <a:r>
              <a:rPr lang="en-US" sz="2800" dirty="0"/>
              <a:t>5</a:t>
            </a:r>
            <a:r>
              <a:rPr lang="en-US" sz="2800" dirty="0" smtClean="0"/>
              <a:t>. Match </a:t>
            </a:r>
            <a:r>
              <a:rPr lang="en-US" sz="2800" dirty="0"/>
              <a:t>internal strengths with external opportunities and record the resultant </a:t>
            </a:r>
            <a:r>
              <a:rPr lang="en-US" sz="2600" b="1" dirty="0">
                <a:solidFill>
                  <a:srgbClr val="FF0000"/>
                </a:solidFill>
              </a:rPr>
              <a:t>SO</a:t>
            </a:r>
            <a:r>
              <a:rPr lang="en-US" sz="2800" dirty="0" smtClean="0"/>
              <a:t> </a:t>
            </a:r>
            <a:r>
              <a:rPr lang="en-US" sz="2800" dirty="0"/>
              <a:t/>
            </a:r>
            <a:br>
              <a:rPr lang="en-US" sz="2800" dirty="0"/>
            </a:br>
            <a:r>
              <a:rPr lang="en-US" sz="2800" dirty="0"/>
              <a:t>Strategies. </a:t>
            </a:r>
          </a:p>
          <a:p>
            <a:pPr algn="just" rtl="0"/>
            <a:endParaRPr lang="fr-FR" b="1" dirty="0"/>
          </a:p>
          <a:p>
            <a:pPr algn="just" rtl="0"/>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17437926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457200" y="1066800"/>
            <a:ext cx="8229600" cy="5181600"/>
          </a:xfrm>
        </p:spPr>
        <p:txBody>
          <a:bodyPr>
            <a:normAutofit fontScale="92500" lnSpcReduction="10000"/>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SWOT</a:t>
            </a:r>
            <a:r>
              <a:rPr lang="fr-FR" b="1" dirty="0" smtClean="0"/>
              <a:t> Matrix</a:t>
            </a:r>
          </a:p>
          <a:p>
            <a:pPr marL="68580" indent="0" algn="l" rtl="0">
              <a:lnSpc>
                <a:spcPct val="110000"/>
              </a:lnSpc>
              <a:buNone/>
            </a:pPr>
            <a:r>
              <a:rPr lang="en-US" sz="2800" dirty="0"/>
              <a:t/>
            </a:r>
            <a:br>
              <a:rPr lang="en-US" sz="2800" dirty="0"/>
            </a:br>
            <a:r>
              <a:rPr lang="en-US" sz="2800" dirty="0"/>
              <a:t>6. Match internal weaknesses with external </a:t>
            </a:r>
            <a:br>
              <a:rPr lang="en-US" sz="2800" dirty="0"/>
            </a:br>
            <a:r>
              <a:rPr lang="en-US" sz="2800" dirty="0"/>
              <a:t>opportunities, and record the resultant </a:t>
            </a:r>
            <a:r>
              <a:rPr lang="en-US" sz="2800" b="1" dirty="0">
                <a:solidFill>
                  <a:srgbClr val="FF0000"/>
                </a:solidFill>
              </a:rPr>
              <a:t>WO</a:t>
            </a:r>
            <a:r>
              <a:rPr lang="en-US" sz="2800" dirty="0"/>
              <a:t> </a:t>
            </a:r>
            <a:br>
              <a:rPr lang="en-US" sz="2800" dirty="0"/>
            </a:br>
            <a:r>
              <a:rPr lang="en-US" sz="2800" dirty="0" smtClean="0"/>
              <a:t>Strategies.</a:t>
            </a:r>
            <a:r>
              <a:rPr lang="en-US" sz="2800" dirty="0"/>
              <a:t/>
            </a:r>
            <a:br>
              <a:rPr lang="en-US" sz="2800" dirty="0"/>
            </a:br>
            <a:r>
              <a:rPr lang="en-US" sz="2800" dirty="0"/>
              <a:t>7. Match internal strengths with external </a:t>
            </a:r>
            <a:br>
              <a:rPr lang="en-US" sz="2800" dirty="0"/>
            </a:br>
            <a:r>
              <a:rPr lang="en-US" sz="2800" dirty="0"/>
              <a:t>threats, and record the resultant </a:t>
            </a:r>
            <a:r>
              <a:rPr lang="en-US" sz="2800" b="1" dirty="0">
                <a:solidFill>
                  <a:srgbClr val="FF0000"/>
                </a:solidFill>
              </a:rPr>
              <a:t>ST</a:t>
            </a:r>
            <a:r>
              <a:rPr lang="en-US" sz="2800" dirty="0"/>
              <a:t> </a:t>
            </a:r>
            <a:br>
              <a:rPr lang="en-US" sz="2800" dirty="0"/>
            </a:br>
            <a:r>
              <a:rPr lang="en-US" sz="2800" dirty="0" smtClean="0"/>
              <a:t>Strategies.</a:t>
            </a:r>
            <a:r>
              <a:rPr lang="en-US" sz="2800" dirty="0"/>
              <a:t/>
            </a:r>
            <a:br>
              <a:rPr lang="en-US" sz="2800" dirty="0"/>
            </a:br>
            <a:r>
              <a:rPr lang="en-US" sz="2800" dirty="0"/>
              <a:t>8. Match internal weaknesses with external </a:t>
            </a:r>
            <a:br>
              <a:rPr lang="en-US" sz="2800" dirty="0"/>
            </a:br>
            <a:r>
              <a:rPr lang="en-US" sz="2800" dirty="0"/>
              <a:t>threats, and record the resultant </a:t>
            </a:r>
            <a:r>
              <a:rPr lang="en-US" sz="2800" b="1" dirty="0">
                <a:solidFill>
                  <a:srgbClr val="FF0000"/>
                </a:solidFill>
              </a:rPr>
              <a:t>WT</a:t>
            </a:r>
            <a:r>
              <a:rPr lang="en-US" sz="2800" dirty="0"/>
              <a:t> </a:t>
            </a:r>
            <a:br>
              <a:rPr lang="en-US" sz="2800" dirty="0"/>
            </a:br>
            <a:r>
              <a:rPr lang="en-US" sz="2800" dirty="0" smtClean="0"/>
              <a:t>Strategies.</a:t>
            </a:r>
            <a:endParaRPr lang="fr-FR" b="1" dirty="0"/>
          </a:p>
          <a:p>
            <a:pPr algn="just" rtl="0">
              <a:lnSpc>
                <a:spcPct val="110000"/>
              </a:lnSpc>
            </a:pPr>
            <a:endParaRPr lang="ar-EG" sz="26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39127655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SWOT</a:t>
            </a:r>
            <a:r>
              <a:rPr lang="fr-FR" b="1" dirty="0" smtClean="0"/>
              <a:t> Matrix</a:t>
            </a:r>
            <a:endParaRPr lang="ar-EG" sz="2800" dirty="0"/>
          </a:p>
          <a:p>
            <a:pPr marL="68580" indent="0" algn="just" rtl="0">
              <a:buNone/>
            </a:pPr>
            <a:endParaRPr lang="fr-FR" b="1" dirty="0"/>
          </a:p>
          <a:p>
            <a:pPr marL="68580" indent="0" algn="just" rtl="0">
              <a:buNone/>
            </a:pPr>
            <a:endParaRPr lang="ar-EG" sz="40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4" y="1752600"/>
            <a:ext cx="8096250"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90537" y="5257800"/>
            <a:ext cx="8162925" cy="838200"/>
          </a:xfrm>
          <a:prstGeom prst="rect">
            <a:avLst/>
          </a:prstGeom>
          <a:solidFill>
            <a:schemeClr val="bg1"/>
          </a:solidFill>
          <a:ln w="0"/>
        </p:spPr>
        <p:style>
          <a:lnRef idx="2">
            <a:schemeClr val="accent1">
              <a:shade val="50000"/>
            </a:schemeClr>
          </a:lnRef>
          <a:fillRef idx="1">
            <a:schemeClr val="accent1"/>
          </a:fillRef>
          <a:effectRef idx="0">
            <a:schemeClr val="accent1"/>
          </a:effectRef>
          <a:fontRef idx="minor">
            <a:schemeClr val="lt1"/>
          </a:fontRef>
        </p:style>
        <p:txBody>
          <a:bodyPr rtlCol="1" anchor="ctr"/>
          <a:lstStyle/>
          <a:p>
            <a:endParaRPr lang="en-US" dirty="0" smtClean="0">
              <a:solidFill>
                <a:prstClr val="black"/>
              </a:solidFill>
            </a:endParaRPr>
          </a:p>
          <a:p>
            <a:endParaRPr lang="en-US" b="1" dirty="0" smtClean="0">
              <a:solidFill>
                <a:srgbClr val="FF0000"/>
              </a:solidFill>
            </a:endParaRPr>
          </a:p>
          <a:p>
            <a:r>
              <a:rPr lang="en-US" b="1" dirty="0" smtClean="0">
                <a:solidFill>
                  <a:srgbClr val="FF0000"/>
                </a:solidFill>
              </a:rPr>
              <a:t>SWOT matrix is the most widely used in matching stage as it is simple to do however it generates a wide range of strategies. Also, it </a:t>
            </a:r>
            <a:r>
              <a:rPr lang="en-US" b="1" dirty="0">
                <a:solidFill>
                  <a:srgbClr val="FF0000"/>
                </a:solidFill>
              </a:rPr>
              <a:t>m</a:t>
            </a:r>
            <a:r>
              <a:rPr lang="en-US" b="1" dirty="0" smtClean="0">
                <a:solidFill>
                  <a:srgbClr val="FF0000"/>
                </a:solidFill>
              </a:rPr>
              <a:t>ay </a:t>
            </a:r>
            <a:r>
              <a:rPr lang="en-US" b="1" dirty="0">
                <a:solidFill>
                  <a:srgbClr val="FF0000"/>
                </a:solidFill>
              </a:rPr>
              <a:t>lead the firm to overemphasize a single </a:t>
            </a:r>
            <a:r>
              <a:rPr lang="en-US" b="1" dirty="0" smtClean="0">
                <a:solidFill>
                  <a:srgbClr val="FF0000"/>
                </a:solidFill>
              </a:rPr>
              <a:t>internal </a:t>
            </a:r>
            <a:r>
              <a:rPr lang="en-US" b="1" dirty="0">
                <a:solidFill>
                  <a:srgbClr val="FF0000"/>
                </a:solidFill>
              </a:rPr>
              <a:t>or external factor in formulating </a:t>
            </a:r>
            <a:r>
              <a:rPr lang="en-US" b="1" dirty="0" smtClean="0">
                <a:solidFill>
                  <a:srgbClr val="FF0000"/>
                </a:solidFill>
              </a:rPr>
              <a:t>strategies.</a:t>
            </a:r>
            <a:endParaRPr lang="ar-EG" b="1" dirty="0">
              <a:solidFill>
                <a:srgbClr val="FF0000"/>
              </a:solidFill>
            </a:endParaRPr>
          </a:p>
        </p:txBody>
      </p:sp>
    </p:spTree>
    <p:extLst>
      <p:ext uri="{BB962C8B-B14F-4D97-AF65-F5344CB8AC3E}">
        <p14:creationId xmlns:p14="http://schemas.microsoft.com/office/powerpoint/2010/main" val="40704182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SWOT</a:t>
            </a:r>
            <a:r>
              <a:rPr lang="fr-FR" b="1" dirty="0" smtClean="0"/>
              <a:t> Matrix</a:t>
            </a:r>
            <a:endParaRPr lang="ar-EG" sz="2800" dirty="0"/>
          </a:p>
          <a:p>
            <a:pPr marL="68580" indent="0" algn="just" rtl="0">
              <a:buNone/>
            </a:pPr>
            <a:endParaRPr lang="fr-FR" b="1" dirty="0"/>
          </a:p>
          <a:p>
            <a:pPr marL="68580" indent="0" algn="just" rtl="0">
              <a:buNone/>
            </a:pPr>
            <a:endParaRPr lang="ar-EG" sz="40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2" name="Picture 2" descr="SWOT analysis internal external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028825"/>
            <a:ext cx="6253161"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2376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l" rtl="0">
              <a:buNone/>
            </a:pPr>
            <a:r>
              <a:rPr lang="en-US" b="1" dirty="0" smtClean="0">
                <a:solidFill>
                  <a:srgbClr val="FF0000"/>
                </a:solidFill>
              </a:rPr>
              <a:t>The Strengths-Weaknesses-Opportunities-Threats </a:t>
            </a:r>
            <a:r>
              <a:rPr lang="en-US" b="1" dirty="0">
                <a:solidFill>
                  <a:srgbClr val="FF0000"/>
                </a:solidFill>
              </a:rPr>
              <a:t>(SWOT) </a:t>
            </a:r>
            <a:r>
              <a:rPr lang="en-US" b="1" dirty="0" smtClean="0">
                <a:solidFill>
                  <a:srgbClr val="FF0000"/>
                </a:solidFill>
              </a:rPr>
              <a:t>Matrix</a:t>
            </a:r>
          </a:p>
          <a:p>
            <a:pPr marL="68580" indent="0" algn="l" rtl="0">
              <a:buNone/>
            </a:pPr>
            <a:r>
              <a:rPr lang="en-US" dirty="0" smtClean="0"/>
              <a:t> The SWOT </a:t>
            </a:r>
            <a:r>
              <a:rPr lang="en-US" dirty="0"/>
              <a:t>Matrix is an important matching tool that helps managers develop four types of strategies: </a:t>
            </a:r>
            <a:endParaRPr lang="en-US" dirty="0" smtClean="0"/>
          </a:p>
          <a:p>
            <a:pPr marL="68580" indent="0" algn="l" rtl="0">
              <a:buNone/>
            </a:pPr>
            <a:r>
              <a:rPr lang="en-US" dirty="0" smtClean="0"/>
              <a:t>SO </a:t>
            </a:r>
            <a:r>
              <a:rPr lang="en-US" dirty="0"/>
              <a:t>(strengths-opportunities) Strategies, </a:t>
            </a:r>
            <a:endParaRPr lang="en-US" dirty="0" smtClean="0"/>
          </a:p>
          <a:p>
            <a:pPr marL="68580" indent="0" algn="l" rtl="0">
              <a:buNone/>
            </a:pPr>
            <a:r>
              <a:rPr lang="en-US" dirty="0" smtClean="0"/>
              <a:t>WO </a:t>
            </a:r>
            <a:r>
              <a:rPr lang="en-US" dirty="0"/>
              <a:t>(weaknesses-opportunities) Strategies, </a:t>
            </a:r>
            <a:endParaRPr lang="en-US" dirty="0" smtClean="0"/>
          </a:p>
          <a:p>
            <a:pPr marL="68580" indent="0" algn="l" rtl="0">
              <a:buNone/>
            </a:pPr>
            <a:r>
              <a:rPr lang="en-US" dirty="0" smtClean="0"/>
              <a:t>ST </a:t>
            </a:r>
            <a:r>
              <a:rPr lang="en-US" dirty="0"/>
              <a:t>(strengths-threats) Strategies, </a:t>
            </a:r>
            <a:r>
              <a:rPr lang="en-US" dirty="0" smtClean="0"/>
              <a:t>and,</a:t>
            </a:r>
          </a:p>
          <a:p>
            <a:pPr marL="68580" indent="0" algn="l" rtl="0">
              <a:buNone/>
            </a:pPr>
            <a:r>
              <a:rPr lang="en-US" dirty="0" smtClean="0"/>
              <a:t>WT </a:t>
            </a:r>
            <a:r>
              <a:rPr lang="en-US" dirty="0"/>
              <a:t>(weaknesses-threats) Strategies</a:t>
            </a:r>
            <a:r>
              <a:rPr lang="en-US" dirty="0" smtClean="0"/>
              <a:t>.</a:t>
            </a:r>
          </a:p>
          <a:p>
            <a:pPr marL="68580" indent="0" algn="just" rtl="0">
              <a:buNone/>
            </a:pPr>
            <a:r>
              <a:rPr lang="en-US" b="1" dirty="0" smtClean="0">
                <a:solidFill>
                  <a:srgbClr val="FF0000"/>
                </a:solidFill>
              </a:rPr>
              <a:t>Matching </a:t>
            </a:r>
            <a:r>
              <a:rPr lang="en-US" b="1" dirty="0">
                <a:solidFill>
                  <a:srgbClr val="FF0000"/>
                </a:solidFill>
              </a:rPr>
              <a:t>key external and internal factors is the most difficult part of developing a SWOT Matrix and requires good judgment—and there is no one best set of matches. </a:t>
            </a:r>
            <a:endParaRPr lang="ar-EG" sz="3000" b="1" dirty="0">
              <a:solidFill>
                <a:srgbClr val="FF0000"/>
              </a:solidFill>
            </a:endParaRPr>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5543255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just" rtl="0">
              <a:buNone/>
            </a:pPr>
            <a:r>
              <a:rPr lang="en-US" sz="2600" b="1" dirty="0" smtClean="0">
                <a:solidFill>
                  <a:schemeClr val="accent3">
                    <a:lumMod val="75000"/>
                  </a:schemeClr>
                </a:solidFill>
              </a:rPr>
              <a:t>Stage </a:t>
            </a:r>
            <a:r>
              <a:rPr lang="en-US" sz="2600" b="1" dirty="0">
                <a:solidFill>
                  <a:schemeClr val="accent3">
                    <a:lumMod val="75000"/>
                  </a:schemeClr>
                </a:solidFill>
              </a:rPr>
              <a:t>2: The Matching </a:t>
            </a:r>
            <a:r>
              <a:rPr lang="en-US" sz="2600" b="1" dirty="0" smtClean="0">
                <a:solidFill>
                  <a:schemeClr val="accent3">
                    <a:lumMod val="75000"/>
                  </a:schemeClr>
                </a:solidFill>
              </a:rPr>
              <a:t>Stage </a:t>
            </a:r>
            <a:endParaRPr lang="en-US" sz="2600" dirty="0" smtClean="0"/>
          </a:p>
          <a:p>
            <a:pPr marL="68580" indent="0" algn="just" rtl="0">
              <a:buNone/>
            </a:pPr>
            <a:r>
              <a:rPr lang="fr-FR" b="1" dirty="0" err="1" smtClean="0"/>
              <a:t>SWOT</a:t>
            </a:r>
            <a:r>
              <a:rPr lang="fr-FR" b="1" dirty="0" smtClean="0"/>
              <a:t> Matrix</a:t>
            </a:r>
            <a:endParaRPr lang="ar-EG" sz="2800" dirty="0"/>
          </a:p>
          <a:p>
            <a:pPr marL="68580" indent="0" algn="just" rtl="0">
              <a:buNone/>
            </a:pPr>
            <a:endParaRPr lang="fr-FR" b="1" dirty="0"/>
          </a:p>
          <a:p>
            <a:pPr marL="68580" indent="0" algn="just" rtl="0">
              <a:buNone/>
            </a:pPr>
            <a:r>
              <a:rPr lang="en-US" sz="3000" dirty="0" smtClean="0"/>
              <a:t>Example, if a private university </a:t>
            </a:r>
            <a:r>
              <a:rPr lang="en-US" sz="3000" b="1" dirty="0" smtClean="0">
                <a:solidFill>
                  <a:srgbClr val="FF0000"/>
                </a:solidFill>
              </a:rPr>
              <a:t>has a strong financial position </a:t>
            </a:r>
            <a:r>
              <a:rPr lang="en-US" sz="3000" dirty="0" smtClean="0"/>
              <a:t>than the other competitors, and </a:t>
            </a:r>
            <a:r>
              <a:rPr lang="en-US" sz="3000" b="1" dirty="0" smtClean="0"/>
              <a:t>it found a critical opportunity in gulf market </a:t>
            </a:r>
            <a:r>
              <a:rPr lang="en-US" sz="3000" dirty="0" smtClean="0"/>
              <a:t>which may search for more Arab educational entities, so its strategy is to focus on opening a new educational entity in one of the gulf countries.</a:t>
            </a:r>
            <a:endParaRPr lang="ar-EG" sz="3000"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Tree>
    <p:extLst>
      <p:ext uri="{BB962C8B-B14F-4D97-AF65-F5344CB8AC3E}">
        <p14:creationId xmlns:p14="http://schemas.microsoft.com/office/powerpoint/2010/main" val="9698703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l" rtl="0">
              <a:buNone/>
            </a:pPr>
            <a:r>
              <a:rPr lang="en-US" b="1" dirty="0"/>
              <a:t>A </a:t>
            </a:r>
            <a:r>
              <a:rPr lang="en-US" b="1" dirty="0" err="1"/>
              <a:t>SWOT</a:t>
            </a:r>
            <a:r>
              <a:rPr lang="en-US" b="1" dirty="0"/>
              <a:t> Matrix for a Retail Computer store </a:t>
            </a:r>
            <a:br>
              <a:rPr lang="en-US" b="1" dirty="0"/>
            </a:br>
            <a:r>
              <a:rPr lang="en-US" b="1" dirty="0"/>
              <a:t>Computer Store</a:t>
            </a:r>
            <a:endParaRPr lang="fr-FR" b="1" dirty="0"/>
          </a:p>
          <a:p>
            <a:pPr marL="68580" indent="0" algn="l" rtl="0">
              <a:buNone/>
            </a:pPr>
            <a:endParaRPr lang="fr-FR"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1295398"/>
            <a:ext cx="7867650"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787" y="1323973"/>
            <a:ext cx="5072063"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219200"/>
            <a:ext cx="2305050"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09600" y="3810000"/>
            <a:ext cx="7715250" cy="198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solidFill>
                <a:prstClr val="white"/>
              </a:solidFill>
            </a:endParaRPr>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0437" y="3852862"/>
            <a:ext cx="2143125" cy="220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88818" y="3809999"/>
            <a:ext cx="2669381" cy="2243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833" y="1323974"/>
            <a:ext cx="2362200" cy="2790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1" y="1295398"/>
            <a:ext cx="2383632" cy="2719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43816" y="381000"/>
            <a:ext cx="1929054" cy="430887"/>
          </a:xfrm>
          <a:prstGeom prst="rect">
            <a:avLst/>
          </a:prstGeom>
        </p:spPr>
        <p:txBody>
          <a:bodyPr wrap="none">
            <a:spAutoFit/>
          </a:bodyPr>
          <a:lstStyle/>
          <a:p>
            <a:pPr marL="68580" algn="just"/>
            <a:r>
              <a:rPr lang="fr-FR" sz="2200" b="1" dirty="0" err="1">
                <a:solidFill>
                  <a:prstClr val="black"/>
                </a:solidFill>
              </a:rPr>
              <a:t>SWOT</a:t>
            </a:r>
            <a:r>
              <a:rPr lang="fr-FR" sz="2200" b="1" dirty="0">
                <a:solidFill>
                  <a:prstClr val="black"/>
                </a:solidFill>
              </a:rPr>
              <a:t> Matrix</a:t>
            </a:r>
            <a:endParaRPr lang="ar-EG" sz="2200" dirty="0">
              <a:solidFill>
                <a:prstClr val="black"/>
              </a:solidFill>
            </a:endParaRPr>
          </a:p>
        </p:txBody>
      </p:sp>
    </p:spTree>
    <p:extLst>
      <p:ext uri="{BB962C8B-B14F-4D97-AF65-F5344CB8AC3E}">
        <p14:creationId xmlns:p14="http://schemas.microsoft.com/office/powerpoint/2010/main" val="33296088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486400"/>
          </a:xfrm>
        </p:spPr>
        <p:txBody>
          <a:bodyPr>
            <a:normAutofit/>
          </a:bodyPr>
          <a:lstStyle/>
          <a:p>
            <a:pPr marL="68580" indent="0" algn="l" rtl="0">
              <a:buNone/>
            </a:pPr>
            <a:r>
              <a:rPr lang="en-US" sz="2200" b="1" dirty="0"/>
              <a:t>A </a:t>
            </a:r>
            <a:r>
              <a:rPr lang="en-US" sz="2200" b="1" dirty="0" err="1"/>
              <a:t>SWOT</a:t>
            </a:r>
            <a:r>
              <a:rPr lang="en-US" sz="2200" b="1" dirty="0"/>
              <a:t> Matrix for a </a:t>
            </a:r>
            <a:r>
              <a:rPr lang="en-US" sz="2200" b="1" dirty="0" smtClean="0"/>
              <a:t>Retail Computer store </a:t>
            </a:r>
            <a:r>
              <a:rPr lang="en-US" sz="2200" b="1" dirty="0"/>
              <a:t/>
            </a:r>
            <a:br>
              <a:rPr lang="en-US" sz="2200" b="1" dirty="0"/>
            </a:br>
            <a:r>
              <a:rPr lang="en-US" b="1" dirty="0"/>
              <a:t>Computer Store</a:t>
            </a:r>
            <a:endParaRPr lang="fr-FR"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1295398"/>
            <a:ext cx="7867650"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786" y="1314447"/>
            <a:ext cx="5133419"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09600" y="3810000"/>
            <a:ext cx="7715250" cy="198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solidFill>
                <a:prstClr val="white"/>
              </a:solidFill>
            </a:endParaRP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437" y="3686174"/>
            <a:ext cx="2288381" cy="2366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43816" y="381000"/>
            <a:ext cx="1929054" cy="430887"/>
          </a:xfrm>
          <a:prstGeom prst="rect">
            <a:avLst/>
          </a:prstGeom>
        </p:spPr>
        <p:txBody>
          <a:bodyPr wrap="none">
            <a:spAutoFit/>
          </a:bodyPr>
          <a:lstStyle/>
          <a:p>
            <a:pPr marL="68580" algn="just"/>
            <a:r>
              <a:rPr lang="fr-FR" sz="2200" b="1" dirty="0" err="1">
                <a:solidFill>
                  <a:prstClr val="black"/>
                </a:solidFill>
              </a:rPr>
              <a:t>SWOT</a:t>
            </a:r>
            <a:r>
              <a:rPr lang="fr-FR" sz="2200" b="1" dirty="0">
                <a:solidFill>
                  <a:prstClr val="black"/>
                </a:solidFill>
              </a:rPr>
              <a:t> Matrix</a:t>
            </a:r>
            <a:endParaRPr lang="ar-EG" sz="2200" dirty="0">
              <a:solidFill>
                <a:prstClr val="black"/>
              </a:solidFill>
            </a:endParaRPr>
          </a:p>
        </p:txBody>
      </p: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219200"/>
            <a:ext cx="2514600"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7875" y="1219200"/>
            <a:ext cx="2457450" cy="2100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3586162"/>
            <a:ext cx="2438400" cy="220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87106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838200"/>
            <a:ext cx="8229600" cy="5638800"/>
          </a:xfrm>
        </p:spPr>
        <p:txBody>
          <a:bodyPr>
            <a:normAutofit fontScale="77500" lnSpcReduction="20000"/>
          </a:bodyPr>
          <a:lstStyle/>
          <a:p>
            <a:pPr marL="68580" indent="0" algn="just" rtl="0">
              <a:buNone/>
            </a:pPr>
            <a:r>
              <a:rPr lang="en-US" sz="2600" b="1" dirty="0" smtClean="0">
                <a:solidFill>
                  <a:schemeClr val="accent1"/>
                </a:solidFill>
              </a:rPr>
              <a:t>Although </a:t>
            </a:r>
            <a:r>
              <a:rPr lang="en-US" sz="2600" b="1" dirty="0">
                <a:solidFill>
                  <a:schemeClr val="accent1"/>
                </a:solidFill>
              </a:rPr>
              <a:t>the SWOT matrix is widely used in strategic planning, the analysis does have some limitations</a:t>
            </a:r>
            <a:r>
              <a:rPr lang="en-US" sz="2600" b="1" dirty="0" smtClean="0">
                <a:solidFill>
                  <a:schemeClr val="accent1"/>
                </a:solidFill>
              </a:rPr>
              <a:t>.</a:t>
            </a:r>
          </a:p>
          <a:p>
            <a:pPr marL="68580" indent="0" algn="just" rtl="0">
              <a:buNone/>
            </a:pPr>
            <a:endParaRPr lang="en-US" b="1" dirty="0" smtClean="0">
              <a:solidFill>
                <a:srgbClr val="FF0000"/>
              </a:solidFill>
            </a:endParaRPr>
          </a:p>
          <a:p>
            <a:pPr marL="68580" indent="0" algn="just" rtl="0">
              <a:buNone/>
            </a:pPr>
            <a:r>
              <a:rPr lang="en-US" b="1" dirty="0" smtClean="0">
                <a:solidFill>
                  <a:srgbClr val="FF0000"/>
                </a:solidFill>
              </a:rPr>
              <a:t>1-Lack </a:t>
            </a:r>
            <a:r>
              <a:rPr lang="en-US" b="1" dirty="0">
                <a:solidFill>
                  <a:srgbClr val="FF0000"/>
                </a:solidFill>
              </a:rPr>
              <a:t>of Prioritization: </a:t>
            </a:r>
            <a:r>
              <a:rPr lang="en-US" b="1" dirty="0">
                <a:solidFill>
                  <a:schemeClr val="tx1">
                    <a:lumMod val="85000"/>
                    <a:lumOff val="15000"/>
                  </a:schemeClr>
                </a:solidFill>
              </a:rPr>
              <a:t>SWOT analysis does not provide a mechanism to prioritize the identified strengths, weaknesses, opportunities, and threats, making it challenging to focus on the most critical factors. </a:t>
            </a:r>
          </a:p>
          <a:p>
            <a:pPr marL="68580" indent="0" algn="just" rtl="0">
              <a:buNone/>
            </a:pPr>
            <a:endParaRPr lang="en-US" b="1" dirty="0">
              <a:solidFill>
                <a:schemeClr val="tx1">
                  <a:lumMod val="85000"/>
                  <a:lumOff val="15000"/>
                </a:schemeClr>
              </a:solidFill>
            </a:endParaRPr>
          </a:p>
          <a:p>
            <a:pPr marL="68580" indent="0" algn="just" rtl="0">
              <a:buNone/>
            </a:pPr>
            <a:endParaRPr lang="en-US" b="1" dirty="0">
              <a:solidFill>
                <a:srgbClr val="FF0000"/>
              </a:solidFill>
            </a:endParaRPr>
          </a:p>
          <a:p>
            <a:pPr marL="68580" indent="0" algn="just" rtl="0">
              <a:buNone/>
            </a:pPr>
            <a:r>
              <a:rPr lang="en-US" b="1" dirty="0" smtClean="0">
                <a:solidFill>
                  <a:srgbClr val="FF0000"/>
                </a:solidFill>
              </a:rPr>
              <a:t>2-No </a:t>
            </a:r>
            <a:r>
              <a:rPr lang="en-US" b="1" dirty="0">
                <a:solidFill>
                  <a:srgbClr val="FF0000"/>
                </a:solidFill>
              </a:rPr>
              <a:t>Action Plan: </a:t>
            </a:r>
            <a:r>
              <a:rPr lang="en-US" b="1" dirty="0">
                <a:solidFill>
                  <a:schemeClr val="tx1">
                    <a:lumMod val="85000"/>
                    <a:lumOff val="15000"/>
                  </a:schemeClr>
                </a:solidFill>
              </a:rPr>
              <a:t>While SWOT identifies key areas, it does not provide a clear roadmap or actionable strategies to address the findings</a:t>
            </a:r>
            <a:r>
              <a:rPr lang="en-US" b="1" dirty="0" smtClean="0">
                <a:solidFill>
                  <a:schemeClr val="tx1">
                    <a:lumMod val="85000"/>
                    <a:lumOff val="15000"/>
                  </a:schemeClr>
                </a:solidFill>
              </a:rPr>
              <a:t>.</a:t>
            </a:r>
          </a:p>
          <a:p>
            <a:pPr marL="68580" indent="0" algn="just" rtl="0">
              <a:buNone/>
            </a:pPr>
            <a:endParaRPr lang="en-US" b="1" dirty="0">
              <a:solidFill>
                <a:srgbClr val="FF0000"/>
              </a:solidFill>
            </a:endParaRPr>
          </a:p>
          <a:p>
            <a:pPr marL="68580" indent="0" algn="just" rtl="0">
              <a:buNone/>
            </a:pPr>
            <a:endParaRPr lang="en-US" b="1" dirty="0">
              <a:solidFill>
                <a:srgbClr val="FF0000"/>
              </a:solidFill>
            </a:endParaRPr>
          </a:p>
          <a:p>
            <a:pPr marL="68580" indent="0" algn="just" rtl="0">
              <a:buNone/>
            </a:pPr>
            <a:r>
              <a:rPr lang="en-US" b="1" dirty="0" smtClean="0">
                <a:solidFill>
                  <a:srgbClr val="FF0000"/>
                </a:solidFill>
              </a:rPr>
              <a:t>3-Risk </a:t>
            </a:r>
            <a:r>
              <a:rPr lang="en-US" b="1" dirty="0">
                <a:solidFill>
                  <a:srgbClr val="FF0000"/>
                </a:solidFill>
              </a:rPr>
              <a:t>of Generalization: </a:t>
            </a:r>
            <a:r>
              <a:rPr lang="en-US" b="1" dirty="0">
                <a:solidFill>
                  <a:schemeClr val="tx1">
                    <a:lumMod val="85000"/>
                    <a:lumOff val="15000"/>
                  </a:schemeClr>
                </a:solidFill>
              </a:rPr>
              <a:t>The analysis might result in generic or vague statements that lack the specificity needed for effective decision-making</a:t>
            </a:r>
            <a:r>
              <a:rPr lang="en-US" b="1" dirty="0" smtClean="0">
                <a:solidFill>
                  <a:schemeClr val="tx1">
                    <a:lumMod val="85000"/>
                    <a:lumOff val="15000"/>
                  </a:schemeClr>
                </a:solidFill>
              </a:rPr>
              <a:t>.</a:t>
            </a:r>
          </a:p>
          <a:p>
            <a:pPr marL="68580" indent="0" algn="just" rtl="0">
              <a:buNone/>
            </a:pPr>
            <a:endParaRPr lang="en-US" b="1" dirty="0" smtClean="0">
              <a:solidFill>
                <a:schemeClr val="tx1">
                  <a:lumMod val="85000"/>
                  <a:lumOff val="15000"/>
                </a:schemeClr>
              </a:solidFill>
            </a:endParaRPr>
          </a:p>
          <a:p>
            <a:pPr marL="68580" indent="0" algn="just" rtl="0">
              <a:buNone/>
            </a:pPr>
            <a:r>
              <a:rPr lang="en-US" b="1" dirty="0" smtClean="0">
                <a:solidFill>
                  <a:srgbClr val="FF0000"/>
                </a:solidFill>
              </a:rPr>
              <a:t>To </a:t>
            </a:r>
            <a:r>
              <a:rPr lang="en-US" b="1" dirty="0">
                <a:solidFill>
                  <a:srgbClr val="FF0000"/>
                </a:solidFill>
              </a:rPr>
              <a:t>mitigate these disadvantages, it’s important to combine SWOT analysis with other strategic tools and ensure a data-driven, collaborative approach.</a:t>
            </a:r>
            <a:endParaRPr lang="fr-FR" b="1" dirty="0"/>
          </a:p>
        </p:txBody>
      </p:sp>
      <p:sp>
        <p:nvSpPr>
          <p:cNvPr id="18" name="Oval 17"/>
          <p:cNvSpPr/>
          <p:nvPr/>
        </p:nvSpPr>
        <p:spPr>
          <a:xfrm>
            <a:off x="5105400" y="4419600"/>
            <a:ext cx="762000" cy="533400"/>
          </a:xfrm>
          <a:prstGeom prst="ellipse">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00" b="1" dirty="0">
              <a:solidFill>
                <a:prstClr val="black"/>
              </a:solidFill>
            </a:endParaRPr>
          </a:p>
        </p:txBody>
      </p:sp>
      <p:sp>
        <p:nvSpPr>
          <p:cNvPr id="3" name="Rectangle 2"/>
          <p:cNvSpPr/>
          <p:nvPr/>
        </p:nvSpPr>
        <p:spPr>
          <a:xfrm>
            <a:off x="343816" y="381000"/>
            <a:ext cx="1929054" cy="430887"/>
          </a:xfrm>
          <a:prstGeom prst="rect">
            <a:avLst/>
          </a:prstGeom>
        </p:spPr>
        <p:txBody>
          <a:bodyPr wrap="none">
            <a:spAutoFit/>
          </a:bodyPr>
          <a:lstStyle/>
          <a:p>
            <a:pPr marL="68580" algn="just"/>
            <a:r>
              <a:rPr lang="fr-FR" sz="2200" b="1" dirty="0" err="1">
                <a:solidFill>
                  <a:prstClr val="black"/>
                </a:solidFill>
              </a:rPr>
              <a:t>SWOT</a:t>
            </a:r>
            <a:r>
              <a:rPr lang="fr-FR" sz="2200" b="1" dirty="0">
                <a:solidFill>
                  <a:prstClr val="black"/>
                </a:solidFill>
              </a:rPr>
              <a:t> Matrix</a:t>
            </a:r>
            <a:endParaRPr lang="ar-EG" sz="2200" dirty="0">
              <a:solidFill>
                <a:prstClr val="black"/>
              </a:solidFill>
            </a:endParaRPr>
          </a:p>
        </p:txBody>
      </p:sp>
    </p:spTree>
    <p:extLst>
      <p:ext uri="{BB962C8B-B14F-4D97-AF65-F5344CB8AC3E}">
        <p14:creationId xmlns:p14="http://schemas.microsoft.com/office/powerpoint/2010/main" val="103154565"/>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22255</TotalTime>
  <Words>1998</Words>
  <Application>Microsoft Office PowerPoint</Application>
  <PresentationFormat>On-screen Show (4:3)</PresentationFormat>
  <Paragraphs>411</Paragraphs>
  <Slides>33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Arial</vt:lpstr>
      <vt:lpstr>Calibri</vt:lpstr>
      <vt:lpstr>Century Gothic</vt:lpstr>
      <vt:lpstr>Tahoma</vt:lpstr>
      <vt:lpstr>Wingdings 2</vt:lpstr>
      <vt:lpstr>Office Theme</vt:lpstr>
      <vt:lpstr>Austin</vt:lpstr>
      <vt:lpstr>Strategic Management</vt:lpstr>
      <vt:lpstr> Strategy Analysis &amp; Choice  </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 Comprehensive Strategy-Formulation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dc:title>
  <dc:creator>Dr.Tarek</dc:creator>
  <cp:lastModifiedBy>Dr. Marwa</cp:lastModifiedBy>
  <cp:revision>243</cp:revision>
  <dcterms:created xsi:type="dcterms:W3CDTF">2006-08-16T00:00:00Z</dcterms:created>
  <dcterms:modified xsi:type="dcterms:W3CDTF">2026-05-19T19:35:31Z</dcterms:modified>
</cp:coreProperties>
</file>