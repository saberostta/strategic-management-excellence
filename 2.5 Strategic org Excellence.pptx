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3"/>
  </p:notesMasterIdLst>
  <p:handoutMasterIdLst>
    <p:handoutMasterId r:id="rId44"/>
  </p:handoutMasterIdLst>
  <p:sldIdLst>
    <p:sldId id="305" r:id="rId3"/>
    <p:sldId id="257" r:id="rId4"/>
    <p:sldId id="259" r:id="rId5"/>
    <p:sldId id="260" r:id="rId6"/>
    <p:sldId id="296" r:id="rId7"/>
    <p:sldId id="297" r:id="rId8"/>
    <p:sldId id="261" r:id="rId9"/>
    <p:sldId id="288" r:id="rId10"/>
    <p:sldId id="258" r:id="rId11"/>
    <p:sldId id="304" r:id="rId12"/>
    <p:sldId id="264" r:id="rId13"/>
    <p:sldId id="280" r:id="rId14"/>
    <p:sldId id="299" r:id="rId15"/>
    <p:sldId id="279" r:id="rId16"/>
    <p:sldId id="298" r:id="rId17"/>
    <p:sldId id="300" r:id="rId18"/>
    <p:sldId id="282" r:id="rId19"/>
    <p:sldId id="301" r:id="rId20"/>
    <p:sldId id="281" r:id="rId21"/>
    <p:sldId id="302" r:id="rId22"/>
    <p:sldId id="303" r:id="rId23"/>
    <p:sldId id="265" r:id="rId24"/>
    <p:sldId id="266" r:id="rId25"/>
    <p:sldId id="283" r:id="rId26"/>
    <p:sldId id="284" r:id="rId27"/>
    <p:sldId id="267" r:id="rId28"/>
    <p:sldId id="269" r:id="rId29"/>
    <p:sldId id="270" r:id="rId30"/>
    <p:sldId id="271" r:id="rId31"/>
    <p:sldId id="268" r:id="rId32"/>
    <p:sldId id="273" r:id="rId33"/>
    <p:sldId id="272" r:id="rId34"/>
    <p:sldId id="285" r:id="rId35"/>
    <p:sldId id="286" r:id="rId36"/>
    <p:sldId id="289" r:id="rId37"/>
    <p:sldId id="277" r:id="rId38"/>
    <p:sldId id="274" r:id="rId39"/>
    <p:sldId id="287" r:id="rId40"/>
    <p:sldId id="278" r:id="rId41"/>
    <p:sldId id="276"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2" autoAdjust="0"/>
  </p:normalViewPr>
  <p:slideViewPr>
    <p:cSldViewPr>
      <p:cViewPr varScale="1">
        <p:scale>
          <a:sx n="66" d="100"/>
          <a:sy n="66" d="100"/>
        </p:scale>
        <p:origin x="1422" y="54"/>
      </p:cViewPr>
      <p:guideLst>
        <p:guide orient="horz" pos="2160"/>
        <p:guide pos="2880"/>
      </p:guideLst>
    </p:cSldViewPr>
  </p:slideViewPr>
  <p:outlineViewPr>
    <p:cViewPr>
      <p:scale>
        <a:sx n="33" d="100"/>
        <a:sy n="33" d="100"/>
      </p:scale>
      <p:origin x="0" y="11712"/>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3" d="100"/>
          <a:sy n="53" d="100"/>
        </p:scale>
        <p:origin x="-2820"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EG"/>
          </a:p>
        </p:txBody>
      </p:sp>
      <p:sp>
        <p:nvSpPr>
          <p:cNvPr id="3" name="Date Placeholder 2"/>
          <p:cNvSpPr>
            <a:spLocks noGrp="1"/>
          </p:cNvSpPr>
          <p:nvPr>
            <p:ph type="dt" sz="quarter" idx="1"/>
          </p:nvPr>
        </p:nvSpPr>
        <p:spPr>
          <a:xfrm>
            <a:off x="1588" y="0"/>
            <a:ext cx="2971800" cy="457200"/>
          </a:xfrm>
          <a:prstGeom prst="rect">
            <a:avLst/>
          </a:prstGeom>
        </p:spPr>
        <p:txBody>
          <a:bodyPr vert="horz" lIns="91440" tIns="45720" rIns="91440" bIns="45720" rtlCol="1"/>
          <a:lstStyle>
            <a:lvl1pPr algn="l">
              <a:defRPr sz="1200"/>
            </a:lvl1pPr>
          </a:lstStyle>
          <a:p>
            <a:fld id="{DB68EC7D-1A4F-462E-AEBE-BFE708139957}" type="datetimeFigureOut">
              <a:rPr lang="ar-EG" smtClean="0"/>
              <a:t>30/11/1447</a:t>
            </a:fld>
            <a:endParaRPr lang="ar-EG"/>
          </a:p>
        </p:txBody>
      </p:sp>
      <p:sp>
        <p:nvSpPr>
          <p:cNvPr id="4" name="Footer Placeholder 3"/>
          <p:cNvSpPr>
            <a:spLocks noGrp="1"/>
          </p:cNvSpPr>
          <p:nvPr>
            <p:ph type="ftr" sz="quarter" idx="2"/>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EG"/>
          </a:p>
        </p:txBody>
      </p:sp>
      <p:sp>
        <p:nvSpPr>
          <p:cNvPr id="5" name="Slide Number Placeholder 4"/>
          <p:cNvSpPr>
            <a:spLocks noGrp="1"/>
          </p:cNvSpPr>
          <p:nvPr>
            <p:ph type="sldNum" sz="quarter" idx="3"/>
          </p:nvPr>
        </p:nvSpPr>
        <p:spPr>
          <a:xfrm>
            <a:off x="1588" y="8685213"/>
            <a:ext cx="2971800" cy="457200"/>
          </a:xfrm>
          <a:prstGeom prst="rect">
            <a:avLst/>
          </a:prstGeom>
        </p:spPr>
        <p:txBody>
          <a:bodyPr vert="horz" lIns="91440" tIns="45720" rIns="91440" bIns="45720" rtlCol="1" anchor="b"/>
          <a:lstStyle>
            <a:lvl1pPr algn="l">
              <a:defRPr sz="1200"/>
            </a:lvl1pPr>
          </a:lstStyle>
          <a:p>
            <a:fld id="{EA15FBBC-6A65-4CCA-98DD-8F7D6A68333E}" type="slidenum">
              <a:rPr lang="ar-EG" smtClean="0"/>
              <a:t>‹#›</a:t>
            </a:fld>
            <a:endParaRPr lang="ar-EG"/>
          </a:p>
        </p:txBody>
      </p:sp>
    </p:spTree>
    <p:extLst>
      <p:ext uri="{BB962C8B-B14F-4D97-AF65-F5344CB8AC3E}">
        <p14:creationId xmlns:p14="http://schemas.microsoft.com/office/powerpoint/2010/main" val="22665405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EG"/>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8435DA4A-A4E6-4603-A0D6-117881651F26}" type="datetimeFigureOut">
              <a:rPr lang="ar-EG" smtClean="0"/>
              <a:t>30/11/1447</a:t>
            </a:fld>
            <a:endParaRPr lang="ar-EG"/>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ar-EG"/>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EG"/>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EG"/>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EBCAFECB-47F5-4F29-B1B3-771ED3CE8510}" type="slidenum">
              <a:rPr lang="ar-EG" smtClean="0"/>
              <a:t>‹#›</a:t>
            </a:fld>
            <a:endParaRPr lang="ar-EG"/>
          </a:p>
        </p:txBody>
      </p:sp>
    </p:spTree>
    <p:extLst>
      <p:ext uri="{BB962C8B-B14F-4D97-AF65-F5344CB8AC3E}">
        <p14:creationId xmlns:p14="http://schemas.microsoft.com/office/powerpoint/2010/main" val="197208812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a:p>
        </p:txBody>
      </p:sp>
      <p:sp>
        <p:nvSpPr>
          <p:cNvPr id="4" name="Slide Number Placeholder 3"/>
          <p:cNvSpPr>
            <a:spLocks noGrp="1"/>
          </p:cNvSpPr>
          <p:nvPr>
            <p:ph type="sldNum" sz="quarter" idx="10"/>
          </p:nvPr>
        </p:nvSpPr>
        <p:spPr/>
        <p:txBody>
          <a:bodyPr/>
          <a:lstStyle/>
          <a:p>
            <a:fld id="{EBCAFECB-47F5-4F29-B1B3-771ED3CE8510}" type="slidenum">
              <a:rPr lang="ar-EG" smtClean="0"/>
              <a:t>17</a:t>
            </a:fld>
            <a:endParaRPr lang="ar-EG"/>
          </a:p>
        </p:txBody>
      </p:sp>
    </p:spTree>
    <p:extLst>
      <p:ext uri="{BB962C8B-B14F-4D97-AF65-F5344CB8AC3E}">
        <p14:creationId xmlns:p14="http://schemas.microsoft.com/office/powerpoint/2010/main" val="2873424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a:p>
        </p:txBody>
      </p:sp>
      <p:sp>
        <p:nvSpPr>
          <p:cNvPr id="4" name="Slide Number Placeholder 3"/>
          <p:cNvSpPr>
            <a:spLocks noGrp="1"/>
          </p:cNvSpPr>
          <p:nvPr>
            <p:ph type="sldNum" sz="quarter" idx="10"/>
          </p:nvPr>
        </p:nvSpPr>
        <p:spPr/>
        <p:txBody>
          <a:bodyPr/>
          <a:lstStyle/>
          <a:p>
            <a:fld id="{EBCAFECB-47F5-4F29-B1B3-771ED3CE8510}" type="slidenum">
              <a:rPr lang="ar-EG" smtClean="0"/>
              <a:t>18</a:t>
            </a:fld>
            <a:endParaRPr lang="ar-EG"/>
          </a:p>
        </p:txBody>
      </p:sp>
    </p:spTree>
    <p:extLst>
      <p:ext uri="{BB962C8B-B14F-4D97-AF65-F5344CB8AC3E}">
        <p14:creationId xmlns:p14="http://schemas.microsoft.com/office/powerpoint/2010/main" val="3780490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a:p>
        </p:txBody>
      </p:sp>
      <p:sp>
        <p:nvSpPr>
          <p:cNvPr id="4" name="Slide Number Placeholder 3"/>
          <p:cNvSpPr>
            <a:spLocks noGrp="1"/>
          </p:cNvSpPr>
          <p:nvPr>
            <p:ph type="sldNum" sz="quarter" idx="10"/>
          </p:nvPr>
        </p:nvSpPr>
        <p:spPr/>
        <p:txBody>
          <a:bodyPr/>
          <a:lstStyle/>
          <a:p>
            <a:fld id="{EBCAFECB-47F5-4F29-B1B3-771ED3CE8510}" type="slidenum">
              <a:rPr lang="ar-EG" smtClean="0"/>
              <a:t>22</a:t>
            </a:fld>
            <a:endParaRPr lang="ar-EG"/>
          </a:p>
        </p:txBody>
      </p:sp>
    </p:spTree>
    <p:extLst>
      <p:ext uri="{BB962C8B-B14F-4D97-AF65-F5344CB8AC3E}">
        <p14:creationId xmlns:p14="http://schemas.microsoft.com/office/powerpoint/2010/main" val="2784329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382404" y="0"/>
            <a:ext cx="9932332" cy="6858000"/>
            <a:chOff x="-382404" y="0"/>
            <a:chExt cx="9932332" cy="6858000"/>
          </a:xfrm>
        </p:grpSpPr>
        <p:grpSp>
          <p:nvGrpSpPr>
            <p:cNvPr id="44" name="Group 44"/>
            <p:cNvGrpSpPr/>
            <p:nvPr/>
          </p:nvGrpSpPr>
          <p:grpSpPr>
            <a:xfrm>
              <a:off x="0" y="0"/>
              <a:ext cx="9144000" cy="6858000"/>
              <a:chOff x="0" y="0"/>
              <a:chExt cx="9144000" cy="6858000"/>
            </a:xfrm>
          </p:grpSpPr>
          <p:grpSp>
            <p:nvGrpSpPr>
              <p:cNvPr id="70"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1"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3"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1D8BD707-D9CF-40AE-B4C6-C98DA3205C09}" type="datetimeFigureOut">
              <a:rPr lang="en-US" smtClean="0"/>
              <a:pPr/>
              <a:t>5/16/2026</a:t>
            </a:fld>
            <a:endParaRPr lang="en-US"/>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en-US">
              <a:solidFill>
                <a:srgbClr val="94C600"/>
              </a:solidFill>
            </a:endParaRPr>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B6F15528-21DE-4FAA-801E-634DDDAF4B2B}" type="slidenum">
              <a:rPr lang="en-US" smtClean="0">
                <a:solidFill>
                  <a:srgbClr val="94C600"/>
                </a:solidFill>
              </a:rPr>
              <a:pPr/>
              <a:t>‹#›</a:t>
            </a:fld>
            <a:endParaRPr lang="en-US">
              <a:solidFill>
                <a:srgbClr val="94C600"/>
              </a:solidFill>
            </a:endParaRPr>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26352264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501473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352150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solidFill>
                <a:srgbClr val="94C6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1042416" y="2313432"/>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076321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5/16/2026</a:t>
            </a:fld>
            <a:endParaRPr lang="en-US"/>
          </a:p>
        </p:txBody>
      </p:sp>
      <p:sp>
        <p:nvSpPr>
          <p:cNvPr id="8" name="Footer Placeholder 7"/>
          <p:cNvSpPr>
            <a:spLocks noGrp="1"/>
          </p:cNvSpPr>
          <p:nvPr>
            <p:ph type="ftr" sz="quarter" idx="11"/>
          </p:nvPr>
        </p:nvSpPr>
        <p:spPr/>
        <p:txBody>
          <a:bodyPr/>
          <a:lstStyle/>
          <a:p>
            <a:endParaRPr lang="en-US">
              <a:solidFill>
                <a:srgbClr val="94C600"/>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518900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5/16/2026</a:t>
            </a:fld>
            <a:endParaRPr lang="en-US"/>
          </a:p>
        </p:txBody>
      </p:sp>
      <p:sp>
        <p:nvSpPr>
          <p:cNvPr id="4" name="Footer Placeholder 3"/>
          <p:cNvSpPr>
            <a:spLocks noGrp="1"/>
          </p:cNvSpPr>
          <p:nvPr>
            <p:ph type="ftr" sz="quarter" idx="11"/>
          </p:nvPr>
        </p:nvSpPr>
        <p:spPr/>
        <p:txBody>
          <a:bodyPr/>
          <a:lstStyle/>
          <a:p>
            <a:endParaRPr lang="en-US">
              <a:solidFill>
                <a:srgbClr val="94C60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287310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5/16/2026</a:t>
            </a:fld>
            <a:endParaRPr lang="en-US"/>
          </a:p>
        </p:txBody>
      </p:sp>
      <p:sp>
        <p:nvSpPr>
          <p:cNvPr id="3" name="Footer Placeholder 2"/>
          <p:cNvSpPr>
            <a:spLocks noGrp="1"/>
          </p:cNvSpPr>
          <p:nvPr>
            <p:ph type="ftr" sz="quarter" idx="11"/>
          </p:nvPr>
        </p:nvSpPr>
        <p:spPr/>
        <p:txBody>
          <a:bodyPr/>
          <a:lstStyle/>
          <a:p>
            <a:endParaRPr lang="en-US">
              <a:solidFill>
                <a:srgbClr val="94C60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31971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2"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3"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4"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solidFill>
                <a:srgbClr val="94C600"/>
              </a:solidFill>
            </a:endParaRPr>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en-US" smtClean="0"/>
              <a:t>Click to edit Master title style</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6302144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44" name="Group 43"/>
          <p:cNvGrpSpPr/>
          <p:nvPr/>
        </p:nvGrpSpPr>
        <p:grpSpPr>
          <a:xfrm>
            <a:off x="-382404" y="0"/>
            <a:ext cx="9932332" cy="6858000"/>
            <a:chOff x="-382404" y="0"/>
            <a:chExt cx="9932332" cy="6858000"/>
          </a:xfrm>
        </p:grpSpPr>
        <p:grpSp>
          <p:nvGrpSpPr>
            <p:cNvPr id="45" name="Group 44"/>
            <p:cNvGrpSpPr/>
            <p:nvPr/>
          </p:nvGrpSpPr>
          <p:grpSpPr>
            <a:xfrm>
              <a:off x="0" y="0"/>
              <a:ext cx="9144000" cy="6858000"/>
              <a:chOff x="0" y="0"/>
              <a:chExt cx="9144000" cy="6858000"/>
            </a:xfrm>
          </p:grpSpPr>
          <p:grpSp>
            <p:nvGrpSpPr>
              <p:cNvPr id="75"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6"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77"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en-US" smtClean="0"/>
              <a:t>Click to edit Master title style</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en-US">
              <a:solidFill>
                <a:srgbClr val="94C600"/>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00136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430630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en-US" smtClean="0"/>
              <a:t>Click to edit Master title style</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solidFill>
                <a:srgbClr val="94C600"/>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66435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42" name="Group 41"/>
          <p:cNvGrpSpPr/>
          <p:nvPr/>
        </p:nvGrpSpPr>
        <p:grpSpPr>
          <a:xfrm>
            <a:off x="-304800" y="0"/>
            <a:ext cx="9932332" cy="6858000"/>
            <a:chOff x="-382404" y="0"/>
            <a:chExt cx="9932332" cy="6858000"/>
          </a:xfrm>
        </p:grpSpPr>
        <p:grpSp>
          <p:nvGrpSpPr>
            <p:cNvPr id="43" name="Group 44"/>
            <p:cNvGrpSpPr/>
            <p:nvPr/>
          </p:nvGrpSpPr>
          <p:grpSpPr>
            <a:xfrm>
              <a:off x="0" y="0"/>
              <a:ext cx="9144000" cy="6858000"/>
              <a:chOff x="0" y="0"/>
              <a:chExt cx="9144000" cy="6858000"/>
            </a:xfrm>
          </p:grpSpPr>
          <p:grpSp>
            <p:nvGrpSpPr>
              <p:cNvPr id="101"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02"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103"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endParaRPr>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1D8BD707-D9CF-40AE-B4C6-C98DA3205C09}" type="datetimeFigureOut">
              <a:rPr lang="en-US" smtClean="0"/>
              <a:pPr/>
              <a:t>5/16/2026</a:t>
            </a:fld>
            <a:endParaRPr lang="en-US"/>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en-US">
              <a:solidFill>
                <a:srgbClr val="94C600"/>
              </a:solidFill>
            </a:endParaRPr>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8364089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spcBef>
          <a:spcPct val="0"/>
        </a:spcBef>
        <a:buNone/>
        <a:defRPr sz="4000" kern="1200">
          <a:solidFill>
            <a:schemeClr val="accent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274320" algn="r" defTabSz="914400" rtl="1"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r" defTabSz="914400" rtl="1"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r" defTabSz="914400" rtl="1"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r" defTabSz="914400" rtl="1"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r" defTabSz="914400" rtl="1"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r" defTabSz="914400" rtl="1"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hyperlink" Target="https://en.wikipedia.org/wiki/Strategic_planning" TargetMode="External"/><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24400" y="2286000"/>
            <a:ext cx="3313355" cy="1702160"/>
          </a:xfrm>
        </p:spPr>
        <p:txBody>
          <a:bodyPr>
            <a:normAutofit/>
          </a:bodyPr>
          <a:lstStyle/>
          <a:p>
            <a:pPr algn="ctr"/>
            <a:r>
              <a:rPr lang="en-US" b="1" dirty="0" smtClean="0"/>
              <a:t>Strategic Excellence</a:t>
            </a:r>
            <a:endParaRPr lang="ar-EG" b="1" dirty="0"/>
          </a:p>
        </p:txBody>
      </p:sp>
      <p:sp>
        <p:nvSpPr>
          <p:cNvPr id="3" name="Subtitle 2"/>
          <p:cNvSpPr>
            <a:spLocks noGrp="1"/>
          </p:cNvSpPr>
          <p:nvPr>
            <p:ph type="subTitle" idx="1"/>
          </p:nvPr>
        </p:nvSpPr>
        <p:spPr>
          <a:xfrm>
            <a:off x="4800600" y="4191000"/>
            <a:ext cx="3309803" cy="1600200"/>
          </a:xfrm>
        </p:spPr>
        <p:txBody>
          <a:bodyPr>
            <a:normAutofit/>
          </a:bodyPr>
          <a:lstStyle/>
          <a:p>
            <a:r>
              <a:rPr lang="en-US" b="1" dirty="0" smtClean="0"/>
              <a:t>Dr. </a:t>
            </a:r>
            <a:r>
              <a:rPr lang="en-US" b="1" dirty="0" err="1" smtClean="0"/>
              <a:t>Marwa</a:t>
            </a:r>
            <a:r>
              <a:rPr lang="en-US" b="1" dirty="0" smtClean="0"/>
              <a:t> Tarek</a:t>
            </a:r>
          </a:p>
          <a:p>
            <a:pPr rtl="0"/>
            <a:r>
              <a:rPr lang="ar-EG" b="1" dirty="0" smtClean="0"/>
              <a:t>5</a:t>
            </a:r>
            <a:r>
              <a:rPr lang="en-US" b="1" baseline="30000" dirty="0" err="1" smtClean="0"/>
              <a:t>th</a:t>
            </a:r>
            <a:r>
              <a:rPr lang="en-US" b="1" dirty="0" smtClean="0"/>
              <a:t> </a:t>
            </a:r>
            <a:r>
              <a:rPr lang="en-US" b="1" dirty="0" smtClean="0"/>
              <a:t>class </a:t>
            </a:r>
          </a:p>
          <a:p>
            <a:pPr algn="ctr"/>
            <a:r>
              <a:rPr lang="ar-EG" dirty="0"/>
              <a:t/>
            </a:r>
            <a:br>
              <a:rPr lang="ar-EG" dirty="0"/>
            </a:br>
            <a:r>
              <a:rPr lang="en-US" b="1" dirty="0" smtClean="0">
                <a:solidFill>
                  <a:srgbClr val="FF0000"/>
                </a:solidFill>
              </a:rPr>
              <a:t>long term objectives and types of strategies</a:t>
            </a:r>
            <a:endParaRPr lang="ar-EG" b="1" dirty="0"/>
          </a:p>
        </p:txBody>
      </p:sp>
    </p:spTree>
    <p:extLst>
      <p:ext uri="{BB962C8B-B14F-4D97-AF65-F5344CB8AC3E}">
        <p14:creationId xmlns:p14="http://schemas.microsoft.com/office/powerpoint/2010/main" val="17635069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5328" y="1066800"/>
            <a:ext cx="7024744" cy="533400"/>
          </a:xfrm>
        </p:spPr>
        <p:txBody>
          <a:bodyPr>
            <a:normAutofit fontScale="90000"/>
          </a:bodyPr>
          <a:lstStyle/>
          <a:p>
            <a:r>
              <a:rPr lang="ar-EG" dirty="0"/>
              <a:t/>
            </a:r>
            <a:br>
              <a:rPr lang="ar-EG" dirty="0"/>
            </a:br>
            <a:r>
              <a:rPr lang="ar-EG" dirty="0"/>
              <a:t/>
            </a:r>
            <a:br>
              <a:rPr lang="ar-EG" dirty="0"/>
            </a:br>
            <a:r>
              <a:rPr lang="fr-FR" sz="3100" dirty="0"/>
              <a:t> </a:t>
            </a:r>
            <a:r>
              <a:rPr lang="fr-FR" sz="3100" dirty="0" smtClean="0"/>
              <a:t/>
            </a:r>
            <a:br>
              <a:rPr lang="fr-FR" sz="3100" dirty="0" smtClean="0"/>
            </a:br>
            <a:r>
              <a:rPr lang="fr-FR" sz="3100" dirty="0"/>
              <a:t/>
            </a:r>
            <a:br>
              <a:rPr lang="fr-FR" sz="3100" dirty="0"/>
            </a:br>
            <a:r>
              <a:rPr lang="fr-FR" sz="3100" b="1" dirty="0" err="1" smtClean="0"/>
              <a:t>Strategies</a:t>
            </a:r>
            <a:r>
              <a:rPr lang="fr-FR" sz="3100" b="1" dirty="0" smtClean="0"/>
              <a:t> </a:t>
            </a:r>
            <a:r>
              <a:rPr lang="fr-FR" sz="3100" b="1" dirty="0"/>
              <a:t>in </a:t>
            </a:r>
            <a:r>
              <a:rPr lang="fr-FR" sz="3100" b="1" dirty="0" smtClean="0"/>
              <a:t>Action</a:t>
            </a:r>
            <a:br>
              <a:rPr lang="fr-FR" sz="3100" b="1" dirty="0" smtClean="0"/>
            </a:br>
            <a:r>
              <a:rPr lang="en-US" sz="2400" b="1" dirty="0"/>
              <a:t/>
            </a:r>
            <a:br>
              <a:rPr lang="en-US" sz="2400" b="1" dirty="0"/>
            </a:br>
            <a:endParaRPr lang="ar-EG" sz="2400" dirty="0"/>
          </a:p>
        </p:txBody>
      </p:sp>
      <p:sp>
        <p:nvSpPr>
          <p:cNvPr id="3" name="Content Placeholder 2"/>
          <p:cNvSpPr>
            <a:spLocks noGrp="1"/>
          </p:cNvSpPr>
          <p:nvPr>
            <p:ph idx="1"/>
          </p:nvPr>
        </p:nvSpPr>
        <p:spPr/>
        <p:txBody>
          <a:bodyPr/>
          <a:lstStyle/>
          <a:p>
            <a:pPr marL="68580" indent="0" algn="just" rtl="0">
              <a:buNone/>
            </a:pPr>
            <a:endParaRPr lang="en-US" b="1" dirty="0" smtClean="0"/>
          </a:p>
          <a:p>
            <a:pPr marL="68580" indent="0" algn="just" rtl="0">
              <a:buNone/>
            </a:pPr>
            <a:endParaRPr lang="en-US" dirty="0" smtClean="0"/>
          </a:p>
          <a:p>
            <a:pPr marL="68580" indent="0" algn="l" rtl="0">
              <a:buNone/>
            </a:pPr>
            <a:r>
              <a:rPr lang="en-US" dirty="0" smtClean="0"/>
              <a:t> </a:t>
            </a:r>
            <a:endParaRPr lang="ar-EG" dirty="0"/>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990600"/>
            <a:ext cx="8001000"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685800" y="5029200"/>
            <a:ext cx="7848600" cy="830997"/>
          </a:xfrm>
          <a:prstGeom prst="rect">
            <a:avLst/>
          </a:prstGeom>
        </p:spPr>
        <p:txBody>
          <a:bodyPr wrap="square">
            <a:spAutoFit/>
          </a:bodyPr>
          <a:lstStyle/>
          <a:p>
            <a:r>
              <a:rPr lang="en-US" sz="2400" b="1" u="sng" dirty="0">
                <a:solidFill>
                  <a:srgbClr val="FF0000"/>
                </a:solidFill>
                <a:ea typeface="+mj-ea"/>
                <a:cs typeface="+mj-cs"/>
              </a:rPr>
              <a:t>Strategies represent actions to accomplish long-term objectives </a:t>
            </a:r>
            <a:endParaRPr lang="ar-EG" u="sng" dirty="0">
              <a:solidFill>
                <a:srgbClr val="FF0000"/>
              </a:solidFill>
            </a:endParaRPr>
          </a:p>
        </p:txBody>
      </p:sp>
    </p:spTree>
    <p:extLst>
      <p:ext uri="{BB962C8B-B14F-4D97-AF65-F5344CB8AC3E}">
        <p14:creationId xmlns:p14="http://schemas.microsoft.com/office/powerpoint/2010/main" val="39607861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b="1" dirty="0"/>
              <a:t>Long-</a:t>
            </a:r>
            <a:r>
              <a:rPr lang="fr-FR" b="1" dirty="0" err="1"/>
              <a:t>Term</a:t>
            </a:r>
            <a:r>
              <a:rPr lang="fr-FR" b="1" dirty="0"/>
              <a:t> Objectives </a:t>
            </a:r>
            <a:r>
              <a:rPr lang="fr-FR" dirty="0"/>
              <a:t/>
            </a:r>
            <a:br>
              <a:rPr lang="fr-FR" dirty="0"/>
            </a:br>
            <a:endParaRPr lang="ar-EG" dirty="0"/>
          </a:p>
        </p:txBody>
      </p:sp>
      <p:sp>
        <p:nvSpPr>
          <p:cNvPr id="3" name="Content Placeholder 2"/>
          <p:cNvSpPr>
            <a:spLocks noGrp="1"/>
          </p:cNvSpPr>
          <p:nvPr>
            <p:ph idx="1"/>
          </p:nvPr>
        </p:nvSpPr>
        <p:spPr/>
        <p:txBody>
          <a:bodyPr/>
          <a:lstStyle/>
          <a:p>
            <a:pPr algn="just" rtl="0"/>
            <a:endParaRPr lang="ar-EG" dirty="0"/>
          </a:p>
          <a:p>
            <a:pPr marL="68580" indent="0" algn="just" rtl="0">
              <a:buNone/>
            </a:pPr>
            <a:r>
              <a:rPr lang="en-US" dirty="0" smtClean="0"/>
              <a:t>Accurate Objectives </a:t>
            </a:r>
            <a:r>
              <a:rPr lang="en-US" dirty="0"/>
              <a:t>set out what a business is trying to achieve. So, </a:t>
            </a:r>
          </a:p>
          <a:p>
            <a:pPr algn="just" rtl="0"/>
            <a:r>
              <a:rPr lang="en-US" dirty="0" smtClean="0"/>
              <a:t>“</a:t>
            </a:r>
            <a:r>
              <a:rPr lang="en-US" b="1" dirty="0" smtClean="0">
                <a:solidFill>
                  <a:srgbClr val="FF0000"/>
                </a:solidFill>
              </a:rPr>
              <a:t>Some</a:t>
            </a:r>
            <a:r>
              <a:rPr lang="en-US" dirty="0" smtClean="0"/>
              <a:t>” </a:t>
            </a:r>
            <a:r>
              <a:rPr lang="en-US" dirty="0"/>
              <a:t>is not a number </a:t>
            </a:r>
          </a:p>
          <a:p>
            <a:pPr algn="just" rtl="0"/>
            <a:r>
              <a:rPr lang="en-US" dirty="0" smtClean="0"/>
              <a:t>“</a:t>
            </a:r>
            <a:r>
              <a:rPr lang="en-US" b="1" dirty="0" smtClean="0">
                <a:solidFill>
                  <a:srgbClr val="FF0000"/>
                </a:solidFill>
              </a:rPr>
              <a:t>Soon</a:t>
            </a:r>
            <a:r>
              <a:rPr lang="en-US" dirty="0" smtClean="0"/>
              <a:t>”</a:t>
            </a:r>
            <a:r>
              <a:rPr lang="en-US" dirty="0" smtClean="0">
                <a:solidFill>
                  <a:srgbClr val="FF0000"/>
                </a:solidFill>
              </a:rPr>
              <a:t> </a:t>
            </a:r>
            <a:r>
              <a:rPr lang="en-US" dirty="0"/>
              <a:t>is not a time </a:t>
            </a:r>
          </a:p>
          <a:p>
            <a:pPr algn="just" rtl="0"/>
            <a:r>
              <a:rPr lang="en-US" dirty="0" smtClean="0"/>
              <a:t>“</a:t>
            </a:r>
            <a:r>
              <a:rPr lang="en-US" b="1" dirty="0">
                <a:solidFill>
                  <a:srgbClr val="FF0000"/>
                </a:solidFill>
              </a:rPr>
              <a:t>May </a:t>
            </a:r>
            <a:r>
              <a:rPr lang="en-US" b="1" dirty="0" smtClean="0">
                <a:solidFill>
                  <a:srgbClr val="FF0000"/>
                </a:solidFill>
              </a:rPr>
              <a:t>be</a:t>
            </a:r>
            <a:r>
              <a:rPr lang="en-US" dirty="0" smtClean="0"/>
              <a:t>” </a:t>
            </a:r>
            <a:r>
              <a:rPr lang="en-US" dirty="0"/>
              <a:t>is not an answer </a:t>
            </a:r>
          </a:p>
          <a:p>
            <a:pPr algn="l" rtl="0"/>
            <a:endParaRPr lang="ar-EG" dirty="0"/>
          </a:p>
        </p:txBody>
      </p:sp>
    </p:spTree>
    <p:extLst>
      <p:ext uri="{BB962C8B-B14F-4D97-AF65-F5344CB8AC3E}">
        <p14:creationId xmlns:p14="http://schemas.microsoft.com/office/powerpoint/2010/main" val="9211675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371600"/>
            <a:ext cx="7024744" cy="304800"/>
          </a:xfrm>
        </p:spPr>
        <p:txBody>
          <a:bodyPr>
            <a:noAutofit/>
          </a:bodyPr>
          <a:lstStyle/>
          <a:p>
            <a:r>
              <a:rPr lang="ar-EG" sz="2800" b="1" dirty="0" smtClean="0"/>
              <a:t/>
            </a:r>
            <a:br>
              <a:rPr lang="ar-EG" sz="2800" b="1" dirty="0" smtClean="0"/>
            </a:br>
            <a:r>
              <a:rPr lang="fr-FR" sz="2800" b="1" dirty="0" smtClean="0"/>
              <a:t>Long-</a:t>
            </a:r>
            <a:r>
              <a:rPr lang="fr-FR" sz="2800" b="1" dirty="0" err="1" smtClean="0"/>
              <a:t>Term</a:t>
            </a:r>
            <a:r>
              <a:rPr lang="fr-FR" sz="2800" b="1" dirty="0" smtClean="0"/>
              <a:t> Objectives </a:t>
            </a:r>
            <a:r>
              <a:rPr lang="fr-FR" sz="2800" b="1" dirty="0" err="1" smtClean="0"/>
              <a:t>should</a:t>
            </a:r>
            <a:r>
              <a:rPr lang="fr-FR" sz="2800" b="1" dirty="0" smtClean="0"/>
              <a:t> </a:t>
            </a:r>
            <a:r>
              <a:rPr lang="fr-FR" sz="2800" b="1" dirty="0" err="1" smtClean="0"/>
              <a:t>be</a:t>
            </a:r>
            <a:r>
              <a:rPr lang="fr-FR" sz="2800" b="1" dirty="0" smtClean="0"/>
              <a:t> </a:t>
            </a:r>
            <a:r>
              <a:rPr lang="fr-FR" sz="2800" b="1" dirty="0" smtClean="0">
                <a:solidFill>
                  <a:srgbClr val="FF0000"/>
                </a:solidFill>
              </a:rPr>
              <a:t>SMART</a:t>
            </a:r>
            <a:r>
              <a:rPr lang="fr-FR" sz="2800" b="1" dirty="0" smtClean="0"/>
              <a:t> </a:t>
            </a:r>
            <a:r>
              <a:rPr lang="fr-FR" sz="2800" dirty="0"/>
              <a:t/>
            </a:r>
            <a:br>
              <a:rPr lang="fr-FR" sz="2800" dirty="0"/>
            </a:br>
            <a:endParaRPr lang="ar-EG" sz="2800" dirty="0"/>
          </a:p>
        </p:txBody>
      </p:sp>
      <p:sp>
        <p:nvSpPr>
          <p:cNvPr id="3" name="Content Placeholder 2"/>
          <p:cNvSpPr>
            <a:spLocks noGrp="1"/>
          </p:cNvSpPr>
          <p:nvPr>
            <p:ph idx="1"/>
          </p:nvPr>
        </p:nvSpPr>
        <p:spPr>
          <a:xfrm>
            <a:off x="533400" y="914400"/>
            <a:ext cx="8077200" cy="4918229"/>
          </a:xfrm>
        </p:spPr>
        <p:txBody>
          <a:bodyPr>
            <a:normAutofit fontScale="47500" lnSpcReduction="20000"/>
          </a:bodyPr>
          <a:lstStyle/>
          <a:p>
            <a:pPr marL="68580" indent="0">
              <a:buNone/>
            </a:pPr>
            <a:endParaRPr lang="ar-EG" dirty="0"/>
          </a:p>
          <a:p>
            <a:pPr algn="l" rtl="0"/>
            <a:r>
              <a:rPr lang="en-US" sz="4600" b="1" dirty="0">
                <a:solidFill>
                  <a:srgbClr val="FF0000"/>
                </a:solidFill>
              </a:rPr>
              <a:t>S</a:t>
            </a:r>
            <a:r>
              <a:rPr lang="en-US" sz="4600" b="1" dirty="0"/>
              <a:t>pecific</a:t>
            </a:r>
            <a:r>
              <a:rPr lang="en-US" sz="4600" dirty="0"/>
              <a:t> – What exactly do you want to achieve? Why is that of value to the </a:t>
            </a:r>
            <a:r>
              <a:rPr lang="en-US" sz="4600" dirty="0" smtClean="0"/>
              <a:t>organization? </a:t>
            </a:r>
            <a:r>
              <a:rPr lang="en-US" sz="4600" dirty="0"/>
              <a:t>What is the output required? What end result are you looking for? </a:t>
            </a:r>
          </a:p>
          <a:p>
            <a:pPr algn="l" rtl="0"/>
            <a:r>
              <a:rPr lang="en-US" sz="4600" b="1" dirty="0" smtClean="0">
                <a:solidFill>
                  <a:srgbClr val="FF0000"/>
                </a:solidFill>
              </a:rPr>
              <a:t>M</a:t>
            </a:r>
            <a:r>
              <a:rPr lang="en-US" sz="4600" b="1" dirty="0" smtClean="0"/>
              <a:t>easurable</a:t>
            </a:r>
            <a:r>
              <a:rPr lang="en-US" sz="4600" dirty="0" smtClean="0"/>
              <a:t> </a:t>
            </a:r>
            <a:r>
              <a:rPr lang="en-US" sz="4600" dirty="0"/>
              <a:t>– How will you know that you have been successful? How will you measure success? Are you going to draw upon key performance indicators? </a:t>
            </a:r>
          </a:p>
          <a:p>
            <a:pPr algn="l" rtl="0"/>
            <a:r>
              <a:rPr lang="en-US" sz="4600" b="1" dirty="0" smtClean="0">
                <a:solidFill>
                  <a:srgbClr val="FF0000"/>
                </a:solidFill>
              </a:rPr>
              <a:t>A</a:t>
            </a:r>
            <a:r>
              <a:rPr lang="en-US" sz="4600" b="1" dirty="0" smtClean="0"/>
              <a:t>chievable </a:t>
            </a:r>
            <a:r>
              <a:rPr lang="en-US" sz="4600" dirty="0"/>
              <a:t>– There should be a realistic chance that a goal can be accomplished. A goal should be challenging not easy to attain. </a:t>
            </a:r>
          </a:p>
          <a:p>
            <a:pPr algn="l" rtl="0"/>
            <a:r>
              <a:rPr lang="en-US" sz="4600" b="1" dirty="0" smtClean="0">
                <a:solidFill>
                  <a:srgbClr val="FF0000"/>
                </a:solidFill>
              </a:rPr>
              <a:t>R</a:t>
            </a:r>
            <a:r>
              <a:rPr lang="en-US" sz="4600" b="1" dirty="0" smtClean="0"/>
              <a:t>elevant </a:t>
            </a:r>
            <a:r>
              <a:rPr lang="en-US" sz="4600" dirty="0"/>
              <a:t>– Goals should be appropriate to and consistent with the </a:t>
            </a:r>
            <a:r>
              <a:rPr lang="en-US" sz="4600" dirty="0" smtClean="0"/>
              <a:t>vision and mission of </a:t>
            </a:r>
            <a:r>
              <a:rPr lang="en-US" sz="4600" dirty="0"/>
              <a:t>the organization. Each goal adopted by the organization should be one that moves the organization toward the achievement of its vision. </a:t>
            </a:r>
          </a:p>
          <a:p>
            <a:pPr algn="l" rtl="0"/>
            <a:r>
              <a:rPr lang="en-US" sz="4600" b="1" dirty="0" smtClean="0">
                <a:solidFill>
                  <a:srgbClr val="FF0000"/>
                </a:solidFill>
              </a:rPr>
              <a:t>T</a:t>
            </a:r>
            <a:r>
              <a:rPr lang="en-US" sz="4600" b="1" dirty="0" smtClean="0"/>
              <a:t>ime </a:t>
            </a:r>
            <a:r>
              <a:rPr lang="en-US" sz="4600" b="1" dirty="0"/>
              <a:t>bound </a:t>
            </a:r>
            <a:r>
              <a:rPr lang="en-US" sz="4600" dirty="0"/>
              <a:t>– The date by which the outcome must be achieved. </a:t>
            </a:r>
          </a:p>
        </p:txBody>
      </p:sp>
    </p:spTree>
    <p:extLst>
      <p:ext uri="{BB962C8B-B14F-4D97-AF65-F5344CB8AC3E}">
        <p14:creationId xmlns:p14="http://schemas.microsoft.com/office/powerpoint/2010/main" val="13289959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371600"/>
            <a:ext cx="7024744" cy="304800"/>
          </a:xfrm>
        </p:spPr>
        <p:txBody>
          <a:bodyPr>
            <a:noAutofit/>
          </a:bodyPr>
          <a:lstStyle/>
          <a:p>
            <a:r>
              <a:rPr lang="ar-EG" sz="2800" b="1" dirty="0" smtClean="0"/>
              <a:t/>
            </a:r>
            <a:br>
              <a:rPr lang="ar-EG" sz="2800" b="1" dirty="0" smtClean="0"/>
            </a:br>
            <a:r>
              <a:rPr lang="en-US" sz="2800" b="1" dirty="0" smtClean="0"/>
              <a:t>Types of </a:t>
            </a:r>
            <a:r>
              <a:rPr lang="fr-FR" sz="2800" b="1" dirty="0" smtClean="0"/>
              <a:t>Long-</a:t>
            </a:r>
            <a:r>
              <a:rPr lang="fr-FR" sz="2800" b="1" dirty="0" err="1" smtClean="0"/>
              <a:t>Term</a:t>
            </a:r>
            <a:r>
              <a:rPr lang="fr-FR" sz="2800" b="1" dirty="0" smtClean="0"/>
              <a:t> Objectives</a:t>
            </a:r>
            <a:br>
              <a:rPr lang="fr-FR" sz="2800" b="1" dirty="0" smtClean="0"/>
            </a:br>
            <a:r>
              <a:rPr lang="fr-FR" sz="2800" dirty="0" smtClean="0"/>
              <a:t/>
            </a:r>
            <a:br>
              <a:rPr lang="fr-FR" sz="2800" dirty="0" smtClean="0"/>
            </a:br>
            <a:endParaRPr lang="ar-EG" sz="2800" dirty="0"/>
          </a:p>
        </p:txBody>
      </p:sp>
      <p:sp>
        <p:nvSpPr>
          <p:cNvPr id="3" name="Content Placeholder 2"/>
          <p:cNvSpPr>
            <a:spLocks noGrp="1"/>
          </p:cNvSpPr>
          <p:nvPr>
            <p:ph idx="1"/>
          </p:nvPr>
        </p:nvSpPr>
        <p:spPr>
          <a:xfrm>
            <a:off x="533400" y="990600"/>
            <a:ext cx="7534834" cy="4918229"/>
          </a:xfrm>
        </p:spPr>
        <p:txBody>
          <a:bodyPr>
            <a:noAutofit/>
          </a:bodyPr>
          <a:lstStyle/>
          <a:p>
            <a:pPr algn="l" rtl="0">
              <a:buFont typeface="Arial" panose="020B0604020202020204" pitchFamily="34" charset="0"/>
              <a:buChar char="•"/>
            </a:pPr>
            <a:r>
              <a:rPr lang="en-US" sz="1800" b="1" dirty="0" smtClean="0"/>
              <a:t>Financial </a:t>
            </a:r>
            <a:r>
              <a:rPr lang="en-US" sz="1800" b="1" dirty="0"/>
              <a:t>Objectives</a:t>
            </a:r>
            <a:r>
              <a:rPr lang="en-US" sz="1800" dirty="0"/>
              <a:t>:</a:t>
            </a:r>
          </a:p>
          <a:p>
            <a:pPr marL="742950" lvl="1" indent="-285750" algn="l" rtl="0">
              <a:buFont typeface="Arial" panose="020B0604020202020204" pitchFamily="34" charset="0"/>
              <a:buChar char="•"/>
            </a:pPr>
            <a:r>
              <a:rPr lang="en-US" sz="1800" dirty="0"/>
              <a:t>Revenue growth.</a:t>
            </a:r>
          </a:p>
          <a:p>
            <a:pPr marL="742950" lvl="1" indent="-285750" algn="l" rtl="0">
              <a:buFont typeface="Arial" panose="020B0604020202020204" pitchFamily="34" charset="0"/>
              <a:buChar char="•"/>
            </a:pPr>
            <a:r>
              <a:rPr lang="en-US" sz="1800" dirty="0"/>
              <a:t>Profitability improvement.</a:t>
            </a:r>
          </a:p>
          <a:p>
            <a:pPr marL="742950" lvl="1" indent="-285750" algn="l" rtl="0">
              <a:buFont typeface="Arial" panose="020B0604020202020204" pitchFamily="34" charset="0"/>
              <a:buChar char="•"/>
            </a:pPr>
            <a:r>
              <a:rPr lang="en-US" sz="1800" dirty="0" smtClean="0"/>
              <a:t>Increasing Market Share.</a:t>
            </a:r>
            <a:endParaRPr lang="en-US" sz="1800" dirty="0"/>
          </a:p>
          <a:p>
            <a:pPr algn="l" rtl="0">
              <a:buFont typeface="Arial" panose="020B0604020202020204" pitchFamily="34" charset="0"/>
              <a:buChar char="•"/>
            </a:pPr>
            <a:r>
              <a:rPr lang="en-US" sz="1800" b="1" dirty="0"/>
              <a:t>Strategic Objectives</a:t>
            </a:r>
            <a:r>
              <a:rPr lang="en-US" sz="1800" dirty="0"/>
              <a:t>:</a:t>
            </a:r>
          </a:p>
          <a:p>
            <a:pPr marL="742950" lvl="1" indent="-285750" algn="l" rtl="0">
              <a:buFont typeface="Arial" panose="020B0604020202020204" pitchFamily="34" charset="0"/>
              <a:buChar char="•"/>
            </a:pPr>
            <a:r>
              <a:rPr lang="en-US" sz="1800" dirty="0"/>
              <a:t>Achieving Industry Leadership.</a:t>
            </a:r>
          </a:p>
          <a:p>
            <a:pPr marL="742950" lvl="1" indent="-285750" algn="l" rtl="0">
              <a:buFont typeface="Arial" panose="020B0604020202020204" pitchFamily="34" charset="0"/>
              <a:buChar char="•"/>
            </a:pPr>
            <a:r>
              <a:rPr lang="en-US" sz="1800" dirty="0"/>
              <a:t>Building Brand Loyalty.</a:t>
            </a:r>
          </a:p>
          <a:p>
            <a:pPr marL="742950" lvl="1" indent="-285750" algn="l" rtl="0">
              <a:buFont typeface="Arial" panose="020B0604020202020204" pitchFamily="34" charset="0"/>
              <a:buChar char="•"/>
            </a:pPr>
            <a:r>
              <a:rPr lang="en-US" sz="1800" dirty="0"/>
              <a:t>Innovation and technology adoption.</a:t>
            </a:r>
          </a:p>
          <a:p>
            <a:pPr algn="l" rtl="0">
              <a:buFont typeface="Arial" panose="020B0604020202020204" pitchFamily="34" charset="0"/>
              <a:buChar char="•"/>
            </a:pPr>
            <a:r>
              <a:rPr lang="en-US" sz="1800" b="1" dirty="0"/>
              <a:t>Operational Objectives</a:t>
            </a:r>
            <a:r>
              <a:rPr lang="en-US" sz="1800" dirty="0"/>
              <a:t>:</a:t>
            </a:r>
          </a:p>
          <a:p>
            <a:pPr marL="742950" lvl="1" indent="-285750" algn="l" rtl="0">
              <a:buFont typeface="Arial" panose="020B0604020202020204" pitchFamily="34" charset="0"/>
              <a:buChar char="•"/>
            </a:pPr>
            <a:r>
              <a:rPr lang="en-US" sz="1800" dirty="0"/>
              <a:t>Enhancing efficiency.</a:t>
            </a:r>
          </a:p>
          <a:p>
            <a:pPr marL="742950" lvl="1" indent="-285750" algn="l" rtl="0">
              <a:buFont typeface="Arial" panose="020B0604020202020204" pitchFamily="34" charset="0"/>
              <a:buChar char="•"/>
            </a:pPr>
            <a:r>
              <a:rPr lang="en-US" sz="1800" dirty="0"/>
              <a:t>Safety and Risk Management.</a:t>
            </a:r>
          </a:p>
          <a:p>
            <a:pPr marL="742950" lvl="1" indent="-285750" algn="l" rtl="0">
              <a:buFont typeface="Arial" panose="020B0604020202020204" pitchFamily="34" charset="0"/>
              <a:buChar char="•"/>
            </a:pPr>
            <a:r>
              <a:rPr lang="en-US" sz="1800" dirty="0"/>
              <a:t>Supply chain optimization.</a:t>
            </a:r>
          </a:p>
          <a:p>
            <a:pPr algn="l" rtl="0">
              <a:buFont typeface="Arial" panose="020B0604020202020204" pitchFamily="34" charset="0"/>
              <a:buChar char="•"/>
            </a:pPr>
            <a:r>
              <a:rPr lang="en-US" sz="1800" b="1" dirty="0"/>
              <a:t>Social Objectives</a:t>
            </a:r>
            <a:r>
              <a:rPr lang="en-US" sz="1800" dirty="0"/>
              <a:t>:</a:t>
            </a:r>
          </a:p>
          <a:p>
            <a:pPr marL="742950" lvl="1" indent="-285750" algn="l" rtl="0">
              <a:buFont typeface="Arial" panose="020B0604020202020204" pitchFamily="34" charset="0"/>
              <a:buChar char="•"/>
            </a:pPr>
            <a:r>
              <a:rPr lang="en-US" sz="1800" dirty="0"/>
              <a:t>Corporate social responsibility (CSR).</a:t>
            </a:r>
          </a:p>
          <a:p>
            <a:pPr marL="742950" lvl="1" indent="-285750" algn="l" rtl="0">
              <a:buFont typeface="Arial" panose="020B0604020202020204" pitchFamily="34" charset="0"/>
              <a:buChar char="•"/>
            </a:pPr>
            <a:r>
              <a:rPr lang="en-US" sz="1800" dirty="0"/>
              <a:t>Community development.</a:t>
            </a:r>
          </a:p>
          <a:p>
            <a:pPr marL="742950" lvl="1" indent="-285750" algn="l" rtl="0">
              <a:buFont typeface="Arial" panose="020B0604020202020204" pitchFamily="34" charset="0"/>
              <a:buChar char="•"/>
            </a:pPr>
            <a:r>
              <a:rPr lang="en-US" sz="1800" dirty="0"/>
              <a:t>Employee well-being.</a:t>
            </a:r>
          </a:p>
          <a:p>
            <a:pPr marL="68580" indent="0" algn="l" rtl="0">
              <a:buNone/>
            </a:pPr>
            <a:endParaRPr lang="en-US" sz="1800" dirty="0"/>
          </a:p>
        </p:txBody>
      </p:sp>
    </p:spTree>
    <p:extLst>
      <p:ext uri="{BB962C8B-B14F-4D97-AF65-F5344CB8AC3E}">
        <p14:creationId xmlns:p14="http://schemas.microsoft.com/office/powerpoint/2010/main" val="32559126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490" y="1371600"/>
            <a:ext cx="7024744" cy="304800"/>
          </a:xfrm>
        </p:spPr>
        <p:txBody>
          <a:bodyPr>
            <a:noAutofit/>
          </a:bodyPr>
          <a:lstStyle/>
          <a:p>
            <a:r>
              <a:rPr lang="ar-EG" sz="2800" b="1" dirty="0" smtClean="0"/>
              <a:t/>
            </a:r>
            <a:br>
              <a:rPr lang="ar-EG" sz="2800" b="1" dirty="0" smtClean="0"/>
            </a:br>
            <a:r>
              <a:rPr lang="fr-FR" sz="2800" b="1" dirty="0" smtClean="0"/>
              <a:t>Long-</a:t>
            </a:r>
            <a:r>
              <a:rPr lang="fr-FR" sz="2800" b="1" dirty="0" err="1" smtClean="0"/>
              <a:t>Term</a:t>
            </a:r>
            <a:r>
              <a:rPr lang="fr-FR" sz="2800" b="1" dirty="0" smtClean="0"/>
              <a:t> Objectives</a:t>
            </a:r>
            <a:br>
              <a:rPr lang="fr-FR" sz="2800" b="1" dirty="0" smtClean="0"/>
            </a:br>
            <a:r>
              <a:rPr lang="fr-FR" sz="2800" dirty="0" smtClean="0"/>
              <a:t/>
            </a:r>
            <a:br>
              <a:rPr lang="fr-FR" sz="2800" dirty="0" smtClean="0"/>
            </a:br>
            <a:endParaRPr lang="ar-EG" sz="2800" dirty="0"/>
          </a:p>
        </p:txBody>
      </p:sp>
      <p:sp>
        <p:nvSpPr>
          <p:cNvPr id="3" name="Content Placeholder 2"/>
          <p:cNvSpPr>
            <a:spLocks noGrp="1"/>
          </p:cNvSpPr>
          <p:nvPr>
            <p:ph idx="1"/>
          </p:nvPr>
        </p:nvSpPr>
        <p:spPr>
          <a:xfrm>
            <a:off x="533400" y="838200"/>
            <a:ext cx="7534834" cy="5070629"/>
          </a:xfrm>
        </p:spPr>
        <p:txBody>
          <a:bodyPr>
            <a:noAutofit/>
          </a:bodyPr>
          <a:lstStyle/>
          <a:p>
            <a:pPr algn="l" rtl="0"/>
            <a:r>
              <a:rPr lang="en-US" sz="1800" dirty="0"/>
              <a:t>In practice, organizations often pursue </a:t>
            </a:r>
            <a:r>
              <a:rPr lang="en-US" sz="1800" b="1" dirty="0"/>
              <a:t>multiple types of long-term objectives</a:t>
            </a:r>
            <a:r>
              <a:rPr lang="en-US" sz="1800" dirty="0"/>
              <a:t> </a:t>
            </a:r>
            <a:r>
              <a:rPr lang="en-US" sz="1800" dirty="0" smtClean="0"/>
              <a:t>all together, </a:t>
            </a:r>
            <a:r>
              <a:rPr lang="en-US" sz="1800" dirty="0"/>
              <a:t>as these objectives are interconnected and contribute to the overall mission and vision. Here’s how it works:</a:t>
            </a:r>
          </a:p>
          <a:p>
            <a:pPr algn="l" rtl="0"/>
            <a:r>
              <a:rPr lang="en-US" sz="1800" b="1" dirty="0"/>
              <a:t>Using Multiple Types of Objectives</a:t>
            </a:r>
          </a:p>
          <a:p>
            <a:pPr algn="l" rtl="0">
              <a:buFont typeface="+mj-lt"/>
              <a:buAutoNum type="arabicPeriod"/>
            </a:pPr>
            <a:r>
              <a:rPr lang="en-US" sz="1800" b="1" dirty="0"/>
              <a:t>Interdependency</a:t>
            </a:r>
            <a:r>
              <a:rPr lang="en-US" sz="1800" dirty="0"/>
              <a:t>:</a:t>
            </a:r>
          </a:p>
          <a:p>
            <a:pPr marL="742950" lvl="1" indent="-285750" algn="l" rtl="0">
              <a:buFont typeface="+mj-lt"/>
              <a:buAutoNum type="arabicPeriod"/>
            </a:pPr>
            <a:r>
              <a:rPr lang="en-US" sz="1800" dirty="0"/>
              <a:t>Financial objectives (e.g., profitability) often support strategic goals (e.g., market expansion).</a:t>
            </a:r>
          </a:p>
          <a:p>
            <a:pPr marL="742950" lvl="1" indent="-285750" algn="l" rtl="0">
              <a:buFont typeface="+mj-lt"/>
              <a:buAutoNum type="arabicPeriod"/>
            </a:pPr>
            <a:r>
              <a:rPr lang="en-US" sz="1800" dirty="0"/>
              <a:t>Operational improvements (e.g., efficiency) can reduce costs, boosting financial performance.</a:t>
            </a:r>
          </a:p>
          <a:p>
            <a:pPr marL="742950" lvl="1" indent="-285750" algn="l" rtl="0">
              <a:buFont typeface="+mj-lt"/>
              <a:buAutoNum type="arabicPeriod"/>
            </a:pPr>
            <a:r>
              <a:rPr lang="en-US" sz="1800" dirty="0"/>
              <a:t>Social objectives (e.g., sustainability) enhance brand reputation, indirectly aiding market share growth.</a:t>
            </a:r>
          </a:p>
          <a:p>
            <a:pPr algn="l" rtl="0">
              <a:buFont typeface="+mj-lt"/>
              <a:buAutoNum type="arabicPeriod"/>
            </a:pPr>
            <a:r>
              <a:rPr lang="en-US" sz="1800" b="1" dirty="0" smtClean="0"/>
              <a:t>Examples </a:t>
            </a:r>
            <a:r>
              <a:rPr lang="en-US" sz="1800" b="1" dirty="0"/>
              <a:t>of Integration</a:t>
            </a:r>
            <a:r>
              <a:rPr lang="en-US" sz="1800" dirty="0"/>
              <a:t>:</a:t>
            </a:r>
          </a:p>
          <a:p>
            <a:pPr marL="742950" lvl="1" indent="-285750" algn="l" rtl="0">
              <a:buFont typeface="+mj-lt"/>
              <a:buAutoNum type="arabicPeriod"/>
            </a:pPr>
            <a:r>
              <a:rPr lang="en-US" sz="1800" b="1" dirty="0"/>
              <a:t>Tesla</a:t>
            </a:r>
            <a:r>
              <a:rPr lang="en-US" sz="1800" dirty="0"/>
              <a:t>:</a:t>
            </a:r>
          </a:p>
          <a:p>
            <a:pPr marL="1143000" lvl="2" algn="l" rtl="0">
              <a:buFont typeface="+mj-lt"/>
              <a:buAutoNum type="arabicPeriod"/>
            </a:pPr>
            <a:r>
              <a:rPr lang="en-US" sz="1800" dirty="0">
                <a:solidFill>
                  <a:srgbClr val="FF0000"/>
                </a:solidFill>
              </a:rPr>
              <a:t>Financial: Increase annual revenue.</a:t>
            </a:r>
          </a:p>
          <a:p>
            <a:pPr marL="1143000" lvl="2" algn="l" rtl="0">
              <a:buFont typeface="+mj-lt"/>
              <a:buAutoNum type="arabicPeriod"/>
            </a:pPr>
            <a:r>
              <a:rPr lang="en-US" sz="1800" dirty="0">
                <a:solidFill>
                  <a:srgbClr val="FF0000"/>
                </a:solidFill>
              </a:rPr>
              <a:t>Strategic: Expand electric vehicle adoption globally.</a:t>
            </a:r>
          </a:p>
          <a:p>
            <a:pPr marL="1143000" lvl="2" algn="l" rtl="0">
              <a:buFont typeface="+mj-lt"/>
              <a:buAutoNum type="arabicPeriod"/>
            </a:pPr>
            <a:r>
              <a:rPr lang="en-US" sz="1800" dirty="0">
                <a:solidFill>
                  <a:srgbClr val="FF0000"/>
                </a:solidFill>
              </a:rPr>
              <a:t>Social: Reduce carbon emissions.</a:t>
            </a:r>
          </a:p>
          <a:p>
            <a:pPr marL="1143000" lvl="2" algn="l" rtl="0">
              <a:buFont typeface="+mj-lt"/>
              <a:buAutoNum type="arabicPeriod"/>
            </a:pPr>
            <a:r>
              <a:rPr lang="en-US" sz="1800" dirty="0">
                <a:solidFill>
                  <a:srgbClr val="FF0000"/>
                </a:solidFill>
              </a:rPr>
              <a:t>Operational: Improve battery technology.</a:t>
            </a:r>
          </a:p>
          <a:p>
            <a:pPr marL="68580" indent="0" algn="l" rtl="0">
              <a:buNone/>
            </a:pPr>
            <a:endParaRPr lang="en-US" sz="1800" dirty="0"/>
          </a:p>
        </p:txBody>
      </p:sp>
    </p:spTree>
    <p:extLst>
      <p:ext uri="{BB962C8B-B14F-4D97-AF65-F5344CB8AC3E}">
        <p14:creationId xmlns:p14="http://schemas.microsoft.com/office/powerpoint/2010/main" val="26874066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600200"/>
            <a:ext cx="7024744" cy="304800"/>
          </a:xfrm>
        </p:spPr>
        <p:txBody>
          <a:bodyPr>
            <a:noAutofit/>
          </a:bodyPr>
          <a:lstStyle/>
          <a:p>
            <a:r>
              <a:rPr lang="ar-EG" sz="2800" b="1" dirty="0" smtClean="0"/>
              <a:t/>
            </a:r>
            <a:br>
              <a:rPr lang="ar-EG" sz="2800" b="1" dirty="0" smtClean="0"/>
            </a:br>
            <a:r>
              <a:rPr lang="fr-FR" sz="2800" b="1" dirty="0" smtClean="0"/>
              <a:t>Long-</a:t>
            </a:r>
            <a:r>
              <a:rPr lang="fr-FR" sz="2800" b="1" dirty="0" err="1" smtClean="0"/>
              <a:t>Term</a:t>
            </a:r>
            <a:r>
              <a:rPr lang="fr-FR" sz="2800" b="1" dirty="0" smtClean="0"/>
              <a:t> Objectives </a:t>
            </a:r>
            <a:r>
              <a:rPr lang="fr-FR" sz="2800" b="1" dirty="0" err="1" smtClean="0"/>
              <a:t>should</a:t>
            </a:r>
            <a:r>
              <a:rPr lang="fr-FR" sz="2800" b="1" dirty="0" smtClean="0"/>
              <a:t> </a:t>
            </a:r>
            <a:r>
              <a:rPr lang="fr-FR" sz="2800" b="1" dirty="0" err="1" smtClean="0"/>
              <a:t>be</a:t>
            </a:r>
            <a:r>
              <a:rPr lang="fr-FR" sz="2800" b="1" dirty="0" smtClean="0"/>
              <a:t> </a:t>
            </a:r>
            <a:r>
              <a:rPr lang="fr-FR" sz="2800" b="1" dirty="0" smtClean="0">
                <a:solidFill>
                  <a:srgbClr val="FF0000"/>
                </a:solidFill>
              </a:rPr>
              <a:t>SMART</a:t>
            </a:r>
            <a:r>
              <a:rPr lang="fr-FR" sz="2800" b="1" dirty="0" smtClean="0"/>
              <a:t> </a:t>
            </a:r>
            <a:r>
              <a:rPr lang="fr-FR" sz="2800" dirty="0"/>
              <a:t/>
            </a:r>
            <a:br>
              <a:rPr lang="fr-FR" sz="2800" dirty="0"/>
            </a:br>
            <a:endParaRPr lang="ar-EG" sz="2800" dirty="0"/>
          </a:p>
        </p:txBody>
      </p:sp>
      <p:pic>
        <p:nvPicPr>
          <p:cNvPr id="2051"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1" y="1371600"/>
            <a:ext cx="8001000" cy="4460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40247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024744" cy="1143000"/>
          </a:xfrm>
        </p:spPr>
        <p:txBody>
          <a:bodyPr>
            <a:noAutofit/>
          </a:bodyPr>
          <a:lstStyle/>
          <a:p>
            <a:r>
              <a:rPr lang="ar-EG" sz="2400" dirty="0"/>
              <a:t/>
            </a:r>
            <a:br>
              <a:rPr lang="ar-EG" sz="2400" dirty="0"/>
            </a:br>
            <a:r>
              <a:rPr lang="fr-FR" sz="2400" b="1" dirty="0" err="1" smtClean="0"/>
              <a:t>Strategy</a:t>
            </a:r>
            <a:r>
              <a:rPr lang="fr-FR" sz="2400" b="1" dirty="0" smtClean="0"/>
              <a:t> </a:t>
            </a:r>
            <a:r>
              <a:rPr lang="fr-FR" sz="2400" b="1" dirty="0" err="1"/>
              <a:t>Analysis</a:t>
            </a:r>
            <a:r>
              <a:rPr lang="fr-FR" sz="2400" b="1" dirty="0"/>
              <a:t> &amp; </a:t>
            </a:r>
            <a:r>
              <a:rPr lang="fr-FR" sz="2400" b="1" dirty="0" err="1"/>
              <a:t>Choice</a:t>
            </a:r>
            <a:r>
              <a:rPr lang="fr-FR" sz="2400" b="1" dirty="0"/>
              <a:t> </a:t>
            </a:r>
            <a:r>
              <a:rPr lang="fr-FR" sz="2400" b="1" dirty="0" smtClean="0"/>
              <a:t> </a:t>
            </a:r>
            <a:endParaRPr lang="ar-EG" sz="2400"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8800" y="914400"/>
            <a:ext cx="7962600" cy="548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29423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457200" y="1066800"/>
            <a:ext cx="7490908" cy="3508977"/>
          </a:xfrm>
        </p:spPr>
        <p:txBody>
          <a:bodyPr>
            <a:normAutofit lnSpcReduction="10000"/>
          </a:bodyPr>
          <a:lstStyle/>
          <a:p>
            <a:pPr marL="68580" indent="0" algn="just" rtl="0">
              <a:buNone/>
            </a:pPr>
            <a:r>
              <a:rPr lang="en-US" sz="2200" dirty="0" smtClean="0"/>
              <a:t>When getting the two sets of audits(IFE and </a:t>
            </a:r>
            <a:r>
              <a:rPr lang="en-US" sz="2200" dirty="0" err="1" smtClean="0"/>
              <a:t>EFE</a:t>
            </a:r>
            <a:r>
              <a:rPr lang="en-US" sz="2200" dirty="0" smtClean="0"/>
              <a:t>), we have to select the suitable strategy to be implemented to achieve the best fit of them (</a:t>
            </a:r>
            <a:r>
              <a:rPr lang="en-US" sz="2200" b="1" dirty="0" smtClean="0"/>
              <a:t>purpose of the strategy</a:t>
            </a:r>
            <a:r>
              <a:rPr lang="en-US" sz="2200" dirty="0" smtClean="0"/>
              <a:t>).</a:t>
            </a:r>
          </a:p>
          <a:p>
            <a:pPr marL="68580" indent="0" algn="just" rtl="0">
              <a:buNone/>
            </a:pPr>
            <a:r>
              <a:rPr lang="en-US" sz="2200" b="1" dirty="0" smtClean="0">
                <a:solidFill>
                  <a:srgbClr val="FF0000"/>
                </a:solidFill>
              </a:rPr>
              <a:t>The types of strategies.</a:t>
            </a:r>
            <a:endParaRPr lang="en-US" sz="2200" b="1" dirty="0">
              <a:solidFill>
                <a:srgbClr val="FF0000"/>
              </a:solidFill>
            </a:endParaRPr>
          </a:p>
          <a:p>
            <a:pPr marL="68580" indent="0" algn="just" rtl="0">
              <a:buNone/>
            </a:pPr>
            <a:r>
              <a:rPr lang="en-US" sz="2200" b="1" dirty="0" smtClean="0"/>
              <a:t>1- </a:t>
            </a:r>
            <a:r>
              <a:rPr lang="en-US" sz="2200" b="1" u="sng" dirty="0" smtClean="0"/>
              <a:t>Integration strategies</a:t>
            </a:r>
          </a:p>
          <a:p>
            <a:pPr marL="68580" indent="0" algn="just" rtl="0">
              <a:buNone/>
            </a:pPr>
            <a:endParaRPr lang="en-US" b="1" dirty="0" smtClean="0"/>
          </a:p>
          <a:p>
            <a:pPr marL="68580" indent="0" algn="just" rtl="0">
              <a:buNone/>
            </a:pPr>
            <a:endParaRPr lang="en-US" dirty="0" smtClean="0"/>
          </a:p>
          <a:p>
            <a:pPr marL="68580" indent="0" algn="l" rtl="0">
              <a:buNone/>
            </a:pPr>
            <a:r>
              <a:rPr lang="en-US" dirty="0" smtClean="0"/>
              <a:t> </a:t>
            </a:r>
            <a:endParaRPr lang="ar-EG" dirty="0"/>
          </a:p>
        </p:txBody>
      </p:sp>
      <p:sp>
        <p:nvSpPr>
          <p:cNvPr id="4" name="Oval 3"/>
          <p:cNvSpPr/>
          <p:nvPr/>
        </p:nvSpPr>
        <p:spPr>
          <a:xfrm>
            <a:off x="838200" y="4457700"/>
            <a:ext cx="1981200" cy="8382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600" b="1" dirty="0" smtClean="0"/>
              <a:t>Integration strategies</a:t>
            </a:r>
            <a:endParaRPr lang="ar-EG" sz="1600" b="1" dirty="0"/>
          </a:p>
        </p:txBody>
      </p:sp>
      <p:sp>
        <p:nvSpPr>
          <p:cNvPr id="5" name="Oval 4"/>
          <p:cNvSpPr/>
          <p:nvPr/>
        </p:nvSpPr>
        <p:spPr>
          <a:xfrm>
            <a:off x="4505325" y="5181600"/>
            <a:ext cx="16002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smtClean="0"/>
              <a:t>Horizontal integration</a:t>
            </a:r>
            <a:endParaRPr lang="ar-EG" sz="1400" b="1" dirty="0"/>
          </a:p>
        </p:txBody>
      </p:sp>
      <p:sp>
        <p:nvSpPr>
          <p:cNvPr id="6" name="Oval 5"/>
          <p:cNvSpPr/>
          <p:nvPr/>
        </p:nvSpPr>
        <p:spPr>
          <a:xfrm>
            <a:off x="6324600" y="4400550"/>
            <a:ext cx="1600200" cy="838200"/>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smtClean="0"/>
              <a:t>Backward </a:t>
            </a:r>
            <a:r>
              <a:rPr lang="en-US" sz="1400" b="1" dirty="0"/>
              <a:t>integration</a:t>
            </a:r>
            <a:endParaRPr lang="ar-EG" sz="1400" b="1" dirty="0"/>
          </a:p>
        </p:txBody>
      </p:sp>
      <p:sp>
        <p:nvSpPr>
          <p:cNvPr id="7" name="Oval 6"/>
          <p:cNvSpPr/>
          <p:nvPr/>
        </p:nvSpPr>
        <p:spPr>
          <a:xfrm>
            <a:off x="6248400" y="3390900"/>
            <a:ext cx="1676400" cy="838200"/>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500" b="1" dirty="0" smtClean="0"/>
              <a:t>Forward integration</a:t>
            </a:r>
            <a:endParaRPr lang="ar-EG" sz="1500" b="1" dirty="0"/>
          </a:p>
        </p:txBody>
      </p:sp>
      <p:cxnSp>
        <p:nvCxnSpPr>
          <p:cNvPr id="9" name="Straight Connector 8"/>
          <p:cNvCxnSpPr/>
          <p:nvPr/>
        </p:nvCxnSpPr>
        <p:spPr>
          <a:xfrm flipV="1">
            <a:off x="2819400" y="3957637"/>
            <a:ext cx="3505200" cy="100012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819399" y="4938712"/>
            <a:ext cx="1685925" cy="723900"/>
          </a:xfrm>
          <a:prstGeom prst="line">
            <a:avLst/>
          </a:prstGeom>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4343400" y="3838575"/>
            <a:ext cx="16002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smtClean="0"/>
              <a:t>Vertical integration</a:t>
            </a:r>
            <a:endParaRPr lang="ar-EG" sz="1400" b="1" dirty="0"/>
          </a:p>
        </p:txBody>
      </p:sp>
      <p:cxnSp>
        <p:nvCxnSpPr>
          <p:cNvPr id="20" name="Straight Connector 19"/>
          <p:cNvCxnSpPr>
            <a:stCxn id="19" idx="5"/>
            <a:endCxn id="6" idx="2"/>
          </p:cNvCxnSpPr>
          <p:nvPr/>
        </p:nvCxnSpPr>
        <p:spPr>
          <a:xfrm>
            <a:off x="5709256" y="4554023"/>
            <a:ext cx="615344" cy="26562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17983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457200" y="1066800"/>
            <a:ext cx="7490908" cy="3508977"/>
          </a:xfrm>
        </p:spPr>
        <p:txBody>
          <a:bodyPr>
            <a:normAutofit lnSpcReduction="10000"/>
          </a:bodyPr>
          <a:lstStyle/>
          <a:p>
            <a:pPr marL="68580" indent="0" algn="just" rtl="0">
              <a:buNone/>
            </a:pPr>
            <a:r>
              <a:rPr lang="en-US" sz="2200" dirty="0" smtClean="0"/>
              <a:t>When getting the two sets of audits(IFE and </a:t>
            </a:r>
            <a:r>
              <a:rPr lang="en-US" sz="2200" dirty="0" err="1" smtClean="0"/>
              <a:t>EFE</a:t>
            </a:r>
            <a:r>
              <a:rPr lang="en-US" sz="2200" dirty="0" smtClean="0"/>
              <a:t>), we have to select the suitable strategy to be implemented to achieve the best fit of them (</a:t>
            </a:r>
            <a:r>
              <a:rPr lang="en-US" sz="2200" b="1" dirty="0" smtClean="0"/>
              <a:t>purpose of the strategy</a:t>
            </a:r>
            <a:r>
              <a:rPr lang="en-US" sz="2200" dirty="0" smtClean="0"/>
              <a:t>).</a:t>
            </a:r>
          </a:p>
          <a:p>
            <a:pPr marL="68580" indent="0" algn="just" rtl="0">
              <a:buNone/>
            </a:pPr>
            <a:r>
              <a:rPr lang="en-US" sz="2200" b="1" dirty="0" smtClean="0">
                <a:solidFill>
                  <a:srgbClr val="FF0000"/>
                </a:solidFill>
              </a:rPr>
              <a:t>The types of strategies.</a:t>
            </a:r>
            <a:endParaRPr lang="en-US" sz="2200" b="1" dirty="0">
              <a:solidFill>
                <a:srgbClr val="FF0000"/>
              </a:solidFill>
            </a:endParaRPr>
          </a:p>
          <a:p>
            <a:pPr marL="68580" indent="0" algn="just" rtl="0">
              <a:buNone/>
            </a:pPr>
            <a:r>
              <a:rPr lang="en-US" sz="2200" b="1" dirty="0" smtClean="0"/>
              <a:t>1- </a:t>
            </a:r>
            <a:r>
              <a:rPr lang="en-US" sz="2200" b="1" u="sng" dirty="0" smtClean="0"/>
              <a:t>Integration strategies</a:t>
            </a:r>
          </a:p>
          <a:p>
            <a:pPr marL="68580" indent="0" algn="just" rtl="0">
              <a:buNone/>
            </a:pPr>
            <a:endParaRPr lang="en-US" b="1" dirty="0" smtClean="0"/>
          </a:p>
          <a:p>
            <a:pPr marL="68580" indent="0" algn="just" rtl="0">
              <a:buNone/>
            </a:pPr>
            <a:endParaRPr lang="en-US" dirty="0" smtClean="0"/>
          </a:p>
          <a:p>
            <a:pPr marL="68580" indent="0" algn="l" rtl="0">
              <a:buNone/>
            </a:pPr>
            <a:r>
              <a:rPr lang="en-US" dirty="0" smtClean="0"/>
              <a:t> </a:t>
            </a:r>
            <a:endParaRPr lang="ar-EG" dirty="0"/>
          </a:p>
        </p:txBody>
      </p:sp>
      <p:sp>
        <p:nvSpPr>
          <p:cNvPr id="5" name="Oval 4"/>
          <p:cNvSpPr/>
          <p:nvPr/>
        </p:nvSpPr>
        <p:spPr>
          <a:xfrm>
            <a:off x="2061561" y="5517771"/>
            <a:ext cx="16002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smtClean="0"/>
              <a:t>Distributor</a:t>
            </a:r>
            <a:endParaRPr lang="ar-EG" sz="1400" b="1" dirty="0"/>
          </a:p>
        </p:txBody>
      </p:sp>
      <p:sp>
        <p:nvSpPr>
          <p:cNvPr id="7" name="Oval 6"/>
          <p:cNvSpPr/>
          <p:nvPr/>
        </p:nvSpPr>
        <p:spPr>
          <a:xfrm>
            <a:off x="1524000" y="4488164"/>
            <a:ext cx="2362199" cy="838200"/>
          </a:xfrm>
          <a:prstGeom prst="ellipse">
            <a:avLst/>
          </a:prstGeom>
          <a:solidFill>
            <a:schemeClr val="accent3">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500" b="1" dirty="0" smtClean="0"/>
              <a:t>Manufacturer</a:t>
            </a:r>
            <a:endParaRPr lang="ar-EG" sz="1500" b="1" dirty="0"/>
          </a:p>
        </p:txBody>
      </p:sp>
      <p:sp>
        <p:nvSpPr>
          <p:cNvPr id="19" name="Oval 18"/>
          <p:cNvSpPr/>
          <p:nvPr/>
        </p:nvSpPr>
        <p:spPr>
          <a:xfrm>
            <a:off x="1952704" y="3440414"/>
            <a:ext cx="16002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smtClean="0"/>
              <a:t>Supplier</a:t>
            </a:r>
            <a:endParaRPr lang="ar-EG" sz="1400" b="1" dirty="0"/>
          </a:p>
        </p:txBody>
      </p:sp>
    </p:spTree>
    <p:extLst>
      <p:ext uri="{BB962C8B-B14F-4D97-AF65-F5344CB8AC3E}">
        <p14:creationId xmlns:p14="http://schemas.microsoft.com/office/powerpoint/2010/main" val="41317665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533400" y="1219200"/>
            <a:ext cx="8001000" cy="4800600"/>
          </a:xfrm>
        </p:spPr>
        <p:txBody>
          <a:bodyPr>
            <a:noAutofit/>
          </a:bodyPr>
          <a:lstStyle/>
          <a:p>
            <a:pPr marL="68580" indent="0" algn="just" rtl="0">
              <a:buNone/>
            </a:pPr>
            <a:r>
              <a:rPr lang="en-US" sz="2000" b="1" dirty="0" smtClean="0">
                <a:solidFill>
                  <a:schemeClr val="accent1">
                    <a:lumMod val="50000"/>
                  </a:schemeClr>
                </a:solidFill>
              </a:rPr>
              <a:t>1- Integration strategies (Vertical and horizontal strategies)</a:t>
            </a:r>
          </a:p>
          <a:p>
            <a:pPr algn="just" rtl="0"/>
            <a:r>
              <a:rPr lang="en-US" sz="2000" b="1" dirty="0" smtClean="0">
                <a:solidFill>
                  <a:schemeClr val="accent3">
                    <a:lumMod val="75000"/>
                  </a:schemeClr>
                </a:solidFill>
              </a:rPr>
              <a:t>Vertical integration</a:t>
            </a:r>
            <a:r>
              <a:rPr lang="en-US" sz="2000" b="1" dirty="0"/>
              <a:t> </a:t>
            </a:r>
            <a:r>
              <a:rPr lang="en-US" sz="2000" dirty="0" smtClean="0"/>
              <a:t>is </a:t>
            </a:r>
            <a:r>
              <a:rPr lang="en-US" sz="2000" dirty="0"/>
              <a:t>when a business expands by acquiring another company that operates </a:t>
            </a:r>
            <a:r>
              <a:rPr lang="en-US" sz="2000" b="1" dirty="0"/>
              <a:t>before</a:t>
            </a:r>
            <a:r>
              <a:rPr lang="en-US" sz="2000" dirty="0"/>
              <a:t> or </a:t>
            </a:r>
            <a:r>
              <a:rPr lang="en-US" sz="2000" b="1" dirty="0"/>
              <a:t>after</a:t>
            </a:r>
            <a:r>
              <a:rPr lang="en-US" sz="2000" dirty="0"/>
              <a:t> them in the supply chain</a:t>
            </a:r>
            <a:endParaRPr lang="en-US" sz="2000" b="1" dirty="0" smtClean="0">
              <a:solidFill>
                <a:schemeClr val="accent3">
                  <a:lumMod val="75000"/>
                </a:schemeClr>
              </a:solidFill>
            </a:endParaRPr>
          </a:p>
          <a:p>
            <a:pPr marL="68580" indent="0" algn="just" rtl="0">
              <a:buNone/>
            </a:pPr>
            <a:r>
              <a:rPr lang="en-US" sz="2000" b="1" dirty="0" smtClean="0"/>
              <a:t>- </a:t>
            </a:r>
            <a:r>
              <a:rPr lang="en-US" sz="2000" b="1" u="sng" dirty="0" smtClean="0"/>
              <a:t>Forward </a:t>
            </a:r>
            <a:r>
              <a:rPr lang="en-US" sz="2000" b="1" u="sng" dirty="0"/>
              <a:t>integration</a:t>
            </a:r>
            <a:r>
              <a:rPr lang="en-US" sz="2000" u="sng" dirty="0"/>
              <a:t> </a:t>
            </a:r>
            <a:r>
              <a:rPr lang="en-US" sz="2000" dirty="0"/>
              <a:t>involves buying part of the process that occurs </a:t>
            </a:r>
            <a:r>
              <a:rPr lang="en-US" sz="2000" b="1" dirty="0"/>
              <a:t>after</a:t>
            </a:r>
            <a:r>
              <a:rPr lang="en-US" sz="2000" dirty="0"/>
              <a:t> the company's manufacturing </a:t>
            </a:r>
            <a:r>
              <a:rPr lang="en-US" sz="2000" dirty="0" smtClean="0"/>
              <a:t>process.</a:t>
            </a:r>
            <a:endParaRPr lang="ar-EG" sz="2000" dirty="0"/>
          </a:p>
          <a:p>
            <a:pPr marL="68580" indent="0" algn="l" rtl="0">
              <a:buNone/>
            </a:pPr>
            <a:r>
              <a:rPr lang="en-US" sz="2000" b="1" dirty="0"/>
              <a:t>Forward Integration Strategies Gaining ownership or increased control over -- </a:t>
            </a:r>
            <a:endParaRPr lang="en-US" sz="2000" dirty="0"/>
          </a:p>
          <a:p>
            <a:pPr algn="l" rtl="0"/>
            <a:r>
              <a:rPr lang="fr-FR" sz="2000" dirty="0" err="1" smtClean="0"/>
              <a:t>Distributors</a:t>
            </a:r>
            <a:r>
              <a:rPr lang="fr-FR" sz="2000" dirty="0" smtClean="0"/>
              <a:t> </a:t>
            </a:r>
            <a:endParaRPr lang="fr-FR" sz="2000" dirty="0"/>
          </a:p>
          <a:p>
            <a:pPr algn="l" rtl="0"/>
            <a:r>
              <a:rPr lang="fr-FR" sz="2000" dirty="0" err="1" smtClean="0"/>
              <a:t>Retailers</a:t>
            </a:r>
            <a:r>
              <a:rPr lang="fr-FR" sz="2000" dirty="0" smtClean="0"/>
              <a:t> </a:t>
            </a:r>
            <a:endParaRPr lang="fr-FR" sz="2000" dirty="0"/>
          </a:p>
          <a:p>
            <a:pPr algn="l" rtl="0"/>
            <a:r>
              <a:rPr lang="en-US" sz="2000" dirty="0" smtClean="0"/>
              <a:t>For </a:t>
            </a:r>
            <a:r>
              <a:rPr lang="en-US" sz="2000" dirty="0"/>
              <a:t>example, Microsoft is opening its own retail stores </a:t>
            </a:r>
          </a:p>
        </p:txBody>
      </p:sp>
    </p:spTree>
    <p:extLst>
      <p:ext uri="{BB962C8B-B14F-4D97-AF65-F5344CB8AC3E}">
        <p14:creationId xmlns:p14="http://schemas.microsoft.com/office/powerpoint/2010/main" val="28271918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533400" y="1219200"/>
            <a:ext cx="8001000" cy="4800600"/>
          </a:xfrm>
        </p:spPr>
        <p:txBody>
          <a:bodyPr>
            <a:noAutofit/>
          </a:bodyPr>
          <a:lstStyle/>
          <a:p>
            <a:pPr marL="68580" indent="0" algn="l" rtl="0">
              <a:buNone/>
            </a:pPr>
            <a:r>
              <a:rPr lang="en-US" sz="2000" b="1" dirty="0" smtClean="0"/>
              <a:t>Forward </a:t>
            </a:r>
            <a:r>
              <a:rPr lang="en-US" sz="2000" b="1" dirty="0"/>
              <a:t>integration</a:t>
            </a:r>
            <a:r>
              <a:rPr lang="en-US" sz="2000" dirty="0"/>
              <a:t> </a:t>
            </a:r>
            <a:endParaRPr lang="ar-EG" sz="2000" dirty="0"/>
          </a:p>
          <a:p>
            <a:pPr algn="l" rtl="0"/>
            <a:r>
              <a:rPr lang="en-US" sz="2000" b="1" dirty="0"/>
              <a:t>Guidelines for an Effective Forward </a:t>
            </a:r>
            <a:r>
              <a:rPr lang="en-US" sz="2000" b="1" dirty="0" smtClean="0"/>
              <a:t>Strategy-</a:t>
            </a:r>
            <a:r>
              <a:rPr lang="en-US" sz="2000" b="1" dirty="0"/>
              <a:t>- </a:t>
            </a:r>
            <a:endParaRPr lang="en-US" sz="2000" dirty="0"/>
          </a:p>
          <a:p>
            <a:pPr algn="l" rtl="0"/>
            <a:r>
              <a:rPr lang="en-US" sz="2000" dirty="0" smtClean="0"/>
              <a:t>Current </a:t>
            </a:r>
            <a:r>
              <a:rPr lang="en-US" sz="2000" dirty="0"/>
              <a:t>distributors are expensive, unreliable, or incapable of meeting the firm’s distribution needs </a:t>
            </a:r>
          </a:p>
          <a:p>
            <a:pPr algn="l" rtl="0"/>
            <a:r>
              <a:rPr lang="en-US" sz="2000" dirty="0" smtClean="0"/>
              <a:t>Availability </a:t>
            </a:r>
            <a:r>
              <a:rPr lang="en-US" sz="2000" dirty="0"/>
              <a:t>of quality distributors is so limited </a:t>
            </a:r>
          </a:p>
          <a:p>
            <a:pPr algn="l" rtl="0"/>
            <a:r>
              <a:rPr lang="en-US" sz="2000" dirty="0" smtClean="0"/>
              <a:t>Firm </a:t>
            </a:r>
            <a:r>
              <a:rPr lang="en-US" sz="2000" dirty="0"/>
              <a:t>has both capital &amp; HR to manage new business of distribution </a:t>
            </a:r>
          </a:p>
          <a:p>
            <a:pPr algn="l" rtl="0"/>
            <a:r>
              <a:rPr lang="en-US" sz="2000" dirty="0" smtClean="0"/>
              <a:t>Current </a:t>
            </a:r>
            <a:r>
              <a:rPr lang="en-US" sz="2000" dirty="0"/>
              <a:t>distributors have high profit margins </a:t>
            </a:r>
          </a:p>
          <a:p>
            <a:pPr marL="68580" indent="0" algn="just" rtl="0">
              <a:buNone/>
            </a:pPr>
            <a:endParaRPr lang="en-US" sz="2000" dirty="0"/>
          </a:p>
        </p:txBody>
      </p:sp>
    </p:spTree>
    <p:extLst>
      <p:ext uri="{BB962C8B-B14F-4D97-AF65-F5344CB8AC3E}">
        <p14:creationId xmlns:p14="http://schemas.microsoft.com/office/powerpoint/2010/main" val="21475527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en-US" sz="2400" b="1" dirty="0"/>
              <a:t>Examples of Forward Integration</a:t>
            </a:r>
          </a:p>
        </p:txBody>
      </p:sp>
      <p:sp>
        <p:nvSpPr>
          <p:cNvPr id="3" name="Content Placeholder 2"/>
          <p:cNvSpPr>
            <a:spLocks noGrp="1"/>
          </p:cNvSpPr>
          <p:nvPr>
            <p:ph idx="1"/>
          </p:nvPr>
        </p:nvSpPr>
        <p:spPr>
          <a:xfrm>
            <a:off x="533400" y="1219200"/>
            <a:ext cx="8001000" cy="4800600"/>
          </a:xfrm>
        </p:spPr>
        <p:txBody>
          <a:bodyPr>
            <a:noAutofit/>
          </a:bodyPr>
          <a:lstStyle/>
          <a:p>
            <a:pPr algn="l" rtl="0">
              <a:buFont typeface="+mj-lt"/>
              <a:buAutoNum type="arabicPeriod"/>
            </a:pPr>
            <a:r>
              <a:rPr lang="en-US" b="1" dirty="0" smtClean="0"/>
              <a:t>Apple </a:t>
            </a:r>
            <a:r>
              <a:rPr lang="en-US" b="1" dirty="0"/>
              <a:t>Inc.</a:t>
            </a:r>
            <a:r>
              <a:rPr lang="en-US" dirty="0"/>
              <a:t>:</a:t>
            </a:r>
          </a:p>
          <a:p>
            <a:pPr marL="742950" lvl="1" indent="-285750" algn="l" rtl="0">
              <a:buFont typeface="+mj-lt"/>
              <a:buAutoNum type="arabicPeriod"/>
            </a:pPr>
            <a:r>
              <a:rPr lang="en-US" dirty="0"/>
              <a:t>Apple operates its own retail stores (Apple Stores) and an online platform to sell its products directly to customers, bypassing third-party retailers.</a:t>
            </a:r>
          </a:p>
          <a:p>
            <a:pPr algn="l" rtl="0">
              <a:buFont typeface="+mj-lt"/>
              <a:buAutoNum type="arabicPeriod"/>
            </a:pPr>
            <a:r>
              <a:rPr lang="en-US" b="1" dirty="0"/>
              <a:t>Tesla</a:t>
            </a:r>
            <a:r>
              <a:rPr lang="en-US" dirty="0"/>
              <a:t>:</a:t>
            </a:r>
          </a:p>
          <a:p>
            <a:pPr marL="742950" lvl="1" indent="-285750" algn="l" rtl="0">
              <a:buFont typeface="+mj-lt"/>
              <a:buAutoNum type="arabicPeriod"/>
            </a:pPr>
            <a:r>
              <a:rPr lang="en-US" dirty="0"/>
              <a:t>Tesla sells its cars directly to consumers through company-owned showrooms and an online platform, eliminating the need for traditional dealerships.</a:t>
            </a:r>
          </a:p>
          <a:p>
            <a:pPr algn="l" rtl="0">
              <a:buFont typeface="+mj-lt"/>
              <a:buAutoNum type="arabicPeriod"/>
            </a:pPr>
            <a:r>
              <a:rPr lang="en-US" b="1" dirty="0"/>
              <a:t>Nike</a:t>
            </a:r>
            <a:r>
              <a:rPr lang="en-US" dirty="0"/>
              <a:t>:</a:t>
            </a:r>
          </a:p>
          <a:p>
            <a:pPr marL="742950" lvl="1" indent="-285750" algn="l" rtl="0">
              <a:buFont typeface="+mj-lt"/>
              <a:buAutoNum type="arabicPeriod"/>
            </a:pPr>
            <a:r>
              <a:rPr lang="en-US" dirty="0"/>
              <a:t>Nike has expanded its direct-to-consumer (DTC) strategy through its retail stores and e-commerce platform, reducing reliance on third-party retailers.</a:t>
            </a:r>
          </a:p>
          <a:p>
            <a:pPr marL="68580" indent="0" algn="l" rtl="0">
              <a:buNone/>
            </a:pPr>
            <a:endParaRPr lang="en-US" sz="2000" dirty="0"/>
          </a:p>
        </p:txBody>
      </p:sp>
    </p:spTree>
    <p:extLst>
      <p:ext uri="{BB962C8B-B14F-4D97-AF65-F5344CB8AC3E}">
        <p14:creationId xmlns:p14="http://schemas.microsoft.com/office/powerpoint/2010/main" val="8861578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533400" y="1219200"/>
            <a:ext cx="7490908" cy="4800600"/>
          </a:xfrm>
        </p:spPr>
        <p:txBody>
          <a:bodyPr>
            <a:noAutofit/>
          </a:bodyPr>
          <a:lstStyle/>
          <a:p>
            <a:pPr algn="just" rtl="0">
              <a:buFontTx/>
              <a:buChar char="-"/>
            </a:pPr>
            <a:r>
              <a:rPr lang="en-US" sz="2000" b="1" u="sng" dirty="0" smtClean="0"/>
              <a:t>Backward </a:t>
            </a:r>
            <a:r>
              <a:rPr lang="en-US" sz="2000" b="1" u="sng" dirty="0"/>
              <a:t>integration</a:t>
            </a:r>
            <a:r>
              <a:rPr lang="en-US" sz="2000" dirty="0"/>
              <a:t> involves buying part of the supply chain that occurs </a:t>
            </a:r>
            <a:r>
              <a:rPr lang="en-US" sz="2000" b="1" dirty="0" smtClean="0"/>
              <a:t>before</a:t>
            </a:r>
            <a:r>
              <a:rPr lang="en-US" sz="2000" dirty="0" smtClean="0"/>
              <a:t> the </a:t>
            </a:r>
            <a:r>
              <a:rPr lang="en-US" sz="2000" dirty="0"/>
              <a:t>company's manufacturing </a:t>
            </a:r>
            <a:r>
              <a:rPr lang="en-US" sz="2000" dirty="0" smtClean="0"/>
              <a:t>process (e.g. integration with one of the suppliers).</a:t>
            </a:r>
          </a:p>
          <a:p>
            <a:pPr algn="l" rtl="0"/>
            <a:r>
              <a:rPr lang="en-US" sz="2000" b="1" dirty="0"/>
              <a:t>Guidelines for an Effective </a:t>
            </a:r>
            <a:r>
              <a:rPr lang="en-US" sz="2000" b="1" dirty="0" smtClean="0"/>
              <a:t>Backward </a:t>
            </a:r>
            <a:r>
              <a:rPr lang="en-US" sz="2000" b="1" dirty="0"/>
              <a:t>Strategy-- </a:t>
            </a:r>
            <a:endParaRPr lang="ar-EG" sz="2000" dirty="0"/>
          </a:p>
          <a:p>
            <a:pPr algn="l" rtl="0"/>
            <a:r>
              <a:rPr lang="en-US" sz="2000" dirty="0"/>
              <a:t>Current suppliers are expensive or unreliable </a:t>
            </a:r>
          </a:p>
          <a:p>
            <a:pPr algn="l" rtl="0"/>
            <a:r>
              <a:rPr lang="en-US" sz="2000" dirty="0" smtClean="0"/>
              <a:t># </a:t>
            </a:r>
            <a:r>
              <a:rPr lang="en-US" sz="2000" dirty="0"/>
              <a:t>of suppliers is small; # of competitors is large </a:t>
            </a:r>
          </a:p>
          <a:p>
            <a:pPr algn="l" rtl="0"/>
            <a:r>
              <a:rPr lang="en-US" sz="2000" dirty="0" smtClean="0"/>
              <a:t>High </a:t>
            </a:r>
            <a:r>
              <a:rPr lang="en-US" sz="2000" dirty="0"/>
              <a:t>growth in industry sector </a:t>
            </a:r>
          </a:p>
          <a:p>
            <a:pPr algn="l" rtl="0"/>
            <a:r>
              <a:rPr lang="en-US" sz="2000" dirty="0" smtClean="0"/>
              <a:t>Firm </a:t>
            </a:r>
            <a:r>
              <a:rPr lang="en-US" sz="2000" dirty="0"/>
              <a:t>has both capital &amp; HR to manage new business </a:t>
            </a:r>
          </a:p>
          <a:p>
            <a:pPr algn="l" rtl="0"/>
            <a:r>
              <a:rPr lang="fr-FR" sz="2000" dirty="0" smtClean="0"/>
              <a:t>Stable </a:t>
            </a:r>
            <a:r>
              <a:rPr lang="fr-FR" sz="2000" dirty="0" err="1"/>
              <a:t>prices</a:t>
            </a:r>
            <a:r>
              <a:rPr lang="fr-FR" sz="2000" dirty="0"/>
              <a:t> are important </a:t>
            </a:r>
          </a:p>
          <a:p>
            <a:pPr algn="l" rtl="0"/>
            <a:r>
              <a:rPr lang="en-US" sz="2000" dirty="0" smtClean="0"/>
              <a:t>Current </a:t>
            </a:r>
            <a:r>
              <a:rPr lang="en-US" sz="2000" dirty="0"/>
              <a:t>suppliers have high profit margins </a:t>
            </a:r>
          </a:p>
          <a:p>
            <a:pPr algn="just" rtl="0">
              <a:buFontTx/>
              <a:buChar char="-"/>
            </a:pPr>
            <a:endParaRPr lang="en-US" sz="2000" dirty="0" smtClean="0"/>
          </a:p>
          <a:p>
            <a:pPr marL="68580" indent="0" algn="l" rtl="0">
              <a:buNone/>
            </a:pPr>
            <a:r>
              <a:rPr lang="en-US" sz="2000" dirty="0" smtClean="0"/>
              <a:t> </a:t>
            </a:r>
            <a:endParaRPr lang="ar-EG" sz="2000" dirty="0"/>
          </a:p>
        </p:txBody>
      </p:sp>
    </p:spTree>
    <p:extLst>
      <p:ext uri="{BB962C8B-B14F-4D97-AF65-F5344CB8AC3E}">
        <p14:creationId xmlns:p14="http://schemas.microsoft.com/office/powerpoint/2010/main" val="24649599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pPr algn="just" rtl="0">
              <a:buFontTx/>
              <a:buChar char="-"/>
            </a:pPr>
            <a:r>
              <a:rPr lang="en-US" sz="2400" b="1" dirty="0"/>
              <a:t>Examples of Backward Integration</a:t>
            </a:r>
          </a:p>
        </p:txBody>
      </p:sp>
      <p:sp>
        <p:nvSpPr>
          <p:cNvPr id="3" name="Content Placeholder 2"/>
          <p:cNvSpPr>
            <a:spLocks noGrp="1"/>
          </p:cNvSpPr>
          <p:nvPr>
            <p:ph idx="1"/>
          </p:nvPr>
        </p:nvSpPr>
        <p:spPr>
          <a:xfrm>
            <a:off x="533400" y="1219200"/>
            <a:ext cx="7490908" cy="4800600"/>
          </a:xfrm>
        </p:spPr>
        <p:txBody>
          <a:bodyPr>
            <a:noAutofit/>
          </a:bodyPr>
          <a:lstStyle/>
          <a:p>
            <a:pPr algn="l" rtl="0"/>
            <a:r>
              <a:rPr lang="en-US" sz="2000" b="1" dirty="0" smtClean="0"/>
              <a:t>Apple </a:t>
            </a:r>
            <a:r>
              <a:rPr lang="en-US" sz="2000" b="1" dirty="0"/>
              <a:t>Inc.</a:t>
            </a:r>
            <a:r>
              <a:rPr lang="en-US" sz="2000" dirty="0"/>
              <a:t>:</a:t>
            </a:r>
          </a:p>
          <a:p>
            <a:pPr lvl="1" algn="l" rtl="0"/>
            <a:r>
              <a:rPr lang="en-US" sz="2000" dirty="0"/>
              <a:t>Apple designs its own processors (e.g., M-series chips) instead of relying solely on third-party suppliers like Intel. This gives Apple greater control over product performance and costs.</a:t>
            </a:r>
          </a:p>
          <a:p>
            <a:pPr algn="l" rtl="0"/>
            <a:r>
              <a:rPr lang="en-US" sz="2000" b="1" dirty="0"/>
              <a:t>Tesla</a:t>
            </a:r>
            <a:r>
              <a:rPr lang="en-US" sz="2000" dirty="0"/>
              <a:t>:</a:t>
            </a:r>
          </a:p>
          <a:p>
            <a:pPr lvl="1" algn="l" rtl="0"/>
            <a:r>
              <a:rPr lang="en-US" sz="2000" dirty="0"/>
              <a:t>Tesla has invested in lithium mining and battery production to secure the raw materials needed for electric vehicle batteries. This minimizes reliance on external suppliers.</a:t>
            </a:r>
          </a:p>
          <a:p>
            <a:pPr algn="l" rtl="0"/>
            <a:r>
              <a:rPr lang="en-US" sz="2000" b="1" dirty="0"/>
              <a:t>IKEA</a:t>
            </a:r>
            <a:r>
              <a:rPr lang="en-US" sz="2000" dirty="0"/>
              <a:t>:</a:t>
            </a:r>
          </a:p>
          <a:p>
            <a:pPr lvl="1" algn="l" rtl="0"/>
            <a:r>
              <a:rPr lang="en-US" sz="2000" dirty="0"/>
              <a:t>KEA has acquired thousands of hectares of forest in countries like the USA, </a:t>
            </a:r>
            <a:r>
              <a:rPr lang="en-US" sz="2000" dirty="0" smtClean="0"/>
              <a:t>Romania to </a:t>
            </a:r>
            <a:r>
              <a:rPr lang="en-US" sz="2000" dirty="0"/>
              <a:t>source its wood directly, ensuring sustainable practices and reducing material costs.</a:t>
            </a:r>
          </a:p>
          <a:p>
            <a:pPr marL="68580" indent="0" algn="l" rtl="0">
              <a:buNone/>
            </a:pPr>
            <a:endParaRPr lang="ar-EG" sz="2000" dirty="0"/>
          </a:p>
        </p:txBody>
      </p:sp>
    </p:spTree>
    <p:extLst>
      <p:ext uri="{BB962C8B-B14F-4D97-AF65-F5344CB8AC3E}">
        <p14:creationId xmlns:p14="http://schemas.microsoft.com/office/powerpoint/2010/main" val="36425402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295400"/>
            <a:ext cx="7848600" cy="4267200"/>
          </a:xfrm>
        </p:spPr>
      </p:pic>
      <p:sp>
        <p:nvSpPr>
          <p:cNvPr id="5" name="Oval 4"/>
          <p:cNvSpPr/>
          <p:nvPr/>
        </p:nvSpPr>
        <p:spPr>
          <a:xfrm>
            <a:off x="609600" y="5181600"/>
            <a:ext cx="7696200" cy="457200"/>
          </a:xfrm>
          <a:prstGeom prst="ellipse">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9281992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533400" y="1219200"/>
            <a:ext cx="7490908" cy="4800600"/>
          </a:xfrm>
        </p:spPr>
        <p:txBody>
          <a:bodyPr>
            <a:noAutofit/>
          </a:bodyPr>
          <a:lstStyle/>
          <a:p>
            <a:endParaRPr lang="ar-EG" sz="2000" dirty="0"/>
          </a:p>
          <a:p>
            <a:pPr marL="68580" indent="0" algn="l" rtl="0">
              <a:buNone/>
            </a:pPr>
            <a:r>
              <a:rPr lang="en-US" sz="2000" b="1" dirty="0" smtClean="0"/>
              <a:t>Forward </a:t>
            </a:r>
            <a:r>
              <a:rPr lang="en-US" sz="2000" b="1" dirty="0"/>
              <a:t>integration + backward </a:t>
            </a:r>
            <a:r>
              <a:rPr lang="en-US" sz="2000" b="1" dirty="0" smtClean="0"/>
              <a:t>integration</a:t>
            </a:r>
          </a:p>
          <a:p>
            <a:pPr algn="l" rtl="0"/>
            <a:r>
              <a:rPr lang="en-US" sz="2000" b="1" dirty="0" smtClean="0"/>
              <a:t>They </a:t>
            </a:r>
            <a:r>
              <a:rPr lang="en-US" sz="2000" b="1" dirty="0"/>
              <a:t>allow a firm to gain control over distributors and suppliers. </a:t>
            </a:r>
            <a:endParaRPr lang="en-US" sz="2000" dirty="0"/>
          </a:p>
          <a:p>
            <a:pPr algn="l" rtl="0"/>
            <a:r>
              <a:rPr lang="en-US" sz="2000" b="1" dirty="0" smtClean="0"/>
              <a:t>Oil </a:t>
            </a:r>
            <a:r>
              <a:rPr lang="en-US" sz="2000" b="1" dirty="0"/>
              <a:t>industry (BP, Shell, Total) </a:t>
            </a:r>
            <a:endParaRPr lang="en-US" sz="2000" dirty="0"/>
          </a:p>
          <a:p>
            <a:pPr algn="l" rtl="0"/>
            <a:r>
              <a:rPr lang="en-US" sz="2000" b="1" dirty="0" smtClean="0"/>
              <a:t>Exploration </a:t>
            </a:r>
            <a:r>
              <a:rPr lang="en-US" sz="2000" b="1" dirty="0"/>
              <a:t>=&gt; Production =&gt; Transportation=&gt; Refining =&gt; Marketing &amp; Sales </a:t>
            </a:r>
            <a:endParaRPr lang="en-US" sz="2000" dirty="0"/>
          </a:p>
          <a:p>
            <a:pPr marL="68580" indent="0" algn="l" rtl="0">
              <a:buNone/>
            </a:pPr>
            <a:r>
              <a:rPr lang="en-US" sz="2000" dirty="0" smtClean="0"/>
              <a:t> </a:t>
            </a:r>
            <a:endParaRPr lang="ar-EG" sz="2000" dirty="0"/>
          </a:p>
        </p:txBody>
      </p:sp>
    </p:spTree>
    <p:extLst>
      <p:ext uri="{BB962C8B-B14F-4D97-AF65-F5344CB8AC3E}">
        <p14:creationId xmlns:p14="http://schemas.microsoft.com/office/powerpoint/2010/main" val="14743171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914400"/>
          </a:xfrm>
        </p:spPr>
        <p:txBody>
          <a:bodyPr>
            <a:noAutofit/>
          </a:bodyPr>
          <a:lstStyle/>
          <a:p>
            <a:r>
              <a:rPr lang="en-US" sz="2400" b="1" dirty="0" smtClean="0"/>
              <a:t>Examples of full integration</a:t>
            </a:r>
            <a:endParaRPr lang="ar-EG" sz="2400" b="1" dirty="0"/>
          </a:p>
        </p:txBody>
      </p:sp>
      <p:sp>
        <p:nvSpPr>
          <p:cNvPr id="3" name="Content Placeholder 2"/>
          <p:cNvSpPr>
            <a:spLocks noGrp="1"/>
          </p:cNvSpPr>
          <p:nvPr>
            <p:ph idx="1"/>
          </p:nvPr>
        </p:nvSpPr>
        <p:spPr>
          <a:xfrm>
            <a:off x="533400" y="838200"/>
            <a:ext cx="8077200" cy="5181600"/>
          </a:xfrm>
        </p:spPr>
        <p:txBody>
          <a:bodyPr>
            <a:noAutofit/>
          </a:bodyPr>
          <a:lstStyle/>
          <a:p>
            <a:pPr marL="68580" indent="0" algn="l" rtl="0">
              <a:buNone/>
            </a:pPr>
            <a:r>
              <a:rPr lang="en-US" sz="2000" b="1" u="sng" dirty="0">
                <a:solidFill>
                  <a:srgbClr val="92D050"/>
                </a:solidFill>
              </a:rPr>
              <a:t> 1. </a:t>
            </a:r>
            <a:r>
              <a:rPr lang="en-US" sz="2000" b="1" u="sng" dirty="0" smtClean="0">
                <a:solidFill>
                  <a:srgbClr val="92D050"/>
                </a:solidFill>
              </a:rPr>
              <a:t>Tesla :</a:t>
            </a:r>
          </a:p>
          <a:p>
            <a:pPr marL="68580" indent="0" algn="just" rtl="0">
              <a:buNone/>
            </a:pPr>
            <a:r>
              <a:rPr lang="en-US" sz="2000" b="1" dirty="0" smtClean="0"/>
              <a:t>Backward </a:t>
            </a:r>
            <a:r>
              <a:rPr lang="en-US" sz="2000" b="1" dirty="0"/>
              <a:t>Integration</a:t>
            </a:r>
            <a:r>
              <a:rPr lang="en-US" sz="2000" b="1" dirty="0" smtClean="0"/>
              <a:t>: </a:t>
            </a:r>
            <a:r>
              <a:rPr lang="en-US" sz="2000" b="1" dirty="0" smtClean="0">
                <a:solidFill>
                  <a:srgbClr val="00B0F0"/>
                </a:solidFill>
              </a:rPr>
              <a:t>Tesla </a:t>
            </a:r>
            <a:r>
              <a:rPr lang="en-US" sz="2000" b="1" dirty="0">
                <a:solidFill>
                  <a:srgbClr val="00B0F0"/>
                </a:solidFill>
              </a:rPr>
              <a:t>owns lithium mines and produces its own batteries, ensuring control over critical raw materials for electric vehicles (EVs</a:t>
            </a:r>
            <a:r>
              <a:rPr lang="en-US" sz="2000" b="1" dirty="0" smtClean="0">
                <a:solidFill>
                  <a:srgbClr val="00B0F0"/>
                </a:solidFill>
              </a:rPr>
              <a:t>).</a:t>
            </a:r>
          </a:p>
          <a:p>
            <a:pPr marL="68580" indent="0" algn="just" rtl="0">
              <a:buNone/>
            </a:pPr>
            <a:r>
              <a:rPr lang="en-US" sz="2000" b="1" dirty="0" smtClean="0"/>
              <a:t>Forward </a:t>
            </a:r>
            <a:r>
              <a:rPr lang="en-US" sz="2000" b="1" dirty="0"/>
              <a:t>Integration</a:t>
            </a:r>
            <a:r>
              <a:rPr lang="en-US" sz="2000" b="1" dirty="0" smtClean="0"/>
              <a:t>: </a:t>
            </a:r>
            <a:r>
              <a:rPr lang="en-US" sz="2000" b="1" dirty="0">
                <a:solidFill>
                  <a:srgbClr val="00B0F0"/>
                </a:solidFill>
              </a:rPr>
              <a:t>Tesla operates its own retail stores, showrooms, and an online platform to sell directly to consumers, bypassing traditional dealerships.</a:t>
            </a:r>
          </a:p>
          <a:p>
            <a:pPr marL="68580" indent="0" algn="just" rtl="0">
              <a:buNone/>
            </a:pPr>
            <a:r>
              <a:rPr lang="en-US" sz="2000" b="1" dirty="0" smtClean="0">
                <a:solidFill>
                  <a:schemeClr val="tx1"/>
                </a:solidFill>
              </a:rPr>
              <a:t>Result: </a:t>
            </a:r>
            <a:r>
              <a:rPr lang="en-US" sz="2000" b="1" dirty="0">
                <a:solidFill>
                  <a:srgbClr val="00B0F0"/>
                </a:solidFill>
              </a:rPr>
              <a:t>Tesla controls its supply chain end-to-end, from raw materials to direct sales and servicing.</a:t>
            </a:r>
          </a:p>
          <a:p>
            <a:pPr marL="68580" indent="0" algn="just" rtl="0">
              <a:buNone/>
            </a:pPr>
            <a:r>
              <a:rPr lang="en-US" sz="2000" b="1" u="sng" dirty="0" smtClean="0">
                <a:solidFill>
                  <a:srgbClr val="92D050"/>
                </a:solidFill>
              </a:rPr>
              <a:t>2</a:t>
            </a:r>
            <a:r>
              <a:rPr lang="en-US" sz="2000" b="1" u="sng" dirty="0">
                <a:solidFill>
                  <a:srgbClr val="92D050"/>
                </a:solidFill>
              </a:rPr>
              <a:t>. </a:t>
            </a:r>
            <a:r>
              <a:rPr lang="en-US" sz="2000" b="1" u="sng" dirty="0" smtClean="0">
                <a:solidFill>
                  <a:srgbClr val="92D050"/>
                </a:solidFill>
              </a:rPr>
              <a:t>Apple</a:t>
            </a:r>
          </a:p>
          <a:p>
            <a:pPr marL="68580" indent="0" algn="just" rtl="0">
              <a:buNone/>
            </a:pPr>
            <a:r>
              <a:rPr lang="en-US" sz="2000" b="1" dirty="0" smtClean="0"/>
              <a:t>Backward </a:t>
            </a:r>
            <a:r>
              <a:rPr lang="en-US" sz="2000" b="1" dirty="0"/>
              <a:t>Integration</a:t>
            </a:r>
            <a:r>
              <a:rPr lang="en-US" sz="2000" b="1" dirty="0" smtClean="0"/>
              <a:t>: </a:t>
            </a:r>
            <a:r>
              <a:rPr lang="en-US" sz="2000" b="1" dirty="0" smtClean="0">
                <a:solidFill>
                  <a:srgbClr val="FF0000"/>
                </a:solidFill>
              </a:rPr>
              <a:t>Apple </a:t>
            </a:r>
            <a:r>
              <a:rPr lang="en-US" sz="2000" b="1" dirty="0">
                <a:solidFill>
                  <a:srgbClr val="FF0000"/>
                </a:solidFill>
              </a:rPr>
              <a:t>designs its own processors (e.g., M-series chips) and owns patents and production technology, reducing dependency on third-party suppliers</a:t>
            </a:r>
            <a:r>
              <a:rPr lang="en-US" sz="2000" b="1" dirty="0" smtClean="0">
                <a:solidFill>
                  <a:srgbClr val="FF0000"/>
                </a:solidFill>
              </a:rPr>
              <a:t>.</a:t>
            </a:r>
          </a:p>
          <a:p>
            <a:pPr marL="68580" indent="0" algn="just" rtl="0">
              <a:buNone/>
            </a:pPr>
            <a:r>
              <a:rPr lang="en-US" sz="2000" b="1" dirty="0" smtClean="0"/>
              <a:t>Forward Integration: </a:t>
            </a:r>
            <a:r>
              <a:rPr lang="en-US" sz="2000" b="1" dirty="0">
                <a:solidFill>
                  <a:srgbClr val="FF0000"/>
                </a:solidFill>
              </a:rPr>
              <a:t>Apple operates its own retail stores.</a:t>
            </a:r>
          </a:p>
          <a:p>
            <a:pPr marL="68580" indent="0" algn="just" rtl="0">
              <a:buNone/>
            </a:pPr>
            <a:r>
              <a:rPr lang="en-US" sz="2000" b="1" dirty="0" smtClean="0"/>
              <a:t>Result:</a:t>
            </a:r>
            <a:r>
              <a:rPr lang="en-US" sz="2000" dirty="0" smtClean="0"/>
              <a:t> </a:t>
            </a:r>
            <a:r>
              <a:rPr lang="en-US" sz="2000" b="1" dirty="0" smtClean="0">
                <a:solidFill>
                  <a:srgbClr val="FF0000"/>
                </a:solidFill>
              </a:rPr>
              <a:t>Apple </a:t>
            </a:r>
            <a:r>
              <a:rPr lang="en-US" sz="2000" b="1" dirty="0">
                <a:solidFill>
                  <a:srgbClr val="FF0000"/>
                </a:solidFill>
              </a:rPr>
              <a:t>ensures quality and innovation throughout its supply chain and customer </a:t>
            </a:r>
            <a:r>
              <a:rPr lang="en-US" sz="2000" b="1" dirty="0" smtClean="0">
                <a:solidFill>
                  <a:srgbClr val="FF0000"/>
                </a:solidFill>
              </a:rPr>
              <a:t>experience.</a:t>
            </a:r>
            <a:endParaRPr lang="ar-EG" sz="2000" dirty="0"/>
          </a:p>
        </p:txBody>
      </p:sp>
    </p:spTree>
    <p:extLst>
      <p:ext uri="{BB962C8B-B14F-4D97-AF65-F5344CB8AC3E}">
        <p14:creationId xmlns:p14="http://schemas.microsoft.com/office/powerpoint/2010/main" val="5729680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533400" y="1219200"/>
            <a:ext cx="7490908" cy="4800600"/>
          </a:xfrm>
        </p:spPr>
        <p:txBody>
          <a:bodyPr>
            <a:noAutofit/>
          </a:bodyPr>
          <a:lstStyle/>
          <a:p>
            <a:pPr algn="just" rtl="0"/>
            <a:r>
              <a:rPr lang="en-US" sz="2000" b="1" dirty="0" smtClean="0">
                <a:solidFill>
                  <a:schemeClr val="accent3">
                    <a:lumMod val="75000"/>
                  </a:schemeClr>
                </a:solidFill>
              </a:rPr>
              <a:t>Horizontal integration </a:t>
            </a:r>
            <a:r>
              <a:rPr lang="en-US" sz="2000" dirty="0" smtClean="0"/>
              <a:t>is when a business grows by acquiring a similar company in their industry at the same point of the supply chain.</a:t>
            </a:r>
          </a:p>
          <a:p>
            <a:pPr algn="just" rtl="0"/>
            <a:r>
              <a:rPr lang="en-US" sz="2000" b="1" dirty="0" smtClean="0"/>
              <a:t>Seeking </a:t>
            </a:r>
            <a:r>
              <a:rPr lang="en-US" sz="2000" b="1" dirty="0"/>
              <a:t>ownership or increased control over competitors by mergers, acquisitions, and </a:t>
            </a:r>
            <a:r>
              <a:rPr lang="en-US" sz="2000" b="1" dirty="0" smtClean="0"/>
              <a:t>takeovers.</a:t>
            </a:r>
          </a:p>
          <a:p>
            <a:pPr algn="just" rtl="0"/>
            <a:r>
              <a:rPr lang="en-US" sz="2000" b="1" dirty="0"/>
              <a:t>Guidelines for an Effective Horizontal Strategy-</a:t>
            </a:r>
            <a:r>
              <a:rPr lang="en-US" sz="2000" b="1" dirty="0" smtClean="0"/>
              <a:t>- </a:t>
            </a:r>
            <a:endParaRPr lang="en-US" sz="2000" dirty="0"/>
          </a:p>
          <a:p>
            <a:pPr algn="just" rtl="0"/>
            <a:r>
              <a:rPr lang="en-US" sz="2000" dirty="0" smtClean="0"/>
              <a:t>Gain </a:t>
            </a:r>
            <a:r>
              <a:rPr lang="en-US" sz="2000" dirty="0"/>
              <a:t>monopolistic characteristics without </a:t>
            </a:r>
            <a:r>
              <a:rPr lang="en-US" sz="2000" dirty="0" smtClean="0"/>
              <a:t>government </a:t>
            </a:r>
            <a:r>
              <a:rPr lang="en-US" sz="2000" dirty="0"/>
              <a:t>challenge </a:t>
            </a:r>
          </a:p>
          <a:p>
            <a:pPr algn="just" rtl="0"/>
            <a:r>
              <a:rPr lang="fr-FR" sz="2000" dirty="0" err="1" smtClean="0"/>
              <a:t>Competes</a:t>
            </a:r>
            <a:r>
              <a:rPr lang="fr-FR" sz="2000" dirty="0" smtClean="0"/>
              <a:t> </a:t>
            </a:r>
            <a:r>
              <a:rPr lang="fr-FR" sz="2000" dirty="0"/>
              <a:t>in </a:t>
            </a:r>
            <a:r>
              <a:rPr lang="fr-FR" sz="2000" dirty="0" err="1"/>
              <a:t>growing</a:t>
            </a:r>
            <a:r>
              <a:rPr lang="fr-FR" sz="2000" dirty="0"/>
              <a:t> </a:t>
            </a:r>
            <a:r>
              <a:rPr lang="fr-FR" sz="2000" dirty="0" err="1"/>
              <a:t>industry</a:t>
            </a:r>
            <a:r>
              <a:rPr lang="fr-FR" sz="2000" dirty="0"/>
              <a:t> </a:t>
            </a:r>
          </a:p>
          <a:p>
            <a:pPr algn="just" rtl="0"/>
            <a:r>
              <a:rPr lang="en-US" sz="2000" dirty="0" smtClean="0"/>
              <a:t>Increased </a:t>
            </a:r>
            <a:r>
              <a:rPr lang="en-US" sz="2000" dirty="0"/>
              <a:t>economies of scale – major competitive advantages as </a:t>
            </a:r>
            <a:r>
              <a:rPr lang="en-US" sz="2000" dirty="0" smtClean="0"/>
              <a:t>companies </a:t>
            </a:r>
            <a:r>
              <a:rPr lang="en-US" sz="2000" dirty="0"/>
              <a:t>can achieve </a:t>
            </a:r>
            <a:r>
              <a:rPr lang="en-US" sz="2000" b="1" dirty="0"/>
              <a:t>economies of scale</a:t>
            </a:r>
            <a:r>
              <a:rPr lang="en-US" sz="2000" dirty="0"/>
              <a:t> by increasing production and lowering costs. This happens because costs are spread over a larger number of goods. </a:t>
            </a:r>
          </a:p>
          <a:p>
            <a:pPr marL="68580" indent="0" algn="just" rtl="0">
              <a:buNone/>
            </a:pPr>
            <a:endParaRPr lang="en-US" sz="2000" dirty="0" smtClean="0"/>
          </a:p>
          <a:p>
            <a:pPr marL="68580" indent="0" algn="l" rtl="0">
              <a:buNone/>
            </a:pPr>
            <a:r>
              <a:rPr lang="en-US" sz="2000" dirty="0" smtClean="0"/>
              <a:t> </a:t>
            </a:r>
            <a:endParaRPr lang="ar-EG" sz="2000" dirty="0"/>
          </a:p>
        </p:txBody>
      </p:sp>
    </p:spTree>
    <p:extLst>
      <p:ext uri="{BB962C8B-B14F-4D97-AF65-F5344CB8AC3E}">
        <p14:creationId xmlns:p14="http://schemas.microsoft.com/office/powerpoint/2010/main" val="40009062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533400" y="1219200"/>
            <a:ext cx="7490908" cy="4800600"/>
          </a:xfrm>
        </p:spPr>
        <p:txBody>
          <a:bodyPr>
            <a:noAutofit/>
          </a:bodyPr>
          <a:lstStyle/>
          <a:p>
            <a:pPr algn="just" rtl="0"/>
            <a:r>
              <a:rPr lang="en-US" sz="2000" b="1" dirty="0">
                <a:solidFill>
                  <a:schemeClr val="accent3">
                    <a:lumMod val="75000"/>
                  </a:schemeClr>
                </a:solidFill>
              </a:rPr>
              <a:t>Facebook (Meta) and </a:t>
            </a:r>
            <a:r>
              <a:rPr lang="en-US" sz="2000" b="1" dirty="0" smtClean="0">
                <a:solidFill>
                  <a:schemeClr val="accent3">
                    <a:lumMod val="75000"/>
                  </a:schemeClr>
                </a:solidFill>
              </a:rPr>
              <a:t>Instagram: </a:t>
            </a:r>
          </a:p>
          <a:p>
            <a:pPr algn="just" rtl="0"/>
            <a:r>
              <a:rPr lang="en-US" sz="2000" b="1" dirty="0" smtClean="0">
                <a:solidFill>
                  <a:schemeClr val="tx1"/>
                </a:solidFill>
              </a:rPr>
              <a:t>In </a:t>
            </a:r>
            <a:r>
              <a:rPr lang="en-US" sz="2000" b="1" dirty="0">
                <a:solidFill>
                  <a:schemeClr val="tx1"/>
                </a:solidFill>
              </a:rPr>
              <a:t>2012, Facebook acquired Instagram for $1 billion</a:t>
            </a:r>
            <a:r>
              <a:rPr lang="en-US" sz="2000" b="1" dirty="0" smtClean="0">
                <a:solidFill>
                  <a:schemeClr val="tx1"/>
                </a:solidFill>
              </a:rPr>
              <a:t>.</a:t>
            </a:r>
          </a:p>
          <a:p>
            <a:pPr algn="just" rtl="0"/>
            <a:r>
              <a:rPr lang="en-US" sz="2000" b="1" dirty="0" err="1" smtClean="0">
                <a:solidFill>
                  <a:schemeClr val="tx1"/>
                </a:solidFill>
              </a:rPr>
              <a:t>Purpose:Eliminate</a:t>
            </a:r>
            <a:r>
              <a:rPr lang="en-US" sz="2000" b="1" dirty="0" smtClean="0">
                <a:solidFill>
                  <a:schemeClr val="tx1"/>
                </a:solidFill>
              </a:rPr>
              <a:t> </a:t>
            </a:r>
            <a:r>
              <a:rPr lang="en-US" sz="2000" b="1" dirty="0">
                <a:solidFill>
                  <a:schemeClr val="tx1"/>
                </a:solidFill>
              </a:rPr>
              <a:t>a potential competitor in the social media space</a:t>
            </a:r>
            <a:r>
              <a:rPr lang="en-US" sz="2000" b="1" dirty="0" smtClean="0">
                <a:solidFill>
                  <a:schemeClr val="tx1"/>
                </a:solidFill>
              </a:rPr>
              <a:t>. </a:t>
            </a:r>
          </a:p>
          <a:p>
            <a:pPr algn="just" rtl="0"/>
            <a:r>
              <a:rPr lang="en-US" sz="2000" b="1" dirty="0" smtClean="0">
                <a:solidFill>
                  <a:schemeClr val="tx1"/>
                </a:solidFill>
              </a:rPr>
              <a:t>Expand </a:t>
            </a:r>
            <a:r>
              <a:rPr lang="en-US" sz="2000" b="1" dirty="0">
                <a:solidFill>
                  <a:schemeClr val="tx1"/>
                </a:solidFill>
              </a:rPr>
              <a:t>Facebook’s user base and advertising capabilities</a:t>
            </a:r>
            <a:r>
              <a:rPr lang="en-US" sz="2000" b="1" dirty="0" smtClean="0">
                <a:solidFill>
                  <a:schemeClr val="tx1"/>
                </a:solidFill>
              </a:rPr>
              <a:t>. </a:t>
            </a:r>
          </a:p>
          <a:p>
            <a:pPr algn="just" rtl="0"/>
            <a:r>
              <a:rPr lang="en-US" sz="2000" b="1" dirty="0" smtClean="0">
                <a:solidFill>
                  <a:schemeClr val="tx1"/>
                </a:solidFill>
              </a:rPr>
              <a:t>Diversify </a:t>
            </a:r>
            <a:r>
              <a:rPr lang="en-US" sz="2000" b="1" dirty="0">
                <a:solidFill>
                  <a:schemeClr val="tx1"/>
                </a:solidFill>
              </a:rPr>
              <a:t>its portfolio in social media platforms</a:t>
            </a:r>
            <a:r>
              <a:rPr lang="en-US" sz="2000" b="1" dirty="0" smtClean="0">
                <a:solidFill>
                  <a:schemeClr val="tx1"/>
                </a:solidFill>
              </a:rPr>
              <a:t>.</a:t>
            </a:r>
          </a:p>
          <a:p>
            <a:pPr algn="just" rtl="0"/>
            <a:r>
              <a:rPr lang="en-US" sz="2000" b="1" dirty="0" smtClean="0">
                <a:solidFill>
                  <a:schemeClr val="tx1"/>
                </a:solidFill>
              </a:rPr>
              <a:t>Result</a:t>
            </a:r>
            <a:r>
              <a:rPr lang="en-US" sz="2000" b="1" dirty="0">
                <a:solidFill>
                  <a:schemeClr val="tx1"/>
                </a:solidFill>
              </a:rPr>
              <a:t>: Meta (then Facebook) gained dominance in the social media market, leveraging Instagram’s growth alongside its own</a:t>
            </a:r>
            <a:r>
              <a:rPr lang="en-US" sz="2000" b="1" dirty="0" smtClean="0">
                <a:solidFill>
                  <a:schemeClr val="tx1"/>
                </a:solidFill>
              </a:rPr>
              <a:t>.</a:t>
            </a:r>
          </a:p>
        </p:txBody>
      </p:sp>
    </p:spTree>
    <p:extLst>
      <p:ext uri="{BB962C8B-B14F-4D97-AF65-F5344CB8AC3E}">
        <p14:creationId xmlns:p14="http://schemas.microsoft.com/office/powerpoint/2010/main" val="14896551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533400" y="1219200"/>
            <a:ext cx="7490908" cy="4800600"/>
          </a:xfrm>
        </p:spPr>
        <p:txBody>
          <a:bodyPr>
            <a:noAutofit/>
          </a:bodyPr>
          <a:lstStyle/>
          <a:p>
            <a:pPr algn="just" rtl="0"/>
            <a:r>
              <a:rPr lang="en-US" sz="2000" b="1" dirty="0" smtClean="0">
                <a:solidFill>
                  <a:schemeClr val="accent3">
                    <a:lumMod val="75000"/>
                  </a:schemeClr>
                </a:solidFill>
              </a:rPr>
              <a:t>Exxon </a:t>
            </a:r>
            <a:r>
              <a:rPr lang="en-US" sz="2000" b="1" dirty="0">
                <a:solidFill>
                  <a:schemeClr val="accent3">
                    <a:lumMod val="75000"/>
                  </a:schemeClr>
                </a:solidFill>
              </a:rPr>
              <a:t>and </a:t>
            </a:r>
            <a:r>
              <a:rPr lang="en-US" sz="2000" b="1" dirty="0" smtClean="0">
                <a:solidFill>
                  <a:schemeClr val="accent3">
                    <a:lumMod val="75000"/>
                  </a:schemeClr>
                </a:solidFill>
              </a:rPr>
              <a:t>Mobil</a:t>
            </a:r>
          </a:p>
          <a:p>
            <a:pPr algn="just" rtl="0"/>
            <a:r>
              <a:rPr lang="en-US" sz="2000" b="1" dirty="0" smtClean="0">
                <a:solidFill>
                  <a:schemeClr val="tx1"/>
                </a:solidFill>
              </a:rPr>
              <a:t>Description</a:t>
            </a:r>
            <a:r>
              <a:rPr lang="en-US" sz="2000" b="1" dirty="0">
                <a:solidFill>
                  <a:schemeClr val="tx1"/>
                </a:solidFill>
              </a:rPr>
              <a:t>: In 1999, Exxon and Mobil merged to form ExxonMobil</a:t>
            </a:r>
            <a:r>
              <a:rPr lang="en-US" sz="2000" b="1" dirty="0" smtClean="0">
                <a:solidFill>
                  <a:schemeClr val="tx1"/>
                </a:solidFill>
              </a:rPr>
              <a:t>.</a:t>
            </a:r>
          </a:p>
          <a:p>
            <a:pPr algn="just" rtl="0"/>
            <a:r>
              <a:rPr lang="en-US" sz="2000" b="1" dirty="0" smtClean="0">
                <a:solidFill>
                  <a:schemeClr val="tx1"/>
                </a:solidFill>
              </a:rPr>
              <a:t>Purpose: Combine </a:t>
            </a:r>
            <a:r>
              <a:rPr lang="en-US" sz="2000" b="1" dirty="0">
                <a:solidFill>
                  <a:schemeClr val="tx1"/>
                </a:solidFill>
              </a:rPr>
              <a:t>resources and expertise in the oil and gas industry</a:t>
            </a:r>
            <a:r>
              <a:rPr lang="en-US" sz="2000" b="1" dirty="0" smtClean="0">
                <a:solidFill>
                  <a:schemeClr val="tx1"/>
                </a:solidFill>
              </a:rPr>
              <a:t>.</a:t>
            </a:r>
          </a:p>
          <a:p>
            <a:pPr algn="just" rtl="0"/>
            <a:r>
              <a:rPr lang="en-US" sz="2000" b="1" dirty="0" smtClean="0">
                <a:solidFill>
                  <a:schemeClr val="tx1"/>
                </a:solidFill>
              </a:rPr>
              <a:t>Achieve </a:t>
            </a:r>
            <a:r>
              <a:rPr lang="en-US" sz="2000" b="1" dirty="0">
                <a:solidFill>
                  <a:schemeClr val="tx1"/>
                </a:solidFill>
              </a:rPr>
              <a:t>economies of scale in exploration, production, and distribution</a:t>
            </a:r>
            <a:r>
              <a:rPr lang="en-US" sz="2000" b="1" dirty="0" smtClean="0">
                <a:solidFill>
                  <a:schemeClr val="tx1"/>
                </a:solidFill>
              </a:rPr>
              <a:t>.</a:t>
            </a:r>
          </a:p>
          <a:p>
            <a:pPr algn="just" rtl="0"/>
            <a:r>
              <a:rPr lang="en-US" sz="2000" b="1" dirty="0" smtClean="0">
                <a:solidFill>
                  <a:schemeClr val="tx1"/>
                </a:solidFill>
              </a:rPr>
              <a:t>Strengthen </a:t>
            </a:r>
            <a:r>
              <a:rPr lang="en-US" sz="2000" b="1" dirty="0">
                <a:solidFill>
                  <a:schemeClr val="tx1"/>
                </a:solidFill>
              </a:rPr>
              <a:t>their competitive position in a highly competitive market</a:t>
            </a:r>
            <a:r>
              <a:rPr lang="en-US" sz="2000" b="1" dirty="0" smtClean="0">
                <a:solidFill>
                  <a:schemeClr val="tx1"/>
                </a:solidFill>
              </a:rPr>
              <a:t>.</a:t>
            </a:r>
          </a:p>
          <a:p>
            <a:pPr algn="just" rtl="0"/>
            <a:r>
              <a:rPr lang="en-US" sz="2000" b="1" dirty="0" smtClean="0">
                <a:solidFill>
                  <a:schemeClr val="tx1"/>
                </a:solidFill>
              </a:rPr>
              <a:t>Result</a:t>
            </a:r>
            <a:r>
              <a:rPr lang="en-US" sz="2000" b="1" dirty="0">
                <a:solidFill>
                  <a:schemeClr val="tx1"/>
                </a:solidFill>
              </a:rPr>
              <a:t>: ExxonMobil became one of the largest publicly traded oil and gas companies in the world.</a:t>
            </a:r>
            <a:endParaRPr lang="en-US" sz="2000" b="1" dirty="0" smtClean="0">
              <a:solidFill>
                <a:schemeClr val="tx1"/>
              </a:solidFill>
            </a:endParaRPr>
          </a:p>
        </p:txBody>
      </p:sp>
    </p:spTree>
    <p:extLst>
      <p:ext uri="{BB962C8B-B14F-4D97-AF65-F5344CB8AC3E}">
        <p14:creationId xmlns:p14="http://schemas.microsoft.com/office/powerpoint/2010/main" val="10182921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457200" y="1066800"/>
            <a:ext cx="7490908" cy="2809875"/>
          </a:xfrm>
        </p:spPr>
        <p:txBody>
          <a:bodyPr>
            <a:normAutofit/>
          </a:bodyPr>
          <a:lstStyle/>
          <a:p>
            <a:pPr marL="68580" indent="0" algn="just" rtl="0">
              <a:buNone/>
            </a:pPr>
            <a:r>
              <a:rPr lang="en-US" sz="2200" b="1" dirty="0" smtClean="0">
                <a:solidFill>
                  <a:srgbClr val="FF0000"/>
                </a:solidFill>
              </a:rPr>
              <a:t>The types of strategies.</a:t>
            </a:r>
            <a:endParaRPr lang="en-US" sz="2200" b="1" dirty="0">
              <a:solidFill>
                <a:srgbClr val="FF0000"/>
              </a:solidFill>
            </a:endParaRPr>
          </a:p>
          <a:p>
            <a:pPr marL="68580" indent="0" algn="just" rtl="0">
              <a:buNone/>
            </a:pPr>
            <a:r>
              <a:rPr lang="en-US" sz="2200" b="1" dirty="0" smtClean="0"/>
              <a:t>2- Intensive strategies</a:t>
            </a:r>
          </a:p>
        </p:txBody>
      </p:sp>
      <p:sp>
        <p:nvSpPr>
          <p:cNvPr id="4" name="Oval 3"/>
          <p:cNvSpPr/>
          <p:nvPr/>
        </p:nvSpPr>
        <p:spPr>
          <a:xfrm>
            <a:off x="866775" y="3276600"/>
            <a:ext cx="1981200" cy="8382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600" b="1" dirty="0" smtClean="0"/>
              <a:t>Intensive strategies</a:t>
            </a:r>
            <a:endParaRPr lang="ar-EG" sz="1600" b="1" dirty="0"/>
          </a:p>
        </p:txBody>
      </p:sp>
      <p:sp>
        <p:nvSpPr>
          <p:cNvPr id="5" name="Oval 4"/>
          <p:cNvSpPr/>
          <p:nvPr/>
        </p:nvSpPr>
        <p:spPr>
          <a:xfrm>
            <a:off x="6353174" y="4495800"/>
            <a:ext cx="2105026"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smtClean="0"/>
              <a:t>Product development</a:t>
            </a:r>
            <a:endParaRPr lang="ar-EG" sz="1400" b="1" dirty="0"/>
          </a:p>
        </p:txBody>
      </p:sp>
      <p:sp>
        <p:nvSpPr>
          <p:cNvPr id="6" name="Oval 5"/>
          <p:cNvSpPr/>
          <p:nvPr/>
        </p:nvSpPr>
        <p:spPr>
          <a:xfrm>
            <a:off x="6248400" y="3467100"/>
            <a:ext cx="21336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smtClean="0"/>
              <a:t>Market development</a:t>
            </a:r>
            <a:endParaRPr lang="ar-EG" sz="1400" b="1" dirty="0"/>
          </a:p>
        </p:txBody>
      </p:sp>
      <p:sp>
        <p:nvSpPr>
          <p:cNvPr id="7" name="Oval 6"/>
          <p:cNvSpPr/>
          <p:nvPr/>
        </p:nvSpPr>
        <p:spPr>
          <a:xfrm>
            <a:off x="6172199" y="2514600"/>
            <a:ext cx="2209801"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500" b="1" dirty="0" smtClean="0"/>
              <a:t>Market Penetration</a:t>
            </a:r>
            <a:endParaRPr lang="ar-EG" sz="1500" b="1" dirty="0"/>
          </a:p>
        </p:txBody>
      </p:sp>
      <p:cxnSp>
        <p:nvCxnSpPr>
          <p:cNvPr id="9" name="Straight Connector 8"/>
          <p:cNvCxnSpPr>
            <a:stCxn id="4" idx="6"/>
            <a:endCxn id="7" idx="2"/>
          </p:cNvCxnSpPr>
          <p:nvPr/>
        </p:nvCxnSpPr>
        <p:spPr>
          <a:xfrm flipV="1">
            <a:off x="2847975" y="2933700"/>
            <a:ext cx="3324224" cy="762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4" idx="6"/>
            <a:endCxn id="6" idx="2"/>
          </p:cNvCxnSpPr>
          <p:nvPr/>
        </p:nvCxnSpPr>
        <p:spPr>
          <a:xfrm>
            <a:off x="2847975" y="3695700"/>
            <a:ext cx="3400425" cy="190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 idx="6"/>
            <a:endCxn id="5" idx="2"/>
          </p:cNvCxnSpPr>
          <p:nvPr/>
        </p:nvCxnSpPr>
        <p:spPr>
          <a:xfrm>
            <a:off x="2847975" y="3695700"/>
            <a:ext cx="3505199" cy="12192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579070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533400" y="1219200"/>
            <a:ext cx="7490908" cy="4800600"/>
          </a:xfrm>
        </p:spPr>
        <p:txBody>
          <a:bodyPr>
            <a:noAutofit/>
          </a:bodyPr>
          <a:lstStyle/>
          <a:p>
            <a:pPr marL="68580" indent="0" algn="just" rtl="0">
              <a:buNone/>
            </a:pPr>
            <a:r>
              <a:rPr lang="en-US" sz="2000" b="1" dirty="0"/>
              <a:t>Market Penetration</a:t>
            </a:r>
            <a:r>
              <a:rPr lang="en-US" sz="2000" dirty="0"/>
              <a:t>: This focuses on </a:t>
            </a:r>
            <a:r>
              <a:rPr lang="en-US" sz="2000" dirty="0" smtClean="0"/>
              <a:t>increasing the market share through increasing </a:t>
            </a:r>
            <a:r>
              <a:rPr lang="en-US" sz="2000" dirty="0"/>
              <a:t>sales of </a:t>
            </a:r>
            <a:r>
              <a:rPr lang="en-US" sz="2000" b="1" u="sng" dirty="0"/>
              <a:t>existing</a:t>
            </a:r>
            <a:r>
              <a:rPr lang="en-US" sz="2000" dirty="0"/>
              <a:t> products to an </a:t>
            </a:r>
            <a:r>
              <a:rPr lang="en-US" sz="2000" b="1" u="sng" dirty="0"/>
              <a:t>existing</a:t>
            </a:r>
            <a:r>
              <a:rPr lang="en-US" sz="2000" dirty="0"/>
              <a:t> </a:t>
            </a:r>
            <a:r>
              <a:rPr lang="en-US" sz="2000" dirty="0" smtClean="0"/>
              <a:t>market by exerting more marketing effort. </a:t>
            </a:r>
          </a:p>
          <a:p>
            <a:endParaRPr lang="ar-EG" sz="2000" dirty="0"/>
          </a:p>
          <a:p>
            <a:pPr algn="l" rtl="0"/>
            <a:r>
              <a:rPr lang="en-US" sz="2000" dirty="0" smtClean="0"/>
              <a:t>Current </a:t>
            </a:r>
            <a:r>
              <a:rPr lang="en-US" sz="2000" dirty="0"/>
              <a:t>markets are not saturated with products </a:t>
            </a:r>
          </a:p>
          <a:p>
            <a:pPr algn="l" rtl="0"/>
            <a:r>
              <a:rPr lang="en-US" sz="2000" dirty="0" smtClean="0"/>
              <a:t>Usage </a:t>
            </a:r>
            <a:r>
              <a:rPr lang="en-US" sz="2000" dirty="0"/>
              <a:t>rate of present customers can be increased significantly </a:t>
            </a:r>
          </a:p>
          <a:p>
            <a:pPr algn="l" rtl="0"/>
            <a:r>
              <a:rPr lang="en-US" sz="2000" dirty="0" smtClean="0"/>
              <a:t>Increased </a:t>
            </a:r>
            <a:r>
              <a:rPr lang="en-US" sz="2000" dirty="0"/>
              <a:t>economies of scale provide major competitive advantage </a:t>
            </a:r>
          </a:p>
        </p:txBody>
      </p:sp>
    </p:spTree>
    <p:extLst>
      <p:ext uri="{BB962C8B-B14F-4D97-AF65-F5344CB8AC3E}">
        <p14:creationId xmlns:p14="http://schemas.microsoft.com/office/powerpoint/2010/main" val="132906516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533400" y="1219200"/>
            <a:ext cx="7490908" cy="4800600"/>
          </a:xfrm>
        </p:spPr>
        <p:txBody>
          <a:bodyPr>
            <a:noAutofit/>
          </a:bodyPr>
          <a:lstStyle/>
          <a:p>
            <a:pPr marL="68580" indent="0" algn="just" rtl="0">
              <a:buNone/>
            </a:pPr>
            <a:endParaRPr lang="en-US" sz="2000" dirty="0"/>
          </a:p>
          <a:p>
            <a:pPr marL="68580" indent="0" algn="just" rtl="0">
              <a:buNone/>
            </a:pPr>
            <a:r>
              <a:rPr lang="en-US" sz="2000" b="1" dirty="0"/>
              <a:t>Market Development</a:t>
            </a:r>
            <a:r>
              <a:rPr lang="en-US" sz="2000" dirty="0"/>
              <a:t>: This strategy focuses on entering a </a:t>
            </a:r>
            <a:r>
              <a:rPr lang="en-US" sz="2000" b="1" u="sng" dirty="0"/>
              <a:t>new</a:t>
            </a:r>
            <a:r>
              <a:rPr lang="en-US" sz="2000" dirty="0"/>
              <a:t> market (i.e. new geographic areas) using </a:t>
            </a:r>
            <a:r>
              <a:rPr lang="en-US" sz="2000" b="1" u="sng" dirty="0"/>
              <a:t>existing</a:t>
            </a:r>
            <a:r>
              <a:rPr lang="en-US" sz="2000" dirty="0"/>
              <a:t> products</a:t>
            </a:r>
            <a:r>
              <a:rPr lang="en-US" sz="2000" dirty="0" smtClean="0"/>
              <a:t>.</a:t>
            </a:r>
          </a:p>
          <a:p>
            <a:pPr marL="68580" indent="0">
              <a:buNone/>
            </a:pPr>
            <a:endParaRPr lang="ar-EG" sz="2000" dirty="0"/>
          </a:p>
          <a:p>
            <a:pPr algn="l" rtl="0"/>
            <a:r>
              <a:rPr lang="en-US" sz="2000" dirty="0"/>
              <a:t>New channels of distribution are available that </a:t>
            </a:r>
            <a:r>
              <a:rPr lang="en-US" sz="2000" dirty="0" smtClean="0"/>
              <a:t>reliable</a:t>
            </a:r>
            <a:r>
              <a:rPr lang="en-US" sz="2000" dirty="0"/>
              <a:t> </a:t>
            </a:r>
            <a:r>
              <a:rPr lang="en-US" sz="2000" dirty="0" smtClean="0"/>
              <a:t>and inexpensive</a:t>
            </a:r>
            <a:r>
              <a:rPr lang="en-US" sz="2000" dirty="0"/>
              <a:t>, of good quality </a:t>
            </a:r>
          </a:p>
          <a:p>
            <a:pPr algn="l" rtl="0"/>
            <a:r>
              <a:rPr lang="en-US" sz="2000" dirty="0" smtClean="0"/>
              <a:t>Firm </a:t>
            </a:r>
            <a:r>
              <a:rPr lang="en-US" sz="2000" dirty="0"/>
              <a:t>is successful at what it does </a:t>
            </a:r>
          </a:p>
          <a:p>
            <a:pPr algn="l" rtl="0"/>
            <a:r>
              <a:rPr lang="fr-FR" sz="2000" dirty="0" smtClean="0"/>
              <a:t>New </a:t>
            </a:r>
            <a:r>
              <a:rPr lang="fr-FR" sz="2000" dirty="0" err="1" smtClean="0"/>
              <a:t>unsaturated</a:t>
            </a:r>
            <a:r>
              <a:rPr lang="fr-FR" sz="2000" dirty="0" smtClean="0"/>
              <a:t> </a:t>
            </a:r>
            <a:r>
              <a:rPr lang="fr-FR" sz="2000" dirty="0" err="1"/>
              <a:t>markets</a:t>
            </a:r>
            <a:r>
              <a:rPr lang="fr-FR" sz="2000" dirty="0"/>
              <a:t> </a:t>
            </a:r>
            <a:r>
              <a:rPr lang="fr-FR" sz="2000" dirty="0" err="1"/>
              <a:t>exist</a:t>
            </a:r>
            <a:r>
              <a:rPr lang="fr-FR" sz="2000" dirty="0"/>
              <a:t> </a:t>
            </a:r>
          </a:p>
          <a:p>
            <a:pPr algn="l" rtl="0"/>
            <a:r>
              <a:rPr lang="fr-FR" sz="2000" dirty="0" err="1" smtClean="0"/>
              <a:t>Excess</a:t>
            </a:r>
            <a:r>
              <a:rPr lang="fr-FR" sz="2000" dirty="0" smtClean="0"/>
              <a:t> </a:t>
            </a:r>
            <a:r>
              <a:rPr lang="fr-FR" sz="2000" dirty="0"/>
              <a:t>production </a:t>
            </a:r>
            <a:r>
              <a:rPr lang="fr-FR" sz="2000" dirty="0" err="1"/>
              <a:t>capacity</a:t>
            </a:r>
            <a:r>
              <a:rPr lang="fr-FR" sz="2000" dirty="0"/>
              <a:t> </a:t>
            </a:r>
          </a:p>
          <a:p>
            <a:pPr algn="l" rtl="0"/>
            <a:r>
              <a:rPr lang="en-US" sz="2000" dirty="0" smtClean="0"/>
              <a:t>Basic </a:t>
            </a:r>
            <a:r>
              <a:rPr lang="en-US" sz="2000" dirty="0"/>
              <a:t>industry rapidly becoming global </a:t>
            </a:r>
          </a:p>
          <a:p>
            <a:pPr marL="68580" indent="0" algn="just" rtl="0">
              <a:buNone/>
            </a:pPr>
            <a:endParaRPr lang="ar-EG" sz="2000" dirty="0"/>
          </a:p>
          <a:p>
            <a:pPr marL="68580" indent="0" algn="just" rtl="0">
              <a:buNone/>
            </a:pPr>
            <a:endParaRPr lang="en-US" sz="2000" dirty="0"/>
          </a:p>
        </p:txBody>
      </p:sp>
    </p:spTree>
    <p:extLst>
      <p:ext uri="{BB962C8B-B14F-4D97-AF65-F5344CB8AC3E}">
        <p14:creationId xmlns:p14="http://schemas.microsoft.com/office/powerpoint/2010/main" val="573578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533400" y="1143000"/>
            <a:ext cx="8077200" cy="4800600"/>
          </a:xfrm>
        </p:spPr>
        <p:txBody>
          <a:bodyPr>
            <a:noAutofit/>
          </a:bodyPr>
          <a:lstStyle/>
          <a:p>
            <a:pPr marL="68580" indent="0" algn="just" rtl="0">
              <a:buNone/>
            </a:pPr>
            <a:r>
              <a:rPr lang="en-US" sz="1800" b="1" dirty="0" smtClean="0"/>
              <a:t>Product </a:t>
            </a:r>
            <a:r>
              <a:rPr lang="en-US" sz="1800" b="1" dirty="0"/>
              <a:t>Development</a:t>
            </a:r>
            <a:r>
              <a:rPr lang="en-US" sz="1800" dirty="0"/>
              <a:t>: This strategy focuses on </a:t>
            </a:r>
            <a:r>
              <a:rPr lang="en-US" sz="1800" dirty="0" smtClean="0"/>
              <a:t>modifying present products or introducing </a:t>
            </a:r>
            <a:r>
              <a:rPr lang="en-US" sz="1800" b="1" u="sng" dirty="0"/>
              <a:t>new</a:t>
            </a:r>
            <a:r>
              <a:rPr lang="en-US" sz="1800" dirty="0"/>
              <a:t> products to an </a:t>
            </a:r>
            <a:r>
              <a:rPr lang="en-US" sz="1800" b="1" u="sng" dirty="0"/>
              <a:t>existing</a:t>
            </a:r>
            <a:r>
              <a:rPr lang="en-US" sz="1800" dirty="0"/>
              <a:t> market. </a:t>
            </a:r>
            <a:endParaRPr lang="ar-EG" sz="1800" dirty="0"/>
          </a:p>
          <a:p>
            <a:pPr algn="l" rtl="0"/>
            <a:r>
              <a:rPr lang="en-US" sz="1800" dirty="0" smtClean="0"/>
              <a:t>Products </a:t>
            </a:r>
            <a:r>
              <a:rPr lang="en-US" sz="1800" dirty="0"/>
              <a:t>in maturity stage of life </a:t>
            </a:r>
            <a:r>
              <a:rPr lang="en-US" sz="1800" dirty="0" smtClean="0"/>
              <a:t>cycle. </a:t>
            </a:r>
            <a:r>
              <a:rPr lang="en-US" sz="1800" b="1" dirty="0" smtClean="0"/>
              <a:t>Maturity Stage</a:t>
            </a:r>
            <a:r>
              <a:rPr lang="en-US" sz="1800" dirty="0"/>
              <a:t> </a:t>
            </a:r>
            <a:r>
              <a:rPr lang="en-US" sz="1800" dirty="0" smtClean="0"/>
              <a:t>shows </a:t>
            </a:r>
            <a:r>
              <a:rPr lang="en-US" sz="1800" dirty="0"/>
              <a:t>that sales will eventually peak and then slow down. </a:t>
            </a:r>
            <a:endParaRPr lang="en-US" sz="1800" dirty="0" smtClean="0"/>
          </a:p>
          <a:p>
            <a:pPr algn="l" rtl="0"/>
            <a:r>
              <a:rPr lang="en-US" sz="1800" dirty="0" smtClean="0"/>
              <a:t>Industry </a:t>
            </a:r>
            <a:r>
              <a:rPr lang="en-US" sz="1800" dirty="0"/>
              <a:t>characterized by rapid technological development </a:t>
            </a:r>
          </a:p>
          <a:p>
            <a:pPr algn="l" rtl="0"/>
            <a:r>
              <a:rPr lang="en-US" sz="1800" dirty="0" smtClean="0"/>
              <a:t>Competitors </a:t>
            </a:r>
            <a:r>
              <a:rPr lang="en-US" sz="1800" dirty="0"/>
              <a:t>offer better-quality products at comparable prices </a:t>
            </a:r>
          </a:p>
          <a:p>
            <a:pPr algn="l" rtl="0"/>
            <a:r>
              <a:rPr lang="en-US" sz="1800" dirty="0" smtClean="0"/>
              <a:t>Strong </a:t>
            </a:r>
            <a:r>
              <a:rPr lang="en-US" sz="1800" dirty="0"/>
              <a:t>R&amp;D (Research and Development) capabilities </a:t>
            </a:r>
          </a:p>
          <a:p>
            <a:pPr marL="68580" indent="0" algn="just" rtl="0">
              <a:buNone/>
            </a:pPr>
            <a:endParaRPr lang="ar-EG" sz="2000" dirty="0"/>
          </a:p>
          <a:p>
            <a:pPr marL="68580" indent="0" algn="just" rtl="0">
              <a:buNone/>
            </a:pPr>
            <a:endParaRPr lang="en-US" sz="20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505200"/>
            <a:ext cx="6248400"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946006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457200" y="1066800"/>
            <a:ext cx="7490908" cy="2809875"/>
          </a:xfrm>
        </p:spPr>
        <p:txBody>
          <a:bodyPr>
            <a:normAutofit/>
          </a:bodyPr>
          <a:lstStyle/>
          <a:p>
            <a:pPr marL="68580" indent="0" algn="just" rtl="0">
              <a:buNone/>
            </a:pPr>
            <a:r>
              <a:rPr lang="en-US" sz="2200" b="1" dirty="0" smtClean="0">
                <a:solidFill>
                  <a:srgbClr val="FF0000"/>
                </a:solidFill>
              </a:rPr>
              <a:t>The types of strategies.</a:t>
            </a:r>
            <a:endParaRPr lang="en-US" sz="2200" b="1" dirty="0">
              <a:solidFill>
                <a:srgbClr val="FF0000"/>
              </a:solidFill>
            </a:endParaRPr>
          </a:p>
          <a:p>
            <a:pPr marL="68580" indent="0" algn="just" rtl="0">
              <a:buNone/>
            </a:pPr>
            <a:r>
              <a:rPr lang="en-US" sz="2200" b="1" dirty="0" smtClean="0"/>
              <a:t>3- Diversification strategies</a:t>
            </a:r>
          </a:p>
        </p:txBody>
      </p:sp>
      <p:sp>
        <p:nvSpPr>
          <p:cNvPr id="4" name="Oval 3"/>
          <p:cNvSpPr/>
          <p:nvPr/>
        </p:nvSpPr>
        <p:spPr>
          <a:xfrm>
            <a:off x="866774" y="2895600"/>
            <a:ext cx="2409825" cy="16764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600" b="1" u="sng" dirty="0" smtClean="0"/>
              <a:t>Diversification</a:t>
            </a:r>
          </a:p>
          <a:p>
            <a:pPr algn="ctr"/>
            <a:r>
              <a:rPr lang="en-US" sz="1600" b="1" u="sng" dirty="0" smtClean="0"/>
              <a:t>strategies</a:t>
            </a:r>
            <a:endParaRPr lang="ar-EG" sz="1600" b="1" u="sng" dirty="0"/>
          </a:p>
        </p:txBody>
      </p:sp>
      <p:sp>
        <p:nvSpPr>
          <p:cNvPr id="5" name="Oval 4"/>
          <p:cNvSpPr/>
          <p:nvPr/>
        </p:nvSpPr>
        <p:spPr>
          <a:xfrm>
            <a:off x="6353174" y="4495800"/>
            <a:ext cx="2105026"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a:t>Unrelated Diversification</a:t>
            </a:r>
            <a:endParaRPr lang="ar-EG" sz="1400" b="1" dirty="0"/>
          </a:p>
        </p:txBody>
      </p:sp>
      <p:sp>
        <p:nvSpPr>
          <p:cNvPr id="7" name="Oval 6"/>
          <p:cNvSpPr/>
          <p:nvPr/>
        </p:nvSpPr>
        <p:spPr>
          <a:xfrm>
            <a:off x="6172199" y="2514600"/>
            <a:ext cx="2209801"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500" b="1" dirty="0" smtClean="0"/>
              <a:t>Related Diversification</a:t>
            </a:r>
            <a:endParaRPr lang="ar-EG" sz="1500" b="1" dirty="0"/>
          </a:p>
        </p:txBody>
      </p:sp>
      <p:cxnSp>
        <p:nvCxnSpPr>
          <p:cNvPr id="9" name="Straight Connector 8"/>
          <p:cNvCxnSpPr>
            <a:stCxn id="4" idx="6"/>
            <a:endCxn id="7" idx="2"/>
          </p:cNvCxnSpPr>
          <p:nvPr/>
        </p:nvCxnSpPr>
        <p:spPr>
          <a:xfrm flipV="1">
            <a:off x="3276599" y="2933700"/>
            <a:ext cx="2895600" cy="800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 idx="6"/>
            <a:endCxn id="5" idx="2"/>
          </p:cNvCxnSpPr>
          <p:nvPr/>
        </p:nvCxnSpPr>
        <p:spPr>
          <a:xfrm>
            <a:off x="3276599" y="3733800"/>
            <a:ext cx="3076575" cy="11811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94370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533400" y="1219200"/>
            <a:ext cx="7490908" cy="4800600"/>
          </a:xfrm>
        </p:spPr>
        <p:txBody>
          <a:bodyPr>
            <a:noAutofit/>
          </a:bodyPr>
          <a:lstStyle/>
          <a:p>
            <a:pPr marL="68580" indent="0" algn="just" rtl="0">
              <a:buNone/>
            </a:pPr>
            <a:r>
              <a:rPr lang="en-US" sz="2000" b="1" dirty="0" smtClean="0"/>
              <a:t>3- Diversification strategies </a:t>
            </a:r>
            <a:r>
              <a:rPr lang="en-US" sz="2000" dirty="0" smtClean="0"/>
              <a:t>focus on developing </a:t>
            </a:r>
            <a:r>
              <a:rPr lang="en-US" sz="2000" b="1" u="sng" dirty="0"/>
              <a:t>new</a:t>
            </a:r>
            <a:r>
              <a:rPr lang="en-US" sz="2000" dirty="0"/>
              <a:t> products in </a:t>
            </a:r>
            <a:r>
              <a:rPr lang="en-US" sz="2000" b="1" u="sng" dirty="0"/>
              <a:t>new</a:t>
            </a:r>
            <a:r>
              <a:rPr lang="en-US" sz="2000" dirty="0"/>
              <a:t> markets. </a:t>
            </a:r>
            <a:endParaRPr lang="en-US" sz="2000" dirty="0" smtClean="0"/>
          </a:p>
          <a:p>
            <a:pPr algn="just" rtl="0"/>
            <a:r>
              <a:rPr lang="en-US" sz="2000" dirty="0"/>
              <a:t>First and foremost, companies diversify to achieve greater profitability. Diversification is used by businesses to help them expand into markets and industries that they haven’t currently explored. This is achieved by adding new products, services, or features that will appeal to the customers in these new markets.</a:t>
            </a:r>
          </a:p>
          <a:p>
            <a:pPr algn="just" rtl="0"/>
            <a:r>
              <a:rPr lang="en-US" sz="2000" dirty="0"/>
              <a:t>By expanding their reach and appeal, businesses are able to explore new </a:t>
            </a:r>
            <a:r>
              <a:rPr lang="en-US" sz="2000" dirty="0" smtClean="0"/>
              <a:t>paths </a:t>
            </a:r>
            <a:r>
              <a:rPr lang="en-US" sz="2000" dirty="0"/>
              <a:t>for sales, and in turn, have the potential to vastly increase their profits.</a:t>
            </a:r>
          </a:p>
          <a:p>
            <a:pPr algn="just" rtl="0"/>
            <a:r>
              <a:rPr lang="en-US" sz="2000" dirty="0" smtClean="0"/>
              <a:t>Diversification </a:t>
            </a:r>
            <a:r>
              <a:rPr lang="en-US" sz="2000" dirty="0"/>
              <a:t>can also allow a company to minimize the risk of an industry downturn, it can boost brand image, and it can also be used as a defense mechanism to protect a company from strong competition.</a:t>
            </a:r>
          </a:p>
          <a:p>
            <a:pPr marL="68580" indent="0" algn="just" rtl="0">
              <a:buNone/>
            </a:pPr>
            <a:endParaRPr lang="en-US" sz="2000" dirty="0" smtClean="0"/>
          </a:p>
        </p:txBody>
      </p:sp>
    </p:spTree>
    <p:extLst>
      <p:ext uri="{BB962C8B-B14F-4D97-AF65-F5344CB8AC3E}">
        <p14:creationId xmlns:p14="http://schemas.microsoft.com/office/powerpoint/2010/main" val="37085123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533400" y="1219200"/>
            <a:ext cx="7490908" cy="4800600"/>
          </a:xfrm>
        </p:spPr>
        <p:txBody>
          <a:bodyPr>
            <a:noAutofit/>
          </a:bodyPr>
          <a:lstStyle/>
          <a:p>
            <a:pPr marL="68580" indent="0" algn="just" rtl="0">
              <a:buNone/>
            </a:pPr>
            <a:r>
              <a:rPr lang="en-US" sz="2000" b="1" dirty="0" smtClean="0">
                <a:solidFill>
                  <a:schemeClr val="accent3">
                    <a:lumMod val="75000"/>
                  </a:schemeClr>
                </a:solidFill>
              </a:rPr>
              <a:t>3- Diversification strategies</a:t>
            </a:r>
          </a:p>
          <a:p>
            <a:pPr marL="68580" indent="0" algn="just" rtl="0">
              <a:buNone/>
            </a:pPr>
            <a:r>
              <a:rPr lang="en-US" sz="2000" b="1" dirty="0" smtClean="0"/>
              <a:t> – Related diversification</a:t>
            </a:r>
            <a:endParaRPr lang="en-US" sz="2000" b="1" dirty="0"/>
          </a:p>
          <a:p>
            <a:pPr marL="68580" indent="0" algn="just" rtl="0">
              <a:buNone/>
            </a:pPr>
            <a:r>
              <a:rPr lang="en-US" sz="2000" dirty="0" smtClean="0"/>
              <a:t>Introducing new product but the industry is almost the same.</a:t>
            </a:r>
          </a:p>
          <a:p>
            <a:pPr marL="68580" indent="0" algn="just" rtl="0">
              <a:buNone/>
            </a:pPr>
            <a:r>
              <a:rPr lang="en-US" sz="2000" dirty="0" smtClean="0"/>
              <a:t>In other words, adding new but related products or services.</a:t>
            </a:r>
          </a:p>
          <a:p>
            <a:pPr marL="68580" indent="0" algn="just" rtl="0">
              <a:buNone/>
            </a:pPr>
            <a:r>
              <a:rPr lang="en-US" sz="2000" b="1" dirty="0" smtClean="0"/>
              <a:t>(ex. Tyson food entered the dog food industry)</a:t>
            </a:r>
          </a:p>
          <a:p>
            <a:pPr marL="68580" indent="0" algn="just" rtl="0">
              <a:buNone/>
            </a:pPr>
            <a:r>
              <a:rPr lang="en-US" sz="2000" b="1" dirty="0" smtClean="0"/>
              <a:t>– Unrelated diversification</a:t>
            </a:r>
          </a:p>
          <a:p>
            <a:pPr marL="68580" indent="0" algn="just" rtl="0">
              <a:buNone/>
            </a:pPr>
            <a:r>
              <a:rPr lang="en-US" sz="2000" dirty="0"/>
              <a:t>Introducing new product but the </a:t>
            </a:r>
            <a:r>
              <a:rPr lang="en-US" sz="2000" dirty="0" smtClean="0"/>
              <a:t>industry is completely different. </a:t>
            </a:r>
          </a:p>
          <a:p>
            <a:pPr marL="68580" indent="0" algn="just" rtl="0">
              <a:buNone/>
            </a:pPr>
            <a:r>
              <a:rPr lang="en-US" sz="2000" dirty="0"/>
              <a:t>In other words, adding </a:t>
            </a:r>
            <a:r>
              <a:rPr lang="en-US" sz="2000" dirty="0" smtClean="0"/>
              <a:t>new and unrelated </a:t>
            </a:r>
            <a:r>
              <a:rPr lang="en-US" sz="2000" dirty="0"/>
              <a:t>products or services</a:t>
            </a:r>
            <a:r>
              <a:rPr lang="en-US" sz="2000" dirty="0" smtClean="0"/>
              <a:t>.</a:t>
            </a:r>
            <a:endParaRPr lang="en-US" sz="2000" b="1" dirty="0"/>
          </a:p>
          <a:p>
            <a:pPr marL="68580" indent="0" algn="just" rtl="0">
              <a:buNone/>
            </a:pPr>
            <a:r>
              <a:rPr lang="en-US" sz="2000" b="1" dirty="0" smtClean="0"/>
              <a:t>(ex. Ceramic Cleopatra) (ceramic industry and real estate).</a:t>
            </a:r>
          </a:p>
        </p:txBody>
      </p:sp>
    </p:spTree>
    <p:extLst>
      <p:ext uri="{BB962C8B-B14F-4D97-AF65-F5344CB8AC3E}">
        <p14:creationId xmlns:p14="http://schemas.microsoft.com/office/powerpoint/2010/main" val="36176486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533400" y="1219200"/>
            <a:ext cx="7490908" cy="4800600"/>
          </a:xfrm>
        </p:spPr>
        <p:txBody>
          <a:bodyPr>
            <a:noAutofit/>
          </a:bodyPr>
          <a:lstStyle/>
          <a:p>
            <a:pPr marL="68580" indent="0" algn="just" rtl="0">
              <a:buNone/>
            </a:pPr>
            <a:r>
              <a:rPr lang="en-US" sz="2000" b="1" dirty="0" smtClean="0">
                <a:solidFill>
                  <a:schemeClr val="accent3">
                    <a:lumMod val="75000"/>
                  </a:schemeClr>
                </a:solidFill>
              </a:rPr>
              <a:t>3- Diversification strategies</a:t>
            </a:r>
          </a:p>
          <a:p>
            <a:pPr marL="68580" indent="0" algn="just" rtl="0">
              <a:buNone/>
            </a:pPr>
            <a:r>
              <a:rPr lang="en-US" sz="2000" b="1" dirty="0"/>
              <a:t>Related diversification</a:t>
            </a:r>
            <a:r>
              <a:rPr lang="en-US" sz="2000" dirty="0"/>
              <a:t> makes more sense than </a:t>
            </a:r>
            <a:r>
              <a:rPr lang="en-US" sz="2000" b="1" dirty="0"/>
              <a:t>unrelated</a:t>
            </a:r>
            <a:r>
              <a:rPr lang="en-US" sz="2000" dirty="0"/>
              <a:t> because the company shares assets, skills, or capabilities. But many successful </a:t>
            </a:r>
            <a:r>
              <a:rPr lang="en-US" sz="2000" dirty="0" smtClean="0"/>
              <a:t>companies rely on </a:t>
            </a:r>
            <a:r>
              <a:rPr lang="en-US" sz="2000" b="1" dirty="0" smtClean="0"/>
              <a:t>unrelated</a:t>
            </a:r>
            <a:r>
              <a:rPr lang="en-US" sz="2000" dirty="0" smtClean="0"/>
              <a:t> diversification strategy.</a:t>
            </a:r>
          </a:p>
          <a:p>
            <a:pPr marL="68580" indent="0" algn="just" rtl="0">
              <a:buNone/>
            </a:pPr>
            <a:endParaRPr lang="en-US" sz="2000" dirty="0"/>
          </a:p>
          <a:p>
            <a:endParaRPr lang="ar-EG" sz="2000" dirty="0"/>
          </a:p>
          <a:p>
            <a:pPr algn="l" rtl="0"/>
            <a:r>
              <a:rPr lang="fr-FR" sz="2000" b="1" dirty="0" err="1"/>
              <a:t>Unrelated</a:t>
            </a:r>
            <a:r>
              <a:rPr lang="fr-FR" sz="2000" b="1" dirty="0"/>
              <a:t> Diversification </a:t>
            </a:r>
            <a:r>
              <a:rPr lang="fr-FR" sz="2000" b="1" dirty="0" err="1"/>
              <a:t>Strategies</a:t>
            </a:r>
            <a:r>
              <a:rPr lang="fr-FR" sz="2000" b="1" dirty="0"/>
              <a:t> </a:t>
            </a:r>
            <a:r>
              <a:rPr lang="fr-FR" sz="2000" b="1" dirty="0" err="1"/>
              <a:t>Less</a:t>
            </a:r>
            <a:r>
              <a:rPr lang="fr-FR" sz="2000" b="1" dirty="0"/>
              <a:t> </a:t>
            </a:r>
            <a:r>
              <a:rPr lang="fr-FR" sz="2000" b="1" dirty="0" err="1"/>
              <a:t>Popular</a:t>
            </a:r>
            <a:r>
              <a:rPr lang="fr-FR" sz="2000" b="1" dirty="0"/>
              <a:t> -- </a:t>
            </a:r>
            <a:endParaRPr lang="fr-FR" sz="2000" dirty="0"/>
          </a:p>
          <a:p>
            <a:pPr marL="68580" indent="0" algn="l" rtl="0">
              <a:buNone/>
            </a:pPr>
            <a:r>
              <a:rPr lang="en-US" sz="2000" dirty="0" smtClean="0"/>
              <a:t>More </a:t>
            </a:r>
            <a:r>
              <a:rPr lang="en-US" sz="2000" dirty="0"/>
              <a:t>difficult to manage diverse business activities </a:t>
            </a:r>
          </a:p>
          <a:p>
            <a:pPr algn="l" rtl="0"/>
            <a:r>
              <a:rPr lang="fr-FR" sz="2000" b="1" dirty="0" err="1"/>
              <a:t>However</a:t>
            </a:r>
            <a:r>
              <a:rPr lang="fr-FR" sz="2000" b="1" dirty="0"/>
              <a:t> -- </a:t>
            </a:r>
            <a:endParaRPr lang="fr-FR" sz="2000" dirty="0"/>
          </a:p>
          <a:p>
            <a:pPr marL="68580" indent="0" algn="l" rtl="0">
              <a:buNone/>
            </a:pPr>
            <a:r>
              <a:rPr lang="en-US" sz="2000" dirty="0" smtClean="0"/>
              <a:t>The </a:t>
            </a:r>
            <a:r>
              <a:rPr lang="en-US" sz="2000" dirty="0"/>
              <a:t>greatest risk of being in a single industry is having all your eggs in one basket </a:t>
            </a:r>
          </a:p>
          <a:p>
            <a:pPr marL="68580" indent="0" algn="just" rtl="0">
              <a:buNone/>
            </a:pPr>
            <a:endParaRPr lang="en-US" sz="2000" dirty="0"/>
          </a:p>
        </p:txBody>
      </p:sp>
    </p:spTree>
    <p:extLst>
      <p:ext uri="{BB962C8B-B14F-4D97-AF65-F5344CB8AC3E}">
        <p14:creationId xmlns:p14="http://schemas.microsoft.com/office/powerpoint/2010/main" val="29057304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pic>
        <p:nvPicPr>
          <p:cNvPr id="3074" name="Picture 2" descr="https://upload.wikimedia.org/wikipedia/commons/b/bc/Ansoff_Matrix.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25" y="2057400"/>
            <a:ext cx="6813550" cy="35052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47675" y="762000"/>
            <a:ext cx="8229600" cy="923330"/>
          </a:xfrm>
          <a:prstGeom prst="rect">
            <a:avLst/>
          </a:prstGeom>
        </p:spPr>
        <p:txBody>
          <a:bodyPr wrap="square">
            <a:spAutoFit/>
          </a:bodyPr>
          <a:lstStyle/>
          <a:p>
            <a:r>
              <a:rPr lang="en-US" b="1" dirty="0"/>
              <a:t>The </a:t>
            </a:r>
            <a:r>
              <a:rPr lang="en-US" b="1" dirty="0" err="1"/>
              <a:t>Ansoff</a:t>
            </a:r>
            <a:r>
              <a:rPr lang="en-US" b="1" dirty="0"/>
              <a:t> Matrix is a </a:t>
            </a:r>
            <a:r>
              <a:rPr lang="en-US" b="1" dirty="0">
                <a:hlinkClick r:id="rId3" tooltip="Strategic planning"/>
              </a:rPr>
              <a:t>strategic planning</a:t>
            </a:r>
            <a:r>
              <a:rPr lang="en-US" b="1" dirty="0"/>
              <a:t> tool that provides a framework to help executives, senior managers, and marketers devise strategies for future </a:t>
            </a:r>
            <a:r>
              <a:rPr lang="en-US" b="1" dirty="0" smtClean="0"/>
              <a:t>growth.</a:t>
            </a:r>
            <a:endParaRPr lang="ar-EG" b="1" dirty="0"/>
          </a:p>
        </p:txBody>
      </p:sp>
    </p:spTree>
    <p:extLst>
      <p:ext uri="{BB962C8B-B14F-4D97-AF65-F5344CB8AC3E}">
        <p14:creationId xmlns:p14="http://schemas.microsoft.com/office/powerpoint/2010/main" val="148291477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7024744" cy="1143000"/>
          </a:xfrm>
        </p:spPr>
        <p:txBody>
          <a:bodyPr>
            <a:noAutofit/>
          </a:bodyPr>
          <a:lstStyle/>
          <a:p>
            <a:r>
              <a:rPr lang="ar-EG" sz="2400" dirty="0"/>
              <a:t/>
            </a:r>
            <a:br>
              <a:rPr lang="ar-EG" sz="2400" dirty="0"/>
            </a:br>
            <a:r>
              <a:rPr lang="ar-EG" sz="2400" dirty="0"/>
              <a:t/>
            </a:r>
            <a:br>
              <a:rPr lang="ar-EG" sz="2400" dirty="0"/>
            </a:br>
            <a:r>
              <a:rPr lang="fr-FR" sz="2400" dirty="0"/>
              <a:t> </a:t>
            </a:r>
            <a:r>
              <a:rPr lang="fr-FR" sz="2400" b="1" dirty="0" err="1"/>
              <a:t>Strategies</a:t>
            </a:r>
            <a:r>
              <a:rPr lang="fr-FR" sz="2400" b="1" dirty="0"/>
              <a:t> in </a:t>
            </a:r>
            <a:r>
              <a:rPr lang="fr-FR" sz="2400" b="1" dirty="0" smtClean="0"/>
              <a:t>Action </a:t>
            </a:r>
            <a:endParaRPr lang="ar-EG" sz="2400" dirty="0"/>
          </a:p>
        </p:txBody>
      </p:sp>
      <p:sp>
        <p:nvSpPr>
          <p:cNvPr id="3" name="Content Placeholder 2"/>
          <p:cNvSpPr>
            <a:spLocks noGrp="1"/>
          </p:cNvSpPr>
          <p:nvPr>
            <p:ph idx="1"/>
          </p:nvPr>
        </p:nvSpPr>
        <p:spPr>
          <a:xfrm>
            <a:off x="457200" y="1066800"/>
            <a:ext cx="7490908" cy="2809875"/>
          </a:xfrm>
        </p:spPr>
        <p:txBody>
          <a:bodyPr>
            <a:normAutofit/>
          </a:bodyPr>
          <a:lstStyle/>
          <a:p>
            <a:pPr marL="68580" indent="0" algn="just" rtl="0">
              <a:buNone/>
            </a:pPr>
            <a:r>
              <a:rPr lang="en-US" sz="2200" b="1" dirty="0" smtClean="0">
                <a:solidFill>
                  <a:srgbClr val="FF0000"/>
                </a:solidFill>
              </a:rPr>
              <a:t>The types of strategies.</a:t>
            </a:r>
            <a:endParaRPr lang="en-US" sz="2200" b="1" dirty="0">
              <a:solidFill>
                <a:srgbClr val="FF0000"/>
              </a:solidFill>
            </a:endParaRPr>
          </a:p>
          <a:p>
            <a:pPr marL="68580" indent="0" algn="just" rtl="0">
              <a:buNone/>
            </a:pPr>
            <a:r>
              <a:rPr lang="en-US" sz="2200" b="1" dirty="0" smtClean="0"/>
              <a:t>4- Defensive strategies</a:t>
            </a:r>
          </a:p>
        </p:txBody>
      </p:sp>
      <p:sp>
        <p:nvSpPr>
          <p:cNvPr id="4" name="Oval 3"/>
          <p:cNvSpPr/>
          <p:nvPr/>
        </p:nvSpPr>
        <p:spPr>
          <a:xfrm>
            <a:off x="866775" y="3276600"/>
            <a:ext cx="1981200" cy="83820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600" b="1" dirty="0" smtClean="0"/>
              <a:t>Defensive strategies</a:t>
            </a:r>
            <a:endParaRPr lang="ar-EG" sz="1600" b="1" dirty="0"/>
          </a:p>
        </p:txBody>
      </p:sp>
      <p:sp>
        <p:nvSpPr>
          <p:cNvPr id="5" name="Oval 4"/>
          <p:cNvSpPr/>
          <p:nvPr/>
        </p:nvSpPr>
        <p:spPr>
          <a:xfrm>
            <a:off x="6248400" y="4305300"/>
            <a:ext cx="22098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smtClean="0"/>
              <a:t>Liquidation </a:t>
            </a:r>
            <a:endParaRPr lang="ar-EG" sz="1400" b="1" dirty="0"/>
          </a:p>
        </p:txBody>
      </p:sp>
      <p:sp>
        <p:nvSpPr>
          <p:cNvPr id="6" name="Oval 5"/>
          <p:cNvSpPr/>
          <p:nvPr/>
        </p:nvSpPr>
        <p:spPr>
          <a:xfrm>
            <a:off x="6096001" y="3371850"/>
            <a:ext cx="2285999"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b="1" dirty="0" smtClean="0"/>
              <a:t>Divestiture </a:t>
            </a:r>
            <a:endParaRPr lang="ar-EG" sz="1400" b="1" dirty="0"/>
          </a:p>
        </p:txBody>
      </p:sp>
      <p:sp>
        <p:nvSpPr>
          <p:cNvPr id="7" name="Oval 6"/>
          <p:cNvSpPr/>
          <p:nvPr/>
        </p:nvSpPr>
        <p:spPr>
          <a:xfrm>
            <a:off x="6096001" y="2409825"/>
            <a:ext cx="22860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500" b="1" dirty="0" smtClean="0"/>
              <a:t>Retrenchment </a:t>
            </a:r>
            <a:endParaRPr lang="ar-EG" sz="1500" b="1" dirty="0"/>
          </a:p>
        </p:txBody>
      </p:sp>
      <p:cxnSp>
        <p:nvCxnSpPr>
          <p:cNvPr id="9" name="Straight Connector 8"/>
          <p:cNvCxnSpPr>
            <a:stCxn id="4" idx="6"/>
            <a:endCxn id="7" idx="2"/>
          </p:cNvCxnSpPr>
          <p:nvPr/>
        </p:nvCxnSpPr>
        <p:spPr>
          <a:xfrm flipV="1">
            <a:off x="2847975" y="2828925"/>
            <a:ext cx="3248026" cy="8667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4" idx="6"/>
            <a:endCxn id="6" idx="2"/>
          </p:cNvCxnSpPr>
          <p:nvPr/>
        </p:nvCxnSpPr>
        <p:spPr>
          <a:xfrm>
            <a:off x="2847975" y="3695700"/>
            <a:ext cx="3248026" cy="952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 idx="6"/>
            <a:endCxn id="5" idx="2"/>
          </p:cNvCxnSpPr>
          <p:nvPr/>
        </p:nvCxnSpPr>
        <p:spPr>
          <a:xfrm>
            <a:off x="2847975" y="3695700"/>
            <a:ext cx="3400425" cy="10287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566585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024744" cy="1143000"/>
          </a:xfrm>
        </p:spPr>
        <p:txBody>
          <a:bodyPr>
            <a:noAutofit/>
          </a:bodyPr>
          <a:lstStyle/>
          <a:p>
            <a:r>
              <a:rPr lang="ar-EG" sz="2400" dirty="0"/>
              <a:t/>
            </a:r>
            <a:br>
              <a:rPr lang="ar-EG" sz="2400" dirty="0"/>
            </a:br>
            <a:r>
              <a:rPr lang="fr-FR" sz="2400" b="1" dirty="0" err="1" smtClean="0"/>
              <a:t>Strategies</a:t>
            </a:r>
            <a:r>
              <a:rPr lang="fr-FR" sz="2400" b="1" dirty="0" smtClean="0"/>
              <a:t> </a:t>
            </a:r>
            <a:r>
              <a:rPr lang="fr-FR" sz="2400" b="1" dirty="0"/>
              <a:t>in </a:t>
            </a:r>
            <a:r>
              <a:rPr lang="fr-FR" sz="2400" b="1" dirty="0" smtClean="0"/>
              <a:t>Action </a:t>
            </a:r>
            <a:endParaRPr lang="ar-EG" sz="2400" dirty="0"/>
          </a:p>
        </p:txBody>
      </p:sp>
      <p:sp>
        <p:nvSpPr>
          <p:cNvPr id="3" name="Content Placeholder 2"/>
          <p:cNvSpPr>
            <a:spLocks noGrp="1"/>
          </p:cNvSpPr>
          <p:nvPr>
            <p:ph idx="1"/>
          </p:nvPr>
        </p:nvSpPr>
        <p:spPr>
          <a:xfrm>
            <a:off x="533400" y="914400"/>
            <a:ext cx="7924800" cy="4800600"/>
          </a:xfrm>
        </p:spPr>
        <p:txBody>
          <a:bodyPr>
            <a:noAutofit/>
          </a:bodyPr>
          <a:lstStyle/>
          <a:p>
            <a:pPr marL="68580" indent="0" algn="just" rtl="0">
              <a:buNone/>
            </a:pPr>
            <a:r>
              <a:rPr lang="en-US" sz="2000" b="1" dirty="0" smtClean="0">
                <a:solidFill>
                  <a:schemeClr val="accent3">
                    <a:lumMod val="75000"/>
                  </a:schemeClr>
                </a:solidFill>
              </a:rPr>
              <a:t>4- Defensive strategies are </a:t>
            </a:r>
            <a:r>
              <a:rPr lang="en-US" sz="2000" dirty="0" smtClean="0"/>
              <a:t>about </a:t>
            </a:r>
            <a:r>
              <a:rPr lang="en-US" sz="2000" dirty="0"/>
              <a:t>holding </a:t>
            </a:r>
            <a:r>
              <a:rPr lang="en-US" sz="2000" dirty="0" smtClean="0"/>
              <a:t>on </a:t>
            </a:r>
            <a:r>
              <a:rPr lang="en-US" sz="2000" dirty="0"/>
              <a:t>what you have </a:t>
            </a:r>
            <a:r>
              <a:rPr lang="en-US" sz="2000" dirty="0" smtClean="0"/>
              <a:t>or about </a:t>
            </a:r>
            <a:r>
              <a:rPr lang="en-US" sz="2000" dirty="0"/>
              <a:t>using your competitive advantage to keep competitors at </a:t>
            </a:r>
            <a:r>
              <a:rPr lang="en-US" sz="2000" dirty="0" smtClean="0"/>
              <a:t>bay.</a:t>
            </a:r>
            <a:endParaRPr lang="en-US" sz="2000" dirty="0"/>
          </a:p>
          <a:p>
            <a:pPr algn="l" rtl="0"/>
            <a:r>
              <a:rPr lang="en-US" sz="2000" b="1" dirty="0" smtClean="0"/>
              <a:t>Retrenchment strategy</a:t>
            </a:r>
            <a:r>
              <a:rPr lang="en-US" sz="2000" dirty="0" smtClean="0"/>
              <a:t>: A </a:t>
            </a:r>
            <a:r>
              <a:rPr lang="en-US" sz="2000" dirty="0"/>
              <a:t>strategy used by corporations to reduce the diversity or the overall size of the operations of the </a:t>
            </a:r>
            <a:r>
              <a:rPr lang="en-US" sz="2000" dirty="0" smtClean="0">
                <a:solidFill>
                  <a:schemeClr val="tx1"/>
                </a:solidFill>
              </a:rPr>
              <a:t>company</a:t>
            </a:r>
            <a:r>
              <a:rPr lang="en-US" sz="2000" dirty="0" smtClean="0">
                <a:solidFill>
                  <a:schemeClr val="accent3">
                    <a:lumMod val="75000"/>
                  </a:schemeClr>
                </a:solidFill>
              </a:rPr>
              <a:t> (regrouping the organization through cost and assets reduction)</a:t>
            </a:r>
            <a:r>
              <a:rPr lang="en-US" sz="2000" dirty="0" smtClean="0"/>
              <a:t>. </a:t>
            </a:r>
            <a:r>
              <a:rPr lang="en-US" sz="2000" dirty="0"/>
              <a:t>This strategy is often used </a:t>
            </a:r>
            <a:r>
              <a:rPr lang="en-US" sz="2000" dirty="0" smtClean="0"/>
              <a:t>to </a:t>
            </a:r>
            <a:r>
              <a:rPr lang="en-US" sz="2000" dirty="0"/>
              <a:t>cut expenses with the goal of becoming a more financial stable </a:t>
            </a:r>
            <a:r>
              <a:rPr lang="en-US" sz="2000" dirty="0" smtClean="0"/>
              <a:t>business. (e.g. selling off a land or buildings or reducing the no. of employees to reverse the declining sales and profits). </a:t>
            </a:r>
            <a:endParaRPr lang="ar-EG" sz="2000" dirty="0"/>
          </a:p>
          <a:p>
            <a:pPr algn="l" rtl="0"/>
            <a:r>
              <a:rPr lang="fr-FR" sz="2000" b="1" dirty="0"/>
              <a:t>Guidelines -- </a:t>
            </a:r>
            <a:endParaRPr lang="fr-FR" sz="2000" dirty="0"/>
          </a:p>
          <a:p>
            <a:pPr algn="l" rtl="0"/>
            <a:r>
              <a:rPr lang="en-US" sz="2000" dirty="0" smtClean="0"/>
              <a:t>Failed </a:t>
            </a:r>
            <a:r>
              <a:rPr lang="en-US" sz="2000" dirty="0"/>
              <a:t>to meet objectives &amp; goals over time </a:t>
            </a:r>
          </a:p>
          <a:p>
            <a:pPr algn="l" rtl="0"/>
            <a:r>
              <a:rPr lang="en-US" sz="2000" dirty="0" smtClean="0"/>
              <a:t>Inefficiency</a:t>
            </a:r>
            <a:r>
              <a:rPr lang="en-US" sz="2000" dirty="0"/>
              <a:t>, low profitability, poor employee morale, pressure from stockholders to improve performance </a:t>
            </a:r>
          </a:p>
          <a:p>
            <a:pPr algn="l" rtl="0"/>
            <a:r>
              <a:rPr lang="en-US" sz="2000" dirty="0" smtClean="0"/>
              <a:t>Failed </a:t>
            </a:r>
            <a:r>
              <a:rPr lang="en-US" sz="2000" dirty="0"/>
              <a:t>to capitalize on external opportunities, minimize external threats, take advantage of internal strengths, and overcome internal weaknesses over time </a:t>
            </a:r>
          </a:p>
          <a:p>
            <a:pPr algn="just" rtl="0">
              <a:buFontTx/>
              <a:buChar char="-"/>
            </a:pPr>
            <a:endParaRPr lang="en-US" sz="2000" dirty="0"/>
          </a:p>
        </p:txBody>
      </p:sp>
    </p:spTree>
    <p:extLst>
      <p:ext uri="{BB962C8B-B14F-4D97-AF65-F5344CB8AC3E}">
        <p14:creationId xmlns:p14="http://schemas.microsoft.com/office/powerpoint/2010/main" val="319269245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024744" cy="1143000"/>
          </a:xfrm>
        </p:spPr>
        <p:txBody>
          <a:bodyPr>
            <a:noAutofit/>
          </a:bodyPr>
          <a:lstStyle/>
          <a:p>
            <a:r>
              <a:rPr lang="ar-EG" sz="2400" dirty="0"/>
              <a:t/>
            </a:r>
            <a:br>
              <a:rPr lang="ar-EG" sz="2400" dirty="0"/>
            </a:br>
            <a:r>
              <a:rPr lang="fr-FR" sz="2400" b="1" dirty="0" err="1" smtClean="0"/>
              <a:t>Strategies</a:t>
            </a:r>
            <a:r>
              <a:rPr lang="fr-FR" sz="2400" b="1" dirty="0" smtClean="0"/>
              <a:t> </a:t>
            </a:r>
            <a:r>
              <a:rPr lang="fr-FR" sz="2400" b="1" dirty="0"/>
              <a:t>in </a:t>
            </a:r>
            <a:r>
              <a:rPr lang="fr-FR" sz="2400" b="1" dirty="0" smtClean="0"/>
              <a:t>Action </a:t>
            </a:r>
            <a:endParaRPr lang="ar-EG" sz="2400" dirty="0"/>
          </a:p>
        </p:txBody>
      </p:sp>
      <p:sp>
        <p:nvSpPr>
          <p:cNvPr id="3" name="Content Placeholder 2"/>
          <p:cNvSpPr>
            <a:spLocks noGrp="1"/>
          </p:cNvSpPr>
          <p:nvPr>
            <p:ph idx="1"/>
          </p:nvPr>
        </p:nvSpPr>
        <p:spPr>
          <a:xfrm>
            <a:off x="533400" y="914400"/>
            <a:ext cx="8077200" cy="4800600"/>
          </a:xfrm>
        </p:spPr>
        <p:txBody>
          <a:bodyPr>
            <a:noAutofit/>
          </a:bodyPr>
          <a:lstStyle/>
          <a:p>
            <a:pPr marL="68580" indent="0" algn="just" rtl="0">
              <a:buNone/>
            </a:pPr>
            <a:r>
              <a:rPr lang="en-US" sz="2000" b="1" dirty="0" smtClean="0"/>
              <a:t>Divestiture </a:t>
            </a:r>
            <a:r>
              <a:rPr lang="en-US" sz="2000" b="1" dirty="0"/>
              <a:t>strategy</a:t>
            </a:r>
            <a:r>
              <a:rPr lang="en-US" sz="2000" dirty="0"/>
              <a:t> involves the sale of the subsidiary or business line to another company. </a:t>
            </a:r>
            <a:endParaRPr lang="en-US" sz="2000" dirty="0" smtClean="0"/>
          </a:p>
          <a:p>
            <a:pPr marL="68580" indent="0" algn="l" rtl="0">
              <a:buNone/>
            </a:pPr>
            <a:r>
              <a:rPr lang="fr-FR" sz="2000" b="1" dirty="0"/>
              <a:t>Guidelines -- </a:t>
            </a:r>
            <a:endParaRPr lang="ar-EG" sz="2000" dirty="0"/>
          </a:p>
          <a:p>
            <a:pPr algn="l" rtl="0"/>
            <a:r>
              <a:rPr lang="en-US" sz="2000" dirty="0"/>
              <a:t>Retrenchment strategy failed to accomplish needed improvements </a:t>
            </a:r>
          </a:p>
          <a:p>
            <a:pPr algn="l" rtl="0"/>
            <a:r>
              <a:rPr lang="en-US" sz="2000" dirty="0" smtClean="0"/>
              <a:t>Large </a:t>
            </a:r>
            <a:r>
              <a:rPr lang="en-US" sz="2000" dirty="0"/>
              <a:t>amount of cash is needed and cannot be raised through other sources </a:t>
            </a:r>
          </a:p>
          <a:p>
            <a:pPr algn="l" rtl="0"/>
            <a:r>
              <a:rPr lang="en-US" sz="2000" dirty="0" smtClean="0"/>
              <a:t>This subsidiary needs more resources to be competitive than the company can provide </a:t>
            </a:r>
          </a:p>
          <a:p>
            <a:pPr algn="l" rtl="0"/>
            <a:r>
              <a:rPr lang="en-US" sz="2000" dirty="0"/>
              <a:t>This </a:t>
            </a:r>
            <a:r>
              <a:rPr lang="en-US" sz="2000" dirty="0" smtClean="0"/>
              <a:t>subsidiary is </a:t>
            </a:r>
            <a:r>
              <a:rPr lang="en-US" sz="2000" dirty="0"/>
              <a:t>responsible for firm’s overall poor performance </a:t>
            </a:r>
          </a:p>
          <a:p>
            <a:pPr marL="68580" indent="0" algn="just" rtl="0">
              <a:buNone/>
            </a:pPr>
            <a:endParaRPr lang="en-US" sz="2000" dirty="0" smtClean="0"/>
          </a:p>
          <a:p>
            <a:pPr algn="just" rtl="0">
              <a:buFontTx/>
              <a:buChar char="-"/>
            </a:pPr>
            <a:r>
              <a:rPr lang="en-US" sz="2000" b="1" dirty="0" smtClean="0"/>
              <a:t>Liquidation </a:t>
            </a:r>
            <a:r>
              <a:rPr lang="en-US" sz="2000" b="1" dirty="0"/>
              <a:t>Strategy</a:t>
            </a:r>
            <a:r>
              <a:rPr lang="en-US" sz="2000" dirty="0"/>
              <a:t> is the most unpleasant </a:t>
            </a:r>
            <a:r>
              <a:rPr lang="en-US" sz="2000" b="1" dirty="0"/>
              <a:t>strategy</a:t>
            </a:r>
            <a:r>
              <a:rPr lang="en-US" sz="2000" dirty="0"/>
              <a:t> adopted by the organization that includes selling off its assets </a:t>
            </a:r>
            <a:r>
              <a:rPr lang="en-US" sz="2000" dirty="0" smtClean="0"/>
              <a:t>or </a:t>
            </a:r>
            <a:r>
              <a:rPr lang="en-US" sz="2000" dirty="0"/>
              <a:t>winding up of the business operations. </a:t>
            </a:r>
            <a:endParaRPr lang="en-US" sz="2000" dirty="0" smtClean="0"/>
          </a:p>
          <a:p>
            <a:pPr algn="just" rtl="0">
              <a:buFontTx/>
              <a:buChar char="-"/>
            </a:pPr>
            <a:r>
              <a:rPr lang="en-US" sz="2000" b="1" dirty="0" smtClean="0"/>
              <a:t>Liquidation</a:t>
            </a:r>
            <a:r>
              <a:rPr lang="en-US" sz="2000" dirty="0" smtClean="0"/>
              <a:t> is </a:t>
            </a:r>
            <a:r>
              <a:rPr lang="en-US" sz="2000" dirty="0"/>
              <a:t>the process of bringing a business to an </a:t>
            </a:r>
            <a:r>
              <a:rPr lang="en-US" sz="2000" dirty="0" smtClean="0"/>
              <a:t>end.</a:t>
            </a:r>
          </a:p>
          <a:p>
            <a:pPr algn="just" rtl="0">
              <a:buFontTx/>
              <a:buChar char="-"/>
            </a:pPr>
            <a:endParaRPr lang="en-US" sz="2000" dirty="0"/>
          </a:p>
        </p:txBody>
      </p:sp>
    </p:spTree>
    <p:extLst>
      <p:ext uri="{BB962C8B-B14F-4D97-AF65-F5344CB8AC3E}">
        <p14:creationId xmlns:p14="http://schemas.microsoft.com/office/powerpoint/2010/main" val="1521703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024744" cy="1143000"/>
          </a:xfrm>
        </p:spPr>
        <p:txBody>
          <a:bodyPr>
            <a:noAutofit/>
          </a:bodyPr>
          <a:lstStyle/>
          <a:p>
            <a:r>
              <a:rPr lang="ar-EG" sz="2400" dirty="0"/>
              <a:t/>
            </a:r>
            <a:br>
              <a:rPr lang="ar-EG" sz="2400" dirty="0"/>
            </a:br>
            <a:r>
              <a:rPr lang="fr-FR" sz="2400" b="1" dirty="0" err="1" smtClean="0"/>
              <a:t>Strategies</a:t>
            </a:r>
            <a:r>
              <a:rPr lang="fr-FR" sz="2400" b="1" dirty="0" smtClean="0"/>
              <a:t> </a:t>
            </a:r>
            <a:r>
              <a:rPr lang="fr-FR" sz="2400" b="1" dirty="0"/>
              <a:t>in </a:t>
            </a:r>
            <a:r>
              <a:rPr lang="fr-FR" sz="2400" b="1" dirty="0" smtClean="0"/>
              <a:t>Action </a:t>
            </a:r>
            <a:endParaRPr lang="ar-EG" sz="2400" dirty="0"/>
          </a:p>
        </p:txBody>
      </p:sp>
      <p:sp>
        <p:nvSpPr>
          <p:cNvPr id="3" name="Content Placeholder 2"/>
          <p:cNvSpPr>
            <a:spLocks noGrp="1"/>
          </p:cNvSpPr>
          <p:nvPr>
            <p:ph idx="1"/>
          </p:nvPr>
        </p:nvSpPr>
        <p:spPr>
          <a:xfrm>
            <a:off x="533400" y="1447800"/>
            <a:ext cx="8077200" cy="4267200"/>
          </a:xfrm>
        </p:spPr>
        <p:txBody>
          <a:bodyPr>
            <a:noAutofit/>
          </a:bodyPr>
          <a:lstStyle/>
          <a:p>
            <a:pPr marL="68580" indent="0" algn="just" rtl="0">
              <a:buNone/>
            </a:pPr>
            <a:endParaRPr lang="en-US" sz="2000" dirty="0" smtClean="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838200"/>
            <a:ext cx="7696200" cy="564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180958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024744" cy="1143000"/>
          </a:xfrm>
        </p:spPr>
        <p:txBody>
          <a:bodyPr>
            <a:noAutofit/>
          </a:bodyPr>
          <a:lstStyle/>
          <a:p>
            <a:r>
              <a:rPr lang="ar-EG" sz="2400" dirty="0"/>
              <a:t/>
            </a:r>
            <a:br>
              <a:rPr lang="ar-EG" sz="2400" dirty="0"/>
            </a:br>
            <a:r>
              <a:rPr lang="fr-FR" sz="2400" b="1" dirty="0" err="1" smtClean="0"/>
              <a:t>Strategies</a:t>
            </a:r>
            <a:r>
              <a:rPr lang="fr-FR" sz="2400" b="1" dirty="0" smtClean="0"/>
              <a:t> </a:t>
            </a:r>
            <a:r>
              <a:rPr lang="fr-FR" sz="2400" b="1" dirty="0"/>
              <a:t>in </a:t>
            </a:r>
            <a:r>
              <a:rPr lang="fr-FR" sz="2400" b="1" dirty="0" smtClean="0"/>
              <a:t>Action </a:t>
            </a:r>
            <a:endParaRPr lang="ar-EG" sz="2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295400"/>
            <a:ext cx="8077200" cy="933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33400" y="2228850"/>
            <a:ext cx="8077200" cy="4019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098525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024744" cy="1143000"/>
          </a:xfrm>
        </p:spPr>
        <p:txBody>
          <a:bodyPr>
            <a:noAutofit/>
          </a:bodyPr>
          <a:lstStyle/>
          <a:p>
            <a:r>
              <a:rPr lang="ar-EG" sz="2400" dirty="0"/>
              <a:t/>
            </a:r>
            <a:br>
              <a:rPr lang="ar-EG" sz="2400" dirty="0"/>
            </a:br>
            <a:r>
              <a:rPr lang="fr-FR" sz="2400" b="1" dirty="0" err="1" smtClean="0"/>
              <a:t>Strategies</a:t>
            </a:r>
            <a:r>
              <a:rPr lang="fr-FR" sz="2400" b="1" dirty="0" smtClean="0"/>
              <a:t> </a:t>
            </a:r>
            <a:r>
              <a:rPr lang="fr-FR" sz="2400" b="1" dirty="0"/>
              <a:t>in </a:t>
            </a:r>
            <a:r>
              <a:rPr lang="fr-FR" sz="2400" b="1" dirty="0" smtClean="0"/>
              <a:t>Action </a:t>
            </a:r>
            <a:endParaRPr lang="ar-EG" sz="2400" dirty="0"/>
          </a:p>
        </p:txBody>
      </p:sp>
      <p:sp>
        <p:nvSpPr>
          <p:cNvPr id="3" name="Content Placeholder 2"/>
          <p:cNvSpPr>
            <a:spLocks noGrp="1"/>
          </p:cNvSpPr>
          <p:nvPr>
            <p:ph idx="1"/>
          </p:nvPr>
        </p:nvSpPr>
        <p:spPr>
          <a:xfrm>
            <a:off x="533400" y="914400"/>
            <a:ext cx="8153400" cy="4800600"/>
          </a:xfrm>
        </p:spPr>
        <p:txBody>
          <a:bodyPr>
            <a:noAutofit/>
          </a:bodyPr>
          <a:lstStyle/>
          <a:p>
            <a:pPr marL="68580" indent="0" algn="l" rtl="0">
              <a:buNone/>
            </a:pPr>
            <a:r>
              <a:rPr lang="fr-FR" sz="2000" b="1" dirty="0" smtClean="0"/>
              <a:t>5- Michael </a:t>
            </a:r>
            <a:r>
              <a:rPr lang="fr-FR" sz="2000" b="1" dirty="0" err="1"/>
              <a:t>Porter’s</a:t>
            </a:r>
            <a:r>
              <a:rPr lang="fr-FR" sz="2000" b="1" dirty="0"/>
              <a:t> </a:t>
            </a:r>
            <a:r>
              <a:rPr lang="fr-FR" sz="2000" b="1" dirty="0" err="1"/>
              <a:t>Generic</a:t>
            </a:r>
            <a:r>
              <a:rPr lang="fr-FR" sz="2000" b="1" dirty="0"/>
              <a:t> </a:t>
            </a:r>
            <a:r>
              <a:rPr lang="fr-FR" sz="2000" b="1" dirty="0" err="1" smtClean="0"/>
              <a:t>Strategies</a:t>
            </a:r>
            <a:endParaRPr lang="fr-FR" sz="2000" b="1" dirty="0" smtClean="0"/>
          </a:p>
          <a:p>
            <a:pPr marL="68580" indent="0" algn="l" rtl="0">
              <a:buNone/>
            </a:pPr>
            <a:endParaRPr lang="en-US" sz="20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371600"/>
            <a:ext cx="7924800"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4760231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024744" cy="1143000"/>
          </a:xfrm>
        </p:spPr>
        <p:txBody>
          <a:bodyPr>
            <a:noAutofit/>
          </a:bodyPr>
          <a:lstStyle/>
          <a:p>
            <a:r>
              <a:rPr lang="ar-EG" sz="2400" dirty="0"/>
              <a:t/>
            </a:r>
            <a:br>
              <a:rPr lang="ar-EG" sz="2400" dirty="0"/>
            </a:br>
            <a:r>
              <a:rPr lang="fr-FR" sz="2400" b="1" dirty="0" err="1" smtClean="0"/>
              <a:t>Strategies</a:t>
            </a:r>
            <a:r>
              <a:rPr lang="fr-FR" sz="2400" b="1" dirty="0" smtClean="0"/>
              <a:t> </a:t>
            </a:r>
            <a:r>
              <a:rPr lang="fr-FR" sz="2400" b="1" dirty="0"/>
              <a:t>in </a:t>
            </a:r>
            <a:r>
              <a:rPr lang="fr-FR" sz="2400" b="1" dirty="0" smtClean="0"/>
              <a:t>Action </a:t>
            </a:r>
            <a:endParaRPr lang="ar-EG" sz="2400" dirty="0"/>
          </a:p>
        </p:txBody>
      </p:sp>
      <p:sp>
        <p:nvSpPr>
          <p:cNvPr id="3" name="Content Placeholder 2"/>
          <p:cNvSpPr>
            <a:spLocks noGrp="1"/>
          </p:cNvSpPr>
          <p:nvPr>
            <p:ph idx="1"/>
          </p:nvPr>
        </p:nvSpPr>
        <p:spPr>
          <a:xfrm>
            <a:off x="533400" y="914400"/>
            <a:ext cx="8153400" cy="4800600"/>
          </a:xfrm>
        </p:spPr>
        <p:txBody>
          <a:bodyPr>
            <a:noAutofit/>
          </a:bodyPr>
          <a:lstStyle/>
          <a:p>
            <a:pPr marL="68580" indent="0" algn="l" rtl="0">
              <a:buNone/>
            </a:pPr>
            <a:r>
              <a:rPr lang="fr-FR" sz="2000" b="1" dirty="0" smtClean="0"/>
              <a:t>Michael </a:t>
            </a:r>
            <a:r>
              <a:rPr lang="fr-FR" sz="2000" b="1" dirty="0" err="1"/>
              <a:t>Porter’s</a:t>
            </a:r>
            <a:r>
              <a:rPr lang="fr-FR" sz="2000" b="1" dirty="0"/>
              <a:t> </a:t>
            </a:r>
            <a:r>
              <a:rPr lang="fr-FR" sz="2000" b="1" dirty="0" err="1"/>
              <a:t>Generic</a:t>
            </a:r>
            <a:r>
              <a:rPr lang="fr-FR" sz="2000" b="1" dirty="0"/>
              <a:t> </a:t>
            </a:r>
            <a:r>
              <a:rPr lang="fr-FR" sz="2000" b="1" dirty="0" err="1" smtClean="0"/>
              <a:t>Strategies</a:t>
            </a:r>
            <a:endParaRPr lang="fr-FR" sz="2000" b="1" dirty="0" smtClean="0"/>
          </a:p>
          <a:p>
            <a:pPr marL="68580" indent="0" algn="just" rtl="0">
              <a:buNone/>
            </a:pPr>
            <a:r>
              <a:rPr lang="en-US" sz="2000" b="1" dirty="0" smtClean="0"/>
              <a:t>Generic </a:t>
            </a:r>
            <a:r>
              <a:rPr lang="en-US" sz="2000" b="1" dirty="0"/>
              <a:t>strategy : </a:t>
            </a:r>
            <a:r>
              <a:rPr lang="en-US" sz="2000" dirty="0"/>
              <a:t>A core idea about how a firm can best compete in the marketplace Strategies allow firms to gain </a:t>
            </a:r>
            <a:r>
              <a:rPr lang="en-US" sz="2000" dirty="0" smtClean="0"/>
              <a:t>competitive </a:t>
            </a:r>
            <a:r>
              <a:rPr lang="en-US" sz="2000" dirty="0"/>
              <a:t>advantage from three different bases</a:t>
            </a:r>
            <a:r>
              <a:rPr lang="en-US" sz="2000" dirty="0" smtClean="0"/>
              <a:t>:</a:t>
            </a:r>
            <a:endParaRPr lang="ar-EG" sz="2000" dirty="0"/>
          </a:p>
          <a:p>
            <a:pPr marL="68580" indent="0" algn="l" rtl="0">
              <a:buNone/>
            </a:pPr>
            <a:r>
              <a:rPr lang="en-US" sz="2000" b="1" dirty="0">
                <a:solidFill>
                  <a:schemeClr val="accent3">
                    <a:lumMod val="75000"/>
                  </a:schemeClr>
                </a:solidFill>
                <a:effectLst>
                  <a:outerShdw blurRad="38100" dist="38100" dir="2700000" algn="tl">
                    <a:srgbClr val="000000">
                      <a:alpha val="43137"/>
                    </a:srgbClr>
                  </a:outerShdw>
                </a:effectLst>
              </a:rPr>
              <a:t>Michael Porter’s Five Generic Strategies </a:t>
            </a:r>
          </a:p>
          <a:p>
            <a:pPr algn="l" rtl="0"/>
            <a:r>
              <a:rPr lang="fr-FR" sz="2000" b="1" dirty="0" err="1" smtClean="0"/>
              <a:t>Cost</a:t>
            </a:r>
            <a:r>
              <a:rPr lang="fr-FR" sz="2000" b="1" dirty="0" smtClean="0"/>
              <a:t> </a:t>
            </a:r>
            <a:r>
              <a:rPr lang="fr-FR" sz="2000" b="1" dirty="0"/>
              <a:t>leadership </a:t>
            </a:r>
            <a:r>
              <a:rPr lang="en-US" sz="2000" dirty="0" smtClean="0"/>
              <a:t>emphasizes </a:t>
            </a:r>
            <a:r>
              <a:rPr lang="en-US" sz="2000" dirty="0"/>
              <a:t>producing standardized products at a very low per-unit cost for consumers who are </a:t>
            </a:r>
            <a:r>
              <a:rPr lang="en-US" sz="2000" dirty="0" smtClean="0"/>
              <a:t>price-sensitive. </a:t>
            </a:r>
            <a:r>
              <a:rPr lang="en-US" sz="2000" b="1" dirty="0" smtClean="0"/>
              <a:t>It includes 2 types of strategies</a:t>
            </a:r>
            <a:r>
              <a:rPr lang="en-US" sz="2000" dirty="0" smtClean="0"/>
              <a:t>:</a:t>
            </a:r>
            <a:endParaRPr lang="en-US" sz="2000" dirty="0"/>
          </a:p>
          <a:p>
            <a:pPr marL="68580" indent="0" algn="l" rtl="0">
              <a:buNone/>
            </a:pPr>
            <a:r>
              <a:rPr lang="fr-FR" sz="2000" b="1" dirty="0" smtClean="0">
                <a:solidFill>
                  <a:schemeClr val="bg2">
                    <a:lumMod val="50000"/>
                  </a:schemeClr>
                </a:solidFill>
              </a:rPr>
              <a:t>Type </a:t>
            </a:r>
            <a:r>
              <a:rPr lang="fr-FR" sz="2000" b="1" dirty="0">
                <a:solidFill>
                  <a:schemeClr val="bg2">
                    <a:lumMod val="50000"/>
                  </a:schemeClr>
                </a:solidFill>
              </a:rPr>
              <a:t>1 </a:t>
            </a:r>
            <a:endParaRPr lang="fr-FR" sz="2000" dirty="0">
              <a:solidFill>
                <a:schemeClr val="bg2">
                  <a:lumMod val="50000"/>
                </a:schemeClr>
              </a:solidFill>
            </a:endParaRPr>
          </a:p>
          <a:p>
            <a:pPr algn="l" rtl="0"/>
            <a:r>
              <a:rPr lang="en-US" sz="2000" b="1" dirty="0" smtClean="0"/>
              <a:t>Low-cost </a:t>
            </a:r>
            <a:r>
              <a:rPr lang="en-US" sz="2000" b="1" dirty="0"/>
              <a:t>strategy </a:t>
            </a:r>
            <a:r>
              <a:rPr lang="en-US" sz="2000" dirty="0" smtClean="0"/>
              <a:t>offers </a:t>
            </a:r>
            <a:r>
              <a:rPr lang="en-US" sz="2000" dirty="0"/>
              <a:t>products or services to a wide range of customers at the lowest price available on the </a:t>
            </a:r>
            <a:r>
              <a:rPr lang="en-US" sz="2000" dirty="0" smtClean="0"/>
              <a:t>market.</a:t>
            </a:r>
            <a:endParaRPr lang="en-US" sz="2000" dirty="0"/>
          </a:p>
          <a:p>
            <a:pPr marL="68580" indent="0" algn="l" rtl="0">
              <a:buNone/>
            </a:pPr>
            <a:r>
              <a:rPr lang="fr-FR" sz="2000" b="1" dirty="0">
                <a:solidFill>
                  <a:schemeClr val="bg2">
                    <a:lumMod val="50000"/>
                  </a:schemeClr>
                </a:solidFill>
              </a:rPr>
              <a:t>Type 2</a:t>
            </a:r>
            <a:r>
              <a:rPr lang="fr-FR" sz="2000" b="1" dirty="0"/>
              <a:t> </a:t>
            </a:r>
            <a:endParaRPr lang="fr-FR" sz="2000" dirty="0"/>
          </a:p>
          <a:p>
            <a:pPr algn="l" rtl="0"/>
            <a:r>
              <a:rPr lang="en-US" sz="2000" b="1" dirty="0" smtClean="0"/>
              <a:t>Best-value </a:t>
            </a:r>
            <a:r>
              <a:rPr lang="en-US" sz="2000" b="1" dirty="0"/>
              <a:t>strategy</a:t>
            </a:r>
            <a:r>
              <a:rPr lang="en-US" sz="2000" dirty="0"/>
              <a:t> </a:t>
            </a:r>
            <a:r>
              <a:rPr lang="en-US" sz="2000" dirty="0" smtClean="0"/>
              <a:t>offers </a:t>
            </a:r>
            <a:r>
              <a:rPr lang="en-US" sz="2000" dirty="0"/>
              <a:t>products or services to a wide range of customers at </a:t>
            </a:r>
            <a:r>
              <a:rPr lang="en-US" sz="2000" dirty="0" smtClean="0"/>
              <a:t>the best </a:t>
            </a:r>
            <a:r>
              <a:rPr lang="en-US" sz="2000" dirty="0"/>
              <a:t>price-value available on the </a:t>
            </a:r>
            <a:r>
              <a:rPr lang="en-US" sz="2000" dirty="0" smtClean="0"/>
              <a:t>market.</a:t>
            </a:r>
          </a:p>
          <a:p>
            <a:pPr algn="l" rtl="0"/>
            <a:endParaRPr lang="en-US" sz="2000" dirty="0"/>
          </a:p>
          <a:p>
            <a:pPr marL="68580" indent="0" algn="l" rtl="0">
              <a:buNone/>
            </a:pPr>
            <a:endParaRPr lang="en-US" sz="2000" dirty="0"/>
          </a:p>
        </p:txBody>
      </p:sp>
    </p:spTree>
    <p:extLst>
      <p:ext uri="{BB962C8B-B14F-4D97-AF65-F5344CB8AC3E}">
        <p14:creationId xmlns:p14="http://schemas.microsoft.com/office/powerpoint/2010/main" val="26479202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024744" cy="1143000"/>
          </a:xfrm>
        </p:spPr>
        <p:txBody>
          <a:bodyPr>
            <a:noAutofit/>
          </a:bodyPr>
          <a:lstStyle/>
          <a:p>
            <a:r>
              <a:rPr lang="ar-EG" sz="2400" dirty="0"/>
              <a:t/>
            </a:r>
            <a:br>
              <a:rPr lang="ar-EG" sz="2400" dirty="0"/>
            </a:br>
            <a:r>
              <a:rPr lang="fr-FR" sz="2400" b="1" dirty="0" err="1" smtClean="0"/>
              <a:t>Strategies</a:t>
            </a:r>
            <a:r>
              <a:rPr lang="fr-FR" sz="2400" b="1" dirty="0" smtClean="0"/>
              <a:t> </a:t>
            </a:r>
            <a:r>
              <a:rPr lang="fr-FR" sz="2400" b="1" dirty="0"/>
              <a:t>in </a:t>
            </a:r>
            <a:r>
              <a:rPr lang="fr-FR" sz="2400" b="1" dirty="0" smtClean="0"/>
              <a:t>Action </a:t>
            </a:r>
            <a:endParaRPr lang="ar-EG" sz="2400" dirty="0"/>
          </a:p>
        </p:txBody>
      </p:sp>
      <p:sp>
        <p:nvSpPr>
          <p:cNvPr id="3" name="Content Placeholder 2"/>
          <p:cNvSpPr>
            <a:spLocks noGrp="1"/>
          </p:cNvSpPr>
          <p:nvPr>
            <p:ph idx="1"/>
          </p:nvPr>
        </p:nvSpPr>
        <p:spPr>
          <a:xfrm>
            <a:off x="533400" y="914400"/>
            <a:ext cx="8153400" cy="4800600"/>
          </a:xfrm>
        </p:spPr>
        <p:txBody>
          <a:bodyPr>
            <a:noAutofit/>
          </a:bodyPr>
          <a:lstStyle/>
          <a:p>
            <a:pPr marL="68580" indent="0" algn="l" rtl="0">
              <a:buNone/>
            </a:pPr>
            <a:r>
              <a:rPr lang="fr-FR" sz="2000" b="1" dirty="0" smtClean="0"/>
              <a:t>Michael </a:t>
            </a:r>
            <a:r>
              <a:rPr lang="fr-FR" sz="2000" b="1" dirty="0" err="1"/>
              <a:t>Porter’s</a:t>
            </a:r>
            <a:r>
              <a:rPr lang="fr-FR" sz="2000" b="1" dirty="0"/>
              <a:t> </a:t>
            </a:r>
            <a:r>
              <a:rPr lang="fr-FR" sz="2000" b="1" dirty="0" err="1"/>
              <a:t>Generic</a:t>
            </a:r>
            <a:r>
              <a:rPr lang="fr-FR" sz="2000" b="1" dirty="0"/>
              <a:t> </a:t>
            </a:r>
            <a:r>
              <a:rPr lang="fr-FR" sz="2000" b="1" dirty="0" err="1" smtClean="0"/>
              <a:t>Strategies</a:t>
            </a:r>
            <a:endParaRPr lang="fr-FR" sz="2000" b="1" dirty="0" smtClean="0"/>
          </a:p>
          <a:p>
            <a:pPr marL="68580" indent="0" algn="just" rtl="0">
              <a:buNone/>
            </a:pPr>
            <a:r>
              <a:rPr lang="en-US" sz="2000" b="1" dirty="0" smtClean="0">
                <a:solidFill>
                  <a:srgbClr val="FF0000"/>
                </a:solidFill>
              </a:rPr>
              <a:t>The difference between type 1 (low-cost strategy) and type 2 (best-value strategy).</a:t>
            </a:r>
          </a:p>
          <a:p>
            <a:pPr algn="just" rtl="0"/>
            <a:r>
              <a:rPr lang="en-US" sz="2000" dirty="0"/>
              <a:t>A </a:t>
            </a:r>
            <a:r>
              <a:rPr lang="en-US" sz="2000" b="1" dirty="0">
                <a:solidFill>
                  <a:srgbClr val="FF0000"/>
                </a:solidFill>
              </a:rPr>
              <a:t>low-cost strategy </a:t>
            </a:r>
            <a:r>
              <a:rPr lang="en-US" sz="2000" dirty="0" smtClean="0"/>
              <a:t>is when company </a:t>
            </a:r>
            <a:r>
              <a:rPr lang="en-US" sz="2000" dirty="0"/>
              <a:t>offers a relatively </a:t>
            </a:r>
            <a:r>
              <a:rPr lang="en-US" sz="2000" b="1" dirty="0"/>
              <a:t>low</a:t>
            </a:r>
            <a:r>
              <a:rPr lang="en-US" sz="2000" dirty="0"/>
              <a:t> price to stimulate demand and gain market share.</a:t>
            </a:r>
            <a:endParaRPr lang="en-US" sz="2000" b="1" dirty="0" smtClean="0">
              <a:solidFill>
                <a:srgbClr val="FF0000"/>
              </a:solidFill>
            </a:endParaRPr>
          </a:p>
          <a:p>
            <a:pPr algn="just" rtl="0"/>
            <a:r>
              <a:rPr lang="en-US" sz="2000" b="1" dirty="0">
                <a:solidFill>
                  <a:srgbClr val="FF0000"/>
                </a:solidFill>
              </a:rPr>
              <a:t>Best</a:t>
            </a:r>
            <a:r>
              <a:rPr lang="en-US" sz="2000" dirty="0">
                <a:solidFill>
                  <a:srgbClr val="FF0000"/>
                </a:solidFill>
              </a:rPr>
              <a:t>-</a:t>
            </a:r>
            <a:r>
              <a:rPr lang="en-US" sz="2000" b="1" dirty="0">
                <a:solidFill>
                  <a:srgbClr val="FF0000"/>
                </a:solidFill>
              </a:rPr>
              <a:t>cost strategy</a:t>
            </a:r>
            <a:r>
              <a:rPr lang="en-US" sz="2000" dirty="0"/>
              <a:t> is when the company makes an upscale product at a </a:t>
            </a:r>
            <a:r>
              <a:rPr lang="en-US" sz="2000" b="1" dirty="0"/>
              <a:t>lower price</a:t>
            </a:r>
            <a:r>
              <a:rPr lang="en-US" sz="2000" dirty="0"/>
              <a:t> which </a:t>
            </a:r>
            <a:r>
              <a:rPr lang="en-US" sz="2000" b="1" dirty="0"/>
              <a:t>in</a:t>
            </a:r>
            <a:r>
              <a:rPr lang="en-US" sz="2000" dirty="0"/>
              <a:t> turn gives more value to customers </a:t>
            </a:r>
            <a:r>
              <a:rPr lang="en-US" sz="2000" b="1" dirty="0"/>
              <a:t>in</a:t>
            </a:r>
            <a:r>
              <a:rPr lang="en-US" sz="2000" dirty="0"/>
              <a:t> exchange </a:t>
            </a:r>
            <a:r>
              <a:rPr lang="en-US" sz="2000" b="1" dirty="0"/>
              <a:t>of</a:t>
            </a:r>
            <a:r>
              <a:rPr lang="en-US" sz="2000" dirty="0"/>
              <a:t> </a:t>
            </a:r>
            <a:r>
              <a:rPr lang="en-US" sz="2000" dirty="0" smtClean="0"/>
              <a:t>money.</a:t>
            </a:r>
            <a:endParaRPr lang="en-US" sz="2000" dirty="0"/>
          </a:p>
          <a:p>
            <a:pPr algn="just" rtl="0"/>
            <a:r>
              <a:rPr lang="en-US" sz="2000" b="1" dirty="0" smtClean="0">
                <a:solidFill>
                  <a:srgbClr val="FF0000"/>
                </a:solidFill>
              </a:rPr>
              <a:t>A </a:t>
            </a:r>
            <a:r>
              <a:rPr lang="en-US" sz="2000" b="1" dirty="0">
                <a:solidFill>
                  <a:srgbClr val="FF0000"/>
                </a:solidFill>
              </a:rPr>
              <a:t>best-cost strategy</a:t>
            </a:r>
            <a:r>
              <a:rPr lang="en-US" sz="2000" dirty="0"/>
              <a:t> relies on offering customers </a:t>
            </a:r>
            <a:r>
              <a:rPr lang="en-US" sz="2000" b="1" dirty="0"/>
              <a:t>better value</a:t>
            </a:r>
            <a:r>
              <a:rPr lang="en-US" sz="2000" dirty="0"/>
              <a:t> for money by focusing both on low cost and upscale difference. The ultimate goal of the </a:t>
            </a:r>
            <a:r>
              <a:rPr lang="en-US" sz="2000" b="1" dirty="0"/>
              <a:t>best-cost</a:t>
            </a:r>
            <a:r>
              <a:rPr lang="en-US" sz="2000" dirty="0"/>
              <a:t> </a:t>
            </a:r>
            <a:r>
              <a:rPr lang="en-US" sz="2000" b="1" dirty="0"/>
              <a:t>strategy</a:t>
            </a:r>
            <a:r>
              <a:rPr lang="en-US" sz="2000" dirty="0"/>
              <a:t> is to keep costs and prices lower than other providers of similar products with comparable quality and features.</a:t>
            </a:r>
          </a:p>
          <a:p>
            <a:pPr marL="68580" indent="0" algn="just" rtl="0">
              <a:buNone/>
            </a:pPr>
            <a:endParaRPr lang="en-US" sz="2000" dirty="0" smtClean="0">
              <a:solidFill>
                <a:srgbClr val="FF0000"/>
              </a:solidFill>
            </a:endParaRPr>
          </a:p>
          <a:p>
            <a:pPr algn="l" rtl="0"/>
            <a:endParaRPr lang="en-US" sz="2000" dirty="0"/>
          </a:p>
          <a:p>
            <a:pPr marL="68580" indent="0" algn="l" rtl="0">
              <a:buNone/>
            </a:pPr>
            <a:endParaRPr lang="en-US" sz="2000" dirty="0"/>
          </a:p>
        </p:txBody>
      </p:sp>
    </p:spTree>
    <p:extLst>
      <p:ext uri="{BB962C8B-B14F-4D97-AF65-F5344CB8AC3E}">
        <p14:creationId xmlns:p14="http://schemas.microsoft.com/office/powerpoint/2010/main" val="123842824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024744" cy="1143000"/>
          </a:xfrm>
        </p:spPr>
        <p:txBody>
          <a:bodyPr>
            <a:noAutofit/>
          </a:bodyPr>
          <a:lstStyle/>
          <a:p>
            <a:r>
              <a:rPr lang="ar-EG" sz="2400" dirty="0"/>
              <a:t/>
            </a:r>
            <a:br>
              <a:rPr lang="ar-EG" sz="2400" dirty="0"/>
            </a:br>
            <a:r>
              <a:rPr lang="fr-FR" sz="2400" b="1" dirty="0" err="1" smtClean="0"/>
              <a:t>Strategies</a:t>
            </a:r>
            <a:r>
              <a:rPr lang="fr-FR" sz="2400" b="1" dirty="0" smtClean="0"/>
              <a:t> </a:t>
            </a:r>
            <a:r>
              <a:rPr lang="fr-FR" sz="2400" b="1" dirty="0"/>
              <a:t>in </a:t>
            </a:r>
            <a:r>
              <a:rPr lang="fr-FR" sz="2400" b="1" dirty="0" smtClean="0"/>
              <a:t>Action </a:t>
            </a:r>
            <a:endParaRPr lang="ar-EG" sz="2400" dirty="0"/>
          </a:p>
        </p:txBody>
      </p:sp>
      <p:sp>
        <p:nvSpPr>
          <p:cNvPr id="3" name="Content Placeholder 2"/>
          <p:cNvSpPr>
            <a:spLocks noGrp="1"/>
          </p:cNvSpPr>
          <p:nvPr>
            <p:ph idx="1"/>
          </p:nvPr>
        </p:nvSpPr>
        <p:spPr>
          <a:xfrm>
            <a:off x="533400" y="914400"/>
            <a:ext cx="8153400" cy="4800600"/>
          </a:xfrm>
        </p:spPr>
        <p:txBody>
          <a:bodyPr>
            <a:noAutofit/>
          </a:bodyPr>
          <a:lstStyle/>
          <a:p>
            <a:pPr marL="68580" indent="0" algn="l" rtl="0">
              <a:buNone/>
            </a:pPr>
            <a:r>
              <a:rPr lang="fr-FR" sz="2000" b="1" dirty="0" smtClean="0"/>
              <a:t>Michael </a:t>
            </a:r>
            <a:r>
              <a:rPr lang="fr-FR" sz="2000" b="1" dirty="0" err="1"/>
              <a:t>Porter’s</a:t>
            </a:r>
            <a:r>
              <a:rPr lang="fr-FR" sz="2000" b="1" dirty="0"/>
              <a:t> </a:t>
            </a:r>
            <a:r>
              <a:rPr lang="fr-FR" sz="2000" b="1" dirty="0" err="1"/>
              <a:t>Generic</a:t>
            </a:r>
            <a:r>
              <a:rPr lang="fr-FR" sz="2000" b="1" dirty="0"/>
              <a:t> </a:t>
            </a:r>
            <a:r>
              <a:rPr lang="fr-FR" sz="2000" b="1" dirty="0" err="1" smtClean="0"/>
              <a:t>Strategies</a:t>
            </a:r>
            <a:endParaRPr lang="fr-FR" sz="2000" b="1" dirty="0" smtClean="0"/>
          </a:p>
          <a:p>
            <a:pPr marL="68580" indent="0" algn="l" rtl="0">
              <a:buNone/>
            </a:pPr>
            <a:r>
              <a:rPr lang="en-US" sz="2000" b="1" dirty="0" smtClean="0"/>
              <a:t>Generic </a:t>
            </a:r>
            <a:r>
              <a:rPr lang="en-US" sz="2000" b="1" dirty="0"/>
              <a:t>strategy : </a:t>
            </a:r>
            <a:r>
              <a:rPr lang="en-US" sz="2000" dirty="0"/>
              <a:t>A core idea about how a firm can best compete in the marketplace Strategies allow firms to gain </a:t>
            </a:r>
            <a:r>
              <a:rPr lang="en-US" sz="2000" dirty="0" smtClean="0"/>
              <a:t>competitive </a:t>
            </a:r>
            <a:r>
              <a:rPr lang="en-US" sz="2000" dirty="0"/>
              <a:t>advantage from three different bases</a:t>
            </a:r>
            <a:r>
              <a:rPr lang="en-US" sz="2000" dirty="0" smtClean="0"/>
              <a:t>:</a:t>
            </a:r>
            <a:endParaRPr lang="ar-EG" sz="2000" dirty="0"/>
          </a:p>
          <a:p>
            <a:pPr marL="68580" indent="0" algn="l" rtl="0">
              <a:buNone/>
            </a:pPr>
            <a:r>
              <a:rPr lang="en-US" sz="2000" b="1" dirty="0">
                <a:solidFill>
                  <a:schemeClr val="accent3">
                    <a:lumMod val="75000"/>
                  </a:schemeClr>
                </a:solidFill>
                <a:effectLst>
                  <a:outerShdw blurRad="38100" dist="38100" dir="2700000" algn="tl">
                    <a:srgbClr val="000000">
                      <a:alpha val="43137"/>
                    </a:srgbClr>
                  </a:outerShdw>
                </a:effectLst>
              </a:rPr>
              <a:t>Michael Porter’s Five Generic Strategies </a:t>
            </a:r>
          </a:p>
          <a:p>
            <a:endParaRPr lang="ar-EG" sz="2000" dirty="0"/>
          </a:p>
          <a:p>
            <a:pPr algn="l" rtl="0"/>
            <a:r>
              <a:rPr lang="fr-FR" sz="2000" b="1" dirty="0" err="1" smtClean="0"/>
              <a:t>Differentiation</a:t>
            </a:r>
            <a:r>
              <a:rPr lang="fr-FR" sz="2000" b="1" dirty="0" smtClean="0"/>
              <a:t> </a:t>
            </a:r>
            <a:endParaRPr lang="fr-FR" sz="2000" dirty="0"/>
          </a:p>
          <a:p>
            <a:pPr marL="68580" indent="0" algn="just" rtl="0">
              <a:buNone/>
            </a:pPr>
            <a:r>
              <a:rPr lang="en-US" sz="2000" dirty="0" smtClean="0"/>
              <a:t>A </a:t>
            </a:r>
            <a:r>
              <a:rPr lang="en-US" sz="2000" b="1" dirty="0"/>
              <a:t>differentiation strategy</a:t>
            </a:r>
            <a:r>
              <a:rPr lang="en-US" sz="2000" dirty="0"/>
              <a:t> is an approach businesses develop by providing customers with something unique, different and distinct from items their competitors may offer in the marketplace. The main objective of implementing a </a:t>
            </a:r>
            <a:r>
              <a:rPr lang="en-US" sz="2000" b="1" dirty="0"/>
              <a:t>differentiation strategy</a:t>
            </a:r>
            <a:r>
              <a:rPr lang="en-US" sz="2000" dirty="0"/>
              <a:t> is to increase competitive </a:t>
            </a:r>
            <a:r>
              <a:rPr lang="en-US" sz="2000" dirty="0" smtClean="0"/>
              <a:t>advantage.</a:t>
            </a:r>
          </a:p>
          <a:p>
            <a:pPr marL="68580" indent="0" algn="just" rtl="0">
              <a:buNone/>
            </a:pPr>
            <a:endParaRPr lang="en-US" sz="2000" dirty="0"/>
          </a:p>
          <a:p>
            <a:pPr algn="just" rtl="0"/>
            <a:r>
              <a:rPr lang="en-US" sz="2000" dirty="0"/>
              <a:t>This strategy </a:t>
            </a:r>
            <a:r>
              <a:rPr lang="en-US" sz="2000" dirty="0" smtClean="0"/>
              <a:t>is mainly directed </a:t>
            </a:r>
            <a:r>
              <a:rPr lang="en-US" sz="2000" dirty="0"/>
              <a:t>at consumers who are relatively price-insensitive. </a:t>
            </a:r>
          </a:p>
          <a:p>
            <a:pPr marL="68580" indent="0" algn="just" rtl="0">
              <a:buNone/>
            </a:pPr>
            <a:endParaRPr lang="en-US" sz="2000" dirty="0"/>
          </a:p>
        </p:txBody>
      </p:sp>
    </p:spTree>
    <p:extLst>
      <p:ext uri="{BB962C8B-B14F-4D97-AF65-F5344CB8AC3E}">
        <p14:creationId xmlns:p14="http://schemas.microsoft.com/office/powerpoint/2010/main" val="380170575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7024744" cy="1143000"/>
          </a:xfrm>
        </p:spPr>
        <p:txBody>
          <a:bodyPr>
            <a:noAutofit/>
          </a:bodyPr>
          <a:lstStyle/>
          <a:p>
            <a:r>
              <a:rPr lang="ar-EG" sz="2400" dirty="0"/>
              <a:t/>
            </a:r>
            <a:br>
              <a:rPr lang="ar-EG" sz="2400" dirty="0"/>
            </a:br>
            <a:r>
              <a:rPr lang="fr-FR" sz="2400" b="1" dirty="0" err="1" smtClean="0"/>
              <a:t>Strategies</a:t>
            </a:r>
            <a:r>
              <a:rPr lang="fr-FR" sz="2400" b="1" dirty="0" smtClean="0"/>
              <a:t> </a:t>
            </a:r>
            <a:r>
              <a:rPr lang="fr-FR" sz="2400" b="1" dirty="0"/>
              <a:t>in </a:t>
            </a:r>
            <a:r>
              <a:rPr lang="fr-FR" sz="2400" b="1" dirty="0" smtClean="0"/>
              <a:t>Action </a:t>
            </a:r>
            <a:endParaRPr lang="ar-EG" sz="2400" dirty="0"/>
          </a:p>
        </p:txBody>
      </p:sp>
      <p:sp>
        <p:nvSpPr>
          <p:cNvPr id="3" name="Content Placeholder 2"/>
          <p:cNvSpPr>
            <a:spLocks noGrp="1"/>
          </p:cNvSpPr>
          <p:nvPr>
            <p:ph idx="1"/>
          </p:nvPr>
        </p:nvSpPr>
        <p:spPr>
          <a:xfrm>
            <a:off x="533400" y="914400"/>
            <a:ext cx="8153400" cy="5486400"/>
          </a:xfrm>
        </p:spPr>
        <p:txBody>
          <a:bodyPr>
            <a:noAutofit/>
          </a:bodyPr>
          <a:lstStyle/>
          <a:p>
            <a:pPr marL="68580" indent="0" algn="l" rtl="0">
              <a:buNone/>
            </a:pPr>
            <a:r>
              <a:rPr lang="fr-FR" sz="2000" b="1" dirty="0" smtClean="0"/>
              <a:t>Michael </a:t>
            </a:r>
            <a:r>
              <a:rPr lang="fr-FR" sz="2000" b="1" dirty="0" err="1"/>
              <a:t>Porter’s</a:t>
            </a:r>
            <a:r>
              <a:rPr lang="fr-FR" sz="2000" b="1" dirty="0"/>
              <a:t> </a:t>
            </a:r>
            <a:r>
              <a:rPr lang="fr-FR" sz="2000" b="1" dirty="0" err="1"/>
              <a:t>Generic</a:t>
            </a:r>
            <a:r>
              <a:rPr lang="fr-FR" sz="2000" b="1" dirty="0"/>
              <a:t> </a:t>
            </a:r>
            <a:r>
              <a:rPr lang="fr-FR" sz="2000" b="1" dirty="0" err="1" smtClean="0"/>
              <a:t>Strategies</a:t>
            </a:r>
            <a:endParaRPr lang="fr-FR" sz="2000" b="1" dirty="0" smtClean="0"/>
          </a:p>
          <a:p>
            <a:pPr marL="68580" indent="0" algn="just" rtl="0">
              <a:buNone/>
            </a:pPr>
            <a:r>
              <a:rPr lang="en-US" sz="2000" b="1" dirty="0" smtClean="0"/>
              <a:t>Focus strategy: </a:t>
            </a:r>
            <a:r>
              <a:rPr lang="en-US" sz="2000" dirty="0" smtClean="0"/>
              <a:t>It is </a:t>
            </a:r>
            <a:r>
              <a:rPr lang="en-US" sz="2000" dirty="0"/>
              <a:t>a method of developing, marketing and selling products to a niche </a:t>
            </a:r>
            <a:r>
              <a:rPr lang="en-US" sz="2000" dirty="0" smtClean="0"/>
              <a:t>market.</a:t>
            </a:r>
          </a:p>
          <a:p>
            <a:pPr marL="68580" indent="0" algn="l" rtl="0">
              <a:buNone/>
            </a:pPr>
            <a:r>
              <a:rPr lang="en-US" sz="1800" b="1" u="sng" dirty="0">
                <a:solidFill>
                  <a:srgbClr val="FF0000"/>
                </a:solidFill>
              </a:rPr>
              <a:t>A niche can be identified based on certain issues:</a:t>
            </a:r>
          </a:p>
          <a:p>
            <a:pPr algn="l" rtl="0"/>
            <a:r>
              <a:rPr lang="en-US" sz="1800" dirty="0"/>
              <a:t>particular buyer group (such as women, </a:t>
            </a:r>
            <a:r>
              <a:rPr lang="en-US" sz="1800" dirty="0" smtClean="0"/>
              <a:t>youths, or </a:t>
            </a:r>
            <a:r>
              <a:rPr lang="en-US" sz="1800" dirty="0"/>
              <a:t>aged 50+),</a:t>
            </a:r>
          </a:p>
          <a:p>
            <a:pPr algn="l" rtl="0"/>
            <a:r>
              <a:rPr lang="en-US" sz="1800" dirty="0"/>
              <a:t>geographic uniqueness (such as south of USA or South of France),</a:t>
            </a:r>
          </a:p>
          <a:p>
            <a:pPr algn="l" rtl="0"/>
            <a:r>
              <a:rPr lang="en-US" sz="1800" dirty="0"/>
              <a:t>special product attributes that appeal only to niche members (such as specially designed </a:t>
            </a:r>
            <a:r>
              <a:rPr lang="en-US" sz="1800" dirty="0" smtClean="0"/>
              <a:t>neck-tie),</a:t>
            </a:r>
            <a:endParaRPr lang="en-US" sz="1800" dirty="0"/>
          </a:p>
          <a:p>
            <a:pPr algn="l" rtl="0"/>
            <a:r>
              <a:rPr lang="en-US" sz="1800" dirty="0"/>
              <a:t>a particular product line (such as lemon juice, children’s </a:t>
            </a:r>
            <a:r>
              <a:rPr lang="en-US" sz="1800" dirty="0" smtClean="0"/>
              <a:t>detergent).</a:t>
            </a:r>
            <a:endParaRPr lang="en-US" sz="1800" b="1" dirty="0" smtClean="0"/>
          </a:p>
          <a:p>
            <a:pPr marL="68580" indent="0" algn="just" rtl="0">
              <a:buNone/>
            </a:pPr>
            <a:r>
              <a:rPr lang="fr-FR" sz="1800" b="1" dirty="0" smtClean="0"/>
              <a:t>Type </a:t>
            </a:r>
            <a:r>
              <a:rPr lang="fr-FR" sz="1800" b="1" dirty="0"/>
              <a:t>4 </a:t>
            </a:r>
            <a:endParaRPr lang="fr-FR" sz="1800" dirty="0"/>
          </a:p>
          <a:p>
            <a:pPr algn="just" rtl="0"/>
            <a:r>
              <a:rPr lang="en-US" sz="1800" b="1" dirty="0" smtClean="0">
                <a:solidFill>
                  <a:srgbClr val="FF0000"/>
                </a:solidFill>
              </a:rPr>
              <a:t>Low-cost </a:t>
            </a:r>
            <a:r>
              <a:rPr lang="en-US" sz="1800" b="1" dirty="0">
                <a:solidFill>
                  <a:srgbClr val="FF0000"/>
                </a:solidFill>
              </a:rPr>
              <a:t>focus strategy </a:t>
            </a:r>
            <a:r>
              <a:rPr lang="en-US" sz="1800" dirty="0"/>
              <a:t>that offers products or services to a niche group of customers at the lowest price available on the </a:t>
            </a:r>
            <a:r>
              <a:rPr lang="en-US" sz="1800" dirty="0" smtClean="0"/>
              <a:t>market. </a:t>
            </a:r>
            <a:endParaRPr lang="en-US" sz="1800" dirty="0"/>
          </a:p>
          <a:p>
            <a:pPr marL="68580" indent="0" algn="l" rtl="0">
              <a:buNone/>
            </a:pPr>
            <a:r>
              <a:rPr lang="fr-FR" sz="1800" b="1" dirty="0" smtClean="0"/>
              <a:t>Type </a:t>
            </a:r>
            <a:r>
              <a:rPr lang="fr-FR" sz="1800" b="1" dirty="0"/>
              <a:t>5 </a:t>
            </a:r>
            <a:endParaRPr lang="fr-FR" sz="1800" dirty="0"/>
          </a:p>
          <a:p>
            <a:pPr algn="l" rtl="0"/>
            <a:r>
              <a:rPr lang="en-US" sz="1800" b="1" dirty="0" smtClean="0">
                <a:solidFill>
                  <a:srgbClr val="FF0000"/>
                </a:solidFill>
              </a:rPr>
              <a:t>Best-value </a:t>
            </a:r>
            <a:r>
              <a:rPr lang="en-US" sz="1800" b="1" dirty="0">
                <a:solidFill>
                  <a:srgbClr val="FF0000"/>
                </a:solidFill>
              </a:rPr>
              <a:t>focus strategy </a:t>
            </a:r>
            <a:r>
              <a:rPr lang="en-US" sz="1800" dirty="0"/>
              <a:t>that offers products or services to a small range of customers at the best price-value available on the </a:t>
            </a:r>
            <a:r>
              <a:rPr lang="en-US" sz="1800" dirty="0" smtClean="0"/>
              <a:t>market.</a:t>
            </a:r>
            <a:endParaRPr lang="en-US" sz="1800" dirty="0"/>
          </a:p>
        </p:txBody>
      </p:sp>
    </p:spTree>
    <p:extLst>
      <p:ext uri="{BB962C8B-B14F-4D97-AF65-F5344CB8AC3E}">
        <p14:creationId xmlns:p14="http://schemas.microsoft.com/office/powerpoint/2010/main" val="1222304672"/>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8211</TotalTime>
  <Words>2455</Words>
  <Application>Microsoft Office PowerPoint</Application>
  <PresentationFormat>On-screen Show (4:3)</PresentationFormat>
  <Paragraphs>284</Paragraphs>
  <Slides>40</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40</vt:i4>
      </vt:variant>
    </vt:vector>
  </HeadingPairs>
  <TitlesOfParts>
    <vt:vector size="47" baseType="lpstr">
      <vt:lpstr>Arial</vt:lpstr>
      <vt:lpstr>Calibri</vt:lpstr>
      <vt:lpstr>Century Gothic</vt:lpstr>
      <vt:lpstr>Tahoma</vt:lpstr>
      <vt:lpstr>Wingdings 2</vt:lpstr>
      <vt:lpstr>Office Theme</vt:lpstr>
      <vt:lpstr>Austin</vt:lpstr>
      <vt:lpstr>Strategic Excellence</vt:lpstr>
      <vt:lpstr>     Strategies in Action  </vt:lpstr>
      <vt:lpstr>Long-Term Objectives  </vt:lpstr>
      <vt:lpstr> Long-Term Objectives should be SMART  </vt:lpstr>
      <vt:lpstr> Types of Long-Term Objectives  </vt:lpstr>
      <vt:lpstr> Long-Term Objectives  </vt:lpstr>
      <vt:lpstr> Long-Term Objectives should be SMART  </vt:lpstr>
      <vt:lpstr> Strategy Analysis &amp; Choice  </vt:lpstr>
      <vt:lpstr>   Strategies in Action </vt:lpstr>
      <vt:lpstr>   Strategies in Action </vt:lpstr>
      <vt:lpstr>   Strategies in Action </vt:lpstr>
      <vt:lpstr>   Strategies in Action </vt:lpstr>
      <vt:lpstr>Examples of Forward Integration</vt:lpstr>
      <vt:lpstr>   Strategies in Action </vt:lpstr>
      <vt:lpstr>Examples of Backward Integration</vt:lpstr>
      <vt:lpstr>PowerPoint Presentation</vt:lpstr>
      <vt:lpstr>   Strategies in Action </vt:lpstr>
      <vt:lpstr>Examples of full integration</vt:lpstr>
      <vt:lpstr>   Strategies in Action </vt:lpstr>
      <vt:lpstr>   Strategies in Action </vt:lpstr>
      <vt:lpstr>   Strategies in Action </vt:lpstr>
      <vt:lpstr>   Strategies in Action </vt:lpstr>
      <vt:lpstr>   Strategies in Action </vt:lpstr>
      <vt:lpstr>   Strategies in Action </vt:lpstr>
      <vt:lpstr>   Strategies in Action </vt:lpstr>
      <vt:lpstr>   Strategies in Action </vt:lpstr>
      <vt:lpstr>   Strategies in Action </vt:lpstr>
      <vt:lpstr>   Strategies in Action </vt:lpstr>
      <vt:lpstr>   Strategies in Action </vt:lpstr>
      <vt:lpstr>   Strategies in Action </vt:lpstr>
      <vt:lpstr>   Strategies in Action </vt:lpstr>
      <vt:lpstr> Strategies in Action </vt:lpstr>
      <vt:lpstr> Strategies in Action </vt:lpstr>
      <vt:lpstr> Strategies in Action </vt:lpstr>
      <vt:lpstr> Strategies in Action </vt:lpstr>
      <vt:lpstr> Strategies in Action </vt:lpstr>
      <vt:lpstr> Strategies in Action </vt:lpstr>
      <vt:lpstr> Strategies in Action </vt:lpstr>
      <vt:lpstr> Strategies in Action </vt:lpstr>
      <vt:lpstr> Strategies in Action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Management</dc:title>
  <dc:creator>Dr.Tarek</dc:creator>
  <cp:lastModifiedBy>Dr. Marwa</cp:lastModifiedBy>
  <cp:revision>120</cp:revision>
  <dcterms:created xsi:type="dcterms:W3CDTF">2006-08-16T00:00:00Z</dcterms:created>
  <dcterms:modified xsi:type="dcterms:W3CDTF">2026-05-16T16:44:48Z</dcterms:modified>
</cp:coreProperties>
</file>