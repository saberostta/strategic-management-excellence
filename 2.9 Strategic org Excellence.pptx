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68" r:id="rId6"/>
    <p:sldId id="269" r:id="rId7"/>
    <p:sldId id="270" r:id="rId8"/>
    <p:sldId id="271" r:id="rId9"/>
    <p:sldId id="276" r:id="rId10"/>
    <p:sldId id="273" r:id="rId11"/>
    <p:sldId id="272" r:id="rId12"/>
    <p:sldId id="274" r:id="rId13"/>
    <p:sldId id="27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srgbClr val="94C600"/>
                </a:solidFill>
              </a:rPr>
              <a:pPr/>
              <a:t>‹#›</a:t>
            </a:fld>
            <a:endParaRPr lang="en-US">
              <a:solidFill>
                <a:srgbClr val="94C6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026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62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75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65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07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960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5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64941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218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53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3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>
              <a:solidFill>
                <a:srgbClr val="94C6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6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27432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r" defTabSz="914400" rtl="1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0" y="2286000"/>
            <a:ext cx="3313355" cy="170216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Strategic Management</a:t>
            </a:r>
            <a:endParaRPr lang="ar-EG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4191000"/>
            <a:ext cx="3309803" cy="16002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Dr. </a:t>
            </a:r>
            <a:r>
              <a:rPr lang="en-US" b="1" dirty="0" err="1" smtClean="0"/>
              <a:t>Marwa</a:t>
            </a:r>
            <a:r>
              <a:rPr lang="en-US" b="1" dirty="0" smtClean="0"/>
              <a:t> Tarek</a:t>
            </a:r>
          </a:p>
          <a:p>
            <a:r>
              <a:rPr lang="en-US" b="1" smtClean="0"/>
              <a:t>9</a:t>
            </a:r>
            <a:r>
              <a:rPr lang="en-US" b="1" baseline="30000" smtClean="0"/>
              <a:t>th</a:t>
            </a:r>
            <a:r>
              <a:rPr lang="en-US" b="1" smtClean="0"/>
              <a:t>  </a:t>
            </a:r>
            <a:r>
              <a:rPr lang="en-US" b="1" dirty="0" smtClean="0"/>
              <a:t>class </a:t>
            </a:r>
          </a:p>
          <a:p>
            <a:r>
              <a:rPr lang="ar-EG" dirty="0"/>
              <a:t/>
            </a:r>
            <a:br>
              <a:rPr lang="ar-EG" dirty="0"/>
            </a:br>
            <a:endParaRPr lang="ar-EG" dirty="0"/>
          </a:p>
          <a:p>
            <a:endParaRPr lang="ar-EG" dirty="0"/>
          </a:p>
          <a:p>
            <a:pPr algn="ctr"/>
            <a:r>
              <a:rPr lang="fr-FR" b="1" dirty="0"/>
              <a:t> </a:t>
            </a:r>
            <a:r>
              <a:rPr lang="en-US" b="1" dirty="0" smtClean="0"/>
              <a:t>Selecting the strategy </a:t>
            </a:r>
            <a:r>
              <a:rPr lang="fr-FR" b="1" dirty="0" smtClean="0"/>
              <a:t> </a:t>
            </a:r>
            <a:endParaRPr lang="ar-EG" b="1" dirty="0"/>
          </a:p>
        </p:txBody>
      </p:sp>
    </p:spTree>
    <p:extLst>
      <p:ext uri="{BB962C8B-B14F-4D97-AF65-F5344CB8AC3E}">
        <p14:creationId xmlns:p14="http://schemas.microsoft.com/office/powerpoint/2010/main" val="62541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1143000"/>
          </a:xfrm>
        </p:spPr>
        <p:txBody>
          <a:bodyPr>
            <a:normAutofit/>
          </a:bodyPr>
          <a:lstStyle/>
          <a:p>
            <a:pPr rtl="0"/>
            <a:r>
              <a:rPr lang="fr-FR" sz="2600" b="1" dirty="0" err="1"/>
              <a:t>Strategy</a:t>
            </a:r>
            <a:r>
              <a:rPr lang="fr-FR" sz="2600" b="1" dirty="0"/>
              <a:t>-Formulation </a:t>
            </a:r>
            <a:r>
              <a:rPr lang="fr-FR" sz="2600" b="1" dirty="0" err="1" smtClean="0"/>
              <a:t>Analytical</a:t>
            </a:r>
            <a:r>
              <a:rPr lang="ar-EG" sz="2600" b="1" dirty="0" smtClean="0"/>
              <a:t> </a:t>
            </a:r>
            <a:r>
              <a:rPr lang="fr-FR" sz="2600" b="1" dirty="0" smtClean="0"/>
              <a:t>Framework</a:t>
            </a:r>
            <a:endParaRPr lang="ar-EG" sz="26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713422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3400" y="4038600"/>
            <a:ext cx="8001000" cy="224676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en-US" sz="2800" b="1" dirty="0" smtClean="0"/>
              <a:t>After locating the company in one of the quadrants, it is the time to move to the third stage of the </a:t>
            </a:r>
            <a:r>
              <a:rPr lang="fr-FR" sz="2800" b="1" dirty="0" err="1"/>
              <a:t>Strategy</a:t>
            </a:r>
            <a:r>
              <a:rPr lang="fr-FR" sz="2800" b="1" dirty="0"/>
              <a:t>-Formulation </a:t>
            </a:r>
            <a:r>
              <a:rPr lang="fr-FR" sz="2800" b="1" dirty="0" smtClean="0"/>
              <a:t>Framework to </a:t>
            </a:r>
            <a:r>
              <a:rPr lang="en-US" sz="2800" b="1" dirty="0" smtClean="0"/>
              <a:t>select one of the available strategies in this quadrant.</a:t>
            </a:r>
            <a:endParaRPr lang="ar-EG" sz="2800" b="1" dirty="0"/>
          </a:p>
        </p:txBody>
      </p:sp>
    </p:spTree>
    <p:extLst>
      <p:ext uri="{BB962C8B-B14F-4D97-AF65-F5344CB8AC3E}">
        <p14:creationId xmlns:p14="http://schemas.microsoft.com/office/powerpoint/2010/main" val="115663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8229600" cy="1143000"/>
          </a:xfrm>
        </p:spPr>
        <p:txBody>
          <a:bodyPr>
            <a:normAutofit fontScale="90000"/>
          </a:bodyPr>
          <a:lstStyle/>
          <a:p>
            <a:pPr rtl="0"/>
            <a:r>
              <a:rPr lang="en-US" b="1" dirty="0" err="1" smtClean="0"/>
              <a:t>QSPM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100" b="1" dirty="0"/>
              <a:t>Quantitative Strategic </a:t>
            </a:r>
            <a:r>
              <a:rPr lang="en-US" sz="3100" b="1" dirty="0" smtClean="0"/>
              <a:t>Planning Matrix</a:t>
            </a:r>
            <a:r>
              <a:rPr lang="ar-EG" sz="3100" b="1" dirty="0"/>
              <a:t/>
            </a:r>
            <a:br>
              <a:rPr lang="ar-EG" sz="3100" b="1" dirty="0"/>
            </a:br>
            <a:endParaRPr lang="ar-EG" sz="31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724400"/>
          </a:xfrm>
        </p:spPr>
        <p:txBody>
          <a:bodyPr>
            <a:normAutofit fontScale="70000" lnSpcReduction="20000"/>
          </a:bodyPr>
          <a:lstStyle/>
          <a:p>
            <a:pPr marL="68580" indent="0" algn="l" rtl="0">
              <a:buNone/>
            </a:pPr>
            <a:r>
              <a:rPr lang="en-US" sz="2800" b="1" dirty="0" smtClean="0"/>
              <a:t>Technique </a:t>
            </a:r>
            <a:r>
              <a:rPr lang="en-US" sz="2800" b="1" dirty="0"/>
              <a:t>designed to determine the </a:t>
            </a:r>
            <a:r>
              <a:rPr lang="en-US" sz="2800" b="1" dirty="0" smtClean="0"/>
              <a:t> relative </a:t>
            </a:r>
            <a:r>
              <a:rPr lang="en-US" sz="2800" b="1" dirty="0"/>
              <a:t>attractiveness of feasible </a:t>
            </a:r>
            <a:r>
              <a:rPr lang="en-US" sz="2800" b="1" dirty="0" smtClean="0"/>
              <a:t>alternative </a:t>
            </a:r>
            <a:r>
              <a:rPr lang="en-US" sz="2800" b="1" dirty="0"/>
              <a:t>actions and thus provides </a:t>
            </a:r>
            <a:r>
              <a:rPr lang="en-US" sz="2800" b="1" dirty="0" smtClean="0"/>
              <a:t>objective </a:t>
            </a:r>
            <a:r>
              <a:rPr lang="en-US" sz="2800" b="1" dirty="0"/>
              <a:t>basis for selecting specific </a:t>
            </a:r>
            <a:r>
              <a:rPr lang="en-US" sz="2800" b="1" dirty="0" smtClean="0"/>
              <a:t>strategies.</a:t>
            </a:r>
          </a:p>
          <a:p>
            <a:pPr marL="68580" indent="0" algn="l" rtl="0">
              <a:buNone/>
            </a:pPr>
            <a:endParaRPr lang="en-US" sz="2800" b="1" dirty="0"/>
          </a:p>
          <a:p>
            <a:pPr marL="68580" indent="0" algn="l" rtl="0">
              <a:buNone/>
            </a:pPr>
            <a:r>
              <a:rPr lang="en-US" sz="2800" b="1" dirty="0" err="1" smtClean="0"/>
              <a:t>QSPM</a:t>
            </a:r>
            <a:r>
              <a:rPr lang="en-US" sz="2800" b="1" dirty="0" smtClean="0"/>
              <a:t> depends mainly on </a:t>
            </a:r>
            <a:r>
              <a:rPr lang="en-US" sz="2800" b="1" dirty="0" err="1" smtClean="0"/>
              <a:t>EFs</a:t>
            </a:r>
            <a:r>
              <a:rPr lang="en-US" sz="2800" b="1" dirty="0" smtClean="0"/>
              <a:t> and </a:t>
            </a:r>
            <a:r>
              <a:rPr lang="en-US" sz="2800" b="1" dirty="0" err="1" smtClean="0"/>
              <a:t>IFs</a:t>
            </a:r>
            <a:r>
              <a:rPr lang="en-US" sz="2800" b="1" dirty="0" smtClean="0"/>
              <a:t> in the input stage of the </a:t>
            </a:r>
            <a:r>
              <a:rPr lang="fr-FR" sz="2800" b="1" dirty="0" smtClean="0"/>
              <a:t>compréhensive </a:t>
            </a:r>
            <a:r>
              <a:rPr lang="fr-FR" sz="2800" b="1" dirty="0" err="1" smtClean="0"/>
              <a:t>strategy</a:t>
            </a:r>
            <a:r>
              <a:rPr lang="fr-FR" sz="2800" b="1" dirty="0" smtClean="0"/>
              <a:t>-Formulation </a:t>
            </a:r>
            <a:r>
              <a:rPr lang="fr-FR" sz="2800" b="1" dirty="0"/>
              <a:t>Framework</a:t>
            </a:r>
            <a:r>
              <a:rPr lang="en-US" sz="2800" b="1" dirty="0" smtClean="0"/>
              <a:t> (stage no. 1).</a:t>
            </a:r>
          </a:p>
          <a:p>
            <a:pPr marL="68580" indent="0" algn="l" rtl="0">
              <a:buNone/>
            </a:pPr>
            <a:endParaRPr lang="en-US" sz="2800" b="1" dirty="0"/>
          </a:p>
          <a:p>
            <a:pPr marL="68580" indent="0" algn="l" rtl="0">
              <a:buNone/>
            </a:pPr>
            <a:r>
              <a:rPr lang="en-US" sz="2800" b="1" dirty="0" smtClean="0"/>
              <a:t>Example : if the company is located in the defensive quadrant, so we have three strategies;</a:t>
            </a:r>
          </a:p>
          <a:p>
            <a:pPr marL="68580" indent="0" algn="l" rtl="0">
              <a:buNone/>
            </a:pPr>
            <a:endParaRPr lang="en-US" sz="2800" b="1" dirty="0" smtClean="0"/>
          </a:p>
          <a:p>
            <a:pPr algn="l" rtl="0"/>
            <a:r>
              <a:rPr lang="en-US" sz="2800" b="1" dirty="0" smtClean="0"/>
              <a:t>Retrenchment</a:t>
            </a:r>
          </a:p>
          <a:p>
            <a:pPr algn="l" rtl="0"/>
            <a:r>
              <a:rPr lang="en-US" sz="2800" b="1" dirty="0" smtClean="0"/>
              <a:t>Divestiture</a:t>
            </a:r>
          </a:p>
          <a:p>
            <a:pPr algn="l" rtl="0"/>
            <a:r>
              <a:rPr lang="en-US" sz="2800" b="1" dirty="0" smtClean="0"/>
              <a:t>liquidation</a:t>
            </a:r>
          </a:p>
          <a:p>
            <a:pPr marL="68580" indent="0" algn="l" rtl="0">
              <a:buNone/>
            </a:pPr>
            <a:endParaRPr lang="en-US" sz="2800" b="1" dirty="0"/>
          </a:p>
          <a:p>
            <a:pPr marL="68580" indent="0" algn="l" rtl="0">
              <a:buNone/>
            </a:pPr>
            <a:r>
              <a:rPr lang="en-US" dirty="0"/>
              <a:t/>
            </a:r>
            <a:br>
              <a:rPr lang="en-US" dirty="0"/>
            </a:b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4681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78486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050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62000"/>
            <a:ext cx="8077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788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"/>
            <a:ext cx="8001000" cy="1143000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A </a:t>
            </a:r>
            <a:r>
              <a:rPr lang="en-US" sz="3000" b="1" dirty="0" err="1" smtClean="0"/>
              <a:t>QSPM</a:t>
            </a:r>
            <a:r>
              <a:rPr lang="en-US" sz="3000" b="1" dirty="0" smtClean="0"/>
              <a:t> for a Retail Computer Store</a:t>
            </a:r>
            <a:endParaRPr lang="ar-EG" sz="3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7924799" cy="4497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33400" y="5640586"/>
            <a:ext cx="81534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AS</a:t>
            </a:r>
            <a:r>
              <a:rPr lang="en-US" sz="2000" b="1" dirty="0" smtClean="0"/>
              <a:t> stands for “attractiveness scores” and </a:t>
            </a:r>
            <a:r>
              <a:rPr lang="en-US" sz="2000" b="1" dirty="0" smtClean="0">
                <a:solidFill>
                  <a:srgbClr val="FF0000"/>
                </a:solidFill>
              </a:rPr>
              <a:t>TAS</a:t>
            </a:r>
            <a:r>
              <a:rPr lang="en-US" sz="2000" b="1" dirty="0" smtClean="0"/>
              <a:t> stands for “total attractiveness scores”.</a:t>
            </a:r>
            <a:endParaRPr lang="ar-EG" sz="2000" b="1" dirty="0"/>
          </a:p>
        </p:txBody>
      </p:sp>
    </p:spTree>
    <p:extLst>
      <p:ext uri="{BB962C8B-B14F-4D97-AF65-F5344CB8AC3E}">
        <p14:creationId xmlns:p14="http://schemas.microsoft.com/office/powerpoint/2010/main" val="25768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"/>
            <a:ext cx="8001000" cy="1143000"/>
          </a:xfrm>
        </p:spPr>
        <p:txBody>
          <a:bodyPr>
            <a:normAutofit/>
          </a:bodyPr>
          <a:lstStyle/>
          <a:p>
            <a:r>
              <a:rPr lang="en-US" sz="3000" b="1" smtClean="0"/>
              <a:t>A QSPM for a Retail Computer Store</a:t>
            </a:r>
            <a:endParaRPr lang="ar-EG" sz="30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400300"/>
            <a:ext cx="8001000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143000"/>
            <a:ext cx="798576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197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57" y="-152400"/>
            <a:ext cx="8001000" cy="1143000"/>
          </a:xfrm>
        </p:spPr>
        <p:txBody>
          <a:bodyPr>
            <a:normAutofit/>
          </a:bodyPr>
          <a:lstStyle/>
          <a:p>
            <a:r>
              <a:rPr lang="en-US" sz="2600" b="1" dirty="0" smtClean="0"/>
              <a:t>A </a:t>
            </a:r>
            <a:r>
              <a:rPr lang="en-US" sz="2600" b="1" dirty="0" err="1" smtClean="0"/>
              <a:t>QSPM</a:t>
            </a:r>
            <a:r>
              <a:rPr lang="en-US" sz="2600" b="1" dirty="0" smtClean="0"/>
              <a:t> for an oil marketing company</a:t>
            </a:r>
            <a:endParaRPr lang="ar-EG" sz="2600" b="1" dirty="0"/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0"/>
            <a:ext cx="7848600" cy="5410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Rectangle 2"/>
          <p:cNvSpPr/>
          <p:nvPr/>
        </p:nvSpPr>
        <p:spPr>
          <a:xfrm>
            <a:off x="6745514" y="4648199"/>
            <a:ext cx="53340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01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52400"/>
            <a:ext cx="7024744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Steps to develop </a:t>
            </a:r>
            <a:r>
              <a:rPr lang="en-US" sz="2800" b="1" dirty="0" err="1" smtClean="0"/>
              <a:t>QSPM</a:t>
            </a:r>
            <a:endParaRPr lang="ar-EG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153400" cy="5410200"/>
          </a:xfrm>
        </p:spPr>
        <p:txBody>
          <a:bodyPr>
            <a:noAutofit/>
          </a:bodyPr>
          <a:lstStyle/>
          <a:p>
            <a:pPr algn="l" rtl="0"/>
            <a:r>
              <a:rPr lang="en-US" sz="2300" dirty="0" smtClean="0"/>
              <a:t>Determine the (AS) Attractiveness scores </a:t>
            </a:r>
            <a:r>
              <a:rPr lang="en-US" sz="2300" b="1" dirty="0" smtClean="0"/>
              <a:t>(Does this factor affect the choice of the strategy being made?)</a:t>
            </a:r>
            <a:r>
              <a:rPr lang="en-US" sz="2300" dirty="0" smtClean="0"/>
              <a:t> This is a “yes” and “no” answer for each single (T, O, S, A &amp; W).</a:t>
            </a:r>
          </a:p>
          <a:p>
            <a:pPr algn="just" rtl="0"/>
            <a:r>
              <a:rPr lang="en-US" sz="2300" dirty="0" smtClean="0"/>
              <a:t>If “yes”, the range for</a:t>
            </a:r>
            <a:r>
              <a:rPr lang="en-US" sz="2300" dirty="0"/>
              <a:t> Attractiveness </a:t>
            </a:r>
            <a:r>
              <a:rPr lang="en-US" sz="2300" dirty="0" smtClean="0"/>
              <a:t>scores is 1= Not Attractive, 2= Somewhat attractive, 3=Reasonably Attractive, and 4=Highly Attractive.</a:t>
            </a:r>
          </a:p>
          <a:p>
            <a:pPr algn="just" rtl="0"/>
            <a:r>
              <a:rPr lang="en-US" sz="2300" dirty="0" smtClean="0"/>
              <a:t>If “no” indicating that the respective key factor has no effect upon the specific choice being made, then don’t assign Attractiveness scores to the strategies in that Set. So, use a ”Dash” to indicate that the key factor doesn’t affect the choice being made.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1668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8077200" cy="5486400"/>
          </a:xfrm>
        </p:spPr>
        <p:txBody>
          <a:bodyPr>
            <a:noAutofit/>
          </a:bodyPr>
          <a:lstStyle/>
          <a:p>
            <a:pPr algn="l" rtl="0"/>
            <a:r>
              <a:rPr lang="en-US" sz="2300" b="1" dirty="0" smtClean="0"/>
              <a:t>So what is the difference between (the dash) </a:t>
            </a:r>
            <a:r>
              <a:rPr lang="en-US" sz="2300" b="1" dirty="0"/>
              <a:t>and </a:t>
            </a:r>
            <a:r>
              <a:rPr lang="en-US" sz="2300" b="1" dirty="0" smtClean="0"/>
              <a:t>(Not Attractive) ?</a:t>
            </a:r>
          </a:p>
          <a:p>
            <a:pPr algn="l" rtl="0"/>
            <a:r>
              <a:rPr lang="en-US" sz="2300" b="1" dirty="0" smtClean="0">
                <a:solidFill>
                  <a:srgbClr val="FF0000"/>
                </a:solidFill>
              </a:rPr>
              <a:t>Dash</a:t>
            </a:r>
            <a:r>
              <a:rPr lang="en-US" sz="2300" dirty="0" smtClean="0"/>
              <a:t> means that this factor is totally rejected as far as it has no effect on the choice of the strategies being made, whereas the </a:t>
            </a:r>
            <a:r>
              <a:rPr lang="en-US" sz="2300" b="1" dirty="0" smtClean="0">
                <a:solidFill>
                  <a:srgbClr val="FF0000"/>
                </a:solidFill>
              </a:rPr>
              <a:t>“ Not Attractive” </a:t>
            </a:r>
            <a:r>
              <a:rPr lang="en-US" sz="2300" dirty="0" smtClean="0"/>
              <a:t>is the least attractive factor.</a:t>
            </a:r>
          </a:p>
          <a:p>
            <a:pPr algn="l" rtl="0"/>
            <a:r>
              <a:rPr lang="en-US" sz="2300" b="1" dirty="0">
                <a:solidFill>
                  <a:srgbClr val="FF0000"/>
                </a:solidFill>
              </a:rPr>
              <a:t>Note: if one strategy receives ”Dash” then ALL other strategies must receive a ”Dash” in a given row</a:t>
            </a:r>
            <a:r>
              <a:rPr lang="en-US" sz="2200" b="1" dirty="0" smtClean="0">
                <a:solidFill>
                  <a:srgbClr val="FF0000"/>
                </a:solidFill>
              </a:rPr>
              <a:t>. </a:t>
            </a:r>
          </a:p>
          <a:p>
            <a:pPr marL="68580" indent="0" algn="just" rtl="0">
              <a:buNone/>
            </a:pPr>
            <a:r>
              <a:rPr lang="en-US" sz="2000" dirty="0" smtClean="0">
                <a:solidFill>
                  <a:srgbClr val="0070C0"/>
                </a:solidFill>
              </a:rPr>
              <a:t>Example if I am in the defensive quadrant and having an opportunity to open a new branch in one of the gulf countries, and the strategy that I am testing is the retrenchment. If the strategists found that it has no effect I have to put a dash in the column of the retrenchment strategy and the other strategies in the same quadrant (i.e. Divestiture and liquidation). </a:t>
            </a:r>
            <a:r>
              <a:rPr lang="en-US" sz="2200" b="1" u="sng" dirty="0" smtClean="0">
                <a:solidFill>
                  <a:srgbClr val="0070C0"/>
                </a:solidFill>
              </a:rPr>
              <a:t>So work row by row not column by column.</a:t>
            </a:r>
            <a:endParaRPr lang="en-US" sz="2200" b="1" u="sng" dirty="0">
              <a:solidFill>
                <a:srgbClr val="0070C0"/>
              </a:solidFill>
            </a:endParaRPr>
          </a:p>
          <a:p>
            <a:pPr marL="68580" indent="0" algn="just" rtl="0">
              <a:buNone/>
            </a:pPr>
            <a:r>
              <a:rPr lang="en-US" sz="2000" b="1" dirty="0" smtClean="0">
                <a:solidFill>
                  <a:schemeClr val="accent5">
                    <a:lumMod val="75000"/>
                  </a:schemeClr>
                </a:solidFill>
              </a:rPr>
              <a:t>The logic here is we have to use the same criteria in selecting the strategy being implemented.</a:t>
            </a:r>
            <a:endParaRPr lang="en-US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l" rtl="0"/>
            <a:endParaRPr lang="en-US" sz="2300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algn="just" rtl="0"/>
            <a:endParaRPr lang="en-US" sz="2200" b="1" i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16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7024744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Steps to develop </a:t>
            </a:r>
            <a:r>
              <a:rPr lang="en-US" sz="2800" b="1" dirty="0" err="1" smtClean="0"/>
              <a:t>QSPM</a:t>
            </a:r>
            <a:endParaRPr lang="ar-EG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153400" cy="5410200"/>
          </a:xfrm>
        </p:spPr>
        <p:txBody>
          <a:bodyPr>
            <a:noAutofit/>
          </a:bodyPr>
          <a:lstStyle/>
          <a:p>
            <a:pPr algn="l" rtl="0"/>
            <a:r>
              <a:rPr lang="en-US" sz="2300" b="1" dirty="0" smtClean="0">
                <a:solidFill>
                  <a:schemeClr val="accent5">
                    <a:lumMod val="75000"/>
                  </a:schemeClr>
                </a:solidFill>
              </a:rPr>
              <a:t>TAS is the multiplication of the weight and the AS for every single factor for every single strategy.</a:t>
            </a:r>
          </a:p>
          <a:p>
            <a:pPr algn="l" rtl="0"/>
            <a:endParaRPr lang="en-US" sz="2300" b="1" dirty="0">
              <a:solidFill>
                <a:schemeClr val="accent5">
                  <a:lumMod val="75000"/>
                </a:schemeClr>
              </a:solidFill>
            </a:endParaRPr>
          </a:p>
          <a:p>
            <a:pPr algn="l" rtl="0"/>
            <a:r>
              <a:rPr lang="en-US" sz="2300" b="1" dirty="0" smtClean="0">
                <a:solidFill>
                  <a:schemeClr val="accent5">
                    <a:lumMod val="75000"/>
                  </a:schemeClr>
                </a:solidFill>
              </a:rPr>
              <a:t>Then sum all the TAS for each strategy and the highest score of TAS means this strategy is more attractive to be implemented. </a:t>
            </a:r>
          </a:p>
          <a:p>
            <a:pPr algn="l" rtl="0"/>
            <a:endParaRPr lang="en-US" sz="23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433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7024744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Limitation of </a:t>
            </a:r>
            <a:r>
              <a:rPr lang="en-US" sz="2800" b="1" dirty="0" err="1" smtClean="0"/>
              <a:t>QSPM</a:t>
            </a:r>
            <a:endParaRPr lang="ar-EG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153400" cy="5410200"/>
          </a:xfrm>
        </p:spPr>
        <p:txBody>
          <a:bodyPr>
            <a:noAutofit/>
          </a:bodyPr>
          <a:lstStyle/>
          <a:p>
            <a:pPr algn="just" rtl="0"/>
            <a:r>
              <a:rPr lang="en-US" sz="2600" b="1" dirty="0" smtClean="0">
                <a:solidFill>
                  <a:schemeClr val="accent5">
                    <a:lumMod val="75000"/>
                  </a:schemeClr>
                </a:solidFill>
              </a:rPr>
              <a:t>It requires intuitive informed judgement.</a:t>
            </a:r>
          </a:p>
          <a:p>
            <a:pPr algn="just" rtl="0"/>
            <a:r>
              <a:rPr lang="en-US" sz="2600" b="1" dirty="0" smtClean="0">
                <a:solidFill>
                  <a:schemeClr val="accent5">
                    <a:lumMod val="75000"/>
                  </a:schemeClr>
                </a:solidFill>
              </a:rPr>
              <a:t>This means that the matrix requires to have educated assumptions and judgements.</a:t>
            </a:r>
          </a:p>
          <a:p>
            <a:pPr algn="just" rtl="0"/>
            <a:r>
              <a:rPr lang="en-US" sz="2600" b="1" dirty="0">
                <a:solidFill>
                  <a:schemeClr val="accent5">
                    <a:lumMod val="75000"/>
                  </a:schemeClr>
                </a:solidFill>
              </a:rPr>
              <a:t>It seems to be  a subjective process, however to make it more objective, each strategist should prepare his/her own </a:t>
            </a:r>
            <a:r>
              <a:rPr lang="en-US" sz="2600" b="1" dirty="0" err="1">
                <a:solidFill>
                  <a:schemeClr val="accent5">
                    <a:lumMod val="75000"/>
                  </a:schemeClr>
                </a:solidFill>
              </a:rPr>
              <a:t>QSPM</a:t>
            </a:r>
            <a:r>
              <a:rPr lang="en-US" sz="2600" b="1" dirty="0">
                <a:solidFill>
                  <a:schemeClr val="accent5">
                    <a:lumMod val="75000"/>
                  </a:schemeClr>
                </a:solidFill>
              </a:rPr>
              <a:t> and then all of them have to agree upon a one consolidated </a:t>
            </a:r>
            <a:r>
              <a:rPr lang="en-US" sz="2600" b="1" dirty="0" err="1">
                <a:solidFill>
                  <a:schemeClr val="accent5">
                    <a:lumMod val="75000"/>
                  </a:schemeClr>
                </a:solidFill>
              </a:rPr>
              <a:t>QSPM</a:t>
            </a:r>
            <a:r>
              <a:rPr lang="en-US" sz="2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600" b="1" u="sng" dirty="0">
                <a:solidFill>
                  <a:schemeClr val="accent5">
                    <a:lumMod val="75000"/>
                  </a:schemeClr>
                </a:solidFill>
              </a:rPr>
              <a:t>OR</a:t>
            </a:r>
            <a:r>
              <a:rPr lang="en-US" sz="2600" b="1" dirty="0">
                <a:solidFill>
                  <a:schemeClr val="accent5">
                    <a:lumMod val="75000"/>
                  </a:schemeClr>
                </a:solidFill>
              </a:rPr>
              <a:t> to discuss the AS together and getting the final </a:t>
            </a:r>
            <a:r>
              <a:rPr lang="en-US" sz="2600" b="1" dirty="0" err="1">
                <a:solidFill>
                  <a:schemeClr val="accent5">
                    <a:lumMod val="75000"/>
                  </a:schemeClr>
                </a:solidFill>
              </a:rPr>
              <a:t>QSPM</a:t>
            </a:r>
            <a:r>
              <a:rPr lang="en-US" sz="2600" b="1" dirty="0">
                <a:solidFill>
                  <a:schemeClr val="accent5">
                    <a:lumMod val="75000"/>
                  </a:schemeClr>
                </a:solidFill>
              </a:rPr>
              <a:t>. </a:t>
            </a:r>
          </a:p>
          <a:p>
            <a:pPr algn="just" rtl="0"/>
            <a:endParaRPr lang="en-US" sz="26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32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11137</TotalTime>
  <Words>568</Words>
  <Application>Microsoft Office PowerPoint</Application>
  <PresentationFormat>On-screen Show (4:3)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Gothic</vt:lpstr>
      <vt:lpstr>Tahoma</vt:lpstr>
      <vt:lpstr>Wingdings 2</vt:lpstr>
      <vt:lpstr>Office Theme</vt:lpstr>
      <vt:lpstr>Austin</vt:lpstr>
      <vt:lpstr>Strategic Management</vt:lpstr>
      <vt:lpstr>Strategy-Formulation Analytical Framework</vt:lpstr>
      <vt:lpstr>QSPM Quantitative Strategic Planning Matrix </vt:lpstr>
      <vt:lpstr>PowerPoint Presentation</vt:lpstr>
      <vt:lpstr>PowerPoint Presentation</vt:lpstr>
      <vt:lpstr>A QSPM for a Retail Computer Store</vt:lpstr>
      <vt:lpstr>A QSPM for a Retail Computer Store</vt:lpstr>
      <vt:lpstr>A QSPM for an oil marketing company</vt:lpstr>
      <vt:lpstr>Steps to develop QSPM</vt:lpstr>
      <vt:lpstr>PowerPoint Presentation</vt:lpstr>
      <vt:lpstr>Steps to develop QSPM</vt:lpstr>
      <vt:lpstr>Limitation of QSPM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Management</dc:title>
  <dc:creator>Dr.Tarek</dc:creator>
  <cp:lastModifiedBy>Dr. Marwa</cp:lastModifiedBy>
  <cp:revision>52</cp:revision>
  <dcterms:created xsi:type="dcterms:W3CDTF">2006-08-16T00:00:00Z</dcterms:created>
  <dcterms:modified xsi:type="dcterms:W3CDTF">2026-05-23T22:35:09Z</dcterms:modified>
</cp:coreProperties>
</file>